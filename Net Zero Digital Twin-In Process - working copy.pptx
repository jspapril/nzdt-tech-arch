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389" r:id="rId2"/>
    <p:sldId id="442" r:id="rId3"/>
    <p:sldId id="257" r:id="rId4"/>
    <p:sldId id="380" r:id="rId5"/>
    <p:sldId id="396" r:id="rId6"/>
    <p:sldId id="378" r:id="rId7"/>
    <p:sldId id="402" r:id="rId8"/>
    <p:sldId id="352" r:id="rId9"/>
    <p:sldId id="413" r:id="rId10"/>
    <p:sldId id="377" r:id="rId11"/>
    <p:sldId id="423" r:id="rId12"/>
    <p:sldId id="399" r:id="rId13"/>
    <p:sldId id="411" r:id="rId14"/>
    <p:sldId id="376" r:id="rId15"/>
    <p:sldId id="359" r:id="rId16"/>
    <p:sldId id="415" r:id="rId17"/>
    <p:sldId id="414" r:id="rId18"/>
    <p:sldId id="397" r:id="rId19"/>
    <p:sldId id="370" r:id="rId20"/>
    <p:sldId id="408" r:id="rId21"/>
    <p:sldId id="409" r:id="rId22"/>
    <p:sldId id="406" r:id="rId23"/>
    <p:sldId id="401" r:id="rId24"/>
    <p:sldId id="398" r:id="rId25"/>
    <p:sldId id="312" r:id="rId26"/>
    <p:sldId id="361" r:id="rId27"/>
    <p:sldId id="362" r:id="rId28"/>
    <p:sldId id="333" r:id="rId29"/>
    <p:sldId id="318" r:id="rId30"/>
    <p:sldId id="374" r:id="rId31"/>
    <p:sldId id="387" r:id="rId32"/>
    <p:sldId id="388" r:id="rId33"/>
    <p:sldId id="394" r:id="rId34"/>
    <p:sldId id="392" r:id="rId35"/>
    <p:sldId id="444" r:id="rId36"/>
    <p:sldId id="430" r:id="rId37"/>
    <p:sldId id="443" r:id="rId38"/>
    <p:sldId id="429" r:id="rId39"/>
    <p:sldId id="417" r:id="rId40"/>
    <p:sldId id="404" r:id="rId41"/>
    <p:sldId id="416" r:id="rId42"/>
    <p:sldId id="434" r:id="rId43"/>
    <p:sldId id="418" r:id="rId44"/>
    <p:sldId id="436" r:id="rId45"/>
    <p:sldId id="445" r:id="rId46"/>
    <p:sldId id="437" r:id="rId47"/>
    <p:sldId id="438" r:id="rId48"/>
    <p:sldId id="421" r:id="rId49"/>
    <p:sldId id="441" r:id="rId50"/>
    <p:sldId id="439" r:id="rId51"/>
    <p:sldId id="440" r:id="rId52"/>
    <p:sldId id="379" r:id="rId53"/>
    <p:sldId id="435" r:id="rId54"/>
    <p:sldId id="372" r:id="rId55"/>
    <p:sldId id="371" r:id="rId56"/>
    <p:sldId id="419" r:id="rId57"/>
    <p:sldId id="428" r:id="rId58"/>
    <p:sldId id="422" r:id="rId59"/>
    <p:sldId id="363" r:id="rId60"/>
    <p:sldId id="346" r:id="rId61"/>
    <p:sldId id="349" r:id="rId62"/>
    <p:sldId id="353" r:id="rId63"/>
    <p:sldId id="420" r:id="rId64"/>
    <p:sldId id="405" r:id="rId65"/>
    <p:sldId id="410" r:id="rId66"/>
    <p:sldId id="412" r:id="rId67"/>
    <p:sldId id="342" r:id="rId68"/>
    <p:sldId id="425" r:id="rId69"/>
    <p:sldId id="424" r:id="rId70"/>
    <p:sldId id="426" r:id="rId71"/>
    <p:sldId id="427" r:id="rId72"/>
    <p:sldId id="431" r:id="rId73"/>
    <p:sldId id="432" r:id="rId74"/>
    <p:sldId id="433"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09BD32-7FFE-B0AE-95B4-1E6CF875DA59}" name="Jeff Pribich" initials="JP" userId="0e5cf97a831f06e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008000"/>
    <a:srgbClr val="008080"/>
    <a:srgbClr val="FFFF99"/>
    <a:srgbClr val="CCECFF"/>
    <a:srgbClr val="003300"/>
    <a:srgbClr val="FFFF00"/>
    <a:srgbClr val="156082"/>
    <a:srgbClr val="6600FF"/>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1" d="100"/>
          <a:sy n="71" d="100"/>
        </p:scale>
        <p:origin x="36"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8/10/relationships/authors" Targe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 Pribich" userId="0e5cf97a831f06e4" providerId="LiveId" clId="{C1F387FD-0BB0-4348-AF7E-3A566070806F}"/>
    <pc:docChg chg="undo custSel addSld modSld sldOrd">
      <pc:chgData name="Jeff Pribich" userId="0e5cf97a831f06e4" providerId="LiveId" clId="{C1F387FD-0BB0-4348-AF7E-3A566070806F}" dt="2025-09-13T13:37:23.869" v="3193" actId="6549"/>
      <pc:docMkLst>
        <pc:docMk/>
      </pc:docMkLst>
      <pc:sldChg chg="modSp mod">
        <pc:chgData name="Jeff Pribich" userId="0e5cf97a831f06e4" providerId="LiveId" clId="{C1F387FD-0BB0-4348-AF7E-3A566070806F}" dt="2025-09-12T00:26:42.455" v="703" actId="1036"/>
        <pc:sldMkLst>
          <pc:docMk/>
          <pc:sldMk cId="2811018860" sldId="359"/>
        </pc:sldMkLst>
        <pc:spChg chg="mod">
          <ac:chgData name="Jeff Pribich" userId="0e5cf97a831f06e4" providerId="LiveId" clId="{C1F387FD-0BB0-4348-AF7E-3A566070806F}" dt="2025-09-12T00:10:46.417" v="605" actId="1035"/>
          <ac:spMkLst>
            <pc:docMk/>
            <pc:sldMk cId="2811018860" sldId="359"/>
            <ac:spMk id="7" creationId="{89CF6392-90C9-4ECE-941A-84CA8666738A}"/>
          </ac:spMkLst>
        </pc:spChg>
        <pc:spChg chg="mod">
          <ac:chgData name="Jeff Pribich" userId="0e5cf97a831f06e4" providerId="LiveId" clId="{C1F387FD-0BB0-4348-AF7E-3A566070806F}" dt="2025-09-12T00:26:42.455" v="703" actId="1036"/>
          <ac:spMkLst>
            <pc:docMk/>
            <pc:sldMk cId="2811018860" sldId="359"/>
            <ac:spMk id="10" creationId="{61A37C87-2367-488E-911E-FB0247783232}"/>
          </ac:spMkLst>
        </pc:spChg>
      </pc:sldChg>
      <pc:sldChg chg="addSp modSp mod">
        <pc:chgData name="Jeff Pribich" userId="0e5cf97a831f06e4" providerId="LiveId" clId="{C1F387FD-0BB0-4348-AF7E-3A566070806F}" dt="2025-09-11T21:28:27.901" v="2" actId="167"/>
        <pc:sldMkLst>
          <pc:docMk/>
          <pc:sldMk cId="3796571298" sldId="389"/>
        </pc:sldMkLst>
      </pc:sldChg>
      <pc:sldChg chg="modSp mod">
        <pc:chgData name="Jeff Pribich" userId="0e5cf97a831f06e4" providerId="LiveId" clId="{C1F387FD-0BB0-4348-AF7E-3A566070806F}" dt="2025-09-12T17:02:31.859" v="2786" actId="6549"/>
        <pc:sldMkLst>
          <pc:docMk/>
          <pc:sldMk cId="3076477619" sldId="392"/>
        </pc:sldMkLst>
        <pc:spChg chg="mod">
          <ac:chgData name="Jeff Pribich" userId="0e5cf97a831f06e4" providerId="LiveId" clId="{C1F387FD-0BB0-4348-AF7E-3A566070806F}" dt="2025-09-12T17:02:31.859" v="2786" actId="6549"/>
          <ac:spMkLst>
            <pc:docMk/>
            <pc:sldMk cId="3076477619" sldId="392"/>
            <ac:spMk id="10" creationId="{3E3C44DF-FD51-2D85-39FE-239A037477B7}"/>
          </ac:spMkLst>
        </pc:spChg>
      </pc:sldChg>
      <pc:sldChg chg="setBg">
        <pc:chgData name="Jeff Pribich" userId="0e5cf97a831f06e4" providerId="LiveId" clId="{C1F387FD-0BB0-4348-AF7E-3A566070806F}" dt="2025-09-12T17:25:18.425" v="2935"/>
        <pc:sldMkLst>
          <pc:docMk/>
          <pc:sldMk cId="1047301" sldId="417"/>
        </pc:sldMkLst>
      </pc:sldChg>
      <pc:sldChg chg="addSp delSp modSp mod">
        <pc:chgData name="Jeff Pribich" userId="0e5cf97a831f06e4" providerId="LiveId" clId="{C1F387FD-0BB0-4348-AF7E-3A566070806F}" dt="2025-09-13T13:37:23.869" v="3193" actId="6549"/>
        <pc:sldMkLst>
          <pc:docMk/>
          <pc:sldMk cId="2649615087" sldId="429"/>
        </pc:sldMkLst>
        <pc:spChg chg="mod">
          <ac:chgData name="Jeff Pribich" userId="0e5cf97a831f06e4" providerId="LiveId" clId="{C1F387FD-0BB0-4348-AF7E-3A566070806F}" dt="2025-09-13T13:34:54.450" v="3176" actId="1035"/>
          <ac:spMkLst>
            <pc:docMk/>
            <pc:sldMk cId="2649615087" sldId="429"/>
            <ac:spMk id="3" creationId="{2F6F57AA-7517-AC40-3FB2-E179A343D6EF}"/>
          </ac:spMkLst>
        </pc:spChg>
        <pc:spChg chg="mod">
          <ac:chgData name="Jeff Pribich" userId="0e5cf97a831f06e4" providerId="LiveId" clId="{C1F387FD-0BB0-4348-AF7E-3A566070806F}" dt="2025-09-12T17:26:34.468" v="2940" actId="207"/>
          <ac:spMkLst>
            <pc:docMk/>
            <pc:sldMk cId="2649615087" sldId="429"/>
            <ac:spMk id="5" creationId="{D82A565E-1F01-DEB1-18A1-D699B06E4486}"/>
          </ac:spMkLst>
        </pc:spChg>
        <pc:spChg chg="add mod ord">
          <ac:chgData name="Jeff Pribich" userId="0e5cf97a831f06e4" providerId="LiveId" clId="{C1F387FD-0BB0-4348-AF7E-3A566070806F}" dt="2025-09-12T17:29:19.408" v="2985" actId="1036"/>
          <ac:spMkLst>
            <pc:docMk/>
            <pc:sldMk cId="2649615087" sldId="429"/>
            <ac:spMk id="9" creationId="{CBD505D5-1BCD-F9C9-CA40-34A6D129F952}"/>
          </ac:spMkLst>
        </pc:spChg>
        <pc:spChg chg="add mod ord">
          <ac:chgData name="Jeff Pribich" userId="0e5cf97a831f06e4" providerId="LiveId" clId="{C1F387FD-0BB0-4348-AF7E-3A566070806F}" dt="2025-09-13T13:34:15.497" v="3153" actId="20577"/>
          <ac:spMkLst>
            <pc:docMk/>
            <pc:sldMk cId="2649615087" sldId="429"/>
            <ac:spMk id="10" creationId="{27287DE9-57AF-DCAE-495C-9A43023101C0}"/>
          </ac:spMkLst>
        </pc:spChg>
        <pc:spChg chg="add mod">
          <ac:chgData name="Jeff Pribich" userId="0e5cf97a831f06e4" providerId="LiveId" clId="{C1F387FD-0BB0-4348-AF7E-3A566070806F}" dt="2025-09-13T13:34:25.554" v="3159" actId="20577"/>
          <ac:spMkLst>
            <pc:docMk/>
            <pc:sldMk cId="2649615087" sldId="429"/>
            <ac:spMk id="12" creationId="{02834330-A8E1-1EA7-A674-A0A7C11C2CE3}"/>
          </ac:spMkLst>
        </pc:spChg>
        <pc:spChg chg="add mod">
          <ac:chgData name="Jeff Pribich" userId="0e5cf97a831f06e4" providerId="LiveId" clId="{C1F387FD-0BB0-4348-AF7E-3A566070806F}" dt="2025-09-12T17:29:13.180" v="2980" actId="1036"/>
          <ac:spMkLst>
            <pc:docMk/>
            <pc:sldMk cId="2649615087" sldId="429"/>
            <ac:spMk id="13" creationId="{351E8BD9-59B8-C779-899E-D403DBCE223F}"/>
          </ac:spMkLst>
        </pc:spChg>
        <pc:spChg chg="add mod ord">
          <ac:chgData name="Jeff Pribich" userId="0e5cf97a831f06e4" providerId="LiveId" clId="{C1F387FD-0BB0-4348-AF7E-3A566070806F}" dt="2025-09-12T17:29:07.687" v="2976" actId="1036"/>
          <ac:spMkLst>
            <pc:docMk/>
            <pc:sldMk cId="2649615087" sldId="429"/>
            <ac:spMk id="14" creationId="{F09C17C2-6EE2-E4C3-A7EE-6C730CEF8AD7}"/>
          </ac:spMkLst>
        </pc:spChg>
        <pc:spChg chg="add mod">
          <ac:chgData name="Jeff Pribich" userId="0e5cf97a831f06e4" providerId="LiveId" clId="{C1F387FD-0BB0-4348-AF7E-3A566070806F}" dt="2025-09-13T13:34:34.043" v="3169" actId="20577"/>
          <ac:spMkLst>
            <pc:docMk/>
            <pc:sldMk cId="2649615087" sldId="429"/>
            <ac:spMk id="16" creationId="{925ECA02-360B-C2D1-4403-F324D1882AB3}"/>
          </ac:spMkLst>
        </pc:spChg>
        <pc:spChg chg="add mod ord">
          <ac:chgData name="Jeff Pribich" userId="0e5cf97a831f06e4" providerId="LiveId" clId="{C1F387FD-0BB0-4348-AF7E-3A566070806F}" dt="2025-09-12T17:29:01.059" v="2972" actId="1036"/>
          <ac:spMkLst>
            <pc:docMk/>
            <pc:sldMk cId="2649615087" sldId="429"/>
            <ac:spMk id="17" creationId="{52176D6A-11A6-14CA-901C-919DD95AB553}"/>
          </ac:spMkLst>
        </pc:spChg>
        <pc:spChg chg="add mod">
          <ac:chgData name="Jeff Pribich" userId="0e5cf97a831f06e4" providerId="LiveId" clId="{C1F387FD-0BB0-4348-AF7E-3A566070806F}" dt="2025-09-12T17:29:01.059" v="2972" actId="1036"/>
          <ac:spMkLst>
            <pc:docMk/>
            <pc:sldMk cId="2649615087" sldId="429"/>
            <ac:spMk id="18" creationId="{143C3FF7-D2A4-F846-5D62-D86E838BCF02}"/>
          </ac:spMkLst>
        </pc:spChg>
        <pc:spChg chg="add mod ord">
          <ac:chgData name="Jeff Pribich" userId="0e5cf97a831f06e4" providerId="LiveId" clId="{C1F387FD-0BB0-4348-AF7E-3A566070806F}" dt="2025-09-12T17:28:49.005" v="2969" actId="1036"/>
          <ac:spMkLst>
            <pc:docMk/>
            <pc:sldMk cId="2649615087" sldId="429"/>
            <ac:spMk id="19" creationId="{2D41BCC1-9328-B753-1ED2-570956606776}"/>
          </ac:spMkLst>
        </pc:spChg>
        <pc:spChg chg="add mod">
          <ac:chgData name="Jeff Pribich" userId="0e5cf97a831f06e4" providerId="LiveId" clId="{C1F387FD-0BB0-4348-AF7E-3A566070806F}" dt="2025-09-12T17:28:49.005" v="2969" actId="1036"/>
          <ac:spMkLst>
            <pc:docMk/>
            <pc:sldMk cId="2649615087" sldId="429"/>
            <ac:spMk id="21" creationId="{9980AED2-DA48-F611-A410-D10850A0FCA7}"/>
          </ac:spMkLst>
        </pc:spChg>
        <pc:spChg chg="add mod">
          <ac:chgData name="Jeff Pribich" userId="0e5cf97a831f06e4" providerId="LiveId" clId="{C1F387FD-0BB0-4348-AF7E-3A566070806F}" dt="2025-09-13T13:37:23.869" v="3193" actId="6549"/>
          <ac:spMkLst>
            <pc:docMk/>
            <pc:sldMk cId="2649615087" sldId="429"/>
            <ac:spMk id="22" creationId="{5D5F971A-EC22-AB84-E59D-E0B0E7005C39}"/>
          </ac:spMkLst>
        </pc:spChg>
        <pc:spChg chg="add mod">
          <ac:chgData name="Jeff Pribich" userId="0e5cf97a831f06e4" providerId="LiveId" clId="{C1F387FD-0BB0-4348-AF7E-3A566070806F}" dt="2025-09-12T16:58:15.244" v="2500" actId="1036"/>
          <ac:spMkLst>
            <pc:docMk/>
            <pc:sldMk cId="2649615087" sldId="429"/>
            <ac:spMk id="23" creationId="{285F4A3D-CFE6-4D07-9366-7C19C1441162}"/>
          </ac:spMkLst>
        </pc:spChg>
        <pc:spChg chg="add mod ord">
          <ac:chgData name="Jeff Pribich" userId="0e5cf97a831f06e4" providerId="LiveId" clId="{C1F387FD-0BB0-4348-AF7E-3A566070806F}" dt="2025-09-12T17:26:10.687" v="2938" actId="167"/>
          <ac:spMkLst>
            <pc:docMk/>
            <pc:sldMk cId="2649615087" sldId="429"/>
            <ac:spMk id="28" creationId="{B0D90E7B-A653-5110-8640-4A38BB7CC332}"/>
          </ac:spMkLst>
        </pc:spChg>
        <pc:cxnChg chg="mod">
          <ac:chgData name="Jeff Pribich" userId="0e5cf97a831f06e4" providerId="LiveId" clId="{C1F387FD-0BB0-4348-AF7E-3A566070806F}" dt="2025-09-12T17:26:51.466" v="2942" actId="692"/>
          <ac:cxnSpMkLst>
            <pc:docMk/>
            <pc:sldMk cId="2649615087" sldId="429"/>
            <ac:cxnSpMk id="6" creationId="{CB7962B3-9854-0B1D-F3ED-1598F468CA53}"/>
          </ac:cxnSpMkLst>
        </pc:cxnChg>
        <pc:cxnChg chg="add mod">
          <ac:chgData name="Jeff Pribich" userId="0e5cf97a831f06e4" providerId="LiveId" clId="{C1F387FD-0BB0-4348-AF7E-3A566070806F}" dt="2025-09-13T13:35:24.160" v="3179" actId="1036"/>
          <ac:cxnSpMkLst>
            <pc:docMk/>
            <pc:sldMk cId="2649615087" sldId="429"/>
            <ac:cxnSpMk id="27" creationId="{EB16DD46-5121-978E-0A92-D35091F9E4F6}"/>
          </ac:cxnSpMkLst>
        </pc:cxnChg>
      </pc:sldChg>
      <pc:sldChg chg="ord">
        <pc:chgData name="Jeff Pribich" userId="0e5cf97a831f06e4" providerId="LiveId" clId="{C1F387FD-0BB0-4348-AF7E-3A566070806F}" dt="2025-09-12T17:05:38.890" v="2802"/>
        <pc:sldMkLst>
          <pc:docMk/>
          <pc:sldMk cId="25378683" sldId="430"/>
        </pc:sldMkLst>
      </pc:sldChg>
      <pc:sldChg chg="addSp delSp modSp add mod">
        <pc:chgData name="Jeff Pribich" userId="0e5cf97a831f06e4" providerId="LiveId" clId="{C1F387FD-0BB0-4348-AF7E-3A566070806F}" dt="2025-09-11T21:28:51.162" v="7" actId="167"/>
        <pc:sldMkLst>
          <pc:docMk/>
          <pc:sldMk cId="126367339" sldId="442"/>
        </pc:sldMkLst>
        <pc:spChg chg="add mod ord">
          <ac:chgData name="Jeff Pribich" userId="0e5cf97a831f06e4" providerId="LiveId" clId="{C1F387FD-0BB0-4348-AF7E-3A566070806F}" dt="2025-09-11T21:28:51.162" v="7" actId="167"/>
          <ac:spMkLst>
            <pc:docMk/>
            <pc:sldMk cId="126367339" sldId="442"/>
            <ac:spMk id="2" creationId="{F353679B-8D31-98CB-98E4-5DFCD69F883B}"/>
          </ac:spMkLst>
        </pc:spChg>
      </pc:sldChg>
      <pc:sldChg chg="addSp delSp modSp add mod ord">
        <pc:chgData name="Jeff Pribich" userId="0e5cf97a831f06e4" providerId="LiveId" clId="{C1F387FD-0BB0-4348-AF7E-3A566070806F}" dt="2025-09-13T13:27:43.649" v="2987" actId="1076"/>
        <pc:sldMkLst>
          <pc:docMk/>
          <pc:sldMk cId="1715910782" sldId="443"/>
        </pc:sldMkLst>
        <pc:spChg chg="mod">
          <ac:chgData name="Jeff Pribich" userId="0e5cf97a831f06e4" providerId="LiveId" clId="{C1F387FD-0BB0-4348-AF7E-3A566070806F}" dt="2025-09-11T21:49:10.664" v="537" actId="5793"/>
          <ac:spMkLst>
            <pc:docMk/>
            <pc:sldMk cId="1715910782" sldId="443"/>
            <ac:spMk id="7" creationId="{19E04D01-1800-4D57-D31F-4F4399651D18}"/>
          </ac:spMkLst>
        </pc:spChg>
        <pc:spChg chg="mod">
          <ac:chgData name="Jeff Pribich" userId="0e5cf97a831f06e4" providerId="LiveId" clId="{C1F387FD-0BB0-4348-AF7E-3A566070806F}" dt="2025-09-11T21:50:21.519" v="539" actId="115"/>
          <ac:spMkLst>
            <pc:docMk/>
            <pc:sldMk cId="1715910782" sldId="443"/>
            <ac:spMk id="10" creationId="{04467D08-CC1B-535E-D35F-10C8CECAD2FD}"/>
          </ac:spMkLst>
        </pc:spChg>
        <pc:spChg chg="add mod ord">
          <ac:chgData name="Jeff Pribich" userId="0e5cf97a831f06e4" providerId="LiveId" clId="{C1F387FD-0BB0-4348-AF7E-3A566070806F}" dt="2025-09-11T21:30:08.954" v="15" actId="167"/>
          <ac:spMkLst>
            <pc:docMk/>
            <pc:sldMk cId="1715910782" sldId="443"/>
            <ac:spMk id="13" creationId="{E43BC00F-5E98-F9F6-7E7E-62E68CCAEFF7}"/>
          </ac:spMkLst>
        </pc:spChg>
        <pc:spChg chg="add mod">
          <ac:chgData name="Jeff Pribich" userId="0e5cf97a831f06e4" providerId="LiveId" clId="{C1F387FD-0BB0-4348-AF7E-3A566070806F}" dt="2025-09-12T17:05:49.077" v="2819" actId="20577"/>
          <ac:spMkLst>
            <pc:docMk/>
            <pc:sldMk cId="1715910782" sldId="443"/>
            <ac:spMk id="16" creationId="{EBD57BFB-8FF6-A5A0-BA76-962B52346C42}"/>
          </ac:spMkLst>
        </pc:spChg>
        <pc:spChg chg="mod">
          <ac:chgData name="Jeff Pribich" userId="0e5cf97a831f06e4" providerId="LiveId" clId="{C1F387FD-0BB0-4348-AF7E-3A566070806F}" dt="2025-09-11T21:36:32.646" v="435" actId="115"/>
          <ac:spMkLst>
            <pc:docMk/>
            <pc:sldMk cId="1715910782" sldId="443"/>
            <ac:spMk id="37" creationId="{45CE4B0E-C273-7E9B-47FF-702D688F65C3}"/>
          </ac:spMkLst>
        </pc:spChg>
        <pc:spChg chg="mod">
          <ac:chgData name="Jeff Pribich" userId="0e5cf97a831f06e4" providerId="LiveId" clId="{C1F387FD-0BB0-4348-AF7E-3A566070806F}" dt="2025-09-11T21:50:32.213" v="540" actId="6549"/>
          <ac:spMkLst>
            <pc:docMk/>
            <pc:sldMk cId="1715910782" sldId="443"/>
            <ac:spMk id="44" creationId="{C15E7068-5203-1AEB-7E73-DF3F67D586CA}"/>
          </ac:spMkLst>
        </pc:spChg>
        <pc:spChg chg="mod">
          <ac:chgData name="Jeff Pribich" userId="0e5cf97a831f06e4" providerId="LiveId" clId="{C1F387FD-0BB0-4348-AF7E-3A566070806F}" dt="2025-09-11T21:50:39.523" v="541" actId="6549"/>
          <ac:spMkLst>
            <pc:docMk/>
            <pc:sldMk cId="1715910782" sldId="443"/>
            <ac:spMk id="50" creationId="{670A1FB0-94D6-C484-6FE1-F1939F161D47}"/>
          </ac:spMkLst>
        </pc:spChg>
        <pc:spChg chg="mod">
          <ac:chgData name="Jeff Pribich" userId="0e5cf97a831f06e4" providerId="LiveId" clId="{C1F387FD-0BB0-4348-AF7E-3A566070806F}" dt="2025-09-11T21:36:49.504" v="438" actId="115"/>
          <ac:spMkLst>
            <pc:docMk/>
            <pc:sldMk cId="1715910782" sldId="443"/>
            <ac:spMk id="62" creationId="{FEA9886C-3288-1F50-280D-F00C16D65C38}"/>
          </ac:spMkLst>
        </pc:spChg>
        <pc:spChg chg="mod">
          <ac:chgData name="Jeff Pribich" userId="0e5cf97a831f06e4" providerId="LiveId" clId="{C1F387FD-0BB0-4348-AF7E-3A566070806F}" dt="2025-09-11T21:36:59.967" v="439" actId="115"/>
          <ac:spMkLst>
            <pc:docMk/>
            <pc:sldMk cId="1715910782" sldId="443"/>
            <ac:spMk id="68" creationId="{B9028383-C85C-9D3D-F0F6-65C799A5DCFA}"/>
          </ac:spMkLst>
        </pc:spChg>
        <pc:spChg chg="mod">
          <ac:chgData name="Jeff Pribich" userId="0e5cf97a831f06e4" providerId="LiveId" clId="{C1F387FD-0BB0-4348-AF7E-3A566070806F}" dt="2025-09-11T21:37:15.037" v="448" actId="20577"/>
          <ac:spMkLst>
            <pc:docMk/>
            <pc:sldMk cId="1715910782" sldId="443"/>
            <ac:spMk id="75" creationId="{05D1FB35-F24F-36C8-59AB-BA3107B397CE}"/>
          </ac:spMkLst>
        </pc:spChg>
        <pc:spChg chg="mod">
          <ac:chgData name="Jeff Pribich" userId="0e5cf97a831f06e4" providerId="LiveId" clId="{C1F387FD-0BB0-4348-AF7E-3A566070806F}" dt="2025-09-11T21:49:06.004" v="525" actId="20577"/>
          <ac:spMkLst>
            <pc:docMk/>
            <pc:sldMk cId="1715910782" sldId="443"/>
            <ac:spMk id="83" creationId="{74A31CF7-F335-7E5E-2AA2-597E2AC76F72}"/>
          </ac:spMkLst>
        </pc:spChg>
        <pc:grpChg chg="mod">
          <ac:chgData name="Jeff Pribich" userId="0e5cf97a831f06e4" providerId="LiveId" clId="{C1F387FD-0BB0-4348-AF7E-3A566070806F}" dt="2025-09-11T21:34:44.597" v="270" actId="1076"/>
          <ac:grpSpMkLst>
            <pc:docMk/>
            <pc:sldMk cId="1715910782" sldId="443"/>
            <ac:grpSpMk id="57" creationId="{F6121D5E-4BC9-0FF1-19FB-C1D70FD27C90}"/>
          </ac:grpSpMkLst>
        </pc:grpChg>
        <pc:grpChg chg="mod">
          <ac:chgData name="Jeff Pribich" userId="0e5cf97a831f06e4" providerId="LiveId" clId="{C1F387FD-0BB0-4348-AF7E-3A566070806F}" dt="2025-09-11T21:38:25.097" v="450" actId="1076"/>
          <ac:grpSpMkLst>
            <pc:docMk/>
            <pc:sldMk cId="1715910782" sldId="443"/>
            <ac:grpSpMk id="78" creationId="{5C9C59F8-E1E5-A1D7-705F-583FA01581B8}"/>
          </ac:grpSpMkLst>
        </pc:grpChg>
        <pc:picChg chg="mod">
          <ac:chgData name="Jeff Pribich" userId="0e5cf97a831f06e4" providerId="LiveId" clId="{C1F387FD-0BB0-4348-AF7E-3A566070806F}" dt="2025-09-13T13:27:43.649" v="2987" actId="1076"/>
          <ac:picMkLst>
            <pc:docMk/>
            <pc:sldMk cId="1715910782" sldId="443"/>
            <ac:picMk id="6" creationId="{32BF4AFB-C3A9-45EF-70F4-82261C7D4B12}"/>
          </ac:picMkLst>
        </pc:picChg>
      </pc:sldChg>
      <pc:sldChg chg="add ord">
        <pc:chgData name="Jeff Pribich" userId="0e5cf97a831f06e4" providerId="LiveId" clId="{C1F387FD-0BB0-4348-AF7E-3A566070806F}" dt="2025-09-12T17:05:36.442" v="2800"/>
        <pc:sldMkLst>
          <pc:docMk/>
          <pc:sldMk cId="2180971717" sldId="444"/>
        </pc:sldMkLst>
      </pc:sldChg>
      <pc:sldChg chg="modSp add mod ord">
        <pc:chgData name="Jeff Pribich" userId="0e5cf97a831f06e4" providerId="LiveId" clId="{C1F387FD-0BB0-4348-AF7E-3A566070806F}" dt="2025-09-12T17:24:03.664" v="2932" actId="20577"/>
        <pc:sldMkLst>
          <pc:docMk/>
          <pc:sldMk cId="2071446290" sldId="445"/>
        </pc:sldMkLst>
        <pc:spChg chg="mod">
          <ac:chgData name="Jeff Pribich" userId="0e5cf97a831f06e4" providerId="LiveId" clId="{C1F387FD-0BB0-4348-AF7E-3A566070806F}" dt="2025-09-12T17:10:11.685" v="2853" actId="207"/>
          <ac:spMkLst>
            <pc:docMk/>
            <pc:sldMk cId="2071446290" sldId="445"/>
            <ac:spMk id="2" creationId="{108A26A2-08EC-65EC-4E40-31945B92C80F}"/>
          </ac:spMkLst>
        </pc:spChg>
        <pc:spChg chg="mod">
          <ac:chgData name="Jeff Pribich" userId="0e5cf97a831f06e4" providerId="LiveId" clId="{C1F387FD-0BB0-4348-AF7E-3A566070806F}" dt="2025-09-12T17:10:27.206" v="2855" actId="207"/>
          <ac:spMkLst>
            <pc:docMk/>
            <pc:sldMk cId="2071446290" sldId="445"/>
            <ac:spMk id="9" creationId="{BEDCC6FA-102E-08C3-1A85-A3356F78692D}"/>
          </ac:spMkLst>
        </pc:spChg>
        <pc:spChg chg="mod">
          <ac:chgData name="Jeff Pribich" userId="0e5cf97a831f06e4" providerId="LiveId" clId="{C1F387FD-0BB0-4348-AF7E-3A566070806F}" dt="2025-09-12T17:22:58.080" v="2917" actId="20577"/>
          <ac:spMkLst>
            <pc:docMk/>
            <pc:sldMk cId="2071446290" sldId="445"/>
            <ac:spMk id="10" creationId="{7C6ACCE0-D1B4-09FE-F4BA-F2E411721F5F}"/>
          </ac:spMkLst>
        </pc:spChg>
        <pc:spChg chg="mod">
          <ac:chgData name="Jeff Pribich" userId="0e5cf97a831f06e4" providerId="LiveId" clId="{C1F387FD-0BB0-4348-AF7E-3A566070806F}" dt="2025-09-12T17:23:54.332" v="2930" actId="20577"/>
          <ac:spMkLst>
            <pc:docMk/>
            <pc:sldMk cId="2071446290" sldId="445"/>
            <ac:spMk id="12" creationId="{298CD20A-5BB7-9094-5E1E-116953FCB743}"/>
          </ac:spMkLst>
        </pc:spChg>
        <pc:spChg chg="mod">
          <ac:chgData name="Jeff Pribich" userId="0e5cf97a831f06e4" providerId="LiveId" clId="{C1F387FD-0BB0-4348-AF7E-3A566070806F}" dt="2025-09-12T17:24:03.664" v="2932" actId="20577"/>
          <ac:spMkLst>
            <pc:docMk/>
            <pc:sldMk cId="2071446290" sldId="445"/>
            <ac:spMk id="16" creationId="{3C161FB3-C7C3-81D8-550C-E640A57EF6A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C34E0-E499-45DF-8FDF-D1D5D82760ED}" type="datetimeFigureOut">
              <a:rPr lang="en-US" smtClean="0"/>
              <a:t>9/11/2025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C4CF93-088C-458E-BDCF-17A2532F37A6}" type="slidenum">
              <a:rPr lang="en-US" smtClean="0"/>
              <a:t>‹#›</a:t>
            </a:fld>
            <a:endParaRPr lang="en-US"/>
          </a:p>
        </p:txBody>
      </p:sp>
    </p:spTree>
    <p:extLst>
      <p:ext uri="{BB962C8B-B14F-4D97-AF65-F5344CB8AC3E}">
        <p14:creationId xmlns:p14="http://schemas.microsoft.com/office/powerpoint/2010/main" val="1099817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C4CF93-088C-458E-BDCF-17A2532F37A6}" type="slidenum">
              <a:rPr lang="en-US" smtClean="0"/>
              <a:t>16</a:t>
            </a:fld>
            <a:endParaRPr lang="en-US"/>
          </a:p>
        </p:txBody>
      </p:sp>
    </p:spTree>
    <p:extLst>
      <p:ext uri="{BB962C8B-B14F-4D97-AF65-F5344CB8AC3E}">
        <p14:creationId xmlns:p14="http://schemas.microsoft.com/office/powerpoint/2010/main" val="2433076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BF514-7E25-4FA9-AA4F-B00DEB8716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055CE9-0ACB-4DA3-AD22-E8FA7994D8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F6E141-E028-4EF0-B663-C9091834D638}"/>
              </a:ext>
            </a:extLst>
          </p:cNvPr>
          <p:cNvSpPr>
            <a:spLocks noGrp="1"/>
          </p:cNvSpPr>
          <p:nvPr>
            <p:ph type="dt" sz="half" idx="10"/>
          </p:nvPr>
        </p:nvSpPr>
        <p:spPr/>
        <p:txBody>
          <a:bodyPr/>
          <a:lstStyle/>
          <a:p>
            <a:fld id="{07671303-5120-427B-ADA1-202FEF71DF8F}" type="datetimeFigureOut">
              <a:rPr lang="en-US" smtClean="0"/>
              <a:t>9/11/2025</a:t>
            </a:fld>
            <a:endParaRPr lang="en-US"/>
          </a:p>
        </p:txBody>
      </p:sp>
      <p:sp>
        <p:nvSpPr>
          <p:cNvPr id="5" name="Footer Placeholder 4">
            <a:extLst>
              <a:ext uri="{FF2B5EF4-FFF2-40B4-BE49-F238E27FC236}">
                <a16:creationId xmlns:a16="http://schemas.microsoft.com/office/drawing/2014/main" id="{862B91BD-C7CA-494F-8F65-2DB31F622E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DB9D41-B663-4BF5-B0D4-94CBDEF072FE}"/>
              </a:ext>
            </a:extLst>
          </p:cNvPr>
          <p:cNvSpPr>
            <a:spLocks noGrp="1"/>
          </p:cNvSpPr>
          <p:nvPr>
            <p:ph type="sldNum" sz="quarter" idx="12"/>
          </p:nvPr>
        </p:nvSpPr>
        <p:spPr/>
        <p:txBody>
          <a:bodyPr/>
          <a:lstStyle/>
          <a:p>
            <a:fld id="{38A96455-C2B6-4C02-B23C-EACFF4C8AFAF}" type="slidenum">
              <a:rPr lang="en-US" smtClean="0"/>
              <a:t>‹#›</a:t>
            </a:fld>
            <a:endParaRPr lang="en-US"/>
          </a:p>
        </p:txBody>
      </p:sp>
    </p:spTree>
    <p:extLst>
      <p:ext uri="{BB962C8B-B14F-4D97-AF65-F5344CB8AC3E}">
        <p14:creationId xmlns:p14="http://schemas.microsoft.com/office/powerpoint/2010/main" val="2408285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CA3B5-F26E-4E07-A70E-85F604C248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F69183-5A2C-4CA4-960A-560C1C8DD1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E0891F-0FF7-424D-82A8-F6B8549B1A3D}"/>
              </a:ext>
            </a:extLst>
          </p:cNvPr>
          <p:cNvSpPr>
            <a:spLocks noGrp="1"/>
          </p:cNvSpPr>
          <p:nvPr>
            <p:ph type="dt" sz="half" idx="10"/>
          </p:nvPr>
        </p:nvSpPr>
        <p:spPr/>
        <p:txBody>
          <a:bodyPr/>
          <a:lstStyle/>
          <a:p>
            <a:fld id="{07671303-5120-427B-ADA1-202FEF71DF8F}" type="datetimeFigureOut">
              <a:rPr lang="en-US" smtClean="0"/>
              <a:t>9/11/2025</a:t>
            </a:fld>
            <a:endParaRPr lang="en-US"/>
          </a:p>
        </p:txBody>
      </p:sp>
      <p:sp>
        <p:nvSpPr>
          <p:cNvPr id="5" name="Footer Placeholder 4">
            <a:extLst>
              <a:ext uri="{FF2B5EF4-FFF2-40B4-BE49-F238E27FC236}">
                <a16:creationId xmlns:a16="http://schemas.microsoft.com/office/drawing/2014/main" id="{7BCFF7F8-9B72-4763-81D1-5B693C22E5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9A3E8-86C5-414B-965F-DADA98F0E3C3}"/>
              </a:ext>
            </a:extLst>
          </p:cNvPr>
          <p:cNvSpPr>
            <a:spLocks noGrp="1"/>
          </p:cNvSpPr>
          <p:nvPr>
            <p:ph type="sldNum" sz="quarter" idx="12"/>
          </p:nvPr>
        </p:nvSpPr>
        <p:spPr/>
        <p:txBody>
          <a:bodyPr/>
          <a:lstStyle/>
          <a:p>
            <a:fld id="{38A96455-C2B6-4C02-B23C-EACFF4C8AFAF}" type="slidenum">
              <a:rPr lang="en-US" smtClean="0"/>
              <a:t>‹#›</a:t>
            </a:fld>
            <a:endParaRPr lang="en-US"/>
          </a:p>
        </p:txBody>
      </p:sp>
    </p:spTree>
    <p:extLst>
      <p:ext uri="{BB962C8B-B14F-4D97-AF65-F5344CB8AC3E}">
        <p14:creationId xmlns:p14="http://schemas.microsoft.com/office/powerpoint/2010/main" val="3221346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8D7A5-0027-4299-A389-9D15E16ADB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285106-79A0-4B21-94F6-4804CBA055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2045BC-C267-4171-B898-36EA273FEFF6}"/>
              </a:ext>
            </a:extLst>
          </p:cNvPr>
          <p:cNvSpPr>
            <a:spLocks noGrp="1"/>
          </p:cNvSpPr>
          <p:nvPr>
            <p:ph type="dt" sz="half" idx="10"/>
          </p:nvPr>
        </p:nvSpPr>
        <p:spPr/>
        <p:txBody>
          <a:bodyPr/>
          <a:lstStyle/>
          <a:p>
            <a:fld id="{07671303-5120-427B-ADA1-202FEF71DF8F}" type="datetimeFigureOut">
              <a:rPr lang="en-US" smtClean="0"/>
              <a:t>9/11/2025</a:t>
            </a:fld>
            <a:endParaRPr lang="en-US"/>
          </a:p>
        </p:txBody>
      </p:sp>
      <p:sp>
        <p:nvSpPr>
          <p:cNvPr id="5" name="Footer Placeholder 4">
            <a:extLst>
              <a:ext uri="{FF2B5EF4-FFF2-40B4-BE49-F238E27FC236}">
                <a16:creationId xmlns:a16="http://schemas.microsoft.com/office/drawing/2014/main" id="{3FBD9F2E-CE4A-476A-AE8B-169CD3DF7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F69280-DDD7-4BC8-B503-98D7E110E8E2}"/>
              </a:ext>
            </a:extLst>
          </p:cNvPr>
          <p:cNvSpPr>
            <a:spLocks noGrp="1"/>
          </p:cNvSpPr>
          <p:nvPr>
            <p:ph type="sldNum" sz="quarter" idx="12"/>
          </p:nvPr>
        </p:nvSpPr>
        <p:spPr/>
        <p:txBody>
          <a:bodyPr/>
          <a:lstStyle/>
          <a:p>
            <a:fld id="{38A96455-C2B6-4C02-B23C-EACFF4C8AFAF}" type="slidenum">
              <a:rPr lang="en-US" smtClean="0"/>
              <a:t>‹#›</a:t>
            </a:fld>
            <a:endParaRPr lang="en-US"/>
          </a:p>
        </p:txBody>
      </p:sp>
    </p:spTree>
    <p:extLst>
      <p:ext uri="{BB962C8B-B14F-4D97-AF65-F5344CB8AC3E}">
        <p14:creationId xmlns:p14="http://schemas.microsoft.com/office/powerpoint/2010/main" val="432629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D78B9-0FFC-436C-9809-3622E6D4F3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54F620-8610-487F-BF92-0AD6B795FC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2B6545-EE5E-4024-8FDE-CFD7B026AD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BB634C-C06A-4229-9D9E-A32B1B0D030D}"/>
              </a:ext>
            </a:extLst>
          </p:cNvPr>
          <p:cNvSpPr>
            <a:spLocks noGrp="1"/>
          </p:cNvSpPr>
          <p:nvPr>
            <p:ph type="dt" sz="half" idx="10"/>
          </p:nvPr>
        </p:nvSpPr>
        <p:spPr/>
        <p:txBody>
          <a:bodyPr/>
          <a:lstStyle/>
          <a:p>
            <a:fld id="{07671303-5120-427B-ADA1-202FEF71DF8F}" type="datetimeFigureOut">
              <a:rPr lang="en-US" smtClean="0"/>
              <a:t>9/11/2025</a:t>
            </a:fld>
            <a:endParaRPr lang="en-US"/>
          </a:p>
        </p:txBody>
      </p:sp>
      <p:sp>
        <p:nvSpPr>
          <p:cNvPr id="6" name="Footer Placeholder 5">
            <a:extLst>
              <a:ext uri="{FF2B5EF4-FFF2-40B4-BE49-F238E27FC236}">
                <a16:creationId xmlns:a16="http://schemas.microsoft.com/office/drawing/2014/main" id="{11E85707-5881-4936-972C-4B42DA7A3C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D0A19D-A5B0-44F1-B1DB-030DC8462047}"/>
              </a:ext>
            </a:extLst>
          </p:cNvPr>
          <p:cNvSpPr>
            <a:spLocks noGrp="1"/>
          </p:cNvSpPr>
          <p:nvPr>
            <p:ph type="sldNum" sz="quarter" idx="12"/>
          </p:nvPr>
        </p:nvSpPr>
        <p:spPr/>
        <p:txBody>
          <a:bodyPr/>
          <a:lstStyle/>
          <a:p>
            <a:fld id="{38A96455-C2B6-4C02-B23C-EACFF4C8AFAF}" type="slidenum">
              <a:rPr lang="en-US" smtClean="0"/>
              <a:t>‹#›</a:t>
            </a:fld>
            <a:endParaRPr lang="en-US"/>
          </a:p>
        </p:txBody>
      </p:sp>
    </p:spTree>
    <p:extLst>
      <p:ext uri="{BB962C8B-B14F-4D97-AF65-F5344CB8AC3E}">
        <p14:creationId xmlns:p14="http://schemas.microsoft.com/office/powerpoint/2010/main" val="950878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83B58-FC7D-4E6B-8CFB-34327E8D01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05D4AA6-6EFE-441D-896D-DCAB131BEA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1088E7-3BC2-4EFA-8462-932C6637CA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311CED-730C-479A-8E31-2B4AFC672B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584DD-B6A7-42E8-A74F-40A4CACFDB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CDC62B-4489-4126-8D67-D5893DD38C93}"/>
              </a:ext>
            </a:extLst>
          </p:cNvPr>
          <p:cNvSpPr>
            <a:spLocks noGrp="1"/>
          </p:cNvSpPr>
          <p:nvPr>
            <p:ph type="dt" sz="half" idx="10"/>
          </p:nvPr>
        </p:nvSpPr>
        <p:spPr/>
        <p:txBody>
          <a:bodyPr/>
          <a:lstStyle/>
          <a:p>
            <a:fld id="{07671303-5120-427B-ADA1-202FEF71DF8F}" type="datetimeFigureOut">
              <a:rPr lang="en-US" smtClean="0"/>
              <a:t>9/11/2025</a:t>
            </a:fld>
            <a:endParaRPr lang="en-US"/>
          </a:p>
        </p:txBody>
      </p:sp>
      <p:sp>
        <p:nvSpPr>
          <p:cNvPr id="8" name="Footer Placeholder 7">
            <a:extLst>
              <a:ext uri="{FF2B5EF4-FFF2-40B4-BE49-F238E27FC236}">
                <a16:creationId xmlns:a16="http://schemas.microsoft.com/office/drawing/2014/main" id="{08CB6774-C3A9-4454-BD53-DD54615078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A27AE-9DD8-431C-848B-D96D210312EE}"/>
              </a:ext>
            </a:extLst>
          </p:cNvPr>
          <p:cNvSpPr>
            <a:spLocks noGrp="1"/>
          </p:cNvSpPr>
          <p:nvPr>
            <p:ph type="sldNum" sz="quarter" idx="12"/>
          </p:nvPr>
        </p:nvSpPr>
        <p:spPr/>
        <p:txBody>
          <a:bodyPr/>
          <a:lstStyle/>
          <a:p>
            <a:fld id="{38A96455-C2B6-4C02-B23C-EACFF4C8AFAF}" type="slidenum">
              <a:rPr lang="en-US" smtClean="0"/>
              <a:t>‹#›</a:t>
            </a:fld>
            <a:endParaRPr lang="en-US"/>
          </a:p>
        </p:txBody>
      </p:sp>
    </p:spTree>
    <p:extLst>
      <p:ext uri="{BB962C8B-B14F-4D97-AF65-F5344CB8AC3E}">
        <p14:creationId xmlns:p14="http://schemas.microsoft.com/office/powerpoint/2010/main" val="3052133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8F0140A-2936-4156-8118-964CEFDDF71E}"/>
              </a:ext>
            </a:extLst>
          </p:cNvPr>
          <p:cNvSpPr>
            <a:spLocks noGrp="1"/>
          </p:cNvSpPr>
          <p:nvPr>
            <p:ph type="dt" sz="half" idx="10"/>
          </p:nvPr>
        </p:nvSpPr>
        <p:spPr/>
        <p:txBody>
          <a:bodyPr/>
          <a:lstStyle/>
          <a:p>
            <a:fld id="{07671303-5120-427B-ADA1-202FEF71DF8F}" type="datetimeFigureOut">
              <a:rPr lang="en-US" smtClean="0"/>
              <a:t>9/11/2025</a:t>
            </a:fld>
            <a:endParaRPr lang="en-US"/>
          </a:p>
        </p:txBody>
      </p:sp>
      <p:sp>
        <p:nvSpPr>
          <p:cNvPr id="4" name="Footer Placeholder 3">
            <a:extLst>
              <a:ext uri="{FF2B5EF4-FFF2-40B4-BE49-F238E27FC236}">
                <a16:creationId xmlns:a16="http://schemas.microsoft.com/office/drawing/2014/main" id="{182AB85E-CF14-4D69-8491-869C998B36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CFBE8B-8989-4153-9CA7-AD53A8496AF1}"/>
              </a:ext>
            </a:extLst>
          </p:cNvPr>
          <p:cNvSpPr>
            <a:spLocks noGrp="1"/>
          </p:cNvSpPr>
          <p:nvPr>
            <p:ph type="sldNum" sz="quarter" idx="12"/>
          </p:nvPr>
        </p:nvSpPr>
        <p:spPr/>
        <p:txBody>
          <a:bodyPr/>
          <a:lstStyle/>
          <a:p>
            <a:fld id="{38A96455-C2B6-4C02-B23C-EACFF4C8AFAF}" type="slidenum">
              <a:rPr lang="en-US" smtClean="0"/>
              <a:t>‹#›</a:t>
            </a:fld>
            <a:endParaRPr lang="en-US"/>
          </a:p>
        </p:txBody>
      </p:sp>
    </p:spTree>
    <p:extLst>
      <p:ext uri="{BB962C8B-B14F-4D97-AF65-F5344CB8AC3E}">
        <p14:creationId xmlns:p14="http://schemas.microsoft.com/office/powerpoint/2010/main" val="3316842313"/>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BD4EDF-3ED6-40E9-A2A4-824DF56879D5}"/>
              </a:ext>
            </a:extLst>
          </p:cNvPr>
          <p:cNvSpPr>
            <a:spLocks noGrp="1"/>
          </p:cNvSpPr>
          <p:nvPr>
            <p:ph type="dt" sz="half" idx="10"/>
          </p:nvPr>
        </p:nvSpPr>
        <p:spPr/>
        <p:txBody>
          <a:bodyPr/>
          <a:lstStyle/>
          <a:p>
            <a:fld id="{07671303-5120-427B-ADA1-202FEF71DF8F}" type="datetimeFigureOut">
              <a:rPr lang="en-US" smtClean="0"/>
              <a:t>9/11/2025</a:t>
            </a:fld>
            <a:endParaRPr lang="en-US"/>
          </a:p>
        </p:txBody>
      </p:sp>
      <p:sp>
        <p:nvSpPr>
          <p:cNvPr id="3" name="Footer Placeholder 2">
            <a:extLst>
              <a:ext uri="{FF2B5EF4-FFF2-40B4-BE49-F238E27FC236}">
                <a16:creationId xmlns:a16="http://schemas.microsoft.com/office/drawing/2014/main" id="{34235E18-C756-44FF-B565-B5458CB76012}"/>
              </a:ext>
            </a:extLst>
          </p:cNvPr>
          <p:cNvSpPr>
            <a:spLocks noGrp="1"/>
          </p:cNvSpPr>
          <p:nvPr>
            <p:ph type="ftr" sz="quarter" idx="11"/>
          </p:nvPr>
        </p:nvSpPr>
        <p:spPr/>
        <p:txBody>
          <a:bodyPr/>
          <a:lstStyle/>
          <a:p>
            <a:r>
              <a:rPr lang="en-US" dirty="0"/>
              <a:t>FUCK YOU</a:t>
            </a:r>
          </a:p>
        </p:txBody>
      </p:sp>
      <p:sp>
        <p:nvSpPr>
          <p:cNvPr id="4" name="Slide Number Placeholder 3">
            <a:extLst>
              <a:ext uri="{FF2B5EF4-FFF2-40B4-BE49-F238E27FC236}">
                <a16:creationId xmlns:a16="http://schemas.microsoft.com/office/drawing/2014/main" id="{1AD6F465-6811-4333-873A-B12964490688}"/>
              </a:ext>
            </a:extLst>
          </p:cNvPr>
          <p:cNvSpPr>
            <a:spLocks noGrp="1"/>
          </p:cNvSpPr>
          <p:nvPr>
            <p:ph type="sldNum" sz="quarter" idx="12"/>
          </p:nvPr>
        </p:nvSpPr>
        <p:spPr/>
        <p:txBody>
          <a:bodyPr/>
          <a:lstStyle/>
          <a:p>
            <a:fld id="{38A96455-C2B6-4C02-B23C-EACFF4C8AFAF}" type="slidenum">
              <a:rPr lang="en-US" smtClean="0"/>
              <a:t>‹#›</a:t>
            </a:fld>
            <a:endParaRPr lang="en-US"/>
          </a:p>
        </p:txBody>
      </p:sp>
    </p:spTree>
    <p:extLst>
      <p:ext uri="{BB962C8B-B14F-4D97-AF65-F5344CB8AC3E}">
        <p14:creationId xmlns:p14="http://schemas.microsoft.com/office/powerpoint/2010/main" val="1306727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C7636-1E1B-45C3-9D59-B1892937AC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88B042-3D2E-4DB6-A17D-5DDC23DFEA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3FFE25-785E-40D7-B909-EABB2224EB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E11991-2EDA-4BF2-A4E0-6149E8AC52B8}"/>
              </a:ext>
            </a:extLst>
          </p:cNvPr>
          <p:cNvSpPr>
            <a:spLocks noGrp="1"/>
          </p:cNvSpPr>
          <p:nvPr>
            <p:ph type="dt" sz="half" idx="10"/>
          </p:nvPr>
        </p:nvSpPr>
        <p:spPr/>
        <p:txBody>
          <a:bodyPr/>
          <a:lstStyle/>
          <a:p>
            <a:fld id="{07671303-5120-427B-ADA1-202FEF71DF8F}" type="datetimeFigureOut">
              <a:rPr lang="en-US" smtClean="0"/>
              <a:t>9/11/2025</a:t>
            </a:fld>
            <a:endParaRPr lang="en-US"/>
          </a:p>
        </p:txBody>
      </p:sp>
      <p:sp>
        <p:nvSpPr>
          <p:cNvPr id="6" name="Footer Placeholder 5">
            <a:extLst>
              <a:ext uri="{FF2B5EF4-FFF2-40B4-BE49-F238E27FC236}">
                <a16:creationId xmlns:a16="http://schemas.microsoft.com/office/drawing/2014/main" id="{DAA720FD-9F14-4024-A91B-18E1408B76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C9AC20-6CBE-4CEC-9468-7E9FCB0AB10B}"/>
              </a:ext>
            </a:extLst>
          </p:cNvPr>
          <p:cNvSpPr>
            <a:spLocks noGrp="1"/>
          </p:cNvSpPr>
          <p:nvPr>
            <p:ph type="sldNum" sz="quarter" idx="12"/>
          </p:nvPr>
        </p:nvSpPr>
        <p:spPr/>
        <p:txBody>
          <a:bodyPr/>
          <a:lstStyle/>
          <a:p>
            <a:fld id="{38A96455-C2B6-4C02-B23C-EACFF4C8AFAF}" type="slidenum">
              <a:rPr lang="en-US" smtClean="0"/>
              <a:t>‹#›</a:t>
            </a:fld>
            <a:endParaRPr lang="en-US"/>
          </a:p>
        </p:txBody>
      </p:sp>
    </p:spTree>
    <p:extLst>
      <p:ext uri="{BB962C8B-B14F-4D97-AF65-F5344CB8AC3E}">
        <p14:creationId xmlns:p14="http://schemas.microsoft.com/office/powerpoint/2010/main" val="891583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1AC2F-6461-4BAF-A5F4-5BBDE8C2AA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C3039C-3F36-436E-9F88-B771497A6A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F5530A-657B-4471-9E72-9B2568F19C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0CA912-AAE7-4796-BB65-D99F1A2DB3D3}"/>
              </a:ext>
            </a:extLst>
          </p:cNvPr>
          <p:cNvSpPr>
            <a:spLocks noGrp="1"/>
          </p:cNvSpPr>
          <p:nvPr>
            <p:ph type="dt" sz="half" idx="10"/>
          </p:nvPr>
        </p:nvSpPr>
        <p:spPr/>
        <p:txBody>
          <a:bodyPr/>
          <a:lstStyle/>
          <a:p>
            <a:fld id="{07671303-5120-427B-ADA1-202FEF71DF8F}" type="datetimeFigureOut">
              <a:rPr lang="en-US" smtClean="0"/>
              <a:t>9/11/2025</a:t>
            </a:fld>
            <a:endParaRPr lang="en-US"/>
          </a:p>
        </p:txBody>
      </p:sp>
      <p:sp>
        <p:nvSpPr>
          <p:cNvPr id="6" name="Footer Placeholder 5">
            <a:extLst>
              <a:ext uri="{FF2B5EF4-FFF2-40B4-BE49-F238E27FC236}">
                <a16:creationId xmlns:a16="http://schemas.microsoft.com/office/drawing/2014/main" id="{051C2983-042E-497A-BCC0-9B269C3F4F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AC16B0-5CC0-4E86-9928-2DC554EC2E75}"/>
              </a:ext>
            </a:extLst>
          </p:cNvPr>
          <p:cNvSpPr>
            <a:spLocks noGrp="1"/>
          </p:cNvSpPr>
          <p:nvPr>
            <p:ph type="sldNum" sz="quarter" idx="12"/>
          </p:nvPr>
        </p:nvSpPr>
        <p:spPr/>
        <p:txBody>
          <a:bodyPr/>
          <a:lstStyle/>
          <a:p>
            <a:fld id="{38A96455-C2B6-4C02-B23C-EACFF4C8AFAF}" type="slidenum">
              <a:rPr lang="en-US" smtClean="0"/>
              <a:t>‹#›</a:t>
            </a:fld>
            <a:endParaRPr lang="en-US"/>
          </a:p>
        </p:txBody>
      </p:sp>
    </p:spTree>
    <p:extLst>
      <p:ext uri="{BB962C8B-B14F-4D97-AF65-F5344CB8AC3E}">
        <p14:creationId xmlns:p14="http://schemas.microsoft.com/office/powerpoint/2010/main" val="3086847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4B9C6-647E-4DFC-ACB3-254496F106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0683E9-E42A-473C-B08F-71784F89EB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ADC593-A498-40E8-98DA-4C6D49F10667}"/>
              </a:ext>
            </a:extLst>
          </p:cNvPr>
          <p:cNvSpPr>
            <a:spLocks noGrp="1"/>
          </p:cNvSpPr>
          <p:nvPr>
            <p:ph type="dt" sz="half" idx="10"/>
          </p:nvPr>
        </p:nvSpPr>
        <p:spPr/>
        <p:txBody>
          <a:bodyPr/>
          <a:lstStyle/>
          <a:p>
            <a:fld id="{07671303-5120-427B-ADA1-202FEF71DF8F}" type="datetimeFigureOut">
              <a:rPr lang="en-US" smtClean="0"/>
              <a:t>9/11/2025</a:t>
            </a:fld>
            <a:endParaRPr lang="en-US"/>
          </a:p>
        </p:txBody>
      </p:sp>
      <p:sp>
        <p:nvSpPr>
          <p:cNvPr id="5" name="Footer Placeholder 4">
            <a:extLst>
              <a:ext uri="{FF2B5EF4-FFF2-40B4-BE49-F238E27FC236}">
                <a16:creationId xmlns:a16="http://schemas.microsoft.com/office/drawing/2014/main" id="{96B5494F-620E-4D8B-B2B5-6393EB1855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B7ECBC-EAEC-413B-BBF9-17A369C217E3}"/>
              </a:ext>
            </a:extLst>
          </p:cNvPr>
          <p:cNvSpPr>
            <a:spLocks noGrp="1"/>
          </p:cNvSpPr>
          <p:nvPr>
            <p:ph type="sldNum" sz="quarter" idx="12"/>
          </p:nvPr>
        </p:nvSpPr>
        <p:spPr/>
        <p:txBody>
          <a:bodyPr/>
          <a:lstStyle/>
          <a:p>
            <a:fld id="{38A96455-C2B6-4C02-B23C-EACFF4C8AFAF}" type="slidenum">
              <a:rPr lang="en-US" smtClean="0"/>
              <a:t>‹#›</a:t>
            </a:fld>
            <a:endParaRPr lang="en-US"/>
          </a:p>
        </p:txBody>
      </p:sp>
    </p:spTree>
    <p:extLst>
      <p:ext uri="{BB962C8B-B14F-4D97-AF65-F5344CB8AC3E}">
        <p14:creationId xmlns:p14="http://schemas.microsoft.com/office/powerpoint/2010/main" val="1741716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E84537-C53F-4D2D-834B-3C83995CB4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AA2E7F-7102-40BC-A462-0EBF352C83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DA854D-7971-4EBB-BA8C-20BFEB14C289}"/>
              </a:ext>
            </a:extLst>
          </p:cNvPr>
          <p:cNvSpPr>
            <a:spLocks noGrp="1"/>
          </p:cNvSpPr>
          <p:nvPr>
            <p:ph type="dt" sz="half" idx="10"/>
          </p:nvPr>
        </p:nvSpPr>
        <p:spPr/>
        <p:txBody>
          <a:bodyPr/>
          <a:lstStyle/>
          <a:p>
            <a:fld id="{07671303-5120-427B-ADA1-202FEF71DF8F}" type="datetimeFigureOut">
              <a:rPr lang="en-US" smtClean="0"/>
              <a:t>9/11/2025</a:t>
            </a:fld>
            <a:endParaRPr lang="en-US"/>
          </a:p>
        </p:txBody>
      </p:sp>
      <p:sp>
        <p:nvSpPr>
          <p:cNvPr id="5" name="Footer Placeholder 4">
            <a:extLst>
              <a:ext uri="{FF2B5EF4-FFF2-40B4-BE49-F238E27FC236}">
                <a16:creationId xmlns:a16="http://schemas.microsoft.com/office/drawing/2014/main" id="{537D8E0D-ECE8-456B-93D6-AC03494E20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8F6AA-0E32-41F4-8E06-02FA2521AA99}"/>
              </a:ext>
            </a:extLst>
          </p:cNvPr>
          <p:cNvSpPr>
            <a:spLocks noGrp="1"/>
          </p:cNvSpPr>
          <p:nvPr>
            <p:ph type="sldNum" sz="quarter" idx="12"/>
          </p:nvPr>
        </p:nvSpPr>
        <p:spPr/>
        <p:txBody>
          <a:bodyPr/>
          <a:lstStyle/>
          <a:p>
            <a:fld id="{38A96455-C2B6-4C02-B23C-EACFF4C8AFAF}" type="slidenum">
              <a:rPr lang="en-US" smtClean="0"/>
              <a:t>‹#›</a:t>
            </a:fld>
            <a:endParaRPr lang="en-US"/>
          </a:p>
        </p:txBody>
      </p:sp>
    </p:spTree>
    <p:extLst>
      <p:ext uri="{BB962C8B-B14F-4D97-AF65-F5344CB8AC3E}">
        <p14:creationId xmlns:p14="http://schemas.microsoft.com/office/powerpoint/2010/main" val="1572880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293934-34D8-4391-92D7-DFB146187C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332EA8-3D24-48AF-95C8-0DA782171B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31F40-0E4C-4609-856B-8EEB876C9D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671303-5120-427B-ADA1-202FEF71DF8F}" type="datetimeFigureOut">
              <a:rPr lang="en-US" smtClean="0"/>
              <a:t>9/11/2025</a:t>
            </a:fld>
            <a:endParaRPr lang="en-US"/>
          </a:p>
        </p:txBody>
      </p:sp>
      <p:sp>
        <p:nvSpPr>
          <p:cNvPr id="5" name="Footer Placeholder 4">
            <a:extLst>
              <a:ext uri="{FF2B5EF4-FFF2-40B4-BE49-F238E27FC236}">
                <a16:creationId xmlns:a16="http://schemas.microsoft.com/office/drawing/2014/main" id="{F4095B61-EF22-4793-A9EE-880E447303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C51699C-934C-402A-B945-C34145E8CD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A96455-C2B6-4C02-B23C-EACFF4C8AFAF}" type="slidenum">
              <a:rPr lang="en-US" smtClean="0"/>
              <a:t>‹#›</a:t>
            </a:fld>
            <a:endParaRPr lang="en-US"/>
          </a:p>
        </p:txBody>
      </p:sp>
    </p:spTree>
    <p:extLst>
      <p:ext uri="{BB962C8B-B14F-4D97-AF65-F5344CB8AC3E}">
        <p14:creationId xmlns:p14="http://schemas.microsoft.com/office/powerpoint/2010/main" val="4131950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22.xml"/><Relationship Id="rId13" Type="http://schemas.openxmlformats.org/officeDocument/2006/relationships/image" Target="../media/image2.png"/><Relationship Id="rId3" Type="http://schemas.openxmlformats.org/officeDocument/2006/relationships/slide" Target="slide8.xml"/><Relationship Id="rId7" Type="http://schemas.openxmlformats.org/officeDocument/2006/relationships/slide" Target="slide9.xml"/><Relationship Id="rId12"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slide" Target="slide15.xml"/><Relationship Id="rId11" Type="http://schemas.openxmlformats.org/officeDocument/2006/relationships/image" Target="../media/image3.png"/><Relationship Id="rId5" Type="http://schemas.openxmlformats.org/officeDocument/2006/relationships/slide" Target="slide7.xml"/><Relationship Id="rId10" Type="http://schemas.openxmlformats.org/officeDocument/2006/relationships/slide" Target="slide34.xml"/><Relationship Id="rId4" Type="http://schemas.openxmlformats.org/officeDocument/2006/relationships/slide" Target="slide6.xml"/><Relationship Id="rId9" Type="http://schemas.openxmlformats.org/officeDocument/2006/relationships/slide" Target="slide28.xml"/><Relationship Id="rId14" Type="http://schemas.openxmlformats.org/officeDocument/2006/relationships/slide" Target="slide6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hyperlink" Target="https://www.ibm.com/products/environmental-intelligence-suite" TargetMode="External"/><Relationship Id="rId2" Type="http://schemas.openxmlformats.org/officeDocument/2006/relationships/image" Target="../media/image20.jpeg"/><Relationship Id="rId1" Type="http://schemas.openxmlformats.org/officeDocument/2006/relationships/slideLayout" Target="../slideLayouts/slideLayout7.xml"/><Relationship Id="rId5" Type="http://schemas.openxmlformats.org/officeDocument/2006/relationships/image" Target="../media/image25.jpe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4" Type="http://schemas.openxmlformats.org/officeDocument/2006/relationships/image" Target="../media/image28.jpeg"/></Relationships>
</file>

<file path=ppt/slides/_rels/slide14.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29.png"/><Relationship Id="rId7" Type="http://schemas.openxmlformats.org/officeDocument/2006/relationships/image" Target="../media/image26.jpe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2.jpeg"/><Relationship Id="rId5" Type="http://schemas.openxmlformats.org/officeDocument/2006/relationships/image" Target="../media/image31.png"/><Relationship Id="rId4" Type="http://schemas.openxmlformats.org/officeDocument/2006/relationships/image" Target="../media/image30.jpe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image" Target="../media/image35.jpe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23.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image" Target="../media/image36.jpeg"/><Relationship Id="rId1" Type="http://schemas.openxmlformats.org/officeDocument/2006/relationships/slideLayout" Target="../slideLayouts/slideLayout7.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43.jpeg"/><Relationship Id="rId1" Type="http://schemas.openxmlformats.org/officeDocument/2006/relationships/slideLayout" Target="../slideLayouts/slideLayout7.xml"/><Relationship Id="rId5" Type="http://schemas.openxmlformats.org/officeDocument/2006/relationships/image" Target="../media/image32.jpeg"/><Relationship Id="rId4" Type="http://schemas.openxmlformats.org/officeDocument/2006/relationships/image" Target="../media/image44.jpeg"/></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hyperlink" Target="https://www.google.com/search?sca_esv=c5a64250820e60ea&amp;sxsrf=AE3TifNq5cmkC1Wg_8HWsvucFqQkY_kQ7g%3A1752865892715&amp;q=microservices&amp;sa=X&amp;ved=2ahUKEwi5_v6mjseOAxUckYkEHTW-GqAQxccNegUIpgEQAQ&amp;mstk=AUtExfB7aXUaFStCN41L-X3vlZfr0OpJ1lwcxh7enPC32MKuiPpkHjLkmZRP2-GMnZfut5EBdPSwG7xm7rHucIbM7j2uNtW0YpchU8HCjRIwf45N0Uf7v47-5lgNrRLn2jthHTvFUrkJhOlORvJqp-r3w7ExZ3mEW5exLqCzqg9xfp-1JDssF-WQcX5G9LofyvQnw4lp9Ft_kXrZ2fubyQCF1UCgSSuEy2Mdj4uoNU3X13uLng3tfVZKuGzWe38T-2J39eXTv1LkvSFY6J0J_TeIrJiN&amp;csui=3"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jpeg"/><Relationship Id="rId7" Type="http://schemas.openxmlformats.org/officeDocument/2006/relationships/image" Target="../media/image52.jpeg"/><Relationship Id="rId2" Type="http://schemas.openxmlformats.org/officeDocument/2006/relationships/image" Target="../media/image47.jpe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jpeg"/><Relationship Id="rId4" Type="http://schemas.openxmlformats.org/officeDocument/2006/relationships/image" Target="../media/image49.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6.png"/><Relationship Id="rId7" Type="http://schemas.openxmlformats.org/officeDocument/2006/relationships/image" Target="../media/image15.png"/><Relationship Id="rId2" Type="http://schemas.openxmlformats.org/officeDocument/2006/relationships/image" Target="../media/image55.jpeg"/><Relationship Id="rId1" Type="http://schemas.openxmlformats.org/officeDocument/2006/relationships/slideLayout" Target="../slideLayouts/slideLayout7.xml"/><Relationship Id="rId6" Type="http://schemas.openxmlformats.org/officeDocument/2006/relationships/image" Target="../media/image59.jpeg"/><Relationship Id="rId5" Type="http://schemas.openxmlformats.org/officeDocument/2006/relationships/image" Target="../media/image58.jpeg"/><Relationship Id="rId4" Type="http://schemas.openxmlformats.org/officeDocument/2006/relationships/image" Target="../media/image57.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3.jpeg"/></Relationships>
</file>

<file path=ppt/slides/_rels/slide5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hyperlink" Target="https://www.google.com/search?sca_esv=bf58db3f14c3f703&amp;cs=0&amp;sxsrf=AHTn8zpMS_4GVQNsnNVq1_m1vrar2-Co1g%3A1746743983982&amp;q=HTTP+API+gateway&amp;sa=X&amp;ved=2ahUKEwiY0Zu1-JSNAxUVMtAFHaziFlsQxccNegQIHBAB&amp;mstk=AUtExfDmudsg5b_LOGrKa50Hy298-JQ59r3Zp2wQH0Gee9p5svOEhGCD5ax-isT0_oI61DWIUjNbk8bSfTcsZvvCuNzOn1mvWugO9pXI4zb-8kvRcZNOOnpdFdIqPHV3jHDVz1PZODhU2H7uPYyKm3-_933yixNJqMDrnvVcupd39Bwujd_a9u3Dy0nwW-WCA8nmORWChhWBHaUAvI5t63U4pzhAOSLqX-x2o2lydQyb4DATh3pEP_G-kbBDSTxDlpqlsty8lAowTIZ4m_mF5_rNttQN&amp;csui=3" TargetMode="Externa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jpeg"/><Relationship Id="rId1" Type="http://schemas.openxmlformats.org/officeDocument/2006/relationships/slideLayout" Target="../slideLayouts/slideLayout7.xml"/><Relationship Id="rId4" Type="http://schemas.openxmlformats.org/officeDocument/2006/relationships/image" Target="../media/image69.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Layout" Target="../slideLayouts/slideLayout7.xml"/><Relationship Id="rId5" Type="http://schemas.openxmlformats.org/officeDocument/2006/relationships/image" Target="../media/image74.png"/><Relationship Id="rId4" Type="http://schemas.openxmlformats.org/officeDocument/2006/relationships/image" Target="../media/image73.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lorful lights on a dark background&#10;&#10;Description automatically generated">
            <a:extLst>
              <a:ext uri="{FF2B5EF4-FFF2-40B4-BE49-F238E27FC236}">
                <a16:creationId xmlns:a16="http://schemas.microsoft.com/office/drawing/2014/main" id="{A01E60B8-7231-31D5-8378-54BD6E261E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64" y="4119"/>
            <a:ext cx="12209763" cy="6896061"/>
          </a:xfrm>
          <a:prstGeom prst="rect">
            <a:avLst/>
          </a:prstGeom>
        </p:spPr>
      </p:pic>
      <p:sp>
        <p:nvSpPr>
          <p:cNvPr id="8" name="Rectangle 7">
            <a:extLst>
              <a:ext uri="{FF2B5EF4-FFF2-40B4-BE49-F238E27FC236}">
                <a16:creationId xmlns:a16="http://schemas.microsoft.com/office/drawing/2014/main" id="{35A81460-B987-4D6C-AA58-C51E366FC2E7}"/>
              </a:ext>
            </a:extLst>
          </p:cNvPr>
          <p:cNvSpPr/>
          <p:nvPr/>
        </p:nvSpPr>
        <p:spPr>
          <a:xfrm>
            <a:off x="301377" y="998182"/>
            <a:ext cx="11076340" cy="2923877"/>
          </a:xfrm>
          <a:prstGeom prst="rect">
            <a:avLst/>
          </a:prstGeom>
          <a:noFill/>
          <a:effectLst/>
        </p:spPr>
        <p:txBody>
          <a:bodyPr wrap="square" lIns="91440" tIns="45720" rIns="91440" bIns="45720">
            <a:spAutoFit/>
          </a:bodyPr>
          <a:lstStyle/>
          <a:p>
            <a:pPr algn="ctr"/>
            <a:r>
              <a:rPr lang="en-US" sz="3200" b="1" dirty="0">
                <a:ln w="0"/>
                <a:solidFill>
                  <a:schemeClr val="bg1"/>
                </a:solidFill>
                <a:effectLst>
                  <a:outerShdw blurRad="38100" dist="19050" dir="2700000" algn="tl" rotWithShape="0">
                    <a:schemeClr val="dk1">
                      <a:alpha val="40000"/>
                    </a:schemeClr>
                  </a:outerShdw>
                </a:effectLst>
              </a:rPr>
              <a:t>       </a:t>
            </a:r>
            <a:r>
              <a:rPr lang="en-US" sz="4000" b="1" dirty="0">
                <a:ln w="0"/>
                <a:solidFill>
                  <a:schemeClr val="bg1"/>
                </a:solidFill>
                <a:effectLst>
                  <a:outerShdw blurRad="38100" dist="19050" dir="2700000" algn="tl" rotWithShape="0">
                    <a:schemeClr val="dk1">
                      <a:alpha val="40000"/>
                    </a:schemeClr>
                  </a:outerShdw>
                </a:effectLst>
              </a:rPr>
              <a:t>Use of Blockchain Technology</a:t>
            </a:r>
          </a:p>
          <a:p>
            <a:pPr algn="ctr"/>
            <a:r>
              <a:rPr lang="en-US" sz="3200" b="1" dirty="0">
                <a:ln w="0"/>
                <a:solidFill>
                  <a:schemeClr val="bg1"/>
                </a:solidFill>
                <a:effectLst>
                  <a:outerShdw blurRad="38100" dist="19050" dir="2700000" algn="tl" rotWithShape="0">
                    <a:schemeClr val="dk1">
                      <a:alpha val="40000"/>
                    </a:schemeClr>
                  </a:outerShdw>
                </a:effectLst>
              </a:rPr>
              <a:t>to</a:t>
            </a:r>
          </a:p>
          <a:p>
            <a:pPr algn="ctr"/>
            <a:r>
              <a:rPr lang="en-US" sz="4000" b="1" dirty="0">
                <a:ln w="0"/>
                <a:solidFill>
                  <a:schemeClr val="bg1"/>
                </a:solidFill>
                <a:effectLst>
                  <a:outerShdw blurRad="38100" dist="19050" dir="2700000" algn="tl" rotWithShape="0">
                    <a:schemeClr val="dk1">
                      <a:alpha val="40000"/>
                    </a:schemeClr>
                  </a:outerShdw>
                </a:effectLst>
              </a:rPr>
              <a:t>Remove Greenhouse Gas Emissions</a:t>
            </a:r>
          </a:p>
          <a:p>
            <a:pPr algn="ctr"/>
            <a:r>
              <a:rPr lang="en-US" sz="3200" b="1" dirty="0">
                <a:ln w="0"/>
                <a:solidFill>
                  <a:schemeClr val="bg1"/>
                </a:solidFill>
                <a:effectLst>
                  <a:outerShdw blurRad="38100" dist="19050" dir="2700000" algn="tl" rotWithShape="0">
                    <a:schemeClr val="dk1">
                      <a:alpha val="40000"/>
                    </a:schemeClr>
                  </a:outerShdw>
                </a:effectLst>
              </a:rPr>
              <a:t>from</a:t>
            </a:r>
          </a:p>
          <a:p>
            <a:pPr algn="ctr"/>
            <a:r>
              <a:rPr lang="en-US" sz="4000" b="1" dirty="0">
                <a:ln w="0"/>
                <a:solidFill>
                  <a:schemeClr val="bg1"/>
                </a:solidFill>
                <a:effectLst>
                  <a:outerShdw blurRad="38100" dist="19050" dir="2700000" algn="tl" rotWithShape="0">
                    <a:schemeClr val="dk1">
                      <a:alpha val="40000"/>
                    </a:schemeClr>
                  </a:outerShdw>
                </a:effectLst>
              </a:rPr>
              <a:t>Global Supply Chains</a:t>
            </a:r>
            <a:r>
              <a:rPr lang="en-US" sz="3200" b="1" dirty="0">
                <a:ln w="0"/>
                <a:solidFill>
                  <a:schemeClr val="bg1"/>
                </a:solidFill>
                <a:effectLst>
                  <a:outerShdw blurRad="38100" dist="19050" dir="2700000" algn="tl" rotWithShape="0">
                    <a:schemeClr val="dk1">
                      <a:alpha val="40000"/>
                    </a:schemeClr>
                  </a:outerShdw>
                </a:effectLst>
              </a:rPr>
              <a:t> </a:t>
            </a:r>
            <a:endPar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9" name="Subtitle 2">
            <a:extLst>
              <a:ext uri="{FF2B5EF4-FFF2-40B4-BE49-F238E27FC236}">
                <a16:creationId xmlns:a16="http://schemas.microsoft.com/office/drawing/2014/main" id="{0FE7B4B7-7F2F-4A01-AEE8-843781192E91}"/>
              </a:ext>
            </a:extLst>
          </p:cNvPr>
          <p:cNvSpPr txBox="1">
            <a:spLocks/>
          </p:cNvSpPr>
          <p:nvPr/>
        </p:nvSpPr>
        <p:spPr>
          <a:xfrm>
            <a:off x="9297619" y="47809"/>
            <a:ext cx="2721986" cy="4173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a:solidFill>
                  <a:schemeClr val="bg1"/>
                </a:solidFill>
                <a:highlight>
                  <a:srgbClr val="000080"/>
                </a:highlight>
              </a:rPr>
              <a:t> Sept 2025</a:t>
            </a:r>
          </a:p>
        </p:txBody>
      </p:sp>
      <p:cxnSp>
        <p:nvCxnSpPr>
          <p:cNvPr id="3" name="Straight Connector 2">
            <a:extLst>
              <a:ext uri="{FF2B5EF4-FFF2-40B4-BE49-F238E27FC236}">
                <a16:creationId xmlns:a16="http://schemas.microsoft.com/office/drawing/2014/main" id="{8C846A2D-92D5-A981-A941-EDB7841A3618}"/>
              </a:ext>
            </a:extLst>
          </p:cNvPr>
          <p:cNvCxnSpPr>
            <a:cxnSpLocks/>
          </p:cNvCxnSpPr>
          <p:nvPr/>
        </p:nvCxnSpPr>
        <p:spPr>
          <a:xfrm flipV="1">
            <a:off x="2974885" y="3995734"/>
            <a:ext cx="5396380" cy="20708"/>
          </a:xfrm>
          <a:prstGeom prst="line">
            <a:avLst/>
          </a:prstGeom>
          <a:ln w="25400">
            <a:solidFill>
              <a:srgbClr val="FFFF0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16B89A5-C6AF-BBA2-F164-F41B2183B876}"/>
              </a:ext>
            </a:extLst>
          </p:cNvPr>
          <p:cNvSpPr txBox="1"/>
          <p:nvPr/>
        </p:nvSpPr>
        <p:spPr>
          <a:xfrm>
            <a:off x="192576" y="171256"/>
            <a:ext cx="5314143" cy="800219"/>
          </a:xfrm>
          <a:prstGeom prst="rect">
            <a:avLst/>
          </a:prstGeom>
          <a:noFill/>
        </p:spPr>
        <p:txBody>
          <a:bodyPr wrap="square" rtlCol="0">
            <a:spAutoFit/>
          </a:bodyPr>
          <a:lstStyle/>
          <a:p>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LF Decentralized Trust(LFDT)</a:t>
            </a:r>
          </a:p>
          <a:p>
            <a:endParaRPr lang="en-US" dirty="0"/>
          </a:p>
        </p:txBody>
      </p:sp>
      <p:sp>
        <p:nvSpPr>
          <p:cNvPr id="12" name="TextBox 11">
            <a:extLst>
              <a:ext uri="{FF2B5EF4-FFF2-40B4-BE49-F238E27FC236}">
                <a16:creationId xmlns:a16="http://schemas.microsoft.com/office/drawing/2014/main" id="{48FFB87C-06A7-D5FB-CAAA-1E8866876FD3}"/>
              </a:ext>
            </a:extLst>
          </p:cNvPr>
          <p:cNvSpPr txBox="1"/>
          <p:nvPr/>
        </p:nvSpPr>
        <p:spPr>
          <a:xfrm>
            <a:off x="-73739" y="6042953"/>
            <a:ext cx="9577953" cy="646331"/>
          </a:xfrm>
          <a:prstGeom prst="rect">
            <a:avLst/>
          </a:prstGeom>
          <a:noFill/>
        </p:spPr>
        <p:txBody>
          <a:bodyPr wrap="square" rtlCol="0">
            <a:spAutoFit/>
          </a:bodyPr>
          <a:lstStyle/>
          <a:p>
            <a:r>
              <a:rPr lang="en-US" b="1" dirty="0">
                <a:solidFill>
                  <a:schemeClr val="bg1"/>
                </a:solidFill>
                <a:highlight>
                  <a:srgbClr val="000000"/>
                </a:highlight>
              </a:rPr>
              <a:t>Special Interest Groups   </a:t>
            </a:r>
          </a:p>
          <a:p>
            <a:r>
              <a:rPr lang="en-US" sz="1800" b="1" dirty="0">
                <a:ln w="0"/>
                <a:solidFill>
                  <a:schemeClr val="bg1"/>
                </a:solidFill>
                <a:effectLst>
                  <a:outerShdw blurRad="38100" dist="19050" dir="2700000" algn="tl" rotWithShape="0">
                    <a:schemeClr val="dk1">
                      <a:alpha val="40000"/>
                    </a:schemeClr>
                  </a:outerShdw>
                </a:effectLst>
                <a:highlight>
                  <a:srgbClr val="000000"/>
                </a:highlight>
              </a:rPr>
              <a:t>Supply Chain &amp; Trade Finance  </a:t>
            </a:r>
            <a:r>
              <a:rPr lang="en-US" b="1" dirty="0">
                <a:ln w="0"/>
                <a:solidFill>
                  <a:schemeClr val="bg1"/>
                </a:solidFill>
                <a:effectLst>
                  <a:outerShdw blurRad="38100" dist="19050" dir="2700000" algn="tl" rotWithShape="0">
                    <a:schemeClr val="dk1">
                      <a:alpha val="40000"/>
                    </a:schemeClr>
                  </a:outerShdw>
                </a:effectLst>
                <a:highlight>
                  <a:srgbClr val="000000"/>
                </a:highlight>
              </a:rPr>
              <a:t>/ </a:t>
            </a:r>
            <a:r>
              <a:rPr lang="en-US" sz="1800" b="1" dirty="0">
                <a:ln w="0"/>
                <a:solidFill>
                  <a:schemeClr val="bg1"/>
                </a:solidFill>
                <a:effectLst>
                  <a:outerShdw blurRad="38100" dist="19050" dir="2700000" algn="tl" rotWithShape="0">
                    <a:schemeClr val="dk1">
                      <a:alpha val="40000"/>
                    </a:schemeClr>
                  </a:outerShdw>
                </a:effectLst>
                <a:highlight>
                  <a:srgbClr val="000000"/>
                </a:highlight>
              </a:rPr>
              <a:t> Carbon Action and Accounting /  </a:t>
            </a:r>
            <a:r>
              <a:rPr lang="en-US" sz="1800" b="1" cap="none" spc="0" dirty="0">
                <a:ln w="0"/>
                <a:solidFill>
                  <a:schemeClr val="bg1"/>
                </a:solidFill>
                <a:effectLst>
                  <a:outerShdw blurRad="38100" dist="19050" dir="2700000" algn="tl" rotWithShape="0">
                    <a:schemeClr val="dk1">
                      <a:alpha val="40000"/>
                    </a:schemeClr>
                  </a:outerShdw>
                </a:effectLst>
                <a:highlight>
                  <a:srgbClr val="000000"/>
                </a:highlight>
              </a:rPr>
              <a:t>Standards WG     </a:t>
            </a:r>
            <a:endParaRPr lang="en-US" dirty="0">
              <a:solidFill>
                <a:schemeClr val="bg1"/>
              </a:solidFill>
              <a:highlight>
                <a:srgbClr val="000000"/>
              </a:highlight>
            </a:endParaRPr>
          </a:p>
        </p:txBody>
      </p:sp>
      <p:sp>
        <p:nvSpPr>
          <p:cNvPr id="13" name="TextBox 12">
            <a:extLst>
              <a:ext uri="{FF2B5EF4-FFF2-40B4-BE49-F238E27FC236}">
                <a16:creationId xmlns:a16="http://schemas.microsoft.com/office/drawing/2014/main" id="{79242E98-34FA-2819-598D-08FBF424B1C0}"/>
              </a:ext>
            </a:extLst>
          </p:cNvPr>
          <p:cNvSpPr txBox="1"/>
          <p:nvPr/>
        </p:nvSpPr>
        <p:spPr>
          <a:xfrm>
            <a:off x="4810760" y="3103880"/>
            <a:ext cx="914400" cy="914400"/>
          </a:xfrm>
          <a:prstGeom prst="rect">
            <a:avLst/>
          </a:prstGeom>
          <a:noFill/>
        </p:spPr>
        <p:txBody>
          <a:bodyPr wrap="square" rtlCol="0">
            <a:spAutoFit/>
          </a:bodyPr>
          <a:lstStyle/>
          <a:p>
            <a:endParaRPr lang="en-US" dirty="0"/>
          </a:p>
        </p:txBody>
      </p:sp>
      <p:pic>
        <p:nvPicPr>
          <p:cNvPr id="4" name="Picture 3" descr="A sphere with white text and dots&#10;&#10;Description automatically generated">
            <a:extLst>
              <a:ext uri="{FF2B5EF4-FFF2-40B4-BE49-F238E27FC236}">
                <a16:creationId xmlns:a16="http://schemas.microsoft.com/office/drawing/2014/main" id="{96A697E2-B167-6EC5-5D7B-F76DB6D581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07782" y="5590690"/>
            <a:ext cx="1273988" cy="1263191"/>
          </a:xfrm>
          <a:prstGeom prst="rect">
            <a:avLst/>
          </a:prstGeom>
        </p:spPr>
      </p:pic>
      <p:sp>
        <p:nvSpPr>
          <p:cNvPr id="5" name="TextBox 4">
            <a:extLst>
              <a:ext uri="{FF2B5EF4-FFF2-40B4-BE49-F238E27FC236}">
                <a16:creationId xmlns:a16="http://schemas.microsoft.com/office/drawing/2014/main" id="{71131074-DAB0-BADA-9D5D-3BEFACDB50C9}"/>
              </a:ext>
            </a:extLst>
          </p:cNvPr>
          <p:cNvSpPr txBox="1"/>
          <p:nvPr/>
        </p:nvSpPr>
        <p:spPr>
          <a:xfrm>
            <a:off x="1" y="4297316"/>
            <a:ext cx="12019604" cy="1354217"/>
          </a:xfrm>
          <a:prstGeom prst="rect">
            <a:avLst/>
          </a:prstGeom>
          <a:noFill/>
        </p:spPr>
        <p:txBody>
          <a:bodyPr wrap="square" rtlCol="0">
            <a:spAutoFit/>
          </a:bodyPr>
          <a:lstStyle/>
          <a:p>
            <a:pPr algn="ctr"/>
            <a:r>
              <a:rPr lang="en-US" sz="2800" b="1" dirty="0">
                <a:ln w="0"/>
                <a:solidFill>
                  <a:schemeClr val="bg1"/>
                </a:solidFill>
                <a:effectLst>
                  <a:outerShdw blurRad="38100" dist="19050" dir="2700000" algn="tl" rotWithShape="0">
                    <a:schemeClr val="dk1">
                      <a:alpha val="40000"/>
                    </a:schemeClr>
                  </a:outerShdw>
                </a:effectLst>
              </a:rPr>
              <a:t>Architecture  to develop a </a:t>
            </a:r>
            <a:r>
              <a:rPr lang="en-US" sz="3200" b="1" dirty="0">
                <a:ln w="0"/>
                <a:solidFill>
                  <a:srgbClr val="FFFF00"/>
                </a:solidFill>
                <a:effectLst>
                  <a:outerShdw blurRad="38100" dist="19050" dir="2700000" algn="tl" rotWithShape="0">
                    <a:schemeClr val="dk1">
                      <a:alpha val="40000"/>
                    </a:schemeClr>
                  </a:outerShdw>
                </a:effectLst>
              </a:rPr>
              <a:t>Digital Twin </a:t>
            </a:r>
            <a:r>
              <a:rPr lang="en-US" sz="2800" b="1" dirty="0">
                <a:ln w="0"/>
                <a:solidFill>
                  <a:schemeClr val="bg1"/>
                </a:solidFill>
                <a:effectLst>
                  <a:outerShdw blurRad="38100" dist="19050" dir="2700000" algn="tl" rotWithShape="0">
                    <a:schemeClr val="dk1">
                      <a:alpha val="40000"/>
                    </a:schemeClr>
                  </a:outerShdw>
                </a:effectLst>
              </a:rPr>
              <a:t>for </a:t>
            </a:r>
            <a:r>
              <a:rPr lang="en-US" sz="3200" b="1" dirty="0">
                <a:ln w="0"/>
                <a:solidFill>
                  <a:srgbClr val="FFFF00"/>
                </a:solidFill>
                <a:effectLst>
                  <a:outerShdw blurRad="38100" dist="19050" dir="2700000" algn="tl" rotWithShape="0">
                    <a:schemeClr val="dk1">
                      <a:alpha val="40000"/>
                    </a:schemeClr>
                  </a:outerShdw>
                </a:effectLst>
              </a:rPr>
              <a:t>real-time tracking </a:t>
            </a:r>
            <a:r>
              <a:rPr lang="en-US" sz="2800" b="1" dirty="0">
                <a:ln w="0"/>
                <a:solidFill>
                  <a:schemeClr val="bg1"/>
                </a:solidFill>
                <a:effectLst>
                  <a:outerShdw blurRad="38100" dist="19050" dir="2700000" algn="tl" rotWithShape="0">
                    <a:schemeClr val="dk1">
                      <a:alpha val="40000"/>
                    </a:schemeClr>
                  </a:outerShdw>
                </a:effectLst>
              </a:rPr>
              <a:t>and </a:t>
            </a:r>
            <a:r>
              <a:rPr lang="en-US" sz="3200" b="1" dirty="0">
                <a:ln w="0"/>
                <a:solidFill>
                  <a:srgbClr val="FFFF00"/>
                </a:solidFill>
                <a:effectLst>
                  <a:outerShdw blurRad="38100" dist="19050" dir="2700000" algn="tl" rotWithShape="0">
                    <a:schemeClr val="dk1">
                      <a:alpha val="40000"/>
                    </a:schemeClr>
                  </a:outerShdw>
                </a:effectLst>
              </a:rPr>
              <a:t>modeling</a:t>
            </a:r>
            <a:r>
              <a:rPr lang="en-US" sz="2800" b="1" dirty="0">
                <a:ln w="0"/>
                <a:solidFill>
                  <a:schemeClr val="bg1"/>
                </a:solidFill>
                <a:effectLst>
                  <a:outerShdw blurRad="38100" dist="19050" dir="2700000" algn="tl" rotWithShape="0">
                    <a:schemeClr val="dk1">
                      <a:alpha val="40000"/>
                    </a:schemeClr>
                  </a:outerShdw>
                </a:effectLst>
              </a:rPr>
              <a:t> to </a:t>
            </a:r>
            <a:r>
              <a:rPr lang="en-US" sz="3200" b="1" dirty="0">
                <a:ln w="0"/>
                <a:solidFill>
                  <a:srgbClr val="FFFF00"/>
                </a:solidFill>
                <a:effectLst>
                  <a:outerShdw blurRad="38100" dist="19050" dir="2700000" algn="tl" rotWithShape="0">
                    <a:schemeClr val="dk1">
                      <a:alpha val="40000"/>
                    </a:schemeClr>
                  </a:outerShdw>
                </a:effectLst>
              </a:rPr>
              <a:t>Net-Zero greenhouse gas </a:t>
            </a:r>
            <a:r>
              <a:rPr lang="en-US" sz="2800" b="1" dirty="0">
                <a:ln w="0"/>
                <a:solidFill>
                  <a:schemeClr val="bg1"/>
                </a:solidFill>
                <a:effectLst>
                  <a:outerShdw blurRad="38100" dist="19050" dir="2700000" algn="tl" rotWithShape="0">
                    <a:schemeClr val="dk1">
                      <a:alpha val="40000"/>
                    </a:schemeClr>
                  </a:outerShdw>
                </a:effectLst>
              </a:rPr>
              <a:t>emissions in supply chains.</a:t>
            </a:r>
            <a:endPar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endParaRPr lang="en-US" dirty="0">
              <a:solidFill>
                <a:schemeClr val="bg1"/>
              </a:solidFill>
            </a:endParaRPr>
          </a:p>
        </p:txBody>
      </p:sp>
    </p:spTree>
    <p:extLst>
      <p:ext uri="{BB962C8B-B14F-4D97-AF65-F5344CB8AC3E}">
        <p14:creationId xmlns:p14="http://schemas.microsoft.com/office/powerpoint/2010/main" val="3796571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58B1E-8874-B774-9710-6D8ABE0A82F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353679B-8D31-98CB-98E4-5DFCD69F883B}"/>
              </a:ext>
            </a:extLst>
          </p:cNvPr>
          <p:cNvSpPr/>
          <p:nvPr/>
        </p:nvSpPr>
        <p:spPr>
          <a:xfrm>
            <a:off x="-7859" y="0"/>
            <a:ext cx="12192000" cy="7010400"/>
          </a:xfrm>
          <a:prstGeom prst="rect">
            <a:avLst/>
          </a:prstGeom>
          <a:gradFill flip="none" rotWithShape="1">
            <a:gsLst>
              <a:gs pos="47000">
                <a:srgbClr val="008080"/>
              </a:gs>
              <a:gs pos="20000">
                <a:schemeClr val="accent6">
                  <a:lumMod val="50000"/>
                </a:schemeClr>
              </a:gs>
              <a:gs pos="0">
                <a:schemeClr val="accent3">
                  <a:lumMod val="20000"/>
                  <a:lumOff val="80000"/>
                </a:schemeClr>
              </a:gs>
              <a:gs pos="34000">
                <a:srgbClr val="008080"/>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9E30EB-9E3A-F583-B27F-F24FF341807F}"/>
              </a:ext>
            </a:extLst>
          </p:cNvPr>
          <p:cNvSpPr/>
          <p:nvPr/>
        </p:nvSpPr>
        <p:spPr>
          <a:xfrm>
            <a:off x="301377" y="998182"/>
            <a:ext cx="11076340" cy="2923877"/>
          </a:xfrm>
          <a:prstGeom prst="rect">
            <a:avLst/>
          </a:prstGeom>
          <a:noFill/>
          <a:effectLst/>
        </p:spPr>
        <p:txBody>
          <a:bodyPr wrap="square" lIns="91440" tIns="45720" rIns="91440" bIns="45720">
            <a:spAutoFit/>
          </a:bodyPr>
          <a:lstStyle/>
          <a:p>
            <a:pPr algn="ctr"/>
            <a:r>
              <a:rPr lang="en-US" sz="3200" b="1" dirty="0">
                <a:ln w="0"/>
                <a:solidFill>
                  <a:schemeClr val="bg1"/>
                </a:solidFill>
                <a:effectLst>
                  <a:outerShdw blurRad="38100" dist="19050" dir="2700000" algn="tl" rotWithShape="0">
                    <a:schemeClr val="dk1">
                      <a:alpha val="40000"/>
                    </a:schemeClr>
                  </a:outerShdw>
                </a:effectLst>
              </a:rPr>
              <a:t>       </a:t>
            </a:r>
            <a:r>
              <a:rPr lang="en-US" sz="4000" b="1" dirty="0">
                <a:ln w="0"/>
                <a:solidFill>
                  <a:schemeClr val="bg1"/>
                </a:solidFill>
                <a:effectLst>
                  <a:outerShdw blurRad="38100" dist="19050" dir="2700000" algn="tl" rotWithShape="0">
                    <a:schemeClr val="dk1">
                      <a:alpha val="40000"/>
                    </a:schemeClr>
                  </a:outerShdw>
                </a:effectLst>
              </a:rPr>
              <a:t>Use of Blockchain Technology</a:t>
            </a:r>
          </a:p>
          <a:p>
            <a:pPr algn="ctr"/>
            <a:r>
              <a:rPr lang="en-US" sz="3200" b="1" dirty="0">
                <a:ln w="0"/>
                <a:solidFill>
                  <a:schemeClr val="bg1"/>
                </a:solidFill>
                <a:effectLst>
                  <a:outerShdw blurRad="38100" dist="19050" dir="2700000" algn="tl" rotWithShape="0">
                    <a:schemeClr val="dk1">
                      <a:alpha val="40000"/>
                    </a:schemeClr>
                  </a:outerShdw>
                </a:effectLst>
              </a:rPr>
              <a:t>to</a:t>
            </a:r>
          </a:p>
          <a:p>
            <a:pPr algn="ctr"/>
            <a:r>
              <a:rPr lang="en-US" sz="4000" b="1" dirty="0">
                <a:ln w="0"/>
                <a:solidFill>
                  <a:schemeClr val="bg1"/>
                </a:solidFill>
                <a:effectLst>
                  <a:outerShdw blurRad="38100" dist="19050" dir="2700000" algn="tl" rotWithShape="0">
                    <a:schemeClr val="dk1">
                      <a:alpha val="40000"/>
                    </a:schemeClr>
                  </a:outerShdw>
                </a:effectLst>
              </a:rPr>
              <a:t>Remove Greenhouse Gas Emissions</a:t>
            </a:r>
          </a:p>
          <a:p>
            <a:pPr algn="ctr"/>
            <a:r>
              <a:rPr lang="en-US" sz="3200" b="1" dirty="0">
                <a:ln w="0"/>
                <a:solidFill>
                  <a:schemeClr val="bg1"/>
                </a:solidFill>
                <a:effectLst>
                  <a:outerShdw blurRad="38100" dist="19050" dir="2700000" algn="tl" rotWithShape="0">
                    <a:schemeClr val="dk1">
                      <a:alpha val="40000"/>
                    </a:schemeClr>
                  </a:outerShdw>
                </a:effectLst>
              </a:rPr>
              <a:t>from</a:t>
            </a:r>
          </a:p>
          <a:p>
            <a:pPr algn="ctr"/>
            <a:r>
              <a:rPr lang="en-US" sz="4000" b="1" dirty="0">
                <a:ln w="0"/>
                <a:solidFill>
                  <a:schemeClr val="bg1"/>
                </a:solidFill>
                <a:effectLst>
                  <a:outerShdw blurRad="38100" dist="19050" dir="2700000" algn="tl" rotWithShape="0">
                    <a:schemeClr val="dk1">
                      <a:alpha val="40000"/>
                    </a:schemeClr>
                  </a:outerShdw>
                </a:effectLst>
              </a:rPr>
              <a:t>Global Supply Chains</a:t>
            </a:r>
            <a:r>
              <a:rPr lang="en-US" sz="3200" b="1" dirty="0">
                <a:ln w="0"/>
                <a:solidFill>
                  <a:schemeClr val="bg1"/>
                </a:solidFill>
                <a:effectLst>
                  <a:outerShdw blurRad="38100" dist="19050" dir="2700000" algn="tl" rotWithShape="0">
                    <a:schemeClr val="dk1">
                      <a:alpha val="40000"/>
                    </a:schemeClr>
                  </a:outerShdw>
                </a:effectLst>
              </a:rPr>
              <a:t> </a:t>
            </a:r>
            <a:endPar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9" name="Subtitle 2">
            <a:extLst>
              <a:ext uri="{FF2B5EF4-FFF2-40B4-BE49-F238E27FC236}">
                <a16:creationId xmlns:a16="http://schemas.microsoft.com/office/drawing/2014/main" id="{2166B3CE-7BBE-56BC-DD22-5FD3583E82CE}"/>
              </a:ext>
            </a:extLst>
          </p:cNvPr>
          <p:cNvSpPr txBox="1">
            <a:spLocks/>
          </p:cNvSpPr>
          <p:nvPr/>
        </p:nvSpPr>
        <p:spPr>
          <a:xfrm>
            <a:off x="9297619" y="47809"/>
            <a:ext cx="2721986" cy="4173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a:solidFill>
                  <a:schemeClr val="bg1"/>
                </a:solidFill>
                <a:highlight>
                  <a:srgbClr val="000080"/>
                </a:highlight>
              </a:rPr>
              <a:t> Sept 2025</a:t>
            </a:r>
          </a:p>
        </p:txBody>
      </p:sp>
      <p:cxnSp>
        <p:nvCxnSpPr>
          <p:cNvPr id="3" name="Straight Connector 2">
            <a:extLst>
              <a:ext uri="{FF2B5EF4-FFF2-40B4-BE49-F238E27FC236}">
                <a16:creationId xmlns:a16="http://schemas.microsoft.com/office/drawing/2014/main" id="{F4CD0B6B-F634-1F15-3E6B-EB5D43D484D1}"/>
              </a:ext>
            </a:extLst>
          </p:cNvPr>
          <p:cNvCxnSpPr>
            <a:cxnSpLocks/>
          </p:cNvCxnSpPr>
          <p:nvPr/>
        </p:nvCxnSpPr>
        <p:spPr>
          <a:xfrm flipV="1">
            <a:off x="2974885" y="3995734"/>
            <a:ext cx="5396380" cy="20708"/>
          </a:xfrm>
          <a:prstGeom prst="line">
            <a:avLst/>
          </a:prstGeom>
          <a:ln w="25400">
            <a:solidFill>
              <a:srgbClr val="FFFF0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D4E7889-4D53-7136-511B-D412E7B86030}"/>
              </a:ext>
            </a:extLst>
          </p:cNvPr>
          <p:cNvSpPr txBox="1"/>
          <p:nvPr/>
        </p:nvSpPr>
        <p:spPr>
          <a:xfrm>
            <a:off x="192576" y="171256"/>
            <a:ext cx="5314143" cy="800219"/>
          </a:xfrm>
          <a:prstGeom prst="rect">
            <a:avLst/>
          </a:prstGeom>
          <a:noFill/>
        </p:spPr>
        <p:txBody>
          <a:bodyPr wrap="square" rtlCol="0">
            <a:spAutoFit/>
          </a:bodyPr>
          <a:lstStyle/>
          <a:p>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LF Decentralized Trust(LFDT)</a:t>
            </a:r>
          </a:p>
          <a:p>
            <a:endParaRPr lang="en-US" dirty="0"/>
          </a:p>
        </p:txBody>
      </p:sp>
      <p:sp>
        <p:nvSpPr>
          <p:cNvPr id="12" name="TextBox 11">
            <a:extLst>
              <a:ext uri="{FF2B5EF4-FFF2-40B4-BE49-F238E27FC236}">
                <a16:creationId xmlns:a16="http://schemas.microsoft.com/office/drawing/2014/main" id="{D43B273B-FE67-9B5E-1FEF-045CA3734992}"/>
              </a:ext>
            </a:extLst>
          </p:cNvPr>
          <p:cNvSpPr txBox="1"/>
          <p:nvPr/>
        </p:nvSpPr>
        <p:spPr>
          <a:xfrm>
            <a:off x="-73739" y="6042953"/>
            <a:ext cx="9577953" cy="646331"/>
          </a:xfrm>
          <a:prstGeom prst="rect">
            <a:avLst/>
          </a:prstGeom>
          <a:noFill/>
        </p:spPr>
        <p:txBody>
          <a:bodyPr wrap="square" rtlCol="0">
            <a:spAutoFit/>
          </a:bodyPr>
          <a:lstStyle/>
          <a:p>
            <a:r>
              <a:rPr lang="en-US" b="1" dirty="0">
                <a:solidFill>
                  <a:schemeClr val="bg1"/>
                </a:solidFill>
                <a:highlight>
                  <a:srgbClr val="000000"/>
                </a:highlight>
              </a:rPr>
              <a:t>Special Interest Groups   </a:t>
            </a:r>
          </a:p>
          <a:p>
            <a:r>
              <a:rPr lang="en-US" sz="1800" b="1" dirty="0">
                <a:ln w="0"/>
                <a:solidFill>
                  <a:schemeClr val="bg1"/>
                </a:solidFill>
                <a:effectLst>
                  <a:outerShdw blurRad="38100" dist="19050" dir="2700000" algn="tl" rotWithShape="0">
                    <a:schemeClr val="dk1">
                      <a:alpha val="40000"/>
                    </a:schemeClr>
                  </a:outerShdw>
                </a:effectLst>
                <a:highlight>
                  <a:srgbClr val="000000"/>
                </a:highlight>
              </a:rPr>
              <a:t>Supply Chain &amp; Trade Finance  </a:t>
            </a:r>
            <a:r>
              <a:rPr lang="en-US" b="1" dirty="0">
                <a:ln w="0"/>
                <a:solidFill>
                  <a:schemeClr val="bg1"/>
                </a:solidFill>
                <a:effectLst>
                  <a:outerShdw blurRad="38100" dist="19050" dir="2700000" algn="tl" rotWithShape="0">
                    <a:schemeClr val="dk1">
                      <a:alpha val="40000"/>
                    </a:schemeClr>
                  </a:outerShdw>
                </a:effectLst>
                <a:highlight>
                  <a:srgbClr val="000000"/>
                </a:highlight>
              </a:rPr>
              <a:t>/ </a:t>
            </a:r>
            <a:r>
              <a:rPr lang="en-US" sz="1800" b="1" dirty="0">
                <a:ln w="0"/>
                <a:solidFill>
                  <a:schemeClr val="bg1"/>
                </a:solidFill>
                <a:effectLst>
                  <a:outerShdw blurRad="38100" dist="19050" dir="2700000" algn="tl" rotWithShape="0">
                    <a:schemeClr val="dk1">
                      <a:alpha val="40000"/>
                    </a:schemeClr>
                  </a:outerShdw>
                </a:effectLst>
                <a:highlight>
                  <a:srgbClr val="000000"/>
                </a:highlight>
              </a:rPr>
              <a:t> Carbon Action and Accounting /  </a:t>
            </a:r>
            <a:r>
              <a:rPr lang="en-US" sz="1800" b="1" cap="none" spc="0" dirty="0">
                <a:ln w="0"/>
                <a:solidFill>
                  <a:schemeClr val="bg1"/>
                </a:solidFill>
                <a:effectLst>
                  <a:outerShdw blurRad="38100" dist="19050" dir="2700000" algn="tl" rotWithShape="0">
                    <a:schemeClr val="dk1">
                      <a:alpha val="40000"/>
                    </a:schemeClr>
                  </a:outerShdw>
                </a:effectLst>
                <a:highlight>
                  <a:srgbClr val="000000"/>
                </a:highlight>
              </a:rPr>
              <a:t>Standards WG     </a:t>
            </a:r>
            <a:endParaRPr lang="en-US" dirty="0">
              <a:solidFill>
                <a:schemeClr val="bg1"/>
              </a:solidFill>
              <a:highlight>
                <a:srgbClr val="000000"/>
              </a:highlight>
            </a:endParaRPr>
          </a:p>
        </p:txBody>
      </p:sp>
      <p:sp>
        <p:nvSpPr>
          <p:cNvPr id="13" name="TextBox 12">
            <a:extLst>
              <a:ext uri="{FF2B5EF4-FFF2-40B4-BE49-F238E27FC236}">
                <a16:creationId xmlns:a16="http://schemas.microsoft.com/office/drawing/2014/main" id="{07005B56-CB9C-647C-C441-7D56480BF8C6}"/>
              </a:ext>
            </a:extLst>
          </p:cNvPr>
          <p:cNvSpPr txBox="1"/>
          <p:nvPr/>
        </p:nvSpPr>
        <p:spPr>
          <a:xfrm>
            <a:off x="4810760" y="3103880"/>
            <a:ext cx="914400" cy="914400"/>
          </a:xfrm>
          <a:prstGeom prst="rect">
            <a:avLst/>
          </a:prstGeom>
          <a:noFill/>
        </p:spPr>
        <p:txBody>
          <a:bodyPr wrap="square" rtlCol="0">
            <a:spAutoFit/>
          </a:bodyPr>
          <a:lstStyle/>
          <a:p>
            <a:endParaRPr lang="en-US" dirty="0"/>
          </a:p>
        </p:txBody>
      </p:sp>
      <p:pic>
        <p:nvPicPr>
          <p:cNvPr id="4" name="Picture 3" descr="A sphere with white text and dots&#10;&#10;Description automatically generated">
            <a:extLst>
              <a:ext uri="{FF2B5EF4-FFF2-40B4-BE49-F238E27FC236}">
                <a16:creationId xmlns:a16="http://schemas.microsoft.com/office/drawing/2014/main" id="{C93CC589-0047-A771-0CD7-38FF162CB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7782" y="5590690"/>
            <a:ext cx="1273988" cy="1263191"/>
          </a:xfrm>
          <a:prstGeom prst="rect">
            <a:avLst/>
          </a:prstGeom>
        </p:spPr>
      </p:pic>
      <p:sp>
        <p:nvSpPr>
          <p:cNvPr id="5" name="TextBox 4">
            <a:extLst>
              <a:ext uri="{FF2B5EF4-FFF2-40B4-BE49-F238E27FC236}">
                <a16:creationId xmlns:a16="http://schemas.microsoft.com/office/drawing/2014/main" id="{52EEBDB3-23F1-3DC1-836C-D4829089868C}"/>
              </a:ext>
            </a:extLst>
          </p:cNvPr>
          <p:cNvSpPr txBox="1"/>
          <p:nvPr/>
        </p:nvSpPr>
        <p:spPr>
          <a:xfrm>
            <a:off x="1" y="4297316"/>
            <a:ext cx="12019604" cy="1354217"/>
          </a:xfrm>
          <a:prstGeom prst="rect">
            <a:avLst/>
          </a:prstGeom>
          <a:noFill/>
        </p:spPr>
        <p:txBody>
          <a:bodyPr wrap="square" rtlCol="0">
            <a:spAutoFit/>
          </a:bodyPr>
          <a:lstStyle/>
          <a:p>
            <a:pPr algn="ctr"/>
            <a:r>
              <a:rPr lang="en-US" sz="2800" b="1" dirty="0">
                <a:ln w="0"/>
                <a:solidFill>
                  <a:schemeClr val="bg1"/>
                </a:solidFill>
                <a:effectLst>
                  <a:outerShdw blurRad="38100" dist="19050" dir="2700000" algn="tl" rotWithShape="0">
                    <a:schemeClr val="dk1">
                      <a:alpha val="40000"/>
                    </a:schemeClr>
                  </a:outerShdw>
                </a:effectLst>
              </a:rPr>
              <a:t>Architecture  to develop a </a:t>
            </a:r>
            <a:r>
              <a:rPr lang="en-US" sz="3200" b="1" dirty="0">
                <a:ln w="0"/>
                <a:solidFill>
                  <a:srgbClr val="FFFF00"/>
                </a:solidFill>
                <a:effectLst>
                  <a:outerShdw blurRad="38100" dist="19050" dir="2700000" algn="tl" rotWithShape="0">
                    <a:schemeClr val="dk1">
                      <a:alpha val="40000"/>
                    </a:schemeClr>
                  </a:outerShdw>
                </a:effectLst>
              </a:rPr>
              <a:t>Digital Twin </a:t>
            </a:r>
            <a:r>
              <a:rPr lang="en-US" sz="2800" b="1" dirty="0">
                <a:ln w="0"/>
                <a:solidFill>
                  <a:schemeClr val="bg1"/>
                </a:solidFill>
                <a:effectLst>
                  <a:outerShdw blurRad="38100" dist="19050" dir="2700000" algn="tl" rotWithShape="0">
                    <a:schemeClr val="dk1">
                      <a:alpha val="40000"/>
                    </a:schemeClr>
                  </a:outerShdw>
                </a:effectLst>
              </a:rPr>
              <a:t>for </a:t>
            </a:r>
            <a:r>
              <a:rPr lang="en-US" sz="3200" b="1" dirty="0">
                <a:ln w="0"/>
                <a:solidFill>
                  <a:srgbClr val="FFFF00"/>
                </a:solidFill>
                <a:effectLst>
                  <a:outerShdw blurRad="38100" dist="19050" dir="2700000" algn="tl" rotWithShape="0">
                    <a:schemeClr val="dk1">
                      <a:alpha val="40000"/>
                    </a:schemeClr>
                  </a:outerShdw>
                </a:effectLst>
              </a:rPr>
              <a:t>real-time tracking </a:t>
            </a:r>
            <a:r>
              <a:rPr lang="en-US" sz="2800" b="1" dirty="0">
                <a:ln w="0"/>
                <a:solidFill>
                  <a:schemeClr val="bg1"/>
                </a:solidFill>
                <a:effectLst>
                  <a:outerShdw blurRad="38100" dist="19050" dir="2700000" algn="tl" rotWithShape="0">
                    <a:schemeClr val="dk1">
                      <a:alpha val="40000"/>
                    </a:schemeClr>
                  </a:outerShdw>
                </a:effectLst>
              </a:rPr>
              <a:t>and </a:t>
            </a:r>
            <a:r>
              <a:rPr lang="en-US" sz="3200" b="1" dirty="0">
                <a:ln w="0"/>
                <a:solidFill>
                  <a:srgbClr val="FFFF00"/>
                </a:solidFill>
                <a:effectLst>
                  <a:outerShdw blurRad="38100" dist="19050" dir="2700000" algn="tl" rotWithShape="0">
                    <a:schemeClr val="dk1">
                      <a:alpha val="40000"/>
                    </a:schemeClr>
                  </a:outerShdw>
                </a:effectLst>
              </a:rPr>
              <a:t>modeling</a:t>
            </a:r>
            <a:r>
              <a:rPr lang="en-US" sz="2800" b="1" dirty="0">
                <a:ln w="0"/>
                <a:solidFill>
                  <a:schemeClr val="bg1"/>
                </a:solidFill>
                <a:effectLst>
                  <a:outerShdw blurRad="38100" dist="19050" dir="2700000" algn="tl" rotWithShape="0">
                    <a:schemeClr val="dk1">
                      <a:alpha val="40000"/>
                    </a:schemeClr>
                  </a:outerShdw>
                </a:effectLst>
              </a:rPr>
              <a:t> to </a:t>
            </a:r>
            <a:r>
              <a:rPr lang="en-US" sz="3200" b="1" dirty="0">
                <a:ln w="0"/>
                <a:solidFill>
                  <a:srgbClr val="FFFF00"/>
                </a:solidFill>
                <a:effectLst>
                  <a:outerShdw blurRad="38100" dist="19050" dir="2700000" algn="tl" rotWithShape="0">
                    <a:schemeClr val="dk1">
                      <a:alpha val="40000"/>
                    </a:schemeClr>
                  </a:outerShdw>
                </a:effectLst>
              </a:rPr>
              <a:t>Net-Zero greenhouse gas </a:t>
            </a:r>
            <a:r>
              <a:rPr lang="en-US" sz="2800" b="1" dirty="0">
                <a:ln w="0"/>
                <a:solidFill>
                  <a:schemeClr val="bg1"/>
                </a:solidFill>
                <a:effectLst>
                  <a:outerShdw blurRad="38100" dist="19050" dir="2700000" algn="tl" rotWithShape="0">
                    <a:schemeClr val="dk1">
                      <a:alpha val="40000"/>
                    </a:schemeClr>
                  </a:outerShdw>
                </a:effectLst>
              </a:rPr>
              <a:t>emissions in supply chains.</a:t>
            </a:r>
            <a:endPar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endParaRPr lang="en-US" dirty="0">
              <a:solidFill>
                <a:schemeClr val="bg1"/>
              </a:solidFill>
            </a:endParaRPr>
          </a:p>
        </p:txBody>
      </p:sp>
    </p:spTree>
    <p:extLst>
      <p:ext uri="{BB962C8B-B14F-4D97-AF65-F5344CB8AC3E}">
        <p14:creationId xmlns:p14="http://schemas.microsoft.com/office/powerpoint/2010/main" val="126367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lorful lights on a dark background&#10;&#10;Description automatically generated">
            <a:extLst>
              <a:ext uri="{FF2B5EF4-FFF2-40B4-BE49-F238E27FC236}">
                <a16:creationId xmlns:a16="http://schemas.microsoft.com/office/drawing/2014/main" id="{36F3FA80-93C9-24B4-C339-8B206B7A8D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84" y="-19030"/>
            <a:ext cx="12232683" cy="6877030"/>
          </a:xfrm>
          <a:prstGeom prst="rect">
            <a:avLst/>
          </a:prstGeom>
        </p:spPr>
      </p:pic>
      <p:sp>
        <p:nvSpPr>
          <p:cNvPr id="10" name="TextBox 9">
            <a:extLst>
              <a:ext uri="{FF2B5EF4-FFF2-40B4-BE49-F238E27FC236}">
                <a16:creationId xmlns:a16="http://schemas.microsoft.com/office/drawing/2014/main" id="{CC23B368-076B-4FC7-84CE-4768CE84F763}"/>
              </a:ext>
            </a:extLst>
          </p:cNvPr>
          <p:cNvSpPr txBox="1"/>
          <p:nvPr/>
        </p:nvSpPr>
        <p:spPr>
          <a:xfrm>
            <a:off x="5681136" y="1382595"/>
            <a:ext cx="6370451" cy="523220"/>
          </a:xfrm>
          <a:prstGeom prst="rect">
            <a:avLst/>
          </a:prstGeom>
          <a:noFill/>
        </p:spPr>
        <p:txBody>
          <a:bodyPr wrap="square" rtlCol="0">
            <a:spAutoFit/>
          </a:bodyPr>
          <a:lstStyle/>
          <a:p>
            <a:r>
              <a:rPr lang="en-US" sz="2800" b="1" dirty="0">
                <a:solidFill>
                  <a:schemeClr val="bg1"/>
                </a:solidFill>
                <a:hlinkClick r:id="rId3" action="ppaction://hlinksldjump">
                  <a:extLst>
                    <a:ext uri="{A12FA001-AC4F-418D-AE19-62706E023703}">
                      <ahyp:hlinkClr xmlns:ahyp="http://schemas.microsoft.com/office/drawing/2018/hyperlinkcolor" val="tx"/>
                    </a:ext>
                  </a:extLst>
                </a:hlinkClick>
              </a:rPr>
              <a:t>The Climate Challenge and Project Scope </a:t>
            </a:r>
            <a:r>
              <a:rPr lang="en-US" sz="2800" b="1" dirty="0">
                <a:solidFill>
                  <a:schemeClr val="bg1"/>
                </a:solidFill>
              </a:rPr>
              <a:t>  </a:t>
            </a:r>
          </a:p>
        </p:txBody>
      </p:sp>
      <p:sp>
        <p:nvSpPr>
          <p:cNvPr id="12" name="Rectangle 11">
            <a:extLst>
              <a:ext uri="{FF2B5EF4-FFF2-40B4-BE49-F238E27FC236}">
                <a16:creationId xmlns:a16="http://schemas.microsoft.com/office/drawing/2014/main" id="{86AB090D-BE4A-4ED6-830F-D91821248466}"/>
              </a:ext>
            </a:extLst>
          </p:cNvPr>
          <p:cNvSpPr/>
          <p:nvPr/>
        </p:nvSpPr>
        <p:spPr>
          <a:xfrm>
            <a:off x="3720466" y="0"/>
            <a:ext cx="1920688" cy="6858000"/>
          </a:xfrm>
          <a:prstGeom prst="rect">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CE5F1EE-994D-4A72-B31E-327CB61953FC}"/>
              </a:ext>
            </a:extLst>
          </p:cNvPr>
          <p:cNvSpPr txBox="1"/>
          <p:nvPr/>
        </p:nvSpPr>
        <p:spPr>
          <a:xfrm>
            <a:off x="4231130" y="732221"/>
            <a:ext cx="3906106" cy="646331"/>
          </a:xfrm>
          <a:prstGeom prst="rect">
            <a:avLst/>
          </a:prstGeom>
          <a:noFill/>
        </p:spPr>
        <p:txBody>
          <a:bodyPr wrap="square" rtlCol="0">
            <a:spAutoFit/>
          </a:bodyPr>
          <a:lstStyle/>
          <a:p>
            <a:r>
              <a:rPr lang="en-US" sz="3600" b="1" dirty="0">
                <a:solidFill>
                  <a:schemeClr val="bg1"/>
                </a:solidFill>
              </a:rPr>
              <a:t>Table of Contents</a:t>
            </a:r>
          </a:p>
        </p:txBody>
      </p:sp>
      <p:sp>
        <p:nvSpPr>
          <p:cNvPr id="17" name="Rectangle 16">
            <a:extLst>
              <a:ext uri="{FF2B5EF4-FFF2-40B4-BE49-F238E27FC236}">
                <a16:creationId xmlns:a16="http://schemas.microsoft.com/office/drawing/2014/main" id="{6F8FC9FB-7BBA-42FF-86D0-0DCCEE550C60}"/>
              </a:ext>
            </a:extLst>
          </p:cNvPr>
          <p:cNvSpPr/>
          <p:nvPr/>
        </p:nvSpPr>
        <p:spPr>
          <a:xfrm>
            <a:off x="3845923" y="1436150"/>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19" name="Straight Connector 18">
            <a:extLst>
              <a:ext uri="{FF2B5EF4-FFF2-40B4-BE49-F238E27FC236}">
                <a16:creationId xmlns:a16="http://schemas.microsoft.com/office/drawing/2014/main" id="{5D0D35B4-BE05-4569-997D-C110F5AB1667}"/>
              </a:ext>
            </a:extLst>
          </p:cNvPr>
          <p:cNvCxnSpPr>
            <a:cxnSpLocks/>
          </p:cNvCxnSpPr>
          <p:nvPr/>
        </p:nvCxnSpPr>
        <p:spPr>
          <a:xfrm>
            <a:off x="3847778" y="1942984"/>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sp>
        <p:nvSpPr>
          <p:cNvPr id="22" name="Isosceles Triangle 21">
            <a:extLst>
              <a:ext uri="{FF2B5EF4-FFF2-40B4-BE49-F238E27FC236}">
                <a16:creationId xmlns:a16="http://schemas.microsoft.com/office/drawing/2014/main" id="{3E09E91C-C093-486D-91DD-BD809D713AC3}"/>
              </a:ext>
            </a:extLst>
          </p:cNvPr>
          <p:cNvSpPr/>
          <p:nvPr/>
        </p:nvSpPr>
        <p:spPr>
          <a:xfrm rot="5400000">
            <a:off x="4888693" y="1539829"/>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8F53D8B5-8F2E-4560-B27B-7C2BD203D056}"/>
              </a:ext>
            </a:extLst>
          </p:cNvPr>
          <p:cNvCxnSpPr>
            <a:cxnSpLocks/>
          </p:cNvCxnSpPr>
          <p:nvPr/>
        </p:nvCxnSpPr>
        <p:spPr>
          <a:xfrm>
            <a:off x="5657528" y="1940147"/>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25D3EA36-7050-4482-9A52-B687243143B2}"/>
              </a:ext>
            </a:extLst>
          </p:cNvPr>
          <p:cNvGrpSpPr/>
          <p:nvPr/>
        </p:nvGrpSpPr>
        <p:grpSpPr>
          <a:xfrm>
            <a:off x="3853591" y="1963727"/>
            <a:ext cx="8436281" cy="554988"/>
            <a:chOff x="3853591" y="1963727"/>
            <a:chExt cx="8436281" cy="554988"/>
          </a:xfrm>
        </p:grpSpPr>
        <p:sp>
          <p:nvSpPr>
            <p:cNvPr id="32" name="Rectangle 31">
              <a:extLst>
                <a:ext uri="{FF2B5EF4-FFF2-40B4-BE49-F238E27FC236}">
                  <a16:creationId xmlns:a16="http://schemas.microsoft.com/office/drawing/2014/main" id="{9365B606-61F8-4173-B48D-2456E3F0090E}"/>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3" name="Isosceles Triangle 32">
              <a:extLst>
                <a:ext uri="{FF2B5EF4-FFF2-40B4-BE49-F238E27FC236}">
                  <a16:creationId xmlns:a16="http://schemas.microsoft.com/office/drawing/2014/main" id="{1AB9CAC8-922E-4BBB-85B9-5DA56801394F}"/>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0574B7B0-758D-4E1A-A1A9-D84E0D31BAC3}"/>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1A6FAD2-58D1-4D3A-80B6-860512A572E4}"/>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5CF0D8C-3282-4559-A235-96800CECFE6A}"/>
                </a:ext>
              </a:extLst>
            </p:cNvPr>
            <p:cNvSpPr txBox="1"/>
            <p:nvPr/>
          </p:nvSpPr>
          <p:spPr>
            <a:xfrm>
              <a:off x="5714997" y="1963727"/>
              <a:ext cx="6574875" cy="523220"/>
            </a:xfrm>
            <a:prstGeom prst="rect">
              <a:avLst/>
            </a:prstGeom>
            <a:noFill/>
          </p:spPr>
          <p:txBody>
            <a:bodyPr wrap="square" rtlCol="0">
              <a:spAutoFit/>
            </a:bodyPr>
            <a:lstStyle/>
            <a:p>
              <a:r>
                <a:rPr lang="en-US" sz="2800" b="1" dirty="0">
                  <a:solidFill>
                    <a:schemeClr val="bg1"/>
                  </a:solidFill>
                  <a:hlinkClick r:id="rId4" action="ppaction://hlinksldjump">
                    <a:extLst>
                      <a:ext uri="{A12FA001-AC4F-418D-AE19-62706E023703}">
                        <ahyp:hlinkClr xmlns:ahyp="http://schemas.microsoft.com/office/drawing/2018/hyperlinkcolor" val="tx"/>
                      </a:ext>
                    </a:extLst>
                  </a:hlinkClick>
                </a:rPr>
                <a:t>What is a Reference Architecture?</a:t>
              </a:r>
              <a:endParaRPr lang="en-US" sz="2800" b="1" dirty="0">
                <a:solidFill>
                  <a:schemeClr val="bg1"/>
                </a:solidFill>
              </a:endParaRPr>
            </a:p>
          </p:txBody>
        </p:sp>
      </p:grpSp>
      <p:grpSp>
        <p:nvGrpSpPr>
          <p:cNvPr id="39" name="Group 38">
            <a:extLst>
              <a:ext uri="{FF2B5EF4-FFF2-40B4-BE49-F238E27FC236}">
                <a16:creationId xmlns:a16="http://schemas.microsoft.com/office/drawing/2014/main" id="{392B8CF0-19D0-4F67-AFE5-616297F2F667}"/>
              </a:ext>
            </a:extLst>
          </p:cNvPr>
          <p:cNvGrpSpPr/>
          <p:nvPr/>
        </p:nvGrpSpPr>
        <p:grpSpPr>
          <a:xfrm>
            <a:off x="3853585" y="2539456"/>
            <a:ext cx="7956272" cy="954107"/>
            <a:chOff x="3853591" y="1963727"/>
            <a:chExt cx="7956272" cy="954107"/>
          </a:xfrm>
        </p:grpSpPr>
        <p:sp>
          <p:nvSpPr>
            <p:cNvPr id="40" name="Rectangle 39">
              <a:extLst>
                <a:ext uri="{FF2B5EF4-FFF2-40B4-BE49-F238E27FC236}">
                  <a16:creationId xmlns:a16="http://schemas.microsoft.com/office/drawing/2014/main" id="{B7564179-D03E-46F8-AB35-56F7BC11BEEC}"/>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1" name="Isosceles Triangle 40">
              <a:extLst>
                <a:ext uri="{FF2B5EF4-FFF2-40B4-BE49-F238E27FC236}">
                  <a16:creationId xmlns:a16="http://schemas.microsoft.com/office/drawing/2014/main" id="{165FF301-BF89-4AA1-A582-04AFC2427006}"/>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3D49EE40-5296-4932-BDAF-272A0FB0A31D}"/>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031D51E-1EE6-4AA0-9802-C5479F536803}"/>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C7E00FB3-ED00-4818-9F3E-9A8ADAB40B5D}"/>
                </a:ext>
              </a:extLst>
            </p:cNvPr>
            <p:cNvSpPr txBox="1"/>
            <p:nvPr/>
          </p:nvSpPr>
          <p:spPr>
            <a:xfrm>
              <a:off x="5714997" y="1963727"/>
              <a:ext cx="5713863" cy="954107"/>
            </a:xfrm>
            <a:prstGeom prst="rect">
              <a:avLst/>
            </a:prstGeom>
            <a:noFill/>
          </p:spPr>
          <p:txBody>
            <a:bodyPr wrap="square" rtlCol="0">
              <a:spAutoFit/>
            </a:bodyPr>
            <a:lstStyle/>
            <a:p>
              <a:r>
                <a:rPr lang="en-US" sz="2800" b="1" dirty="0">
                  <a:solidFill>
                    <a:schemeClr val="bg1"/>
                  </a:solidFill>
                  <a:hlinkClick r:id="rId5" action="ppaction://hlinksldjump">
                    <a:extLst>
                      <a:ext uri="{A12FA001-AC4F-418D-AE19-62706E023703}">
                        <ahyp:hlinkClr xmlns:ahyp="http://schemas.microsoft.com/office/drawing/2018/hyperlinkcolor" val="tx"/>
                      </a:ext>
                    </a:extLst>
                  </a:hlinkClick>
                </a:rPr>
                <a:t>Project Goals</a:t>
              </a:r>
              <a:endParaRPr lang="en-US" sz="2800" b="1" dirty="0">
                <a:solidFill>
                  <a:schemeClr val="bg1"/>
                </a:solidFill>
              </a:endParaRPr>
            </a:p>
            <a:p>
              <a:endParaRPr lang="en-US" sz="2800" dirty="0"/>
            </a:p>
          </p:txBody>
        </p:sp>
      </p:grpSp>
      <p:grpSp>
        <p:nvGrpSpPr>
          <p:cNvPr id="45" name="Group 44">
            <a:extLst>
              <a:ext uri="{FF2B5EF4-FFF2-40B4-BE49-F238E27FC236}">
                <a16:creationId xmlns:a16="http://schemas.microsoft.com/office/drawing/2014/main" id="{A7A2D54D-B981-4483-AFA9-53AD05DF8D27}"/>
              </a:ext>
            </a:extLst>
          </p:cNvPr>
          <p:cNvGrpSpPr/>
          <p:nvPr/>
        </p:nvGrpSpPr>
        <p:grpSpPr>
          <a:xfrm>
            <a:off x="3853582" y="3149054"/>
            <a:ext cx="7956272" cy="954107"/>
            <a:chOff x="3853591" y="1963727"/>
            <a:chExt cx="7956272" cy="954107"/>
          </a:xfrm>
        </p:grpSpPr>
        <p:sp>
          <p:nvSpPr>
            <p:cNvPr id="46" name="Rectangle 45">
              <a:extLst>
                <a:ext uri="{FF2B5EF4-FFF2-40B4-BE49-F238E27FC236}">
                  <a16:creationId xmlns:a16="http://schemas.microsoft.com/office/drawing/2014/main" id="{0BB05C5D-41E8-4C9D-8A09-2049554FE1D0}"/>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7" name="Isosceles Triangle 46">
              <a:extLst>
                <a:ext uri="{FF2B5EF4-FFF2-40B4-BE49-F238E27FC236}">
                  <a16:creationId xmlns:a16="http://schemas.microsoft.com/office/drawing/2014/main" id="{00A589B2-8BD4-454B-BFF8-4F26AA497B6B}"/>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F9166480-FB3B-464F-B6CC-D1E52CF673C4}"/>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F515ABF-4F3D-41AC-962E-14B03F5A3039}"/>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45695DA5-B590-446D-A3B7-1BB25D762E81}"/>
                </a:ext>
              </a:extLst>
            </p:cNvPr>
            <p:cNvSpPr txBox="1"/>
            <p:nvPr/>
          </p:nvSpPr>
          <p:spPr>
            <a:xfrm>
              <a:off x="5714997" y="1963727"/>
              <a:ext cx="5713863" cy="954107"/>
            </a:xfrm>
            <a:prstGeom prst="rect">
              <a:avLst/>
            </a:prstGeom>
            <a:noFill/>
          </p:spPr>
          <p:txBody>
            <a:bodyPr wrap="square" rtlCol="0">
              <a:spAutoFit/>
            </a:bodyPr>
            <a:lstStyle/>
            <a:p>
              <a:r>
                <a:rPr lang="en-US" sz="2800" b="1" dirty="0">
                  <a:solidFill>
                    <a:schemeClr val="bg1"/>
                  </a:solidFill>
                  <a:hlinkClick r:id="rId6" action="ppaction://hlinksldjump">
                    <a:extLst>
                      <a:ext uri="{A12FA001-AC4F-418D-AE19-62706E023703}">
                        <ahyp:hlinkClr xmlns:ahyp="http://schemas.microsoft.com/office/drawing/2018/hyperlinkcolor" val="tx"/>
                      </a:ext>
                    </a:extLst>
                  </a:hlinkClick>
                </a:rPr>
                <a:t>The Global Challenge</a:t>
              </a:r>
              <a:endParaRPr lang="en-US" sz="2800" b="1" dirty="0">
                <a:solidFill>
                  <a:schemeClr val="bg1"/>
                </a:solidFill>
              </a:endParaRPr>
            </a:p>
            <a:p>
              <a:endParaRPr lang="en-US" sz="2800" dirty="0"/>
            </a:p>
          </p:txBody>
        </p:sp>
      </p:grpSp>
      <p:grpSp>
        <p:nvGrpSpPr>
          <p:cNvPr id="57" name="Group 56">
            <a:extLst>
              <a:ext uri="{FF2B5EF4-FFF2-40B4-BE49-F238E27FC236}">
                <a16:creationId xmlns:a16="http://schemas.microsoft.com/office/drawing/2014/main" id="{27C5BFDF-D6C4-455D-A07A-7EC733ABD580}"/>
              </a:ext>
            </a:extLst>
          </p:cNvPr>
          <p:cNvGrpSpPr/>
          <p:nvPr/>
        </p:nvGrpSpPr>
        <p:grpSpPr>
          <a:xfrm>
            <a:off x="3868054" y="3802499"/>
            <a:ext cx="8030106" cy="554988"/>
            <a:chOff x="3853591" y="1963727"/>
            <a:chExt cx="8030106" cy="554988"/>
          </a:xfrm>
        </p:grpSpPr>
        <p:sp>
          <p:nvSpPr>
            <p:cNvPr id="58" name="Rectangle 57">
              <a:extLst>
                <a:ext uri="{FF2B5EF4-FFF2-40B4-BE49-F238E27FC236}">
                  <a16:creationId xmlns:a16="http://schemas.microsoft.com/office/drawing/2014/main" id="{020E07D6-3925-44BA-B7F5-2F5E5DC1A8C9}"/>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9" name="Isosceles Triangle 58">
              <a:extLst>
                <a:ext uri="{FF2B5EF4-FFF2-40B4-BE49-F238E27FC236}">
                  <a16:creationId xmlns:a16="http://schemas.microsoft.com/office/drawing/2014/main" id="{A487FB41-6164-472D-9917-32598AA482A9}"/>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BD82166A-A156-43A8-8E6C-05A620FB1BF2}"/>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96C2E78-7F0D-4432-9DBE-2D40F4640FCD}"/>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5C087FA-03A7-482C-BD63-574420366662}"/>
                </a:ext>
              </a:extLst>
            </p:cNvPr>
            <p:cNvSpPr txBox="1"/>
            <p:nvPr/>
          </p:nvSpPr>
          <p:spPr>
            <a:xfrm>
              <a:off x="5714997" y="1963727"/>
              <a:ext cx="6168700" cy="523220"/>
            </a:xfrm>
            <a:prstGeom prst="rect">
              <a:avLst/>
            </a:prstGeom>
            <a:noFill/>
          </p:spPr>
          <p:txBody>
            <a:bodyPr wrap="square" rtlCol="0">
              <a:spAutoFit/>
            </a:bodyPr>
            <a:lstStyle/>
            <a:p>
              <a:r>
                <a:rPr lang="en-US" sz="2800" b="1" dirty="0">
                  <a:solidFill>
                    <a:schemeClr val="bg1"/>
                  </a:solidFill>
                  <a:hlinkClick r:id="rId7" action="ppaction://hlinksldjump">
                    <a:extLst>
                      <a:ext uri="{A12FA001-AC4F-418D-AE19-62706E023703}">
                        <ahyp:hlinkClr xmlns:ahyp="http://schemas.microsoft.com/office/drawing/2018/hyperlinkcolor" val="tx"/>
                      </a:ext>
                    </a:extLst>
                  </a:hlinkClick>
                </a:rPr>
                <a:t>Commercial Offerings vs. LFDT Platforms</a:t>
              </a:r>
              <a:endParaRPr lang="en-US" sz="2800" b="1" dirty="0">
                <a:solidFill>
                  <a:schemeClr val="bg1"/>
                </a:solidFill>
              </a:endParaRPr>
            </a:p>
          </p:txBody>
        </p:sp>
      </p:grpSp>
      <p:grpSp>
        <p:nvGrpSpPr>
          <p:cNvPr id="63" name="Group 62">
            <a:extLst>
              <a:ext uri="{FF2B5EF4-FFF2-40B4-BE49-F238E27FC236}">
                <a16:creationId xmlns:a16="http://schemas.microsoft.com/office/drawing/2014/main" id="{F8D08125-050B-45D8-B757-A232E2B9E575}"/>
              </a:ext>
            </a:extLst>
          </p:cNvPr>
          <p:cNvGrpSpPr/>
          <p:nvPr/>
        </p:nvGrpSpPr>
        <p:grpSpPr>
          <a:xfrm>
            <a:off x="3882526" y="4426167"/>
            <a:ext cx="8169061" cy="554988"/>
            <a:chOff x="3853591" y="1963727"/>
            <a:chExt cx="8169061" cy="554988"/>
          </a:xfrm>
        </p:grpSpPr>
        <p:sp>
          <p:nvSpPr>
            <p:cNvPr id="64" name="Rectangle 63">
              <a:extLst>
                <a:ext uri="{FF2B5EF4-FFF2-40B4-BE49-F238E27FC236}">
                  <a16:creationId xmlns:a16="http://schemas.microsoft.com/office/drawing/2014/main" id="{E4940496-6072-492F-93BB-FA7741CBF2FB}"/>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5" name="Isosceles Triangle 64">
              <a:extLst>
                <a:ext uri="{FF2B5EF4-FFF2-40B4-BE49-F238E27FC236}">
                  <a16:creationId xmlns:a16="http://schemas.microsoft.com/office/drawing/2014/main" id="{DD371E4B-A789-4575-89C4-5F85A65440D5}"/>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625F0A36-F400-47F4-B64A-9B99946AA757}"/>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12725F96-7CD2-4DCB-B4F0-154544B8548E}"/>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17CDDF7-F6C2-4E52-86D9-CE592DDF11CB}"/>
                </a:ext>
              </a:extLst>
            </p:cNvPr>
            <p:cNvSpPr txBox="1"/>
            <p:nvPr/>
          </p:nvSpPr>
          <p:spPr>
            <a:xfrm>
              <a:off x="5714997" y="1963727"/>
              <a:ext cx="6307655" cy="523220"/>
            </a:xfrm>
            <a:prstGeom prst="rect">
              <a:avLst/>
            </a:prstGeom>
            <a:noFill/>
          </p:spPr>
          <p:txBody>
            <a:bodyPr wrap="square" rtlCol="0">
              <a:spAutoFit/>
            </a:bodyPr>
            <a:lstStyle/>
            <a:p>
              <a:r>
                <a:rPr lang="en-US" sz="2800" b="1" dirty="0">
                  <a:solidFill>
                    <a:schemeClr val="bg1"/>
                  </a:solidFill>
                  <a:hlinkClick r:id="rId8" action="ppaction://hlinksldjump">
                    <a:extLst>
                      <a:ext uri="{A12FA001-AC4F-418D-AE19-62706E023703}">
                        <ahyp:hlinkClr xmlns:ahyp="http://schemas.microsoft.com/office/drawing/2018/hyperlinkcolor" val="tx"/>
                      </a:ext>
                    </a:extLst>
                  </a:hlinkClick>
                </a:rPr>
                <a:t>LFDT Digital Twin Architecture(technical)</a:t>
              </a:r>
              <a:endParaRPr lang="en-US" sz="2800" b="1" dirty="0">
                <a:solidFill>
                  <a:schemeClr val="bg1"/>
                </a:solidFill>
              </a:endParaRPr>
            </a:p>
          </p:txBody>
        </p:sp>
      </p:grpSp>
      <p:grpSp>
        <p:nvGrpSpPr>
          <p:cNvPr id="69" name="Group 68">
            <a:extLst>
              <a:ext uri="{FF2B5EF4-FFF2-40B4-BE49-F238E27FC236}">
                <a16:creationId xmlns:a16="http://schemas.microsoft.com/office/drawing/2014/main" id="{2527F0B5-6746-4514-A986-27B29DC4EBDA}"/>
              </a:ext>
            </a:extLst>
          </p:cNvPr>
          <p:cNvGrpSpPr/>
          <p:nvPr/>
        </p:nvGrpSpPr>
        <p:grpSpPr>
          <a:xfrm>
            <a:off x="3896998" y="5037917"/>
            <a:ext cx="7956272" cy="554988"/>
            <a:chOff x="3853591" y="1963727"/>
            <a:chExt cx="7956272" cy="554988"/>
          </a:xfrm>
        </p:grpSpPr>
        <p:sp>
          <p:nvSpPr>
            <p:cNvPr id="70" name="Rectangle 69">
              <a:extLst>
                <a:ext uri="{FF2B5EF4-FFF2-40B4-BE49-F238E27FC236}">
                  <a16:creationId xmlns:a16="http://schemas.microsoft.com/office/drawing/2014/main" id="{29A10FCA-1DC8-46C3-B30B-038D2B222EE8}"/>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2" name="Isosceles Triangle 71">
              <a:extLst>
                <a:ext uri="{FF2B5EF4-FFF2-40B4-BE49-F238E27FC236}">
                  <a16:creationId xmlns:a16="http://schemas.microsoft.com/office/drawing/2014/main" id="{D732BCF1-E6BD-41E2-8A9A-C491A70344DF}"/>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a:extLst>
                <a:ext uri="{FF2B5EF4-FFF2-40B4-BE49-F238E27FC236}">
                  <a16:creationId xmlns:a16="http://schemas.microsoft.com/office/drawing/2014/main" id="{13CFBCED-9FB2-452C-80B0-7EAB2AD612E1}"/>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939BAFC5-578E-4407-B703-94602939A459}"/>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6979157-4BA0-47CB-988D-2A6F97529DDA}"/>
                </a:ext>
              </a:extLst>
            </p:cNvPr>
            <p:cNvSpPr txBox="1"/>
            <p:nvPr/>
          </p:nvSpPr>
          <p:spPr>
            <a:xfrm>
              <a:off x="5714997" y="1963727"/>
              <a:ext cx="5713863" cy="523220"/>
            </a:xfrm>
            <a:prstGeom prst="rect">
              <a:avLst/>
            </a:prstGeom>
            <a:noFill/>
          </p:spPr>
          <p:txBody>
            <a:bodyPr wrap="square" rtlCol="0">
              <a:spAutoFit/>
            </a:bodyPr>
            <a:lstStyle/>
            <a:p>
              <a:r>
                <a:rPr lang="en-US" sz="2800" b="1" dirty="0">
                  <a:solidFill>
                    <a:schemeClr val="bg1"/>
                  </a:solidFill>
                  <a:hlinkClick r:id="rId9" action="ppaction://hlinksldjump">
                    <a:extLst>
                      <a:ext uri="{A12FA001-AC4F-418D-AE19-62706E023703}">
                        <ahyp:hlinkClr xmlns:ahyp="http://schemas.microsoft.com/office/drawing/2018/hyperlinkcolor" val="tx"/>
                      </a:ext>
                    </a:extLst>
                  </a:hlinkClick>
                </a:rPr>
                <a:t>Use Case: Digital Twin Pictorial</a:t>
              </a:r>
              <a:endParaRPr lang="en-US" sz="2800" b="1" dirty="0">
                <a:solidFill>
                  <a:schemeClr val="bg1"/>
                </a:solidFill>
              </a:endParaRPr>
            </a:p>
          </p:txBody>
        </p:sp>
      </p:grpSp>
      <p:grpSp>
        <p:nvGrpSpPr>
          <p:cNvPr id="78" name="Group 77">
            <a:extLst>
              <a:ext uri="{FF2B5EF4-FFF2-40B4-BE49-F238E27FC236}">
                <a16:creationId xmlns:a16="http://schemas.microsoft.com/office/drawing/2014/main" id="{E02B4380-0B3F-4480-B6FC-C1A85211C971}"/>
              </a:ext>
            </a:extLst>
          </p:cNvPr>
          <p:cNvGrpSpPr/>
          <p:nvPr/>
        </p:nvGrpSpPr>
        <p:grpSpPr>
          <a:xfrm>
            <a:off x="3896998" y="5645469"/>
            <a:ext cx="7956272" cy="554988"/>
            <a:chOff x="3853591" y="1963727"/>
            <a:chExt cx="7956272" cy="554988"/>
          </a:xfrm>
        </p:grpSpPr>
        <p:sp>
          <p:nvSpPr>
            <p:cNvPr id="79" name="Rectangle 78">
              <a:extLst>
                <a:ext uri="{FF2B5EF4-FFF2-40B4-BE49-F238E27FC236}">
                  <a16:creationId xmlns:a16="http://schemas.microsoft.com/office/drawing/2014/main" id="{DFF26F67-FBA6-4265-BF0E-F8F6A6FB9E7E}"/>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0" name="Isosceles Triangle 79">
              <a:extLst>
                <a:ext uri="{FF2B5EF4-FFF2-40B4-BE49-F238E27FC236}">
                  <a16:creationId xmlns:a16="http://schemas.microsoft.com/office/drawing/2014/main" id="{4D80638C-094B-4DAF-B3E3-55A55EA76FA4}"/>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A680ABEE-B73F-4BB0-8568-E9E83D91574E}"/>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A6DE383-8EAE-4F5C-BC1E-A9E1D6B9003E}"/>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D90F5F83-453E-4B54-A6AD-10DF4A78327B}"/>
                </a:ext>
              </a:extLst>
            </p:cNvPr>
            <p:cNvSpPr txBox="1"/>
            <p:nvPr/>
          </p:nvSpPr>
          <p:spPr>
            <a:xfrm>
              <a:off x="5714997" y="1963727"/>
              <a:ext cx="6065922" cy="523220"/>
            </a:xfrm>
            <a:prstGeom prst="rect">
              <a:avLst/>
            </a:prstGeom>
            <a:noFill/>
          </p:spPr>
          <p:txBody>
            <a:bodyPr wrap="square" rtlCol="0">
              <a:spAutoFit/>
            </a:bodyPr>
            <a:lstStyle/>
            <a:p>
              <a:r>
                <a:rPr lang="en-US" sz="2800" b="1" dirty="0">
                  <a:solidFill>
                    <a:schemeClr val="bg1"/>
                  </a:solidFill>
                  <a:hlinkClick r:id="rId10" action="ppaction://hlinksldjump">
                    <a:extLst>
                      <a:ext uri="{A12FA001-AC4F-418D-AE19-62706E023703}">
                        <ahyp:hlinkClr xmlns:ahyp="http://schemas.microsoft.com/office/drawing/2018/hyperlinkcolor" val="tx"/>
                      </a:ext>
                    </a:extLst>
                  </a:hlinkClick>
                </a:rPr>
                <a:t>LFDT Technical Architecture(technical)</a:t>
              </a:r>
              <a:endParaRPr lang="en-US" sz="2800" b="1" dirty="0">
                <a:solidFill>
                  <a:schemeClr val="bg1"/>
                </a:solidFill>
              </a:endParaRPr>
            </a:p>
          </p:txBody>
        </p:sp>
      </p:grpSp>
      <p:grpSp>
        <p:nvGrpSpPr>
          <p:cNvPr id="85" name="Group 84">
            <a:extLst>
              <a:ext uri="{FF2B5EF4-FFF2-40B4-BE49-F238E27FC236}">
                <a16:creationId xmlns:a16="http://schemas.microsoft.com/office/drawing/2014/main" id="{F1E128E7-31B4-4BDA-8751-7A390A228612}"/>
              </a:ext>
            </a:extLst>
          </p:cNvPr>
          <p:cNvGrpSpPr/>
          <p:nvPr/>
        </p:nvGrpSpPr>
        <p:grpSpPr>
          <a:xfrm>
            <a:off x="3911470" y="6204483"/>
            <a:ext cx="7956272" cy="954107"/>
            <a:chOff x="3853591" y="1963727"/>
            <a:chExt cx="7956272" cy="954107"/>
          </a:xfrm>
        </p:grpSpPr>
        <p:sp>
          <p:nvSpPr>
            <p:cNvPr id="86" name="Rectangle 85">
              <a:extLst>
                <a:ext uri="{FF2B5EF4-FFF2-40B4-BE49-F238E27FC236}">
                  <a16:creationId xmlns:a16="http://schemas.microsoft.com/office/drawing/2014/main" id="{6B3D8A9D-CBEF-414C-867A-AEA40268DBF3}"/>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7" name="Isosceles Triangle 86">
              <a:extLst>
                <a:ext uri="{FF2B5EF4-FFF2-40B4-BE49-F238E27FC236}">
                  <a16:creationId xmlns:a16="http://schemas.microsoft.com/office/drawing/2014/main" id="{E29DE0AE-D6C8-410A-8854-C2DCE850656F}"/>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Connector 87">
              <a:extLst>
                <a:ext uri="{FF2B5EF4-FFF2-40B4-BE49-F238E27FC236}">
                  <a16:creationId xmlns:a16="http://schemas.microsoft.com/office/drawing/2014/main" id="{A8234880-1915-49A6-98EE-8092AF104E53}"/>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3767065-8B98-4310-A465-9FFB5FEC858E}"/>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9365542E-F024-4B9A-9EF6-BC3407400F52}"/>
                </a:ext>
              </a:extLst>
            </p:cNvPr>
            <p:cNvSpPr txBox="1"/>
            <p:nvPr/>
          </p:nvSpPr>
          <p:spPr>
            <a:xfrm>
              <a:off x="5714997" y="1963727"/>
              <a:ext cx="5713863" cy="954107"/>
            </a:xfrm>
            <a:prstGeom prst="rect">
              <a:avLst/>
            </a:prstGeom>
            <a:noFill/>
          </p:spPr>
          <p:txBody>
            <a:bodyPr wrap="square" rtlCol="0">
              <a:spAutoFit/>
            </a:bodyPr>
            <a:lstStyle/>
            <a:p>
              <a:endParaRPr lang="en-US" sz="2800" dirty="0"/>
            </a:p>
            <a:p>
              <a:endParaRPr lang="en-US" sz="2800" dirty="0"/>
            </a:p>
          </p:txBody>
        </p:sp>
      </p:grpSp>
      <p:sp>
        <p:nvSpPr>
          <p:cNvPr id="11" name="Rectangle 10">
            <a:extLst>
              <a:ext uri="{FF2B5EF4-FFF2-40B4-BE49-F238E27FC236}">
                <a16:creationId xmlns:a16="http://schemas.microsoft.com/office/drawing/2014/main" id="{28444E64-A4A1-41C8-90D0-FE5C851BB081}"/>
              </a:ext>
            </a:extLst>
          </p:cNvPr>
          <p:cNvSpPr/>
          <p:nvPr/>
        </p:nvSpPr>
        <p:spPr>
          <a:xfrm>
            <a:off x="2974161" y="698302"/>
            <a:ext cx="9199367" cy="637340"/>
          </a:xfrm>
          <a:prstGeom prst="rect">
            <a:avLst/>
          </a:prstGeom>
          <a:solidFill>
            <a:srgbClr val="33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BF1B4242-FBDB-4FE4-B5BC-88B382DED66A}"/>
              </a:ext>
            </a:extLst>
          </p:cNvPr>
          <p:cNvSpPr/>
          <p:nvPr/>
        </p:nvSpPr>
        <p:spPr>
          <a:xfrm rot="2640629">
            <a:off x="3025413" y="1245813"/>
            <a:ext cx="1167055" cy="582932"/>
          </a:xfrm>
          <a:prstGeom prst="triangle">
            <a:avLst>
              <a:gd name="adj" fmla="val 517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ue and green text on a black background&#10;&#10;Description automatically generated">
            <a:extLst>
              <a:ext uri="{FF2B5EF4-FFF2-40B4-BE49-F238E27FC236}">
                <a16:creationId xmlns:a16="http://schemas.microsoft.com/office/drawing/2014/main" id="{3112C24D-202D-6F5E-0415-567488C378D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9155" y="3268724"/>
            <a:ext cx="3630474" cy="574268"/>
          </a:xfrm>
          <a:prstGeom prst="rect">
            <a:avLst/>
          </a:prstGeom>
          <a:solidFill>
            <a:schemeClr val="bg1"/>
          </a:solidFill>
        </p:spPr>
      </p:pic>
      <p:sp>
        <p:nvSpPr>
          <p:cNvPr id="4" name="TextBox 3">
            <a:extLst>
              <a:ext uri="{FF2B5EF4-FFF2-40B4-BE49-F238E27FC236}">
                <a16:creationId xmlns:a16="http://schemas.microsoft.com/office/drawing/2014/main" id="{344652ED-87D8-08D0-6507-5E5B55513423}"/>
              </a:ext>
            </a:extLst>
          </p:cNvPr>
          <p:cNvSpPr txBox="1"/>
          <p:nvPr/>
        </p:nvSpPr>
        <p:spPr>
          <a:xfrm>
            <a:off x="5700935" y="730249"/>
            <a:ext cx="4710031" cy="800219"/>
          </a:xfrm>
          <a:prstGeom prst="rect">
            <a:avLst/>
          </a:prstGeom>
          <a:noFill/>
        </p:spPr>
        <p:txBody>
          <a:bodyPr wrap="square" rtlCol="0">
            <a:spAutoFit/>
          </a:bodyPr>
          <a:lstStyle/>
          <a:p>
            <a:r>
              <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Table of Contents</a:t>
            </a:r>
            <a:endPar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endParaRPr lang="en-US" dirty="0"/>
          </a:p>
        </p:txBody>
      </p:sp>
      <p:pic>
        <p:nvPicPr>
          <p:cNvPr id="5" name="Picture 4" descr="A blue and green text on a black background&#10;&#10;Description automatically generated">
            <a:extLst>
              <a:ext uri="{FF2B5EF4-FFF2-40B4-BE49-F238E27FC236}">
                <a16:creationId xmlns:a16="http://schemas.microsoft.com/office/drawing/2014/main" id="{A4106D6F-900F-9D0B-F5E2-40E56DE2DFB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9155" y="4511158"/>
            <a:ext cx="3587058" cy="609727"/>
          </a:xfrm>
          <a:prstGeom prst="rect">
            <a:avLst/>
          </a:prstGeom>
          <a:solidFill>
            <a:schemeClr val="bg1"/>
          </a:solidFill>
        </p:spPr>
      </p:pic>
      <p:sp>
        <p:nvSpPr>
          <p:cNvPr id="8" name="TextBox 7">
            <a:extLst>
              <a:ext uri="{FF2B5EF4-FFF2-40B4-BE49-F238E27FC236}">
                <a16:creationId xmlns:a16="http://schemas.microsoft.com/office/drawing/2014/main" id="{2058F6E3-953C-8E58-FE5B-67806CB7EE02}"/>
              </a:ext>
            </a:extLst>
          </p:cNvPr>
          <p:cNvSpPr txBox="1"/>
          <p:nvPr/>
        </p:nvSpPr>
        <p:spPr>
          <a:xfrm>
            <a:off x="6487916" y="138647"/>
            <a:ext cx="4710031" cy="523220"/>
          </a:xfrm>
          <a:prstGeom prst="rect">
            <a:avLst/>
          </a:prstGeom>
          <a:noFill/>
        </p:spPr>
        <p:txBody>
          <a:bodyPr wrap="square" rtlCol="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LF Decentralized Trust</a:t>
            </a:r>
            <a:endParaRPr lang="en-US" dirty="0"/>
          </a:p>
        </p:txBody>
      </p:sp>
      <p:sp>
        <p:nvSpPr>
          <p:cNvPr id="9" name="TextBox 8">
            <a:extLst>
              <a:ext uri="{FF2B5EF4-FFF2-40B4-BE49-F238E27FC236}">
                <a16:creationId xmlns:a16="http://schemas.microsoft.com/office/drawing/2014/main" id="{4F7929BB-4935-5936-3FCE-DE4A2426DA59}"/>
              </a:ext>
            </a:extLst>
          </p:cNvPr>
          <p:cNvSpPr txBox="1"/>
          <p:nvPr/>
        </p:nvSpPr>
        <p:spPr>
          <a:xfrm>
            <a:off x="5688882" y="6279645"/>
            <a:ext cx="4623517" cy="369332"/>
          </a:xfrm>
          <a:prstGeom prst="rect">
            <a:avLst/>
          </a:prstGeom>
          <a:solidFill>
            <a:srgbClr val="002060"/>
          </a:solidFill>
        </p:spPr>
        <p:txBody>
          <a:bodyPr wrap="square" rtlCol="0">
            <a:spAutoFit/>
          </a:bodyPr>
          <a:lstStyle/>
          <a:p>
            <a:endParaRPr lang="en-US" dirty="0">
              <a:solidFill>
                <a:schemeClr val="bg1"/>
              </a:solidFill>
            </a:endParaRPr>
          </a:p>
        </p:txBody>
      </p:sp>
      <p:pic>
        <p:nvPicPr>
          <p:cNvPr id="6" name="Picture 5" descr="A sphere with white text and dots&#10;&#10;Description automatically generated">
            <a:extLst>
              <a:ext uri="{FF2B5EF4-FFF2-40B4-BE49-F238E27FC236}">
                <a16:creationId xmlns:a16="http://schemas.microsoft.com/office/drawing/2014/main" id="{09824151-DC64-6630-0125-D0AD3844ABF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635" y="8852"/>
            <a:ext cx="2464782" cy="2443894"/>
          </a:xfrm>
          <a:prstGeom prst="rect">
            <a:avLst/>
          </a:prstGeom>
        </p:spPr>
      </p:pic>
      <p:sp>
        <p:nvSpPr>
          <p:cNvPr id="7" name="TextBox 6">
            <a:extLst>
              <a:ext uri="{FF2B5EF4-FFF2-40B4-BE49-F238E27FC236}">
                <a16:creationId xmlns:a16="http://schemas.microsoft.com/office/drawing/2014/main" id="{A1DD7D82-C8D0-9F17-61AD-DD55C0EF1F0D}"/>
              </a:ext>
            </a:extLst>
          </p:cNvPr>
          <p:cNvSpPr txBox="1"/>
          <p:nvPr/>
        </p:nvSpPr>
        <p:spPr>
          <a:xfrm>
            <a:off x="5772875" y="6241553"/>
            <a:ext cx="6359969" cy="523220"/>
          </a:xfrm>
          <a:prstGeom prst="rect">
            <a:avLst/>
          </a:prstGeom>
          <a:noFill/>
        </p:spPr>
        <p:txBody>
          <a:bodyPr wrap="square" rtlCol="0">
            <a:spAutoFit/>
          </a:bodyPr>
          <a:lstStyle/>
          <a:p>
            <a:r>
              <a:rPr lang="en-US" sz="2800" b="1" dirty="0">
                <a:solidFill>
                  <a:schemeClr val="bg1"/>
                </a:solidFill>
                <a:hlinkClick r:id="rId14" action="ppaction://hlinksldjump">
                  <a:extLst>
                    <a:ext uri="{A12FA001-AC4F-418D-AE19-62706E023703}">
                      <ahyp:hlinkClr xmlns:ahyp="http://schemas.microsoft.com/office/drawing/2018/hyperlinkcolor" val="tx"/>
                    </a:ext>
                  </a:extLst>
                </a:hlinkClick>
              </a:rPr>
              <a:t>Digital Twin Data Architecture(technical)</a:t>
            </a:r>
            <a:endParaRPr lang="en-US" sz="2800" b="1" dirty="0">
              <a:solidFill>
                <a:schemeClr val="bg1"/>
              </a:solidFill>
            </a:endParaRPr>
          </a:p>
        </p:txBody>
      </p:sp>
    </p:spTree>
    <p:extLst>
      <p:ext uri="{BB962C8B-B14F-4D97-AF65-F5344CB8AC3E}">
        <p14:creationId xmlns:p14="http://schemas.microsoft.com/office/powerpoint/2010/main" val="1484279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7F32B1-DA09-80C4-DB9E-32ACD1554831}"/>
            </a:ext>
          </a:extLst>
        </p:cNvPr>
        <p:cNvGrpSpPr/>
        <p:nvPr/>
      </p:nvGrpSpPr>
      <p:grpSpPr>
        <a:xfrm>
          <a:off x="0" y="0"/>
          <a:ext cx="0" cy="0"/>
          <a:chOff x="0" y="0"/>
          <a:chExt cx="0" cy="0"/>
        </a:xfrm>
      </p:grpSpPr>
      <p:pic>
        <p:nvPicPr>
          <p:cNvPr id="23" name="Picture 8" descr="net zero carbon footprint icon vector emissions free no ...">
            <a:extLst>
              <a:ext uri="{FF2B5EF4-FFF2-40B4-BE49-F238E27FC236}">
                <a16:creationId xmlns:a16="http://schemas.microsoft.com/office/drawing/2014/main" id="{74AE41B4-7635-B999-529B-D26B43BC30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17" y="1745155"/>
            <a:ext cx="752932" cy="708642"/>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51F0D6D0-6A94-7202-15D9-14839DFC08F9}"/>
              </a:ext>
            </a:extLst>
          </p:cNvPr>
          <p:cNvSpPr/>
          <p:nvPr/>
        </p:nvSpPr>
        <p:spPr>
          <a:xfrm>
            <a:off x="183966" y="5785952"/>
            <a:ext cx="11683142" cy="1015663"/>
          </a:xfrm>
          <a:prstGeom prst="rect">
            <a:avLst/>
          </a:prstGeom>
          <a:noFill/>
        </p:spPr>
        <p:txBody>
          <a:bodyPr wrap="square" lIns="91440" tIns="45720" rIns="91440" bIns="45720">
            <a:spAutoFit/>
          </a:bodyPr>
          <a:lstStyle/>
          <a:p>
            <a:r>
              <a:rPr lang="en-US" sz="2000" dirty="0">
                <a:latin typeface="Titillium Web Light" panose="00000400000000000000" pitchFamily="2" charset="0"/>
              </a:rPr>
              <a:t>A </a:t>
            </a:r>
            <a:r>
              <a:rPr lang="en-US" sz="2000" b="1" dirty="0">
                <a:latin typeface="Titillium Web Light" panose="00000400000000000000" pitchFamily="2" charset="0"/>
              </a:rPr>
              <a:t>LFDT reference architecture </a:t>
            </a:r>
            <a:r>
              <a:rPr lang="en-US" sz="2000" dirty="0">
                <a:latin typeface="Titillium Web Light" panose="00000400000000000000" pitchFamily="2" charset="0"/>
              </a:rPr>
              <a:t>providing businesses the ability to </a:t>
            </a:r>
            <a:r>
              <a:rPr lang="en-US" sz="2000" b="1" dirty="0">
                <a:latin typeface="Titillium Web Light" panose="00000400000000000000" pitchFamily="2" charset="0"/>
              </a:rPr>
              <a:t>plan, conduct real-time monitoring, analyze at a granular level, and optimize </a:t>
            </a:r>
            <a:r>
              <a:rPr lang="en-US" sz="2000" dirty="0">
                <a:latin typeface="Titillium Web Light" panose="00000400000000000000" pitchFamily="2" charset="0"/>
              </a:rPr>
              <a:t>supply chain processes related to greenhouse gas emissions </a:t>
            </a:r>
            <a:r>
              <a:rPr lang="en-US" sz="2000" b="1" dirty="0">
                <a:solidFill>
                  <a:srgbClr val="FF0000"/>
                </a:solidFill>
                <a:latin typeface="Titillium Web Light" panose="00000400000000000000" pitchFamily="2" charset="0"/>
              </a:rPr>
              <a:t>DOES NOT EXIST</a:t>
            </a:r>
            <a:r>
              <a:rPr lang="en-US" sz="2000" dirty="0">
                <a:latin typeface="Titillium Web Light" panose="00000400000000000000" pitchFamily="2" charset="0"/>
              </a:rPr>
              <a:t>.</a:t>
            </a:r>
            <a:endParaRPr lang="en-US" sz="2000" b="1" cap="none" spc="0" dirty="0">
              <a:ln w="0"/>
              <a:solidFill>
                <a:schemeClr val="bg1"/>
              </a:solidFill>
              <a:effectLst>
                <a:outerShdw blurRad="38100" dist="19050" dir="2700000" algn="tl" rotWithShape="0">
                  <a:schemeClr val="dk1">
                    <a:alpha val="40000"/>
                  </a:schemeClr>
                </a:outerShdw>
              </a:effectLst>
            </a:endParaRPr>
          </a:p>
        </p:txBody>
      </p:sp>
      <p:sp>
        <p:nvSpPr>
          <p:cNvPr id="3" name="Rectangle 2">
            <a:extLst>
              <a:ext uri="{FF2B5EF4-FFF2-40B4-BE49-F238E27FC236}">
                <a16:creationId xmlns:a16="http://schemas.microsoft.com/office/drawing/2014/main" id="{DF63C4EB-9246-6BF3-DAAD-D527F82816B9}"/>
              </a:ext>
            </a:extLst>
          </p:cNvPr>
          <p:cNvSpPr/>
          <p:nvPr/>
        </p:nvSpPr>
        <p:spPr>
          <a:xfrm>
            <a:off x="95575" y="89451"/>
            <a:ext cx="11608239" cy="584775"/>
          </a:xfrm>
          <a:prstGeom prst="rect">
            <a:avLst/>
          </a:prstGeom>
          <a:noFill/>
        </p:spPr>
        <p:txBody>
          <a:bodyPr wrap="square" lIns="91440" tIns="45720" rIns="91440" bIns="45720">
            <a:spAutoFit/>
          </a:bodyPr>
          <a:lstStyle/>
          <a:p>
            <a:r>
              <a:rPr lang="en-US" sz="3200" b="1" cap="none" spc="0" dirty="0">
                <a:ln w="9525">
                  <a:solidFill>
                    <a:schemeClr val="bg1"/>
                  </a:solidFill>
                  <a:prstDash val="solid"/>
                </a:ln>
                <a:solidFill>
                  <a:schemeClr val="bg1"/>
                </a:solidFill>
              </a:rPr>
              <a:t>The </a:t>
            </a:r>
            <a:r>
              <a:rPr lang="en-US" sz="3200" b="1" dirty="0">
                <a:ln w="9525">
                  <a:solidFill>
                    <a:schemeClr val="bg1"/>
                  </a:solidFill>
                  <a:prstDash val="solid"/>
                </a:ln>
                <a:solidFill>
                  <a:schemeClr val="bg1"/>
                </a:solidFill>
              </a:rPr>
              <a:t>GHG emission</a:t>
            </a:r>
            <a:r>
              <a:rPr lang="en-US" sz="3200" b="1" cap="none" spc="0" dirty="0">
                <a:ln w="9525">
                  <a:solidFill>
                    <a:schemeClr val="bg1"/>
                  </a:solidFill>
                  <a:prstDash val="solid"/>
                </a:ln>
                <a:solidFill>
                  <a:schemeClr val="bg1"/>
                </a:solidFill>
              </a:rPr>
              <a:t> challenge is</a:t>
            </a:r>
            <a:r>
              <a:rPr lang="en-US" sz="3200" b="1" dirty="0">
                <a:ln w="9525">
                  <a:solidFill>
                    <a:schemeClr val="bg1"/>
                  </a:solidFill>
                  <a:prstDash val="solid"/>
                </a:ln>
                <a:solidFill>
                  <a:schemeClr val="bg1"/>
                </a:solidFill>
              </a:rPr>
              <a:t>……………</a:t>
            </a:r>
            <a:endParaRPr lang="en-US" sz="3200" b="1" cap="none" spc="0" dirty="0">
              <a:ln w="9525">
                <a:solidFill>
                  <a:schemeClr val="bg1"/>
                </a:solidFill>
                <a:prstDash val="solid"/>
              </a:ln>
              <a:solidFill>
                <a:schemeClr val="bg1"/>
              </a:solidFill>
            </a:endParaRPr>
          </a:p>
        </p:txBody>
      </p:sp>
      <p:sp>
        <p:nvSpPr>
          <p:cNvPr id="9" name="Rectangle 8">
            <a:extLst>
              <a:ext uri="{FF2B5EF4-FFF2-40B4-BE49-F238E27FC236}">
                <a16:creationId xmlns:a16="http://schemas.microsoft.com/office/drawing/2014/main" id="{9A3D1FF3-B900-D5FB-EB09-85BE4BF9D1CC}"/>
              </a:ext>
            </a:extLst>
          </p:cNvPr>
          <p:cNvSpPr/>
          <p:nvPr/>
        </p:nvSpPr>
        <p:spPr>
          <a:xfrm>
            <a:off x="95576" y="728967"/>
            <a:ext cx="11934091" cy="707886"/>
          </a:xfrm>
          <a:prstGeom prst="rect">
            <a:avLst/>
          </a:prstGeom>
          <a:noFill/>
        </p:spPr>
        <p:txBody>
          <a:bodyPr wrap="square" lIns="91440" tIns="45720" rIns="91440" bIns="45720">
            <a:spAutoFit/>
          </a:bodyPr>
          <a:lstStyle/>
          <a:p>
            <a:r>
              <a:rPr lang="en-US" sz="2000" b="1" dirty="0">
                <a:latin typeface="Titillium Web Light" panose="00000400000000000000" pitchFamily="2" charset="0"/>
              </a:rPr>
              <a:t>Global government legislation has become more focused on requiring business entities to perform accounting of greenhouse gas (GHG) emissions in their supply chains as a business requirement.</a:t>
            </a:r>
            <a:endParaRPr lang="en-US" sz="2000" b="1" cap="none" spc="0" dirty="0">
              <a:ln w="0"/>
              <a:solidFill>
                <a:schemeClr val="bg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AF568446-F4A1-9A6F-7B66-3FE8C6B0996B}"/>
              </a:ext>
            </a:extLst>
          </p:cNvPr>
          <p:cNvSpPr/>
          <p:nvPr/>
        </p:nvSpPr>
        <p:spPr>
          <a:xfrm>
            <a:off x="1293581" y="1740654"/>
            <a:ext cx="10410235" cy="707886"/>
          </a:xfrm>
          <a:prstGeom prst="rect">
            <a:avLst/>
          </a:prstGeom>
          <a:noFill/>
        </p:spPr>
        <p:txBody>
          <a:bodyPr wrap="square" lIns="91440" tIns="45720" rIns="91440" bIns="45720">
            <a:spAutoFit/>
          </a:bodyPr>
          <a:lstStyle/>
          <a:p>
            <a:r>
              <a:rPr lang="en-US" sz="2000" b="1" dirty="0">
                <a:latin typeface="Titillium Web Light" panose="00000400000000000000" pitchFamily="2" charset="0"/>
              </a:rPr>
              <a:t>Governments are attaching GHG emissions accounting regulations to imports entering their countries. </a:t>
            </a:r>
            <a:endParaRPr lang="en-US" sz="2000" b="1" cap="none" spc="0" dirty="0">
              <a:ln w="0"/>
              <a:solidFill>
                <a:schemeClr val="bg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29847C77-309B-A42B-83A6-8EAF413D34A2}"/>
              </a:ext>
            </a:extLst>
          </p:cNvPr>
          <p:cNvSpPr/>
          <p:nvPr/>
        </p:nvSpPr>
        <p:spPr>
          <a:xfrm>
            <a:off x="1293581" y="2828316"/>
            <a:ext cx="10410235" cy="707886"/>
          </a:xfrm>
          <a:prstGeom prst="rect">
            <a:avLst/>
          </a:prstGeom>
          <a:noFill/>
        </p:spPr>
        <p:txBody>
          <a:bodyPr wrap="square" lIns="91440" tIns="45720" rIns="91440" bIns="45720">
            <a:spAutoFit/>
          </a:bodyPr>
          <a:lstStyle/>
          <a:p>
            <a:r>
              <a:rPr lang="en-US" sz="2000" b="1" dirty="0">
                <a:latin typeface="Titillium Web Light" panose="00000400000000000000" pitchFamily="2" charset="0"/>
              </a:rPr>
              <a:t>Consumers and corporate customers demand sustainability in their business practices focused on GHG reduction.</a:t>
            </a:r>
            <a:endParaRPr lang="en-US" sz="2000" b="1" cap="none" spc="0" dirty="0">
              <a:ln w="0"/>
              <a:solidFill>
                <a:schemeClr val="bg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4C38EDE4-DAB1-6F8F-12F9-845489D03373}"/>
              </a:ext>
            </a:extLst>
          </p:cNvPr>
          <p:cNvSpPr/>
          <p:nvPr/>
        </p:nvSpPr>
        <p:spPr>
          <a:xfrm>
            <a:off x="1293581" y="3880668"/>
            <a:ext cx="10410235" cy="707886"/>
          </a:xfrm>
          <a:prstGeom prst="rect">
            <a:avLst/>
          </a:prstGeom>
          <a:noFill/>
        </p:spPr>
        <p:txBody>
          <a:bodyPr wrap="square" lIns="91440" tIns="45720" rIns="91440" bIns="45720">
            <a:spAutoFit/>
          </a:bodyPr>
          <a:lstStyle/>
          <a:p>
            <a:r>
              <a:rPr lang="en-US" sz="2000" b="1" dirty="0">
                <a:latin typeface="Titillium Web Light" panose="00000400000000000000" pitchFamily="2" charset="0"/>
              </a:rPr>
              <a:t>Inaccurate calculations of GHG emissions in a supply chain can lead to financial and legal consequences, as well as accusations of greenwashing. </a:t>
            </a:r>
            <a:endParaRPr lang="en-US" sz="2000" b="1" cap="none" spc="0" dirty="0">
              <a:ln w="0"/>
              <a:solidFill>
                <a:schemeClr val="bg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34B26824-3FDD-10B7-C608-FC1F2CAA594F}"/>
              </a:ext>
            </a:extLst>
          </p:cNvPr>
          <p:cNvSpPr/>
          <p:nvPr/>
        </p:nvSpPr>
        <p:spPr>
          <a:xfrm>
            <a:off x="1293580" y="4778735"/>
            <a:ext cx="10410235" cy="707886"/>
          </a:xfrm>
          <a:prstGeom prst="rect">
            <a:avLst/>
          </a:prstGeom>
          <a:noFill/>
        </p:spPr>
        <p:txBody>
          <a:bodyPr wrap="square" lIns="91440" tIns="45720" rIns="91440" bIns="45720">
            <a:spAutoFit/>
          </a:bodyPr>
          <a:lstStyle/>
          <a:p>
            <a:r>
              <a:rPr lang="en-US" sz="2000" b="1" dirty="0">
                <a:latin typeface="Titillium Web Light" panose="00000400000000000000" pitchFamily="2" charset="0"/>
              </a:rPr>
              <a:t>The cost of GHG emissions is projected to increase substantially as governments implement net-zero policies.</a:t>
            </a:r>
            <a:endParaRPr lang="en-US" sz="2000" b="1" cap="none" spc="0" dirty="0">
              <a:ln w="0"/>
              <a:solidFill>
                <a:schemeClr val="bg1"/>
              </a:solidFill>
              <a:effectLst>
                <a:outerShdw blurRad="38100" dist="19050" dir="2700000" algn="tl" rotWithShape="0">
                  <a:schemeClr val="dk1">
                    <a:alpha val="40000"/>
                  </a:schemeClr>
                </a:outerShdw>
              </a:effectLst>
            </a:endParaRPr>
          </a:p>
        </p:txBody>
      </p:sp>
      <p:pic>
        <p:nvPicPr>
          <p:cNvPr id="2056" name="Picture 8" descr="Reducing Carbon Emissions ...">
            <a:extLst>
              <a:ext uri="{FF2B5EF4-FFF2-40B4-BE49-F238E27FC236}">
                <a16:creationId xmlns:a16="http://schemas.microsoft.com/office/drawing/2014/main" id="{C5A386C1-2451-6924-AA62-142F22ED62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31" y="2774979"/>
            <a:ext cx="690340" cy="668477"/>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Transforming Supply Chains With Carbon Ledger Technology | SupplyChainBrain">
            <a:extLst>
              <a:ext uri="{FF2B5EF4-FFF2-40B4-BE49-F238E27FC236}">
                <a16:creationId xmlns:a16="http://schemas.microsoft.com/office/drawing/2014/main" id="{20F6B958-8046-ACF9-426D-92426332DB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86381" y="3812875"/>
            <a:ext cx="700079" cy="66847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9F6200D-B44B-9DC5-6A99-12BAF64F41FE}"/>
              </a:ext>
            </a:extLst>
          </p:cNvPr>
          <p:cNvSpPr/>
          <p:nvPr/>
        </p:nvSpPr>
        <p:spPr>
          <a:xfrm>
            <a:off x="3872" y="5917"/>
            <a:ext cx="12180896" cy="656492"/>
          </a:xfrm>
          <a:prstGeom prst="rect">
            <a:avLst/>
          </a:prstGeom>
          <a:gradFill>
            <a:gsLst>
              <a:gs pos="0">
                <a:schemeClr val="accent1">
                  <a:lumMod val="5000"/>
                  <a:lumOff val="95000"/>
                </a:schemeClr>
              </a:gs>
              <a:gs pos="0">
                <a:srgbClr val="6600FF"/>
              </a:gs>
              <a:gs pos="100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The global challenge for entities is to eliminate GHG emissions in their supply chains……….</a:t>
            </a:r>
          </a:p>
        </p:txBody>
      </p:sp>
      <p:sp>
        <p:nvSpPr>
          <p:cNvPr id="7" name="Arrow: Right 6">
            <a:extLst>
              <a:ext uri="{FF2B5EF4-FFF2-40B4-BE49-F238E27FC236}">
                <a16:creationId xmlns:a16="http://schemas.microsoft.com/office/drawing/2014/main" id="{537DB0A4-C694-5389-26E7-3A636E396C37}"/>
              </a:ext>
            </a:extLst>
          </p:cNvPr>
          <p:cNvSpPr/>
          <p:nvPr/>
        </p:nvSpPr>
        <p:spPr>
          <a:xfrm>
            <a:off x="842927" y="1872606"/>
            <a:ext cx="513059" cy="443981"/>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Arrow: Right 7">
            <a:extLst>
              <a:ext uri="{FF2B5EF4-FFF2-40B4-BE49-F238E27FC236}">
                <a16:creationId xmlns:a16="http://schemas.microsoft.com/office/drawing/2014/main" id="{2AC6874B-CAFD-09DE-FB76-B7AD08F63A0F}"/>
              </a:ext>
            </a:extLst>
          </p:cNvPr>
          <p:cNvSpPr/>
          <p:nvPr/>
        </p:nvSpPr>
        <p:spPr>
          <a:xfrm>
            <a:off x="839313" y="2924986"/>
            <a:ext cx="513059" cy="443981"/>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Arrow: Right 12">
            <a:extLst>
              <a:ext uri="{FF2B5EF4-FFF2-40B4-BE49-F238E27FC236}">
                <a16:creationId xmlns:a16="http://schemas.microsoft.com/office/drawing/2014/main" id="{3A82AF9D-D0A8-51F0-F29A-3CEA8E55A6C4}"/>
              </a:ext>
            </a:extLst>
          </p:cNvPr>
          <p:cNvSpPr/>
          <p:nvPr/>
        </p:nvSpPr>
        <p:spPr>
          <a:xfrm>
            <a:off x="839312" y="3964465"/>
            <a:ext cx="513059" cy="443981"/>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Right 14">
            <a:extLst>
              <a:ext uri="{FF2B5EF4-FFF2-40B4-BE49-F238E27FC236}">
                <a16:creationId xmlns:a16="http://schemas.microsoft.com/office/drawing/2014/main" id="{702926BB-0225-7E0B-B4BE-DFF660008E52}"/>
              </a:ext>
            </a:extLst>
          </p:cNvPr>
          <p:cNvSpPr/>
          <p:nvPr/>
        </p:nvSpPr>
        <p:spPr>
          <a:xfrm>
            <a:off x="839312" y="4894938"/>
            <a:ext cx="513059" cy="443981"/>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2050" name="Picture 2" descr="41,300+ Green Dollar Sign Stock Photos, Pictures &amp; Royalty ...">
            <a:extLst>
              <a:ext uri="{FF2B5EF4-FFF2-40B4-BE49-F238E27FC236}">
                <a16:creationId xmlns:a16="http://schemas.microsoft.com/office/drawing/2014/main" id="{24252107-BC10-83E9-7CDE-5D49D52354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54" y="4724132"/>
            <a:ext cx="752931" cy="752931"/>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Connector 20">
            <a:extLst>
              <a:ext uri="{FF2B5EF4-FFF2-40B4-BE49-F238E27FC236}">
                <a16:creationId xmlns:a16="http://schemas.microsoft.com/office/drawing/2014/main" id="{BACF391E-1BA8-9700-D58A-C8A9B8E46500}"/>
              </a:ext>
            </a:extLst>
          </p:cNvPr>
          <p:cNvCxnSpPr>
            <a:cxnSpLocks/>
          </p:cNvCxnSpPr>
          <p:nvPr/>
        </p:nvCxnSpPr>
        <p:spPr>
          <a:xfrm>
            <a:off x="179614" y="5676802"/>
            <a:ext cx="11742653"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0190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46009-4C55-7533-BFE8-B46C0E7B6B9A}"/>
            </a:ext>
          </a:extLst>
        </p:cNvPr>
        <p:cNvGrpSpPr/>
        <p:nvPr/>
      </p:nvGrpSpPr>
      <p:grpSpPr>
        <a:xfrm>
          <a:off x="0" y="0"/>
          <a:ext cx="0" cy="0"/>
          <a:chOff x="0" y="0"/>
          <a:chExt cx="0" cy="0"/>
        </a:xfrm>
      </p:grpSpPr>
      <p:sp>
        <p:nvSpPr>
          <p:cNvPr id="35" name="Oval 34">
            <a:extLst>
              <a:ext uri="{FF2B5EF4-FFF2-40B4-BE49-F238E27FC236}">
                <a16:creationId xmlns:a16="http://schemas.microsoft.com/office/drawing/2014/main" id="{D0B70478-F796-52C4-011B-F2B22E454453}"/>
              </a:ext>
            </a:extLst>
          </p:cNvPr>
          <p:cNvSpPr/>
          <p:nvPr/>
        </p:nvSpPr>
        <p:spPr>
          <a:xfrm>
            <a:off x="4115892" y="2627698"/>
            <a:ext cx="3536623" cy="290682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DF490F6-1B7D-2507-B92F-5FA980A226CC}"/>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LFDT is Linux Foundation Decentralized Trust</a:t>
            </a:r>
          </a:p>
        </p:txBody>
      </p:sp>
      <p:sp>
        <p:nvSpPr>
          <p:cNvPr id="65" name="AutoShape 2" descr="Cash Pictures, Cash Stock Photos &amp; Images | Depositphotos®">
            <a:extLst>
              <a:ext uri="{FF2B5EF4-FFF2-40B4-BE49-F238E27FC236}">
                <a16:creationId xmlns:a16="http://schemas.microsoft.com/office/drawing/2014/main" id="{C34810EA-4DC4-0408-3A73-1D2A8AFF48B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A494C796-6F38-EA57-3BB0-C1C8C1D66D6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Rectangle 9">
            <a:extLst>
              <a:ext uri="{FF2B5EF4-FFF2-40B4-BE49-F238E27FC236}">
                <a16:creationId xmlns:a16="http://schemas.microsoft.com/office/drawing/2014/main" id="{E3C201CD-B270-A32E-93C7-1BFD2B5636EA}"/>
              </a:ext>
            </a:extLst>
          </p:cNvPr>
          <p:cNvSpPr/>
          <p:nvPr/>
        </p:nvSpPr>
        <p:spPr>
          <a:xfrm>
            <a:off x="4121009" y="3787883"/>
            <a:ext cx="3531506" cy="707886"/>
          </a:xfrm>
          <a:prstGeom prst="rect">
            <a:avLst/>
          </a:prstGeom>
          <a:noFill/>
        </p:spPr>
        <p:txBody>
          <a:bodyPr wrap="square" lIns="91440" tIns="45720" rIns="91440" bIns="45720">
            <a:spAutoFit/>
          </a:bodyPr>
          <a:lstStyle/>
          <a:p>
            <a:pPr algn="ctr"/>
            <a:r>
              <a:rPr lang="en-US" sz="2000" b="0" cap="none" spc="0" dirty="0">
                <a:ln w="0"/>
                <a:effectLst>
                  <a:outerShdw blurRad="38100" dist="19050" dir="2700000" algn="tl" rotWithShape="0">
                    <a:schemeClr val="dk1">
                      <a:alpha val="40000"/>
                    </a:schemeClr>
                  </a:outerShdw>
                </a:effectLst>
                <a:latin typeface="Titillium Web Light" panose="00000400000000000000" pitchFamily="2" charset="0"/>
              </a:rPr>
              <a:t>Supply Chain GHG Emission Tracking  and Modeling</a:t>
            </a:r>
            <a:endParaRPr lang="en-US" sz="2000" b="0" cap="none" spc="0" dirty="0">
              <a:ln w="0"/>
              <a:effectLst>
                <a:outerShdw blurRad="38100" dist="19050" dir="2700000" algn="tl" rotWithShape="0">
                  <a:schemeClr val="dk1">
                    <a:alpha val="40000"/>
                  </a:schemeClr>
                </a:outerShdw>
              </a:effectLst>
            </a:endParaRPr>
          </a:p>
        </p:txBody>
      </p:sp>
      <p:pic>
        <p:nvPicPr>
          <p:cNvPr id="21" name="Picture 20">
            <a:extLst>
              <a:ext uri="{FF2B5EF4-FFF2-40B4-BE49-F238E27FC236}">
                <a16:creationId xmlns:a16="http://schemas.microsoft.com/office/drawing/2014/main" id="{E8E7C795-49A8-7609-E465-C63CD5F0F952}"/>
              </a:ext>
            </a:extLst>
          </p:cNvPr>
          <p:cNvPicPr>
            <a:picLocks noChangeAspect="1"/>
          </p:cNvPicPr>
          <p:nvPr/>
        </p:nvPicPr>
        <p:blipFill>
          <a:blip r:embed="rId2"/>
          <a:stretch>
            <a:fillRect/>
          </a:stretch>
        </p:blipFill>
        <p:spPr>
          <a:xfrm>
            <a:off x="2194991" y="1781551"/>
            <a:ext cx="3611439" cy="2050365"/>
          </a:xfrm>
          <a:prstGeom prst="rect">
            <a:avLst/>
          </a:prstGeom>
        </p:spPr>
      </p:pic>
      <p:sp>
        <p:nvSpPr>
          <p:cNvPr id="23" name="TextBox 22">
            <a:extLst>
              <a:ext uri="{FF2B5EF4-FFF2-40B4-BE49-F238E27FC236}">
                <a16:creationId xmlns:a16="http://schemas.microsoft.com/office/drawing/2014/main" id="{07C5869D-9801-50D7-A12D-75962A0540A5}"/>
              </a:ext>
            </a:extLst>
          </p:cNvPr>
          <p:cNvSpPr txBox="1"/>
          <p:nvPr/>
        </p:nvSpPr>
        <p:spPr>
          <a:xfrm>
            <a:off x="7835401" y="2466882"/>
            <a:ext cx="1491916" cy="1200329"/>
          </a:xfrm>
          <a:prstGeom prst="rect">
            <a:avLst/>
          </a:prstGeom>
          <a:solidFill>
            <a:schemeClr val="bg1"/>
          </a:solidFill>
        </p:spPr>
        <p:txBody>
          <a:bodyPr wrap="square" rtlCol="0">
            <a:spAutoFit/>
          </a:bodyPr>
          <a:lstStyle/>
          <a:p>
            <a:r>
              <a:rPr lang="en-US" dirty="0" err="1"/>
              <a:t>ee</a:t>
            </a:r>
            <a:endParaRPr lang="en-US" dirty="0"/>
          </a:p>
          <a:p>
            <a:endParaRPr lang="en-US" dirty="0"/>
          </a:p>
          <a:p>
            <a:endParaRPr lang="en-US" dirty="0"/>
          </a:p>
          <a:p>
            <a:endParaRPr lang="en-US" dirty="0"/>
          </a:p>
        </p:txBody>
      </p:sp>
      <p:pic>
        <p:nvPicPr>
          <p:cNvPr id="25" name="Picture 24">
            <a:extLst>
              <a:ext uri="{FF2B5EF4-FFF2-40B4-BE49-F238E27FC236}">
                <a16:creationId xmlns:a16="http://schemas.microsoft.com/office/drawing/2014/main" id="{80EE08A0-6890-0263-5DBE-59478DAE4BC2}"/>
              </a:ext>
            </a:extLst>
          </p:cNvPr>
          <p:cNvPicPr>
            <a:picLocks noChangeAspect="1"/>
          </p:cNvPicPr>
          <p:nvPr/>
        </p:nvPicPr>
        <p:blipFill>
          <a:blip r:embed="rId3"/>
          <a:stretch>
            <a:fillRect/>
          </a:stretch>
        </p:blipFill>
        <p:spPr>
          <a:xfrm>
            <a:off x="6077618" y="1763724"/>
            <a:ext cx="3050241" cy="2018203"/>
          </a:xfrm>
          <a:prstGeom prst="rect">
            <a:avLst/>
          </a:prstGeom>
        </p:spPr>
      </p:pic>
      <p:sp>
        <p:nvSpPr>
          <p:cNvPr id="26" name="TextBox 25">
            <a:extLst>
              <a:ext uri="{FF2B5EF4-FFF2-40B4-BE49-F238E27FC236}">
                <a16:creationId xmlns:a16="http://schemas.microsoft.com/office/drawing/2014/main" id="{A93655B1-5808-1684-7F4E-9A6502C483A2}"/>
              </a:ext>
            </a:extLst>
          </p:cNvPr>
          <p:cNvSpPr txBox="1"/>
          <p:nvPr/>
        </p:nvSpPr>
        <p:spPr>
          <a:xfrm>
            <a:off x="2118725" y="2482731"/>
            <a:ext cx="1491916" cy="1200329"/>
          </a:xfrm>
          <a:prstGeom prst="rect">
            <a:avLst/>
          </a:prstGeom>
          <a:solidFill>
            <a:schemeClr val="bg1"/>
          </a:solidFill>
        </p:spPr>
        <p:txBody>
          <a:bodyPr wrap="square" rtlCol="0">
            <a:spAutoFit/>
          </a:bodyPr>
          <a:lstStyle/>
          <a:p>
            <a:endParaRPr lang="en-US" dirty="0"/>
          </a:p>
          <a:p>
            <a:endParaRPr lang="en-US" dirty="0"/>
          </a:p>
          <a:p>
            <a:endParaRPr lang="en-US" dirty="0"/>
          </a:p>
          <a:p>
            <a:endParaRPr lang="en-US" dirty="0"/>
          </a:p>
        </p:txBody>
      </p:sp>
      <p:sp>
        <p:nvSpPr>
          <p:cNvPr id="27" name="TextBox 26">
            <a:extLst>
              <a:ext uri="{FF2B5EF4-FFF2-40B4-BE49-F238E27FC236}">
                <a16:creationId xmlns:a16="http://schemas.microsoft.com/office/drawing/2014/main" id="{E95BA11A-01C6-BD0F-A775-A16A9CE11C9F}"/>
              </a:ext>
            </a:extLst>
          </p:cNvPr>
          <p:cNvSpPr txBox="1"/>
          <p:nvPr/>
        </p:nvSpPr>
        <p:spPr>
          <a:xfrm>
            <a:off x="8052537" y="3084170"/>
            <a:ext cx="3750843" cy="738664"/>
          </a:xfrm>
          <a:prstGeom prst="rect">
            <a:avLst/>
          </a:prstGeom>
          <a:solidFill>
            <a:schemeClr val="bg1"/>
          </a:solidFill>
        </p:spPr>
        <p:txBody>
          <a:bodyPr wrap="square" rtlCol="0">
            <a:spAutoFit/>
          </a:bodyPr>
          <a:lstStyle/>
          <a:p>
            <a:r>
              <a:rPr lang="en-US" sz="1400" dirty="0"/>
              <a:t>lightweight architecture, ideal choice for IoT and financial applications. Best choice for processing IoT data.</a:t>
            </a:r>
          </a:p>
        </p:txBody>
      </p:sp>
      <p:pic>
        <p:nvPicPr>
          <p:cNvPr id="29" name="Picture 28">
            <a:extLst>
              <a:ext uri="{FF2B5EF4-FFF2-40B4-BE49-F238E27FC236}">
                <a16:creationId xmlns:a16="http://schemas.microsoft.com/office/drawing/2014/main" id="{191433FE-4510-6E85-9757-226EBC1B4078}"/>
              </a:ext>
            </a:extLst>
          </p:cNvPr>
          <p:cNvPicPr>
            <a:picLocks noChangeAspect="1"/>
          </p:cNvPicPr>
          <p:nvPr/>
        </p:nvPicPr>
        <p:blipFill>
          <a:blip r:embed="rId4"/>
          <a:stretch>
            <a:fillRect/>
          </a:stretch>
        </p:blipFill>
        <p:spPr>
          <a:xfrm>
            <a:off x="2649652" y="4545349"/>
            <a:ext cx="3187330" cy="1742158"/>
          </a:xfrm>
          <a:prstGeom prst="rect">
            <a:avLst/>
          </a:prstGeom>
        </p:spPr>
      </p:pic>
      <p:pic>
        <p:nvPicPr>
          <p:cNvPr id="31" name="Picture 30">
            <a:extLst>
              <a:ext uri="{FF2B5EF4-FFF2-40B4-BE49-F238E27FC236}">
                <a16:creationId xmlns:a16="http://schemas.microsoft.com/office/drawing/2014/main" id="{A1ADCE4B-60E1-9C64-76E7-504C0E281D90}"/>
              </a:ext>
            </a:extLst>
          </p:cNvPr>
          <p:cNvPicPr>
            <a:picLocks noChangeAspect="1"/>
          </p:cNvPicPr>
          <p:nvPr/>
        </p:nvPicPr>
        <p:blipFill>
          <a:blip r:embed="rId5"/>
          <a:stretch>
            <a:fillRect/>
          </a:stretch>
        </p:blipFill>
        <p:spPr>
          <a:xfrm>
            <a:off x="6136337" y="4563581"/>
            <a:ext cx="2932801" cy="1775117"/>
          </a:xfrm>
          <a:prstGeom prst="rect">
            <a:avLst/>
          </a:prstGeom>
        </p:spPr>
      </p:pic>
      <p:sp>
        <p:nvSpPr>
          <p:cNvPr id="33" name="TextBox 32">
            <a:extLst>
              <a:ext uri="{FF2B5EF4-FFF2-40B4-BE49-F238E27FC236}">
                <a16:creationId xmlns:a16="http://schemas.microsoft.com/office/drawing/2014/main" id="{D0702667-D0F3-D07D-CA16-71C7948F2FD5}"/>
              </a:ext>
            </a:extLst>
          </p:cNvPr>
          <p:cNvSpPr txBox="1"/>
          <p:nvPr/>
        </p:nvSpPr>
        <p:spPr>
          <a:xfrm>
            <a:off x="2202151" y="4462152"/>
            <a:ext cx="1491916" cy="1200329"/>
          </a:xfrm>
          <a:prstGeom prst="rect">
            <a:avLst/>
          </a:prstGeom>
          <a:solidFill>
            <a:schemeClr val="bg1"/>
          </a:solidFill>
        </p:spPr>
        <p:txBody>
          <a:bodyPr wrap="square" rtlCol="0">
            <a:spAutoFit/>
          </a:bodyPr>
          <a:lstStyle/>
          <a:p>
            <a:endParaRPr lang="en-US" dirty="0"/>
          </a:p>
          <a:p>
            <a:endParaRPr lang="en-US" dirty="0"/>
          </a:p>
          <a:p>
            <a:endParaRPr lang="en-US" dirty="0"/>
          </a:p>
          <a:p>
            <a:endParaRPr lang="en-US" dirty="0"/>
          </a:p>
        </p:txBody>
      </p:sp>
      <p:sp>
        <p:nvSpPr>
          <p:cNvPr id="34" name="TextBox 33">
            <a:extLst>
              <a:ext uri="{FF2B5EF4-FFF2-40B4-BE49-F238E27FC236}">
                <a16:creationId xmlns:a16="http://schemas.microsoft.com/office/drawing/2014/main" id="{49EE7EEB-050E-8CA8-B84C-1B2B052FE923}"/>
              </a:ext>
            </a:extLst>
          </p:cNvPr>
          <p:cNvSpPr txBox="1"/>
          <p:nvPr/>
        </p:nvSpPr>
        <p:spPr>
          <a:xfrm>
            <a:off x="8072387" y="4554101"/>
            <a:ext cx="1491916" cy="1200329"/>
          </a:xfrm>
          <a:prstGeom prst="rect">
            <a:avLst/>
          </a:prstGeom>
          <a:solidFill>
            <a:schemeClr val="bg1"/>
          </a:solidFill>
        </p:spPr>
        <p:txBody>
          <a:bodyPr wrap="square" rtlCol="0">
            <a:spAutoFit/>
          </a:bodyPr>
          <a:lstStyle/>
          <a:p>
            <a:endParaRPr lang="en-US" dirty="0"/>
          </a:p>
          <a:p>
            <a:endParaRPr lang="en-US" dirty="0"/>
          </a:p>
          <a:p>
            <a:endParaRPr lang="en-US" dirty="0"/>
          </a:p>
          <a:p>
            <a:endParaRPr lang="en-US" dirty="0"/>
          </a:p>
        </p:txBody>
      </p:sp>
      <p:pic>
        <p:nvPicPr>
          <p:cNvPr id="43" name="Picture 42">
            <a:extLst>
              <a:ext uri="{FF2B5EF4-FFF2-40B4-BE49-F238E27FC236}">
                <a16:creationId xmlns:a16="http://schemas.microsoft.com/office/drawing/2014/main" id="{D4BDA5DC-3580-9238-9013-3B8FE0F7B620}"/>
              </a:ext>
            </a:extLst>
          </p:cNvPr>
          <p:cNvPicPr>
            <a:picLocks noChangeAspect="1"/>
          </p:cNvPicPr>
          <p:nvPr/>
        </p:nvPicPr>
        <p:blipFill>
          <a:blip r:embed="rId6"/>
          <a:stretch>
            <a:fillRect/>
          </a:stretch>
        </p:blipFill>
        <p:spPr>
          <a:xfrm>
            <a:off x="2202151" y="5163714"/>
            <a:ext cx="1491916" cy="629027"/>
          </a:xfrm>
          <a:prstGeom prst="rect">
            <a:avLst/>
          </a:prstGeom>
        </p:spPr>
      </p:pic>
      <p:pic>
        <p:nvPicPr>
          <p:cNvPr id="44" name="Picture 43">
            <a:extLst>
              <a:ext uri="{FF2B5EF4-FFF2-40B4-BE49-F238E27FC236}">
                <a16:creationId xmlns:a16="http://schemas.microsoft.com/office/drawing/2014/main" id="{2EF2C00F-394D-8474-40F6-8F1BE6937E2F}"/>
              </a:ext>
            </a:extLst>
          </p:cNvPr>
          <p:cNvPicPr>
            <a:picLocks noChangeAspect="1"/>
          </p:cNvPicPr>
          <p:nvPr/>
        </p:nvPicPr>
        <p:blipFill>
          <a:blip r:embed="rId7"/>
          <a:stretch>
            <a:fillRect/>
          </a:stretch>
        </p:blipFill>
        <p:spPr>
          <a:xfrm>
            <a:off x="8156213" y="2479093"/>
            <a:ext cx="1778812" cy="625684"/>
          </a:xfrm>
          <a:prstGeom prst="rect">
            <a:avLst/>
          </a:prstGeom>
        </p:spPr>
      </p:pic>
      <p:pic>
        <p:nvPicPr>
          <p:cNvPr id="45" name="Picture 44">
            <a:extLst>
              <a:ext uri="{FF2B5EF4-FFF2-40B4-BE49-F238E27FC236}">
                <a16:creationId xmlns:a16="http://schemas.microsoft.com/office/drawing/2014/main" id="{74D39738-3C55-C384-50A0-9806384F2DF7}"/>
              </a:ext>
            </a:extLst>
          </p:cNvPr>
          <p:cNvPicPr>
            <a:picLocks noChangeAspect="1"/>
          </p:cNvPicPr>
          <p:nvPr/>
        </p:nvPicPr>
        <p:blipFill>
          <a:blip r:embed="rId8"/>
          <a:stretch>
            <a:fillRect/>
          </a:stretch>
        </p:blipFill>
        <p:spPr>
          <a:xfrm>
            <a:off x="1788630" y="2593914"/>
            <a:ext cx="1688227" cy="503506"/>
          </a:xfrm>
          <a:prstGeom prst="rect">
            <a:avLst/>
          </a:prstGeom>
        </p:spPr>
      </p:pic>
      <p:pic>
        <p:nvPicPr>
          <p:cNvPr id="46" name="Picture 45">
            <a:extLst>
              <a:ext uri="{FF2B5EF4-FFF2-40B4-BE49-F238E27FC236}">
                <a16:creationId xmlns:a16="http://schemas.microsoft.com/office/drawing/2014/main" id="{C643C9A2-A2D8-FDE6-6A55-47C7F541C4E7}"/>
              </a:ext>
            </a:extLst>
          </p:cNvPr>
          <p:cNvPicPr>
            <a:picLocks noChangeAspect="1"/>
          </p:cNvPicPr>
          <p:nvPr/>
        </p:nvPicPr>
        <p:blipFill>
          <a:blip r:embed="rId9"/>
          <a:stretch>
            <a:fillRect/>
          </a:stretch>
        </p:blipFill>
        <p:spPr>
          <a:xfrm>
            <a:off x="9776169" y="5237728"/>
            <a:ext cx="1829677" cy="462234"/>
          </a:xfrm>
          <a:prstGeom prst="rect">
            <a:avLst/>
          </a:prstGeom>
        </p:spPr>
      </p:pic>
      <p:pic>
        <p:nvPicPr>
          <p:cNvPr id="47" name="Picture 46">
            <a:extLst>
              <a:ext uri="{FF2B5EF4-FFF2-40B4-BE49-F238E27FC236}">
                <a16:creationId xmlns:a16="http://schemas.microsoft.com/office/drawing/2014/main" id="{EB854484-8FD7-06D3-0CF3-034425C7821A}"/>
              </a:ext>
            </a:extLst>
          </p:cNvPr>
          <p:cNvPicPr>
            <a:picLocks noChangeAspect="1"/>
          </p:cNvPicPr>
          <p:nvPr/>
        </p:nvPicPr>
        <p:blipFill>
          <a:blip r:embed="rId10"/>
          <a:stretch>
            <a:fillRect/>
          </a:stretch>
        </p:blipFill>
        <p:spPr>
          <a:xfrm>
            <a:off x="8052650" y="5217092"/>
            <a:ext cx="1703782" cy="503506"/>
          </a:xfrm>
          <a:prstGeom prst="rect">
            <a:avLst/>
          </a:prstGeom>
        </p:spPr>
      </p:pic>
      <p:sp>
        <p:nvSpPr>
          <p:cNvPr id="48" name="TextBox 47">
            <a:extLst>
              <a:ext uri="{FF2B5EF4-FFF2-40B4-BE49-F238E27FC236}">
                <a16:creationId xmlns:a16="http://schemas.microsoft.com/office/drawing/2014/main" id="{21B5800C-C926-AC44-D8B8-FE95519025D1}"/>
              </a:ext>
            </a:extLst>
          </p:cNvPr>
          <p:cNvSpPr txBox="1"/>
          <p:nvPr/>
        </p:nvSpPr>
        <p:spPr>
          <a:xfrm>
            <a:off x="162110" y="649997"/>
            <a:ext cx="11754052" cy="1077218"/>
          </a:xfrm>
          <a:prstGeom prst="rect">
            <a:avLst/>
          </a:prstGeom>
          <a:noFill/>
        </p:spPr>
        <p:txBody>
          <a:bodyPr wrap="square" rtlCol="0">
            <a:spAutoFit/>
          </a:bodyPr>
          <a:lstStyle/>
          <a:p>
            <a:r>
              <a:rPr lang="en-US" sz="2000" b="1" dirty="0"/>
              <a:t>Deploy LFDT blockchain technologies </a:t>
            </a:r>
            <a:r>
              <a:rPr lang="en-US" sz="2000" dirty="0"/>
              <a:t>as the </a:t>
            </a:r>
            <a:r>
              <a:rPr lang="en-US" sz="2400" b="1" dirty="0">
                <a:solidFill>
                  <a:srgbClr val="FF0000"/>
                </a:solidFill>
              </a:rPr>
              <a:t>reference architecture </a:t>
            </a:r>
            <a:r>
              <a:rPr lang="en-US" sz="2000" b="1" dirty="0">
                <a:solidFill>
                  <a:srgbClr val="FF0000"/>
                </a:solidFill>
              </a:rPr>
              <a:t>for</a:t>
            </a:r>
            <a:r>
              <a:rPr lang="en-US" sz="2000" dirty="0"/>
              <a:t> constructing a </a:t>
            </a:r>
            <a:r>
              <a:rPr lang="en-US" sz="2000" dirty="0">
                <a:solidFill>
                  <a:srgbClr val="FF0000"/>
                </a:solidFill>
              </a:rPr>
              <a:t>real time </a:t>
            </a:r>
            <a:r>
              <a:rPr lang="en-US" sz="2000" dirty="0"/>
              <a:t>GHG</a:t>
            </a:r>
            <a:r>
              <a:rPr lang="en-US" sz="2000" dirty="0">
                <a:solidFill>
                  <a:srgbClr val="FF0000"/>
                </a:solidFill>
              </a:rPr>
              <a:t> </a:t>
            </a:r>
            <a:r>
              <a:rPr lang="en-US" sz="2000" dirty="0"/>
              <a:t>emission tracking platform for supply chains. As a use case, this can include the capability to create a </a:t>
            </a:r>
            <a:r>
              <a:rPr lang="en-US" sz="2000" dirty="0">
                <a:solidFill>
                  <a:srgbClr val="FF0000"/>
                </a:solidFill>
              </a:rPr>
              <a:t>Digital Twin</a:t>
            </a:r>
            <a:r>
              <a:rPr lang="en-US" sz="2000" dirty="0"/>
              <a:t> as a tool for modeling scenarios to reduce GHG emissions or to achieve a net-zero footprint. </a:t>
            </a:r>
            <a:endParaRPr lang="en-US" sz="2000" dirty="0">
              <a:solidFill>
                <a:schemeClr val="tx2">
                  <a:lumMod val="75000"/>
                  <a:lumOff val="25000"/>
                </a:schemeClr>
              </a:solidFill>
            </a:endParaRPr>
          </a:p>
        </p:txBody>
      </p:sp>
      <p:sp>
        <p:nvSpPr>
          <p:cNvPr id="49" name="Rectangle 48">
            <a:extLst>
              <a:ext uri="{FF2B5EF4-FFF2-40B4-BE49-F238E27FC236}">
                <a16:creationId xmlns:a16="http://schemas.microsoft.com/office/drawing/2014/main" id="{37DF421A-EA88-1281-B03B-90B989E66C9A}"/>
              </a:ext>
            </a:extLst>
          </p:cNvPr>
          <p:cNvSpPr/>
          <p:nvPr/>
        </p:nvSpPr>
        <p:spPr>
          <a:xfrm>
            <a:off x="4027" y="5614"/>
            <a:ext cx="12180896" cy="656492"/>
          </a:xfrm>
          <a:prstGeom prst="rect">
            <a:avLst/>
          </a:prstGeom>
          <a:gradFill>
            <a:gsLst>
              <a:gs pos="0">
                <a:schemeClr val="accent1">
                  <a:lumMod val="5000"/>
                  <a:lumOff val="95000"/>
                </a:schemeClr>
              </a:gs>
              <a:gs pos="0">
                <a:srgbClr val="6600FF"/>
              </a:gs>
              <a:gs pos="100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……………..and a solution is to utilize the set of LFDT blockchain platforms and tools.</a:t>
            </a:r>
          </a:p>
        </p:txBody>
      </p:sp>
      <p:sp>
        <p:nvSpPr>
          <p:cNvPr id="51" name="TextBox 50">
            <a:extLst>
              <a:ext uri="{FF2B5EF4-FFF2-40B4-BE49-F238E27FC236}">
                <a16:creationId xmlns:a16="http://schemas.microsoft.com/office/drawing/2014/main" id="{528EDC54-0C7F-890A-4803-D4F822567D69}"/>
              </a:ext>
            </a:extLst>
          </p:cNvPr>
          <p:cNvSpPr txBox="1"/>
          <p:nvPr/>
        </p:nvSpPr>
        <p:spPr>
          <a:xfrm>
            <a:off x="419100" y="4663886"/>
            <a:ext cx="3686924" cy="738664"/>
          </a:xfrm>
          <a:prstGeom prst="rect">
            <a:avLst/>
          </a:prstGeom>
          <a:noFill/>
        </p:spPr>
        <p:txBody>
          <a:bodyPr wrap="square">
            <a:spAutoFit/>
          </a:bodyPr>
          <a:lstStyle/>
          <a:p>
            <a:r>
              <a:rPr lang="en-US" sz="1400" dirty="0"/>
              <a:t>An enterprise-grade Ethereum client the offers compatibility with Ethereum tools and smart contracts</a:t>
            </a:r>
          </a:p>
        </p:txBody>
      </p:sp>
      <p:sp>
        <p:nvSpPr>
          <p:cNvPr id="52" name="Rectangle 51">
            <a:extLst>
              <a:ext uri="{FF2B5EF4-FFF2-40B4-BE49-F238E27FC236}">
                <a16:creationId xmlns:a16="http://schemas.microsoft.com/office/drawing/2014/main" id="{FB7554F9-90F1-9A9F-6755-549D3AE0EBA2}"/>
              </a:ext>
            </a:extLst>
          </p:cNvPr>
          <p:cNvSpPr/>
          <p:nvPr/>
        </p:nvSpPr>
        <p:spPr>
          <a:xfrm>
            <a:off x="434340" y="3009080"/>
            <a:ext cx="3755199" cy="954107"/>
          </a:xfrm>
          <a:prstGeom prst="rect">
            <a:avLst/>
          </a:prstGeom>
          <a:noFill/>
        </p:spPr>
        <p:txBody>
          <a:bodyPr wrap="square" lIns="91440" tIns="45720" rIns="91440" bIns="45720">
            <a:spAutoFit/>
          </a:bodyPr>
          <a:lstStyle/>
          <a:p>
            <a:r>
              <a:rPr lang="en-US" sz="1400" b="1" dirty="0"/>
              <a:t>modular architecture</a:t>
            </a:r>
            <a:r>
              <a:rPr lang="en-US" sz="1400" dirty="0"/>
              <a:t>, customizable  consensus, </a:t>
            </a:r>
          </a:p>
          <a:p>
            <a:r>
              <a:rPr lang="en-US" sz="1400" dirty="0"/>
              <a:t>membership services, data privacy features </a:t>
            </a:r>
          </a:p>
          <a:p>
            <a:r>
              <a:rPr lang="en-US" sz="1400" dirty="0"/>
              <a:t>support for </a:t>
            </a:r>
            <a:r>
              <a:rPr lang="en-US" sz="1400" b="1" dirty="0"/>
              <a:t>private channels</a:t>
            </a:r>
            <a:r>
              <a:rPr lang="en-US" sz="1400" dirty="0"/>
              <a:t> for data privacy </a:t>
            </a:r>
          </a:p>
          <a:p>
            <a:r>
              <a:rPr lang="en-US" sz="1400" dirty="0"/>
              <a:t>and compliance.</a:t>
            </a:r>
            <a:endParaRPr lang="en-US" sz="1400" b="1" cap="none" spc="0" dirty="0">
              <a:ln w="0"/>
              <a:solidFill>
                <a:schemeClr val="bg1"/>
              </a:solidFill>
              <a:effectLst>
                <a:outerShdw blurRad="38100" dist="19050" dir="2700000" algn="tl" rotWithShape="0">
                  <a:schemeClr val="dk1">
                    <a:alpha val="40000"/>
                  </a:schemeClr>
                </a:outerShdw>
              </a:effectLst>
            </a:endParaRPr>
          </a:p>
        </p:txBody>
      </p:sp>
      <p:sp>
        <p:nvSpPr>
          <p:cNvPr id="53" name="TextBox 52">
            <a:extLst>
              <a:ext uri="{FF2B5EF4-FFF2-40B4-BE49-F238E27FC236}">
                <a16:creationId xmlns:a16="http://schemas.microsoft.com/office/drawing/2014/main" id="{F2F101B8-079B-0AFD-2AD9-B9642509FCBB}"/>
              </a:ext>
            </a:extLst>
          </p:cNvPr>
          <p:cNvSpPr txBox="1"/>
          <p:nvPr/>
        </p:nvSpPr>
        <p:spPr>
          <a:xfrm>
            <a:off x="8281137" y="4120042"/>
            <a:ext cx="3750843" cy="307777"/>
          </a:xfrm>
          <a:prstGeom prst="rect">
            <a:avLst/>
          </a:prstGeom>
          <a:solidFill>
            <a:schemeClr val="bg1"/>
          </a:solidFill>
        </p:spPr>
        <p:txBody>
          <a:bodyPr wrap="square" rtlCol="0">
            <a:spAutoFit/>
          </a:bodyPr>
          <a:lstStyle/>
          <a:p>
            <a:r>
              <a:rPr lang="en-US" sz="1400" dirty="0" err="1"/>
              <a:t>Lightwe</a:t>
            </a:r>
            <a:r>
              <a:rPr lang="en-US" sz="1400" dirty="0"/>
              <a:t>..</a:t>
            </a:r>
          </a:p>
        </p:txBody>
      </p:sp>
      <p:sp>
        <p:nvSpPr>
          <p:cNvPr id="54" name="TextBox 53">
            <a:extLst>
              <a:ext uri="{FF2B5EF4-FFF2-40B4-BE49-F238E27FC236}">
                <a16:creationId xmlns:a16="http://schemas.microsoft.com/office/drawing/2014/main" id="{CA9439BE-BBBF-7725-D43C-641CAD8873EF}"/>
              </a:ext>
            </a:extLst>
          </p:cNvPr>
          <p:cNvSpPr txBox="1"/>
          <p:nvPr/>
        </p:nvSpPr>
        <p:spPr>
          <a:xfrm>
            <a:off x="8044917" y="3845845"/>
            <a:ext cx="3750843" cy="1384995"/>
          </a:xfrm>
          <a:prstGeom prst="rect">
            <a:avLst/>
          </a:prstGeom>
          <a:solidFill>
            <a:schemeClr val="bg1"/>
          </a:solidFill>
        </p:spPr>
        <p:txBody>
          <a:bodyPr wrap="square" rtlCol="0">
            <a:spAutoFit/>
          </a:bodyPr>
          <a:lstStyle/>
          <a:p>
            <a:r>
              <a:rPr lang="en-US" sz="1400" dirty="0"/>
              <a:t> </a:t>
            </a:r>
            <a:r>
              <a:rPr lang="en-US" sz="1400" b="1" dirty="0"/>
              <a:t>Indy </a:t>
            </a:r>
            <a:r>
              <a:rPr lang="en-US" sz="1400" dirty="0"/>
              <a:t>is a blockchain framework tailored for decentralized identity management. enables trusted interactions without relying on centralized authorities. </a:t>
            </a:r>
            <a:r>
              <a:rPr lang="en-US" sz="1400" b="1" dirty="0"/>
              <a:t>Aries</a:t>
            </a:r>
            <a:r>
              <a:rPr lang="en-US" sz="1400" dirty="0"/>
              <a:t> provides tools, protocols, and libraries to implement verifiable credentials </a:t>
            </a:r>
          </a:p>
        </p:txBody>
      </p:sp>
    </p:spTree>
    <p:extLst>
      <p:ext uri="{BB962C8B-B14F-4D97-AF65-F5344CB8AC3E}">
        <p14:creationId xmlns:p14="http://schemas.microsoft.com/office/powerpoint/2010/main" val="2861782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21E11-7575-732C-E32F-B358AE510C55}"/>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5CF283D8-9EE4-EF63-6D50-EBA6EED7A761}"/>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development of this reference architecture can be viewed as an advertisement for Hyperledger Projects</a:t>
            </a:r>
          </a:p>
        </p:txBody>
      </p:sp>
      <p:sp>
        <p:nvSpPr>
          <p:cNvPr id="65" name="AutoShape 2" descr="Cash Pictures, Cash Stock Photos &amp; Images | Depositphotos®">
            <a:extLst>
              <a:ext uri="{FF2B5EF4-FFF2-40B4-BE49-F238E27FC236}">
                <a16:creationId xmlns:a16="http://schemas.microsoft.com/office/drawing/2014/main" id="{6C92DA5A-40FB-ADCD-484D-97565019065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2513BEF9-0785-DDE0-96E5-DE55039F436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7A4E5B4F-2852-7DBD-676C-1CA8051E616F}"/>
              </a:ext>
            </a:extLst>
          </p:cNvPr>
          <p:cNvSpPr txBox="1"/>
          <p:nvPr/>
        </p:nvSpPr>
        <p:spPr>
          <a:xfrm>
            <a:off x="221102" y="469738"/>
            <a:ext cx="11754052" cy="1015663"/>
          </a:xfrm>
          <a:prstGeom prst="rect">
            <a:avLst/>
          </a:prstGeom>
          <a:noFill/>
        </p:spPr>
        <p:txBody>
          <a:bodyPr wrap="square" rtlCol="0">
            <a:spAutoFit/>
          </a:bodyPr>
          <a:lstStyle/>
          <a:p>
            <a:r>
              <a:rPr lang="en-US" sz="2000" dirty="0"/>
              <a:t>It is a</a:t>
            </a:r>
            <a:r>
              <a:rPr lang="en-US" sz="2000" b="1" dirty="0"/>
              <a:t> </a:t>
            </a:r>
            <a:r>
              <a:rPr lang="en-US" sz="2000" dirty="0"/>
              <a:t>standardized set of applications, tools, and platforms that provides a starting point for designing and developing solutions to business challenges. It offers a generic framework with best practices, common components, and principles that can be customized to suit specific needs.</a:t>
            </a:r>
            <a:endParaRPr lang="en-US" sz="2000" dirty="0">
              <a:solidFill>
                <a:schemeClr val="tx2">
                  <a:lumMod val="75000"/>
                  <a:lumOff val="25000"/>
                </a:schemeClr>
              </a:solidFill>
            </a:endParaRPr>
          </a:p>
        </p:txBody>
      </p:sp>
      <p:sp>
        <p:nvSpPr>
          <p:cNvPr id="16" name="TextBox 15">
            <a:extLst>
              <a:ext uri="{FF2B5EF4-FFF2-40B4-BE49-F238E27FC236}">
                <a16:creationId xmlns:a16="http://schemas.microsoft.com/office/drawing/2014/main" id="{4EC3C050-CA2D-5B99-8F29-A5C81CA0BC23}"/>
              </a:ext>
            </a:extLst>
          </p:cNvPr>
          <p:cNvSpPr txBox="1"/>
          <p:nvPr/>
        </p:nvSpPr>
        <p:spPr>
          <a:xfrm>
            <a:off x="344598" y="1680454"/>
            <a:ext cx="11847402" cy="4678204"/>
          </a:xfrm>
          <a:prstGeom prst="rect">
            <a:avLst/>
          </a:prstGeom>
          <a:noFill/>
          <a:ln>
            <a:noFill/>
          </a:ln>
        </p:spPr>
        <p:txBody>
          <a:bodyPr wrap="square" rtlCol="0">
            <a:spAutoFit/>
          </a:bodyPr>
          <a:lstStyle/>
          <a:p>
            <a:r>
              <a:rPr lang="en-US" sz="1800" b="1" dirty="0">
                <a:latin typeface="Titillium Web Light" panose="00000400000000000000" pitchFamily="2" charset="0"/>
              </a:rPr>
              <a:t>Example:</a:t>
            </a:r>
            <a:endParaRPr lang="en-US" sz="1800" dirty="0">
              <a:latin typeface="Titillium Web Light" panose="00000400000000000000" pitchFamily="2" charset="0"/>
            </a:endParaRPr>
          </a:p>
          <a:p>
            <a:r>
              <a:rPr lang="en-US" dirty="0"/>
              <a:t>     Imagine a company wants to build an application to model their supply chain to decrease its GHG emissions</a:t>
            </a:r>
          </a:p>
          <a:p>
            <a:r>
              <a:rPr lang="en-US" dirty="0"/>
              <a:t>     and build capability to track them in real time. Instead of starting from scratch, they can utilize a </a:t>
            </a:r>
            <a:r>
              <a:rPr lang="en-US" b="1" dirty="0"/>
              <a:t>reference</a:t>
            </a:r>
          </a:p>
          <a:p>
            <a:r>
              <a:rPr lang="en-US" b="1" dirty="0"/>
              <a:t>    architecture</a:t>
            </a:r>
            <a:r>
              <a:rPr lang="en-US" dirty="0"/>
              <a:t> </a:t>
            </a:r>
            <a:r>
              <a:rPr lang="en-US" b="1" dirty="0"/>
              <a:t>composed of Linux Foundation platforms and tools </a:t>
            </a:r>
            <a:r>
              <a:rPr lang="en-US" dirty="0"/>
              <a:t>that already define common components such as :</a:t>
            </a:r>
          </a:p>
          <a:p>
            <a:endParaRPr lang="en-US" dirty="0"/>
          </a:p>
          <a:p>
            <a:endParaRPr lang="en-US" dirty="0"/>
          </a:p>
          <a:p>
            <a:endParaRPr lang="en-US" dirty="0"/>
          </a:p>
          <a:p>
            <a:endParaRPr lang="en-US" dirty="0"/>
          </a:p>
          <a:p>
            <a:endParaRPr lang="en-US" dirty="0"/>
          </a:p>
          <a:p>
            <a:pPr algn="l"/>
            <a:endParaRPr lang="en-US" sz="1000" b="0" i="0" dirty="0">
              <a:solidFill>
                <a:srgbClr val="222222"/>
              </a:solidFill>
              <a:effectLst/>
              <a:latin typeface="Arial" panose="020B0604020202020204" pitchFamily="34" charset="0"/>
            </a:endParaRPr>
          </a:p>
          <a:p>
            <a:pPr algn="l"/>
            <a:r>
              <a:rPr lang="en-US" b="1" i="0" dirty="0">
                <a:solidFill>
                  <a:srgbClr val="222222"/>
                </a:solidFill>
                <a:effectLst/>
              </a:rPr>
              <a:t>Everyone has a reference architecture on their laptops</a:t>
            </a:r>
            <a:r>
              <a:rPr lang="en-US" b="0" i="0" dirty="0">
                <a:solidFill>
                  <a:srgbClr val="222222"/>
                </a:solidFill>
                <a:effectLst/>
              </a:rPr>
              <a:t>. For example, many use Excel for spreadsheets, Word for word processing and </a:t>
            </a:r>
            <a:r>
              <a:rPr lang="en-US" b="0" i="0" dirty="0" err="1">
                <a:solidFill>
                  <a:srgbClr val="222222"/>
                </a:solidFill>
                <a:effectLst/>
              </a:rPr>
              <a:t>Powerpoint</a:t>
            </a:r>
            <a:r>
              <a:rPr lang="en-US" b="0" i="0" dirty="0">
                <a:solidFill>
                  <a:srgbClr val="222222"/>
                </a:solidFill>
                <a:effectLst/>
              </a:rPr>
              <a:t> graphics for presentations. There are other options for search word process etc. However, these are the tools you have selected. </a:t>
            </a:r>
            <a:r>
              <a:rPr lang="en-US" dirty="0">
                <a:solidFill>
                  <a:srgbClr val="222222"/>
                </a:solidFill>
              </a:rPr>
              <a:t>Project purpose is</a:t>
            </a:r>
            <a:r>
              <a:rPr lang="en-US" b="0" i="0" dirty="0">
                <a:solidFill>
                  <a:srgbClr val="222222"/>
                </a:solidFill>
                <a:effectLst/>
              </a:rPr>
              <a:t> to be a reference architecture for corporations using blockchain technology</a:t>
            </a:r>
            <a:r>
              <a:rPr lang="en-US" dirty="0">
                <a:solidFill>
                  <a:srgbClr val="222222"/>
                </a:solidFill>
              </a:rPr>
              <a:t> for  GHG accounting. </a:t>
            </a:r>
            <a:r>
              <a:rPr lang="en-US" b="0" i="0" dirty="0">
                <a:solidFill>
                  <a:srgbClr val="172B4D"/>
                </a:solidFill>
                <a:effectLst/>
                <a:latin typeface="-apple-system"/>
              </a:rPr>
              <a:t>Businesses and organizations take action on climate change when the process is easier to conduct and less costly.</a:t>
            </a:r>
          </a:p>
          <a:p>
            <a:pPr algn="l"/>
            <a:r>
              <a:rPr lang="en-US" dirty="0">
                <a:solidFill>
                  <a:srgbClr val="FF0000"/>
                </a:solidFill>
                <a:latin typeface="-apple-system"/>
              </a:rPr>
              <a:t>The objective for this project is to advertise the advantages of using open source software, specifically a portfolio of LFDT platforms and tools, for supply chain decarbonization.</a:t>
            </a:r>
            <a:endParaRPr lang="en-US" dirty="0"/>
          </a:p>
        </p:txBody>
      </p:sp>
      <p:sp>
        <p:nvSpPr>
          <p:cNvPr id="4" name="TextBox 3">
            <a:extLst>
              <a:ext uri="{FF2B5EF4-FFF2-40B4-BE49-F238E27FC236}">
                <a16:creationId xmlns:a16="http://schemas.microsoft.com/office/drawing/2014/main" id="{66645AE3-D809-804E-E82A-57BA9064F7CE}"/>
              </a:ext>
            </a:extLst>
          </p:cNvPr>
          <p:cNvSpPr txBox="1"/>
          <p:nvPr/>
        </p:nvSpPr>
        <p:spPr>
          <a:xfrm>
            <a:off x="930165" y="2988408"/>
            <a:ext cx="8213835" cy="1200329"/>
          </a:xfrm>
          <a:prstGeom prst="rect">
            <a:avLst/>
          </a:prstGeom>
          <a:noFill/>
        </p:spPr>
        <p:txBody>
          <a:bodyPr wrap="square" rtlCol="0">
            <a:spAutoFit/>
          </a:bodyPr>
          <a:lstStyle/>
          <a:p>
            <a:pPr marL="285750" indent="-285750">
              <a:buFont typeface="Arial" panose="020B0604020202020204" pitchFamily="34" charset="0"/>
              <a:buChar char="•"/>
            </a:pPr>
            <a:r>
              <a:rPr lang="en-US" dirty="0"/>
              <a:t> A blockchain implementation - </a:t>
            </a:r>
            <a:r>
              <a:rPr lang="en-US" b="1" dirty="0">
                <a:solidFill>
                  <a:srgbClr val="008080"/>
                </a:solidFill>
              </a:rPr>
              <a:t>Fabric, </a:t>
            </a:r>
            <a:r>
              <a:rPr lang="en-US" b="1" dirty="0" err="1">
                <a:solidFill>
                  <a:srgbClr val="008080"/>
                </a:solidFill>
              </a:rPr>
              <a:t>Besu</a:t>
            </a:r>
            <a:r>
              <a:rPr lang="en-US" b="1" dirty="0">
                <a:solidFill>
                  <a:srgbClr val="008080"/>
                </a:solidFill>
              </a:rPr>
              <a:t>, Iroha</a:t>
            </a:r>
          </a:p>
          <a:p>
            <a:pPr marL="285750" indent="-285750">
              <a:buFont typeface="Arial" panose="020B0604020202020204" pitchFamily="34" charset="0"/>
              <a:buChar char="•"/>
            </a:pPr>
            <a:r>
              <a:rPr lang="en-US" dirty="0"/>
              <a:t> Blockchain and data security - </a:t>
            </a:r>
            <a:r>
              <a:rPr lang="en-US" b="1" dirty="0">
                <a:solidFill>
                  <a:schemeClr val="accent1">
                    <a:lumMod val="50000"/>
                  </a:schemeClr>
                </a:solidFill>
              </a:rPr>
              <a:t>Aries</a:t>
            </a:r>
          </a:p>
          <a:p>
            <a:pPr marL="285750" indent="-285750">
              <a:buFont typeface="Arial" panose="020B0604020202020204" pitchFamily="34" charset="0"/>
              <a:buChar char="•"/>
            </a:pPr>
            <a:r>
              <a:rPr lang="en-US" dirty="0"/>
              <a:t> A data transfer (I/O) gateway integration - </a:t>
            </a:r>
            <a:r>
              <a:rPr lang="en-US" b="1" dirty="0">
                <a:solidFill>
                  <a:srgbClr val="008080"/>
                </a:solidFill>
              </a:rPr>
              <a:t>Fabric</a:t>
            </a:r>
          </a:p>
          <a:p>
            <a:pPr marL="285750" indent="-285750">
              <a:buFont typeface="Arial" panose="020B0604020202020204" pitchFamily="34" charset="0"/>
              <a:buChar char="•"/>
            </a:pPr>
            <a:r>
              <a:rPr lang="en-US" dirty="0"/>
              <a:t> A user authentication service - </a:t>
            </a:r>
            <a:r>
              <a:rPr lang="en-US" b="1" dirty="0">
                <a:solidFill>
                  <a:srgbClr val="008080"/>
                </a:solidFill>
              </a:rPr>
              <a:t>Indy</a:t>
            </a:r>
          </a:p>
        </p:txBody>
      </p:sp>
      <p:cxnSp>
        <p:nvCxnSpPr>
          <p:cNvPr id="7" name="Straight Connector 6">
            <a:extLst>
              <a:ext uri="{FF2B5EF4-FFF2-40B4-BE49-F238E27FC236}">
                <a16:creationId xmlns:a16="http://schemas.microsoft.com/office/drawing/2014/main" id="{8843E230-E4C7-774C-ACBE-99E9989C13EA}"/>
              </a:ext>
            </a:extLst>
          </p:cNvPr>
          <p:cNvCxnSpPr>
            <a:cxnSpLocks/>
          </p:cNvCxnSpPr>
          <p:nvPr/>
        </p:nvCxnSpPr>
        <p:spPr>
          <a:xfrm>
            <a:off x="1923285" y="1550132"/>
            <a:ext cx="7722739"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54B58A8-9072-B5D5-332F-E9770E053C16}"/>
              </a:ext>
            </a:extLst>
          </p:cNvPr>
          <p:cNvCxnSpPr>
            <a:cxnSpLocks/>
          </p:cNvCxnSpPr>
          <p:nvPr/>
        </p:nvCxnSpPr>
        <p:spPr>
          <a:xfrm>
            <a:off x="1920240" y="4259451"/>
            <a:ext cx="7722739"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E4DD1D5-F96E-6A6A-C6BD-45EF470ECFB3}"/>
              </a:ext>
            </a:extLst>
          </p:cNvPr>
          <p:cNvSpPr txBox="1"/>
          <p:nvPr/>
        </p:nvSpPr>
        <p:spPr>
          <a:xfrm>
            <a:off x="2635618" y="30698"/>
            <a:ext cx="6293224" cy="523220"/>
          </a:xfrm>
          <a:prstGeom prst="rect">
            <a:avLst/>
          </a:prstGeom>
          <a:noFill/>
        </p:spPr>
        <p:txBody>
          <a:bodyPr wrap="square" rtlCol="0">
            <a:spAutoFit/>
          </a:bodyPr>
          <a:lstStyle/>
          <a:p>
            <a:pPr algn="ctr"/>
            <a:r>
              <a:rPr lang="en-US" sz="2800" u="sng" dirty="0">
                <a:solidFill>
                  <a:schemeClr val="tx2">
                    <a:lumMod val="75000"/>
                    <a:lumOff val="25000"/>
                  </a:schemeClr>
                </a:solidFill>
              </a:rPr>
              <a:t>What is a Reference Architecture</a:t>
            </a:r>
          </a:p>
        </p:txBody>
      </p:sp>
      <p:sp>
        <p:nvSpPr>
          <p:cNvPr id="3" name="Rectangle 2">
            <a:extLst>
              <a:ext uri="{FF2B5EF4-FFF2-40B4-BE49-F238E27FC236}">
                <a16:creationId xmlns:a16="http://schemas.microsoft.com/office/drawing/2014/main" id="{2A28F4DC-A4B5-226F-AF56-527B447EFA26}"/>
              </a:ext>
            </a:extLst>
          </p:cNvPr>
          <p:cNvSpPr/>
          <p:nvPr/>
        </p:nvSpPr>
        <p:spPr>
          <a:xfrm>
            <a:off x="11849589" y="8484"/>
            <a:ext cx="331556" cy="18329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2</a:t>
            </a:r>
          </a:p>
        </p:txBody>
      </p:sp>
    </p:spTree>
    <p:extLst>
      <p:ext uri="{BB962C8B-B14F-4D97-AF65-F5344CB8AC3E}">
        <p14:creationId xmlns:p14="http://schemas.microsoft.com/office/powerpoint/2010/main" val="1638758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39E40-CA30-E404-FE27-43E5B18EFEDE}"/>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7D8DE67F-E4AC-4C32-E774-BD4E5570BCE8}"/>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For the audience, ask them to provide any information they may have on companies using technology for GHG emission tracking.</a:t>
            </a:r>
          </a:p>
        </p:txBody>
      </p:sp>
      <p:sp>
        <p:nvSpPr>
          <p:cNvPr id="65" name="AutoShape 2" descr="Cash Pictures, Cash Stock Photos &amp; Images | Depositphotos®">
            <a:extLst>
              <a:ext uri="{FF2B5EF4-FFF2-40B4-BE49-F238E27FC236}">
                <a16:creationId xmlns:a16="http://schemas.microsoft.com/office/drawing/2014/main" id="{A6AA298F-495C-D9C7-D2E8-2651E6BDDBB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29E6EF48-4446-190E-D12D-F294B334F24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9" name="Picture 18" descr="A blue and green text on a black background&#10;&#10;Description automatically generated">
            <a:extLst>
              <a:ext uri="{FF2B5EF4-FFF2-40B4-BE49-F238E27FC236}">
                <a16:creationId xmlns:a16="http://schemas.microsoft.com/office/drawing/2014/main" id="{EA0F796E-AED9-BF51-A544-58289E12BA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887" y="164657"/>
            <a:ext cx="3853544" cy="719577"/>
          </a:xfrm>
          <a:prstGeom prst="rect">
            <a:avLst/>
          </a:prstGeom>
        </p:spPr>
      </p:pic>
      <p:pic>
        <p:nvPicPr>
          <p:cNvPr id="23" name="Picture 22" descr="A blue and green text on a black background&#10;&#10;Description automatically generated">
            <a:extLst>
              <a:ext uri="{FF2B5EF4-FFF2-40B4-BE49-F238E27FC236}">
                <a16:creationId xmlns:a16="http://schemas.microsoft.com/office/drawing/2014/main" id="{A02BB347-56CC-F978-354D-93967D50FD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9599" y="99140"/>
            <a:ext cx="3760567" cy="706150"/>
          </a:xfrm>
          <a:prstGeom prst="rect">
            <a:avLst/>
          </a:prstGeom>
        </p:spPr>
      </p:pic>
      <p:cxnSp>
        <p:nvCxnSpPr>
          <p:cNvPr id="25" name="Straight Connector 24">
            <a:extLst>
              <a:ext uri="{FF2B5EF4-FFF2-40B4-BE49-F238E27FC236}">
                <a16:creationId xmlns:a16="http://schemas.microsoft.com/office/drawing/2014/main" id="{CDCE6915-9AE8-0D34-DE12-ADA889FC16C8}"/>
              </a:ext>
            </a:extLst>
          </p:cNvPr>
          <p:cNvCxnSpPr>
            <a:cxnSpLocks/>
          </p:cNvCxnSpPr>
          <p:nvPr/>
        </p:nvCxnSpPr>
        <p:spPr>
          <a:xfrm flipV="1">
            <a:off x="1217072" y="1064538"/>
            <a:ext cx="9753600" cy="27106"/>
          </a:xfrm>
          <a:prstGeom prst="line">
            <a:avLst/>
          </a:prstGeom>
          <a:ln w="19050"/>
          <a:effectLst>
            <a:reflection stA="45000" endPos="65000" dist="508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41D2046-6903-67D2-559F-376672CBF4EE}"/>
              </a:ext>
            </a:extLst>
          </p:cNvPr>
          <p:cNvSpPr/>
          <p:nvPr/>
        </p:nvSpPr>
        <p:spPr>
          <a:xfrm>
            <a:off x="11842676" y="6311231"/>
            <a:ext cx="331556" cy="18329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a:t>
            </a:r>
          </a:p>
        </p:txBody>
      </p:sp>
      <p:sp>
        <p:nvSpPr>
          <p:cNvPr id="2" name="TextBox 1">
            <a:extLst>
              <a:ext uri="{FF2B5EF4-FFF2-40B4-BE49-F238E27FC236}">
                <a16:creationId xmlns:a16="http://schemas.microsoft.com/office/drawing/2014/main" id="{11DB2C63-5C1B-0C8C-F548-807A08780FD9}"/>
              </a:ext>
            </a:extLst>
          </p:cNvPr>
          <p:cNvSpPr txBox="1"/>
          <p:nvPr/>
        </p:nvSpPr>
        <p:spPr>
          <a:xfrm>
            <a:off x="179899" y="1780954"/>
            <a:ext cx="11754052" cy="4093428"/>
          </a:xfrm>
          <a:prstGeom prst="rect">
            <a:avLst/>
          </a:prstGeom>
          <a:noFill/>
        </p:spPr>
        <p:txBody>
          <a:bodyPr wrap="square" rtlCol="0">
            <a:spAutoFit/>
          </a:bodyPr>
          <a:lstStyle/>
          <a:p>
            <a:pPr marL="342900" indent="-342900">
              <a:buFont typeface="Arial" panose="020B0604020202020204" pitchFamily="34" charset="0"/>
              <a:buChar char="•"/>
            </a:pPr>
            <a:r>
              <a:rPr lang="en-US" sz="2000" dirty="0"/>
              <a:t>From a </a:t>
            </a:r>
            <a:r>
              <a:rPr lang="en-US" sz="2000" b="1" dirty="0"/>
              <a:t>business solution view </a:t>
            </a:r>
            <a:r>
              <a:rPr lang="en-US" sz="2000" b="1" dirty="0">
                <a:solidFill>
                  <a:srgbClr val="FF0000"/>
                </a:solidFill>
              </a:rPr>
              <a:t>detail and promote the advantages </a:t>
            </a:r>
            <a:r>
              <a:rPr lang="en-US" sz="2000" dirty="0"/>
              <a:t>of using LFDT systems as a platform for GHG emissions accounting, real-time monitoring of supply chain GHG emissions, and scenario building utilizing a digital twin.</a:t>
            </a:r>
          </a:p>
          <a:p>
            <a:pPr marL="342900" indent="-342900">
              <a:buFont typeface="Arial" panose="020B0604020202020204" pitchFamily="34" charset="0"/>
              <a:buChar char="•"/>
            </a:pPr>
            <a:r>
              <a:rPr lang="en-US" sz="2000" dirty="0"/>
              <a:t>From a </a:t>
            </a:r>
            <a:r>
              <a:rPr lang="en-US" sz="2000" b="1" dirty="0"/>
              <a:t>solution and technical architecture view </a:t>
            </a:r>
            <a:r>
              <a:rPr lang="en-US" sz="2000" dirty="0"/>
              <a:t>detail the </a:t>
            </a:r>
            <a:r>
              <a:rPr lang="en-US" sz="2000" dirty="0">
                <a:solidFill>
                  <a:srgbClr val="FF0000"/>
                </a:solidFill>
              </a:rPr>
              <a:t>advantages </a:t>
            </a:r>
            <a:r>
              <a:rPr lang="en-US" sz="2000" dirty="0"/>
              <a:t>of using LFDT platforms and tools and for GHG emissions accounting, real-time monitoring of supply chain emissions, and scenario building.</a:t>
            </a:r>
          </a:p>
          <a:p>
            <a:pPr marL="342900" indent="-342900">
              <a:buFont typeface="Arial" panose="020B0604020202020204" pitchFamily="34" charset="0"/>
              <a:buChar char="•"/>
            </a:pPr>
            <a:r>
              <a:rPr lang="en-US" sz="2000" dirty="0"/>
              <a:t>8,400 companies worldwide report their GHG emissions to various regulatory bodies. Research how these companies report their supply chain emissions and if using a set of technologies, what are these technologies?</a:t>
            </a:r>
          </a:p>
          <a:p>
            <a:pPr marL="342900" indent="-342900">
              <a:buFont typeface="Arial" panose="020B0604020202020204" pitchFamily="34" charset="0"/>
              <a:buChar char="•"/>
            </a:pPr>
            <a:r>
              <a:rPr lang="en-US" sz="2000" dirty="0"/>
              <a:t>To the wider LFDT community, request information on any global companies using LFDT systems for GHG emissions accounting in their supply chains. </a:t>
            </a:r>
          </a:p>
          <a:p>
            <a:pPr marL="342900" indent="-342900">
              <a:buFont typeface="Arial" panose="020B0604020202020204" pitchFamily="34" charset="0"/>
              <a:buChar char="•"/>
            </a:pPr>
            <a:r>
              <a:rPr lang="en-US" sz="2000" dirty="0"/>
              <a:t>Develop use cases referencing companies using LFDT system for carbon / GHG accounting, real-time monitoring, and emission modeling of their supply chains. </a:t>
            </a:r>
            <a:r>
              <a:rPr lang="en-US" sz="2000" dirty="0">
                <a:solidFill>
                  <a:schemeClr val="tx2">
                    <a:lumMod val="75000"/>
                    <a:lumOff val="25000"/>
                  </a:schemeClr>
                </a:solidFill>
              </a:rPr>
              <a:t> </a:t>
            </a:r>
          </a:p>
          <a:p>
            <a:pPr marL="342900" indent="-342900">
              <a:buFont typeface="Arial" panose="020B0604020202020204" pitchFamily="34" charset="0"/>
              <a:buChar char="•"/>
            </a:pPr>
            <a:endParaRPr lang="en-US" sz="2000" dirty="0">
              <a:solidFill>
                <a:schemeClr val="tx2">
                  <a:lumMod val="75000"/>
                  <a:lumOff val="25000"/>
                </a:schemeClr>
              </a:solidFill>
            </a:endParaRPr>
          </a:p>
        </p:txBody>
      </p:sp>
      <p:sp>
        <p:nvSpPr>
          <p:cNvPr id="4" name="TextBox 3">
            <a:extLst>
              <a:ext uri="{FF2B5EF4-FFF2-40B4-BE49-F238E27FC236}">
                <a16:creationId xmlns:a16="http://schemas.microsoft.com/office/drawing/2014/main" id="{74DD5033-97FB-712A-C83E-38856F2A35AB}"/>
              </a:ext>
            </a:extLst>
          </p:cNvPr>
          <p:cNvSpPr txBox="1"/>
          <p:nvPr/>
        </p:nvSpPr>
        <p:spPr>
          <a:xfrm>
            <a:off x="179899" y="1150009"/>
            <a:ext cx="5909068" cy="523220"/>
          </a:xfrm>
          <a:prstGeom prst="rect">
            <a:avLst/>
          </a:prstGeom>
          <a:noFill/>
        </p:spPr>
        <p:txBody>
          <a:bodyPr wrap="square" rtlCol="0">
            <a:spAutoFit/>
          </a:bodyPr>
          <a:lstStyle/>
          <a:p>
            <a:r>
              <a:rPr lang="en-US" sz="2800" b="1" u="sng" dirty="0">
                <a:solidFill>
                  <a:schemeClr val="tx2">
                    <a:lumMod val="75000"/>
                    <a:lumOff val="25000"/>
                  </a:schemeClr>
                </a:solidFill>
              </a:rPr>
              <a:t>Why this project and Project Goals</a:t>
            </a:r>
          </a:p>
        </p:txBody>
      </p:sp>
    </p:spTree>
    <p:extLst>
      <p:ext uri="{BB962C8B-B14F-4D97-AF65-F5344CB8AC3E}">
        <p14:creationId xmlns:p14="http://schemas.microsoft.com/office/powerpoint/2010/main" val="4085128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94E4029F-A9A8-4262-BBED-3F8277B6F9A9}"/>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LFDT – Linux Foundation </a:t>
            </a:r>
            <a:r>
              <a:rPr lang="en-US">
                <a:solidFill>
                  <a:schemeClr val="tx1"/>
                </a:solidFill>
              </a:rPr>
              <a:t>Decentralized Trust</a:t>
            </a:r>
            <a:endParaRPr lang="en-US" dirty="0">
              <a:solidFill>
                <a:schemeClr val="tx1"/>
              </a:solidFill>
            </a:endParaRPr>
          </a:p>
        </p:txBody>
      </p:sp>
      <p:sp>
        <p:nvSpPr>
          <p:cNvPr id="65" name="AutoShape 2" descr="Cash Pictures, Cash Stock Photos &amp; Images | Depositphotos®">
            <a:extLst>
              <a:ext uri="{FF2B5EF4-FFF2-40B4-BE49-F238E27FC236}">
                <a16:creationId xmlns:a16="http://schemas.microsoft.com/office/drawing/2014/main" id="{E0F87420-C907-404A-8355-4C22CA4E51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76324356-DFA6-4B51-9B4E-50BF6CBE2E3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71E9F43B-F735-80AC-3653-482F7AF1DFA4}"/>
              </a:ext>
            </a:extLst>
          </p:cNvPr>
          <p:cNvSpPr txBox="1"/>
          <p:nvPr/>
        </p:nvSpPr>
        <p:spPr>
          <a:xfrm>
            <a:off x="612574" y="1510696"/>
            <a:ext cx="10662051" cy="3170099"/>
          </a:xfrm>
          <a:prstGeom prst="rect">
            <a:avLst/>
          </a:prstGeom>
          <a:noFill/>
        </p:spPr>
        <p:txBody>
          <a:bodyPr wrap="square" rtlCol="0">
            <a:spAutoFit/>
          </a:bodyPr>
          <a:lstStyle/>
          <a:p>
            <a:pPr marL="342900" indent="-342900">
              <a:buFont typeface="Arial" panose="020B0604020202020204" pitchFamily="34" charset="0"/>
              <a:buChar char="•"/>
            </a:pPr>
            <a:r>
              <a:rPr lang="en-US" sz="2000" dirty="0"/>
              <a:t>Based upon LFDT platforms/tools for supply chains, develop a </a:t>
            </a:r>
            <a:r>
              <a:rPr lang="en-US" sz="2000" b="1" dirty="0"/>
              <a:t>reference architecture</a:t>
            </a:r>
            <a:r>
              <a:rPr lang="en-US" sz="2000" dirty="0"/>
              <a:t> for GHG emission accounting and demonstrate a use case focused on a digital twin for modeling supply chain emission scenarios.</a:t>
            </a:r>
          </a:p>
          <a:p>
            <a:pPr marL="342900" indent="-342900">
              <a:buFont typeface="Arial" panose="020B0604020202020204" pitchFamily="34" charset="0"/>
              <a:buChar char="•"/>
            </a:pPr>
            <a:r>
              <a:rPr lang="en-US" sz="2000" dirty="0">
                <a:solidFill>
                  <a:srgbClr val="FF0000"/>
                </a:solidFill>
              </a:rPr>
              <a:t>Promote </a:t>
            </a:r>
            <a:r>
              <a:rPr lang="en-US" sz="2000" dirty="0"/>
              <a:t>LFDT platforms/tools as the premier products for GHG emission accounting and reporting.</a:t>
            </a:r>
          </a:p>
          <a:p>
            <a:pPr marL="342900" indent="-342900">
              <a:buFont typeface="Arial" panose="020B0604020202020204" pitchFamily="34" charset="0"/>
              <a:buChar char="•"/>
            </a:pPr>
            <a:r>
              <a:rPr lang="en-US" sz="2000" dirty="0"/>
              <a:t>Communicate concepts of a reference architecture and digital twin.</a:t>
            </a:r>
          </a:p>
          <a:p>
            <a:pPr marL="342900" indent="-342900">
              <a:buFont typeface="Arial" panose="020B0604020202020204" pitchFamily="34" charset="0"/>
              <a:buChar char="•"/>
            </a:pPr>
            <a:r>
              <a:rPr lang="en-US" sz="2000" dirty="0"/>
              <a:t>Create a </a:t>
            </a:r>
            <a:r>
              <a:rPr lang="en-US" sz="2000" b="1" dirty="0"/>
              <a:t>use-case</a:t>
            </a:r>
            <a:r>
              <a:rPr lang="en-US" sz="2000" dirty="0"/>
              <a:t> demonstrating how LFDT platforms/tools are the premier software for real-time tracking of GHG emissions and construction of a digital twin.</a:t>
            </a:r>
          </a:p>
          <a:p>
            <a:pPr marL="342900" indent="-342900">
              <a:buFont typeface="Arial" panose="020B0604020202020204" pitchFamily="34" charset="0"/>
              <a:buChar char="•"/>
            </a:pPr>
            <a:r>
              <a:rPr lang="en-US" sz="2000" dirty="0"/>
              <a:t>Define all LFDT components needed for a supply chain digital twin.</a:t>
            </a:r>
          </a:p>
          <a:p>
            <a:pPr marL="342900" indent="-342900">
              <a:buFont typeface="Arial" panose="020B0604020202020204" pitchFamily="34" charset="0"/>
              <a:buChar char="•"/>
            </a:pPr>
            <a:r>
              <a:rPr lang="en-US" sz="2000" dirty="0"/>
              <a:t>Demonstrate the use of the LFDT Standards Working Group data ontology.</a:t>
            </a:r>
          </a:p>
        </p:txBody>
      </p:sp>
      <p:sp>
        <p:nvSpPr>
          <p:cNvPr id="14" name="TextBox 13">
            <a:extLst>
              <a:ext uri="{FF2B5EF4-FFF2-40B4-BE49-F238E27FC236}">
                <a16:creationId xmlns:a16="http://schemas.microsoft.com/office/drawing/2014/main" id="{CFA9C1B6-EBE6-8DFE-7B78-104E60A842D0}"/>
              </a:ext>
            </a:extLst>
          </p:cNvPr>
          <p:cNvSpPr txBox="1"/>
          <p:nvPr/>
        </p:nvSpPr>
        <p:spPr>
          <a:xfrm>
            <a:off x="216846" y="1075345"/>
            <a:ext cx="3510225" cy="523220"/>
          </a:xfrm>
          <a:prstGeom prst="rect">
            <a:avLst/>
          </a:prstGeom>
          <a:noFill/>
        </p:spPr>
        <p:txBody>
          <a:bodyPr wrap="square" rtlCol="0">
            <a:spAutoFit/>
          </a:bodyPr>
          <a:lstStyle/>
          <a:p>
            <a:r>
              <a:rPr lang="en-US" sz="2800" u="sng" dirty="0">
                <a:solidFill>
                  <a:schemeClr val="tx2">
                    <a:lumMod val="75000"/>
                    <a:lumOff val="25000"/>
                  </a:schemeClr>
                </a:solidFill>
              </a:rPr>
              <a:t>Project Scope</a:t>
            </a:r>
          </a:p>
        </p:txBody>
      </p:sp>
      <p:sp>
        <p:nvSpPr>
          <p:cNvPr id="15" name="TextBox 14">
            <a:extLst>
              <a:ext uri="{FF2B5EF4-FFF2-40B4-BE49-F238E27FC236}">
                <a16:creationId xmlns:a16="http://schemas.microsoft.com/office/drawing/2014/main" id="{5D807057-E3E4-D61D-4624-EAE2F7801DAA}"/>
              </a:ext>
            </a:extLst>
          </p:cNvPr>
          <p:cNvSpPr txBox="1"/>
          <p:nvPr/>
        </p:nvSpPr>
        <p:spPr>
          <a:xfrm>
            <a:off x="351316" y="4611422"/>
            <a:ext cx="6712872" cy="523220"/>
          </a:xfrm>
          <a:prstGeom prst="rect">
            <a:avLst/>
          </a:prstGeom>
          <a:noFill/>
        </p:spPr>
        <p:txBody>
          <a:bodyPr wrap="square" rtlCol="0">
            <a:spAutoFit/>
          </a:bodyPr>
          <a:lstStyle/>
          <a:p>
            <a:r>
              <a:rPr lang="en-US" sz="2800" u="sng" dirty="0">
                <a:solidFill>
                  <a:schemeClr val="tx2">
                    <a:lumMod val="75000"/>
                    <a:lumOff val="25000"/>
                  </a:schemeClr>
                </a:solidFill>
              </a:rPr>
              <a:t>What is not in scope</a:t>
            </a:r>
          </a:p>
        </p:txBody>
      </p:sp>
      <p:sp>
        <p:nvSpPr>
          <p:cNvPr id="17" name="TextBox 16">
            <a:extLst>
              <a:ext uri="{FF2B5EF4-FFF2-40B4-BE49-F238E27FC236}">
                <a16:creationId xmlns:a16="http://schemas.microsoft.com/office/drawing/2014/main" id="{D1D30690-D196-BA3A-FF18-98A45594BEC7}"/>
              </a:ext>
            </a:extLst>
          </p:cNvPr>
          <p:cNvSpPr txBox="1"/>
          <p:nvPr/>
        </p:nvSpPr>
        <p:spPr>
          <a:xfrm>
            <a:off x="612648" y="5091841"/>
            <a:ext cx="11561584" cy="1323439"/>
          </a:xfrm>
          <a:prstGeom prst="rect">
            <a:avLst/>
          </a:prstGeom>
          <a:noFill/>
        </p:spPr>
        <p:txBody>
          <a:bodyPr wrap="square" rtlCol="0">
            <a:spAutoFit/>
          </a:bodyPr>
          <a:lstStyle/>
          <a:p>
            <a:pPr marL="342900" indent="-342900">
              <a:buFont typeface="Arial" panose="020B0604020202020204" pitchFamily="34" charset="0"/>
              <a:buChar char="•"/>
            </a:pPr>
            <a:r>
              <a:rPr lang="en-US" sz="2000" dirty="0"/>
              <a:t>Modeling mitigation opportunities (MAC curves). </a:t>
            </a:r>
          </a:p>
          <a:p>
            <a:pPr marL="342900" indent="-342900">
              <a:buFont typeface="Arial" panose="020B0604020202020204" pitchFamily="34" charset="0"/>
              <a:buChar char="•"/>
            </a:pPr>
            <a:r>
              <a:rPr lang="en-US" sz="2000" dirty="0"/>
              <a:t>Producing an operational digital twin.</a:t>
            </a:r>
          </a:p>
          <a:p>
            <a:pPr marL="342900" indent="-342900">
              <a:buFont typeface="Arial" panose="020B0604020202020204" pitchFamily="34" charset="0"/>
              <a:buChar char="•"/>
            </a:pPr>
            <a:r>
              <a:rPr lang="en-US" sz="2000" dirty="0"/>
              <a:t>Determining costs associated with producing an operating digital twin. Note: </a:t>
            </a:r>
            <a:r>
              <a:rPr lang="en-US" sz="2000" dirty="0" err="1"/>
              <a:t>Kaleido</a:t>
            </a:r>
            <a:r>
              <a:rPr lang="en-US" sz="2000" dirty="0"/>
              <a:t> has a cost.</a:t>
            </a:r>
          </a:p>
          <a:p>
            <a:pPr marL="342900" indent="-342900">
              <a:buFont typeface="Arial" panose="020B0604020202020204" pitchFamily="34" charset="0"/>
              <a:buChar char="•"/>
            </a:pPr>
            <a:r>
              <a:rPr lang="en-US" sz="2000" dirty="0"/>
              <a:t>Any non-LFDT products as a portion of the physical digital twin.</a:t>
            </a:r>
          </a:p>
        </p:txBody>
      </p:sp>
      <p:pic>
        <p:nvPicPr>
          <p:cNvPr id="19" name="Picture 18" descr="A blue and green text on a black background&#10;&#10;Description automatically generated">
            <a:extLst>
              <a:ext uri="{FF2B5EF4-FFF2-40B4-BE49-F238E27FC236}">
                <a16:creationId xmlns:a16="http://schemas.microsoft.com/office/drawing/2014/main" id="{990E110C-78B2-2642-3979-011722C2F4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887" y="164657"/>
            <a:ext cx="3853544" cy="719577"/>
          </a:xfrm>
          <a:prstGeom prst="rect">
            <a:avLst/>
          </a:prstGeom>
        </p:spPr>
      </p:pic>
      <p:pic>
        <p:nvPicPr>
          <p:cNvPr id="23" name="Picture 22" descr="A blue and green text on a black background&#10;&#10;Description automatically generated">
            <a:extLst>
              <a:ext uri="{FF2B5EF4-FFF2-40B4-BE49-F238E27FC236}">
                <a16:creationId xmlns:a16="http://schemas.microsoft.com/office/drawing/2014/main" id="{DB73F2D9-A113-E6E2-72DA-0BB85FCA6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9599" y="99140"/>
            <a:ext cx="3760567" cy="706150"/>
          </a:xfrm>
          <a:prstGeom prst="rect">
            <a:avLst/>
          </a:prstGeom>
        </p:spPr>
      </p:pic>
      <p:cxnSp>
        <p:nvCxnSpPr>
          <p:cNvPr id="25" name="Straight Connector 24">
            <a:extLst>
              <a:ext uri="{FF2B5EF4-FFF2-40B4-BE49-F238E27FC236}">
                <a16:creationId xmlns:a16="http://schemas.microsoft.com/office/drawing/2014/main" id="{1A886890-E43C-40DB-1D01-8CAE85F6902D}"/>
              </a:ext>
            </a:extLst>
          </p:cNvPr>
          <p:cNvCxnSpPr>
            <a:cxnSpLocks/>
          </p:cNvCxnSpPr>
          <p:nvPr/>
        </p:nvCxnSpPr>
        <p:spPr>
          <a:xfrm flipV="1">
            <a:off x="1217072" y="1064538"/>
            <a:ext cx="9753600" cy="27106"/>
          </a:xfrm>
          <a:prstGeom prst="line">
            <a:avLst/>
          </a:prstGeom>
          <a:ln w="19050"/>
          <a:effectLst>
            <a:reflection stA="45000" endPos="65000" dist="508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589B389-631F-ED22-8B61-443E7FA6200E}"/>
              </a:ext>
            </a:extLst>
          </p:cNvPr>
          <p:cNvSpPr/>
          <p:nvPr/>
        </p:nvSpPr>
        <p:spPr>
          <a:xfrm>
            <a:off x="11842676" y="6311231"/>
            <a:ext cx="331556" cy="18329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a:t>
            </a:r>
          </a:p>
        </p:txBody>
      </p:sp>
    </p:spTree>
    <p:extLst>
      <p:ext uri="{BB962C8B-B14F-4D97-AF65-F5344CB8AC3E}">
        <p14:creationId xmlns:p14="http://schemas.microsoft.com/office/powerpoint/2010/main" val="4288507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08FC-2448-BFD2-0B12-2881349D59B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7CB422D-63C4-C359-AFE4-FA171D289D8A}"/>
              </a:ext>
            </a:extLst>
          </p:cNvPr>
          <p:cNvSpPr/>
          <p:nvPr/>
        </p:nvSpPr>
        <p:spPr>
          <a:xfrm rot="5400000">
            <a:off x="-24061" y="754841"/>
            <a:ext cx="6148483" cy="6096000"/>
          </a:xfrm>
          <a:prstGeom prst="rect">
            <a:avLst/>
          </a:prstGeom>
          <a:solidFill>
            <a:srgbClr val="00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80"/>
              </a:highlight>
            </a:endParaRPr>
          </a:p>
        </p:txBody>
      </p:sp>
      <p:sp>
        <p:nvSpPr>
          <p:cNvPr id="10" name="TextBox 9">
            <a:extLst>
              <a:ext uri="{FF2B5EF4-FFF2-40B4-BE49-F238E27FC236}">
                <a16:creationId xmlns:a16="http://schemas.microsoft.com/office/drawing/2014/main" id="{A0135811-FF6F-D590-D851-A3AABE0080B1}"/>
              </a:ext>
            </a:extLst>
          </p:cNvPr>
          <p:cNvSpPr txBox="1"/>
          <p:nvPr/>
        </p:nvSpPr>
        <p:spPr>
          <a:xfrm>
            <a:off x="2180" y="-21892"/>
            <a:ext cx="6170019" cy="5447645"/>
          </a:xfrm>
          <a:prstGeom prst="rect">
            <a:avLst/>
          </a:prstGeom>
          <a:solidFill>
            <a:srgbClr val="003300"/>
          </a:solidFill>
        </p:spPr>
        <p:txBody>
          <a:bodyPr wrap="square" rtlCol="0">
            <a:spAutoFit/>
          </a:bodyPr>
          <a:lstStyle/>
          <a:p>
            <a:pPr algn="ctr"/>
            <a:endParaRPr lang="en-US" sz="4000" b="1" dirty="0">
              <a:solidFill>
                <a:schemeClr val="bg1">
                  <a:lumMod val="95000"/>
                </a:schemeClr>
              </a:solidFill>
            </a:endParaRPr>
          </a:p>
          <a:p>
            <a:pPr algn="ctr"/>
            <a:r>
              <a:rPr lang="en-US" sz="4000" b="1" dirty="0">
                <a:solidFill>
                  <a:schemeClr val="bg1">
                    <a:lumMod val="95000"/>
                  </a:schemeClr>
                </a:solidFill>
              </a:rPr>
              <a:t>Commercial Offerings </a:t>
            </a:r>
          </a:p>
          <a:p>
            <a:pPr algn="ctr"/>
            <a:r>
              <a:rPr lang="en-US" sz="4000" b="1" dirty="0">
                <a:solidFill>
                  <a:schemeClr val="bg1">
                    <a:lumMod val="95000"/>
                  </a:schemeClr>
                </a:solidFill>
              </a:rPr>
              <a:t>For </a:t>
            </a:r>
          </a:p>
          <a:p>
            <a:pPr algn="ctr"/>
            <a:endParaRPr lang="en-US" sz="4000" b="1" dirty="0">
              <a:solidFill>
                <a:schemeClr val="bg1">
                  <a:lumMod val="95000"/>
                </a:schemeClr>
              </a:solidFill>
            </a:endParaRPr>
          </a:p>
          <a:p>
            <a:pPr algn="ctr"/>
            <a:r>
              <a:rPr lang="en-US" sz="4000" b="1" dirty="0">
                <a:solidFill>
                  <a:schemeClr val="bg1">
                    <a:lumMod val="95000"/>
                  </a:schemeClr>
                </a:solidFill>
              </a:rPr>
              <a:t>GHG Emissions</a:t>
            </a:r>
          </a:p>
          <a:p>
            <a:pPr algn="ctr"/>
            <a:r>
              <a:rPr lang="en-US" sz="4000" b="1" dirty="0">
                <a:solidFill>
                  <a:schemeClr val="bg1">
                    <a:lumMod val="95000"/>
                  </a:schemeClr>
                </a:solidFill>
              </a:rPr>
              <a:t>Accounting Systems</a:t>
            </a:r>
          </a:p>
          <a:p>
            <a:pPr algn="ctr"/>
            <a:endParaRPr lang="en-US" sz="4000" b="1" dirty="0">
              <a:solidFill>
                <a:schemeClr val="bg1">
                  <a:lumMod val="95000"/>
                </a:schemeClr>
              </a:solidFill>
            </a:endParaRPr>
          </a:p>
          <a:p>
            <a:pPr algn="ctr"/>
            <a:endParaRPr lang="en-US" sz="2800" b="1" dirty="0">
              <a:solidFill>
                <a:schemeClr val="bg1">
                  <a:lumMod val="95000"/>
                </a:schemeClr>
              </a:solidFill>
            </a:endParaRPr>
          </a:p>
          <a:p>
            <a:pPr algn="ctr"/>
            <a:r>
              <a:rPr lang="en-US" sz="2800" b="1" dirty="0">
                <a:solidFill>
                  <a:schemeClr val="bg1">
                    <a:lumMod val="95000"/>
                  </a:schemeClr>
                </a:solidFill>
              </a:rPr>
              <a:t>Digital Twin Deployments</a:t>
            </a:r>
            <a:endParaRPr lang="en-US" sz="4000" b="1" dirty="0">
              <a:solidFill>
                <a:schemeClr val="bg1">
                  <a:lumMod val="95000"/>
                </a:schemeClr>
              </a:solidFill>
            </a:endParaRPr>
          </a:p>
        </p:txBody>
      </p:sp>
      <p:sp>
        <p:nvSpPr>
          <p:cNvPr id="65" name="AutoShape 2" descr="Cash Pictures, Cash Stock Photos &amp; Images | Depositphotos®">
            <a:extLst>
              <a:ext uri="{FF2B5EF4-FFF2-40B4-BE49-F238E27FC236}">
                <a16:creationId xmlns:a16="http://schemas.microsoft.com/office/drawing/2014/main" id="{2B32F259-CE4B-C761-9E74-C91AB15520D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4C1CA225-B775-48F2-618A-8FF3A568C2D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8" name="Picture 6">
            <a:extLst>
              <a:ext uri="{FF2B5EF4-FFF2-40B4-BE49-F238E27FC236}">
                <a16:creationId xmlns:a16="http://schemas.microsoft.com/office/drawing/2014/main" id="{CF51B087-E4F3-35BF-3283-7BA6AB0F6C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2050" y="-21892"/>
            <a:ext cx="6089950" cy="366156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What is the Blockchain and Why is it So Important?">
            <a:extLst>
              <a:ext uri="{FF2B5EF4-FFF2-40B4-BE49-F238E27FC236}">
                <a16:creationId xmlns:a16="http://schemas.microsoft.com/office/drawing/2014/main" id="{82D56B9E-BB7D-B417-45A6-A028C25DEB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2474" y="3581400"/>
            <a:ext cx="6089525" cy="3295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217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24ED6-8FFC-CB0F-0BBC-6325B70FFC6A}"/>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29BA66C4-B0EA-28AE-21C5-CE229DBF8379}"/>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65" name="AutoShape 2" descr="Cash Pictures, Cash Stock Photos &amp; Images | Depositphotos®">
            <a:extLst>
              <a:ext uri="{FF2B5EF4-FFF2-40B4-BE49-F238E27FC236}">
                <a16:creationId xmlns:a16="http://schemas.microsoft.com/office/drawing/2014/main" id="{21FF1402-6B06-029D-FA71-62EFE5D6450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73D676E4-12FA-0561-64C4-7B2A562A595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4642300A-9A5D-DB6B-1E77-1E22FA38D986}"/>
              </a:ext>
            </a:extLst>
          </p:cNvPr>
          <p:cNvSpPr txBox="1"/>
          <p:nvPr/>
        </p:nvSpPr>
        <p:spPr>
          <a:xfrm>
            <a:off x="229421" y="101600"/>
            <a:ext cx="10704959" cy="830997"/>
          </a:xfrm>
          <a:prstGeom prst="rect">
            <a:avLst/>
          </a:prstGeom>
          <a:noFill/>
        </p:spPr>
        <p:txBody>
          <a:bodyPr wrap="square" rtlCol="0">
            <a:spAutoFit/>
          </a:bodyPr>
          <a:lstStyle/>
          <a:p>
            <a:r>
              <a:rPr lang="en-US" sz="2400" u="sng" dirty="0"/>
              <a:t>A Short Historical Perspective on the Use of Digital Twins</a:t>
            </a:r>
            <a:endParaRPr lang="en-US" sz="1800" u="sng" dirty="0"/>
          </a:p>
          <a:p>
            <a:r>
              <a:rPr lang="en-US" sz="2400" b="1" u="sng" dirty="0">
                <a:solidFill>
                  <a:schemeClr val="tx2">
                    <a:lumMod val="90000"/>
                    <a:lumOff val="10000"/>
                  </a:schemeClr>
                </a:solidFill>
              </a:rPr>
              <a:t> </a:t>
            </a:r>
          </a:p>
        </p:txBody>
      </p:sp>
      <p:sp>
        <p:nvSpPr>
          <p:cNvPr id="22" name="TextBox 21">
            <a:extLst>
              <a:ext uri="{FF2B5EF4-FFF2-40B4-BE49-F238E27FC236}">
                <a16:creationId xmlns:a16="http://schemas.microsoft.com/office/drawing/2014/main" id="{EF24CD41-D89A-BD63-796B-5784F5C06274}"/>
              </a:ext>
            </a:extLst>
          </p:cNvPr>
          <p:cNvSpPr txBox="1"/>
          <p:nvPr/>
        </p:nvSpPr>
        <p:spPr>
          <a:xfrm>
            <a:off x="198816" y="466875"/>
            <a:ext cx="11865117" cy="738664"/>
          </a:xfrm>
          <a:prstGeom prst="rect">
            <a:avLst/>
          </a:prstGeom>
          <a:noFill/>
        </p:spPr>
        <p:txBody>
          <a:bodyPr wrap="square" rtlCol="0">
            <a:spAutoFit/>
          </a:bodyPr>
          <a:lstStyle/>
          <a:p>
            <a:endParaRPr lang="en-US" sz="1400" dirty="0"/>
          </a:p>
          <a:p>
            <a:endParaRPr lang="en-US" sz="1400" dirty="0"/>
          </a:p>
          <a:p>
            <a:endParaRPr lang="en-US" sz="1400" dirty="0"/>
          </a:p>
        </p:txBody>
      </p:sp>
      <p:pic>
        <p:nvPicPr>
          <p:cNvPr id="1026" name="Picture 2" descr="Market potential analysis hi-res stock photography and ...">
            <a:extLst>
              <a:ext uri="{FF2B5EF4-FFF2-40B4-BE49-F238E27FC236}">
                <a16:creationId xmlns:a16="http://schemas.microsoft.com/office/drawing/2014/main" id="{26B82E76-75B9-1B69-939F-176CBD0382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9469" y="50657"/>
            <a:ext cx="884464" cy="83243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38A9831E-D1AE-781C-F83C-D557357D4BD1}"/>
              </a:ext>
            </a:extLst>
          </p:cNvPr>
          <p:cNvSpPr>
            <a:spLocks noChangeArrowheads="1"/>
          </p:cNvSpPr>
          <p:nvPr/>
        </p:nvSpPr>
        <p:spPr bwMode="auto">
          <a:xfrm>
            <a:off x="244869" y="244913"/>
            <a:ext cx="1152475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A Digital Twin is not a novel idea. Although it has long been used in digital simulations in fields like</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manufacturing, aircraft, and the car industry, its use in modelling our environment has only recently been viewed as a important use case.</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Arial" panose="020B0604020202020204" pitchFamily="34" charset="0"/>
              </a:rPr>
              <a:t>The use of digital models of assets to provide simulations and an information link to a real-world entity (i.e., a physical twin) is one recent interpretation of the "Digital Twin" concept in the built environment research.</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375FFA6D-45B0-7F6B-000B-97D1244EB201}"/>
              </a:ext>
            </a:extLst>
          </p:cNvPr>
          <p:cNvSpPr txBox="1"/>
          <p:nvPr/>
        </p:nvSpPr>
        <p:spPr>
          <a:xfrm>
            <a:off x="198815" y="2735103"/>
            <a:ext cx="11865117" cy="3139321"/>
          </a:xfrm>
          <a:prstGeom prst="rect">
            <a:avLst/>
          </a:prstGeom>
          <a:noFill/>
          <a:ln>
            <a:solidFill>
              <a:schemeClr val="accent1">
                <a:shade val="50000"/>
              </a:schemeClr>
            </a:solidFill>
          </a:ln>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Historically used in industries like </a:t>
            </a:r>
            <a:r>
              <a:rPr kumimoji="0" lang="en-US" altLang="en-US" sz="1800" b="1" i="0" u="none" strike="noStrike" cap="none" normalizeH="0" baseline="0" dirty="0">
                <a:ln>
                  <a:noFill/>
                </a:ln>
                <a:solidFill>
                  <a:schemeClr val="tx1"/>
                </a:solidFill>
                <a:effectLst/>
                <a:latin typeface="Arial" panose="020B0604020202020204" pitchFamily="34" charset="0"/>
              </a:rPr>
              <a:t>manufacturing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aerospace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automotive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Adoption is </a:t>
            </a:r>
            <a:r>
              <a:rPr kumimoji="0" lang="en-US" altLang="en-US" sz="1800" b="1" i="0" u="none" strike="noStrike" cap="none" normalizeH="0" baseline="0" dirty="0">
                <a:ln>
                  <a:noFill/>
                </a:ln>
                <a:solidFill>
                  <a:schemeClr val="tx1"/>
                </a:solidFill>
                <a:effectLst/>
                <a:latin typeface="Arial" panose="020B0604020202020204" pitchFamily="34" charset="0"/>
              </a:rPr>
              <a:t>more recent</a:t>
            </a:r>
            <a:r>
              <a:rPr kumimoji="0" lang="en-US" altLang="en-US" sz="1800" b="0" i="0" u="none" strike="noStrike" cap="none" normalizeH="0" baseline="0" dirty="0">
                <a:ln>
                  <a:noFill/>
                </a:ln>
                <a:solidFill>
                  <a:schemeClr val="tx1"/>
                </a:solidFill>
                <a:effectLst/>
                <a:latin typeface="Arial" panose="020B0604020202020204" pitchFamily="34" charset="0"/>
              </a:rPr>
              <a:t> in sectors like construction, infrastructure, and real estate. Source: Parmar, </a:t>
            </a:r>
            <a:r>
              <a:rPr kumimoji="0" lang="en-US" altLang="en-US" sz="1800" b="0" i="0" u="none" strike="noStrike" cap="none" normalizeH="0" baseline="0" dirty="0" err="1">
                <a:ln>
                  <a:noFill/>
                </a:ln>
                <a:solidFill>
                  <a:schemeClr val="tx1"/>
                </a:solidFill>
                <a:effectLst/>
                <a:latin typeface="Arial" panose="020B0604020202020204" pitchFamily="34" charset="0"/>
              </a:rPr>
              <a:t>Leiponen</a:t>
            </a:r>
            <a:r>
              <a:rPr kumimoji="0" lang="en-US" altLang="en-US" sz="1800" b="0" i="0" u="none" strike="noStrike" cap="none" normalizeH="0" baseline="0" dirty="0">
                <a:ln>
                  <a:noFill/>
                </a:ln>
                <a:solidFill>
                  <a:schemeClr val="tx1"/>
                </a:solidFill>
                <a:effectLst/>
                <a:latin typeface="Arial" panose="020B0604020202020204" pitchFamily="34" charset="0"/>
              </a:rPr>
              <a:t>, &amp; Thomas (2020).</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Focuses on </a:t>
            </a:r>
            <a:r>
              <a:rPr kumimoji="0" lang="en-US" altLang="en-US" sz="1800" b="1" i="0" u="none" strike="noStrike" cap="none" normalizeH="0" baseline="0" dirty="0">
                <a:ln>
                  <a:noFill/>
                </a:ln>
                <a:solidFill>
                  <a:schemeClr val="tx1"/>
                </a:solidFill>
                <a:effectLst/>
                <a:latin typeface="Arial" panose="020B0604020202020204" pitchFamily="34" charset="0"/>
              </a:rPr>
              <a:t>digital models</a:t>
            </a:r>
            <a:r>
              <a:rPr kumimoji="0" lang="en-US" altLang="en-US" sz="1800" b="0" i="0" u="none" strike="noStrike" cap="none" normalizeH="0" baseline="0" dirty="0">
                <a:ln>
                  <a:noFill/>
                </a:ln>
                <a:solidFill>
                  <a:schemeClr val="tx1"/>
                </a:solidFill>
                <a:effectLst/>
                <a:latin typeface="Arial" panose="020B0604020202020204" pitchFamily="34" charset="0"/>
              </a:rPr>
              <a:t> that simulate and connect with a </a:t>
            </a:r>
            <a:r>
              <a:rPr kumimoji="0" lang="en-US" altLang="en-US" sz="1800" b="1" i="0" u="none" strike="noStrike" cap="none" normalizeH="0" baseline="0" dirty="0">
                <a:ln>
                  <a:noFill/>
                </a:ln>
                <a:solidFill>
                  <a:schemeClr val="tx1"/>
                </a:solidFill>
                <a:effectLst/>
                <a:latin typeface="Arial" panose="020B0604020202020204" pitchFamily="34" charset="0"/>
              </a:rPr>
              <a:t>physical asset</a:t>
            </a:r>
            <a:r>
              <a:rPr kumimoji="0" lang="en-US" altLang="en-US" sz="1800" b="0" i="0" u="none" strike="noStrike" cap="none" normalizeH="0" baseline="0" dirty="0">
                <a:ln>
                  <a:noFill/>
                </a:ln>
                <a:solidFill>
                  <a:schemeClr val="tx1"/>
                </a:solidFill>
                <a:effectLst/>
                <a:latin typeface="Arial" panose="020B0604020202020204" pitchFamily="34" charset="0"/>
              </a:rPr>
              <a:t> (the “physical twin”).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Enables real-time feedback and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Enables data-driven decision making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Supports </a:t>
            </a:r>
            <a:r>
              <a:rPr kumimoji="0" lang="en-US" altLang="en-US" sz="1800" b="1" i="0" u="none" strike="noStrike" cap="none" normalizeH="0" baseline="0" dirty="0">
                <a:ln>
                  <a:noFill/>
                </a:ln>
                <a:solidFill>
                  <a:schemeClr val="tx1"/>
                </a:solidFill>
                <a:effectLst/>
                <a:latin typeface="Arial" panose="020B0604020202020204" pitchFamily="34" charset="0"/>
              </a:rPr>
              <a:t>asset operations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management</a:t>
            </a:r>
            <a:r>
              <a:rPr kumimoji="0" lang="en-US" altLang="en-US" sz="1800" b="0" i="0" u="none" strike="noStrike" cap="none" normalizeH="0" baseline="0" dirty="0">
                <a:ln>
                  <a:noFill/>
                </a:ln>
                <a:solidFill>
                  <a:schemeClr val="tx1"/>
                </a:solidFill>
                <a:effectLst/>
                <a:latin typeface="Arial" panose="020B0604020202020204" pitchFamily="34" charset="0"/>
              </a:rPr>
              <a:t> through better insights and </a:t>
            </a:r>
            <a:r>
              <a:rPr kumimoji="0" lang="en-US" altLang="en-US" sz="1800" b="0" i="0" u="none" strike="noStrike" cap="none" normalizeH="0" baseline="0" dirty="0" err="1">
                <a:ln>
                  <a:noFill/>
                </a:ln>
                <a:solidFill>
                  <a:schemeClr val="tx1"/>
                </a:solidFill>
                <a:effectLst/>
                <a:latin typeface="Arial" panose="020B0604020202020204" pitchFamily="34" charset="0"/>
              </a:rPr>
              <a:t>analytics.Source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Brilakis</a:t>
            </a:r>
            <a:r>
              <a:rPr kumimoji="0" lang="en-US" altLang="en-US" sz="1800" b="0" i="0" u="none" strike="noStrike" cap="none" normalizeH="0" baseline="0" dirty="0">
                <a:ln>
                  <a:noFill/>
                </a:ln>
                <a:solidFill>
                  <a:schemeClr val="tx1"/>
                </a:solidFill>
                <a:effectLst/>
                <a:latin typeface="Arial" panose="020B0604020202020204" pitchFamily="34" charset="0"/>
              </a:rPr>
              <a:t> et al. (2020).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Core concept: linkage between physical and virtual objects </a:t>
            </a:r>
            <a:r>
              <a:rPr kumimoji="0" lang="en-US" altLang="en-US" sz="1800" b="0" i="0" u="none" strike="noStrike" cap="none" normalizeH="0" baseline="0" dirty="0">
                <a:ln>
                  <a:noFill/>
                </a:ln>
                <a:solidFill>
                  <a:schemeClr val="tx1"/>
                </a:solidFill>
                <a:effectLst/>
                <a:latin typeface="Arial" panose="020B0604020202020204" pitchFamily="34" charset="0"/>
              </a:rPr>
              <a:t>achieved through a </a:t>
            </a:r>
            <a:r>
              <a:rPr kumimoji="0" lang="en-US" altLang="en-US" sz="1800" b="1" i="0" u="none" strike="noStrike" cap="none" normalizeH="0" baseline="0" dirty="0">
                <a:ln>
                  <a:noFill/>
                </a:ln>
                <a:solidFill>
                  <a:schemeClr val="tx1"/>
                </a:solidFill>
                <a:effectLst/>
                <a:latin typeface="Arial" panose="020B0604020202020204" pitchFamily="34" charset="0"/>
              </a:rPr>
              <a:t>continuous data</a:t>
            </a:r>
          </a:p>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 connection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Digital Twins are use-case dependent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No one-size-fits-all approach—</a:t>
            </a:r>
            <a:r>
              <a:rPr kumimoji="0" lang="en-US" altLang="en-US" sz="1800" b="1" i="0" u="none" strike="noStrike" cap="none" normalizeH="0" baseline="0" dirty="0">
                <a:ln>
                  <a:noFill/>
                </a:ln>
                <a:solidFill>
                  <a:schemeClr val="tx1"/>
                </a:solidFill>
                <a:effectLst/>
                <a:latin typeface="Arial" panose="020B0604020202020204" pitchFamily="34" charset="0"/>
              </a:rPr>
              <a:t>configurations vary</a:t>
            </a:r>
            <a:r>
              <a:rPr kumimoji="0" lang="en-US" altLang="en-US" sz="1800" b="0" i="0" u="none" strike="noStrike" cap="none" normalizeH="0" baseline="0" dirty="0">
                <a:ln>
                  <a:noFill/>
                </a:ln>
                <a:solidFill>
                  <a:schemeClr val="tx1"/>
                </a:solidFill>
                <a:effectLst/>
                <a:latin typeface="Arial" panose="020B0604020202020204" pitchFamily="34" charset="0"/>
              </a:rPr>
              <a:t> widely based on application needs.</a:t>
            </a:r>
            <a:endParaRPr lang="en-US" dirty="0"/>
          </a:p>
        </p:txBody>
      </p:sp>
    </p:spTree>
    <p:extLst>
      <p:ext uri="{BB962C8B-B14F-4D97-AF65-F5344CB8AC3E}">
        <p14:creationId xmlns:p14="http://schemas.microsoft.com/office/powerpoint/2010/main" val="2649336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9B1A2-97CB-F9E8-B118-959469FFE55B}"/>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2288501A-DA9E-9B3D-EA68-E64104F1071F}"/>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Information presented is state of the market on 10.15.2024</a:t>
            </a:r>
          </a:p>
        </p:txBody>
      </p:sp>
      <p:sp>
        <p:nvSpPr>
          <p:cNvPr id="65" name="AutoShape 2" descr="Cash Pictures, Cash Stock Photos &amp; Images | Depositphotos®">
            <a:extLst>
              <a:ext uri="{FF2B5EF4-FFF2-40B4-BE49-F238E27FC236}">
                <a16:creationId xmlns:a16="http://schemas.microsoft.com/office/drawing/2014/main" id="{CB5C9C84-3F8E-3064-3F39-B410B6C278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F6D5D8E9-3A2F-DBF7-2889-12D4B62EDC8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01224543-801C-F042-5EAA-8E27D9CC0781}"/>
              </a:ext>
            </a:extLst>
          </p:cNvPr>
          <p:cNvSpPr txBox="1"/>
          <p:nvPr/>
        </p:nvSpPr>
        <p:spPr>
          <a:xfrm>
            <a:off x="229421" y="101600"/>
            <a:ext cx="10704959" cy="830997"/>
          </a:xfrm>
          <a:prstGeom prst="rect">
            <a:avLst/>
          </a:prstGeom>
          <a:noFill/>
        </p:spPr>
        <p:txBody>
          <a:bodyPr wrap="square" rtlCol="0">
            <a:spAutoFit/>
          </a:bodyPr>
          <a:lstStyle/>
          <a:p>
            <a:r>
              <a:rPr lang="en-US" sz="2400" u="sng" dirty="0"/>
              <a:t>Brief overview of the market deploying GHG emission accounting systems.</a:t>
            </a:r>
            <a:endParaRPr lang="en-US" sz="1800" u="sng" dirty="0"/>
          </a:p>
          <a:p>
            <a:r>
              <a:rPr lang="en-US" sz="2400" b="1" u="sng" dirty="0">
                <a:solidFill>
                  <a:schemeClr val="tx2">
                    <a:lumMod val="90000"/>
                    <a:lumOff val="10000"/>
                  </a:schemeClr>
                </a:solidFill>
              </a:rPr>
              <a:t> </a:t>
            </a:r>
          </a:p>
        </p:txBody>
      </p:sp>
      <p:sp>
        <p:nvSpPr>
          <p:cNvPr id="22" name="TextBox 21">
            <a:extLst>
              <a:ext uri="{FF2B5EF4-FFF2-40B4-BE49-F238E27FC236}">
                <a16:creationId xmlns:a16="http://schemas.microsoft.com/office/drawing/2014/main" id="{A59CA67B-003A-001A-F254-7CA7C7E2483A}"/>
              </a:ext>
            </a:extLst>
          </p:cNvPr>
          <p:cNvSpPr txBox="1"/>
          <p:nvPr/>
        </p:nvSpPr>
        <p:spPr>
          <a:xfrm>
            <a:off x="198816" y="466875"/>
            <a:ext cx="11865117" cy="6124754"/>
          </a:xfrm>
          <a:prstGeom prst="rect">
            <a:avLst/>
          </a:prstGeom>
          <a:noFill/>
        </p:spPr>
        <p:txBody>
          <a:bodyPr wrap="square" rtlCol="0">
            <a:spAutoFit/>
          </a:bodyPr>
          <a:lstStyle/>
          <a:p>
            <a:endParaRPr lang="en-US" sz="1400" dirty="0"/>
          </a:p>
          <a:p>
            <a:endParaRPr lang="en-US" sz="1400" dirty="0"/>
          </a:p>
          <a:p>
            <a:endParaRPr lang="en-US" sz="1400" dirty="0"/>
          </a:p>
          <a:p>
            <a:r>
              <a:rPr lang="en-US" sz="1400" dirty="0"/>
              <a:t>Workiva has not developed a specific digital twin solution for carbon accounting. However, it offers </a:t>
            </a:r>
            <a:r>
              <a:rPr lang="en-US" sz="1400" b="1" dirty="0"/>
              <a:t>Workiva Carbon</a:t>
            </a:r>
            <a:r>
              <a:rPr lang="en-US" sz="1400" dirty="0"/>
              <a:t>, an integrated platform designed to streamline carbon accounting, carbon management, and decarbonization efforts. This solution helps organizations monitor and report greenhouse gas emissions across their operations, including Scope 1, 2, and 3 emissions, by gathering real-time data from ERP systems, accounting platforms, and utility providers.</a:t>
            </a:r>
          </a:p>
          <a:p>
            <a:r>
              <a:rPr lang="en-US" sz="1400" b="1" dirty="0">
                <a:solidFill>
                  <a:schemeClr val="accent1">
                    <a:lumMod val="75000"/>
                  </a:schemeClr>
                </a:solidFill>
              </a:rPr>
              <a:t>Notes : </a:t>
            </a:r>
            <a:r>
              <a:rPr lang="en-US" sz="1400" dirty="0">
                <a:solidFill>
                  <a:schemeClr val="accent1">
                    <a:lumMod val="75000"/>
                  </a:schemeClr>
                </a:solidFill>
              </a:rPr>
              <a:t>Markets a platform with substantial functionality including development of a carbon emission baselines, categorize data for multiple reporting frameworks and identify and prioritize carbon reduction or offset plans to reach sustainability goals. Software platform is unknown.</a:t>
            </a:r>
          </a:p>
          <a:p>
            <a:endParaRPr lang="en-US" sz="1400" dirty="0"/>
          </a:p>
          <a:p>
            <a:endParaRPr lang="en-US" sz="1400" dirty="0"/>
          </a:p>
          <a:p>
            <a:endParaRPr lang="en-US" sz="1400" dirty="0"/>
          </a:p>
          <a:p>
            <a:r>
              <a:rPr lang="en-US" sz="1400" dirty="0"/>
              <a:t>The Digital Twin Consortium (DTC) is actively involved in carbon accounting initiatives, particularly focusing on the building industry. Their efforts leverage digital twins to help building owners, operators, and stakeholders assess, manage, and reduce both operational and embodied carbon emissions throughout the lifecycle of buildings. DTC emphasizes the role of digital twins in enabling data-driven insights and real-time decision-making, which are crucial for optimizing building performance and aligning with sustainability and net-zero carbon goals. </a:t>
            </a:r>
          </a:p>
          <a:p>
            <a:r>
              <a:rPr lang="en-US" sz="1400" b="1" dirty="0">
                <a:solidFill>
                  <a:schemeClr val="accent1">
                    <a:lumMod val="75000"/>
                  </a:schemeClr>
                </a:solidFill>
              </a:rPr>
              <a:t>Notes : Focus is on emissions from buildings using digital twins</a:t>
            </a:r>
            <a:r>
              <a:rPr lang="en-US" sz="1400" dirty="0">
                <a:solidFill>
                  <a:schemeClr val="accent1">
                    <a:lumMod val="75000"/>
                  </a:schemeClr>
                </a:solidFill>
              </a:rPr>
              <a:t>. There is no capability advertised or communicated for modeling/scenario building to reduce or eliminate GHG emissions as it applies to supply chains. Fit is for a single purpose.</a:t>
            </a:r>
            <a:endParaRPr lang="en-US" sz="1400" dirty="0"/>
          </a:p>
          <a:p>
            <a:endParaRPr lang="en-US" sz="1400" dirty="0"/>
          </a:p>
          <a:p>
            <a:endParaRPr lang="en-US" sz="1400" dirty="0"/>
          </a:p>
          <a:p>
            <a:endParaRPr lang="en-US" sz="1400" dirty="0"/>
          </a:p>
          <a:p>
            <a:r>
              <a:rPr lang="en-US" sz="1400" dirty="0"/>
              <a:t>Constellation Navigator offers a carbon accounting platform designed to help businesses track, report, and reduce their greenhouse gas (GHG) emissions. This solution integrates data ingestion, scenario analysis, and reporting capabilities to provide transparency across Scope 1, 2, and 3 emissions, aligned with multiple sustainability frameworks. It aims to simplify the collection of emissions data from diverse sources like utility bills, streamline reporting, and support businesses in setting and achieving their climate targets.</a:t>
            </a:r>
          </a:p>
          <a:p>
            <a:r>
              <a:rPr lang="en-US" sz="1400" b="1" dirty="0">
                <a:solidFill>
                  <a:schemeClr val="accent1">
                    <a:lumMod val="75000"/>
                  </a:schemeClr>
                </a:solidFill>
              </a:rPr>
              <a:t>Notes : </a:t>
            </a:r>
            <a:r>
              <a:rPr lang="en-US" sz="1400" dirty="0">
                <a:solidFill>
                  <a:schemeClr val="accent1">
                    <a:lumMod val="75000"/>
                  </a:schemeClr>
                </a:solidFill>
              </a:rPr>
              <a:t>While the platform addresses challenges such as scattered data and complex calculations, it does not explicitly mention the use of digital twins. the service focuses heavily on real-time data analytics and decision-making tools that align with many goals of digital twin technology—such as providing visibility into operational footprints and enabling proactive sustainability management.</a:t>
            </a:r>
            <a:endParaRPr lang="en-US" sz="1400" dirty="0"/>
          </a:p>
        </p:txBody>
      </p:sp>
      <p:pic>
        <p:nvPicPr>
          <p:cNvPr id="1026" name="Picture 2" descr="Market potential analysis hi-res stock photography and ...">
            <a:extLst>
              <a:ext uri="{FF2B5EF4-FFF2-40B4-BE49-F238E27FC236}">
                <a16:creationId xmlns:a16="http://schemas.microsoft.com/office/drawing/2014/main" id="{E182887E-9DF8-1939-C84C-E4A1C8AEF5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9469" y="50657"/>
            <a:ext cx="884464" cy="8324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AFD8C18-664F-39F1-56AC-41B330539496}"/>
              </a:ext>
            </a:extLst>
          </p:cNvPr>
          <p:cNvPicPr>
            <a:picLocks noChangeAspect="1"/>
          </p:cNvPicPr>
          <p:nvPr/>
        </p:nvPicPr>
        <p:blipFill>
          <a:blip r:embed="rId3"/>
          <a:stretch>
            <a:fillRect/>
          </a:stretch>
        </p:blipFill>
        <p:spPr>
          <a:xfrm>
            <a:off x="283209" y="789986"/>
            <a:ext cx="1660851" cy="285222"/>
          </a:xfrm>
          <a:prstGeom prst="rect">
            <a:avLst/>
          </a:prstGeom>
        </p:spPr>
      </p:pic>
      <p:pic>
        <p:nvPicPr>
          <p:cNvPr id="1030" name="Picture 6" descr="Digital Twin Consortium">
            <a:extLst>
              <a:ext uri="{FF2B5EF4-FFF2-40B4-BE49-F238E27FC236}">
                <a16:creationId xmlns:a16="http://schemas.microsoft.com/office/drawing/2014/main" id="{82C52F34-0429-930D-E54A-CCAC1CC0AC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467" y="2405684"/>
            <a:ext cx="1501668" cy="46114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ome">
            <a:extLst>
              <a:ext uri="{FF2B5EF4-FFF2-40B4-BE49-F238E27FC236}">
                <a16:creationId xmlns:a16="http://schemas.microsoft.com/office/drawing/2014/main" id="{7E2DA079-7426-2526-08F4-7DD299047C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092" y="4401629"/>
            <a:ext cx="3246824" cy="405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958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556D8-CC87-D43F-4D81-45EB38DDC8D9}"/>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66B78632-0986-3F6C-56F8-096604D0DEFF}"/>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Information presented is state of the market on 10.15.2024</a:t>
            </a:r>
          </a:p>
        </p:txBody>
      </p:sp>
      <p:sp>
        <p:nvSpPr>
          <p:cNvPr id="2" name="TextBox 1">
            <a:extLst>
              <a:ext uri="{FF2B5EF4-FFF2-40B4-BE49-F238E27FC236}">
                <a16:creationId xmlns:a16="http://schemas.microsoft.com/office/drawing/2014/main" id="{B69A15F2-DA25-F8EE-A5F3-CE7B482D8A5E}"/>
              </a:ext>
            </a:extLst>
          </p:cNvPr>
          <p:cNvSpPr txBox="1"/>
          <p:nvPr/>
        </p:nvSpPr>
        <p:spPr>
          <a:xfrm>
            <a:off x="229421" y="101600"/>
            <a:ext cx="10704959" cy="830997"/>
          </a:xfrm>
          <a:prstGeom prst="rect">
            <a:avLst/>
          </a:prstGeom>
          <a:noFill/>
        </p:spPr>
        <p:txBody>
          <a:bodyPr wrap="square" rtlCol="0">
            <a:spAutoFit/>
          </a:bodyPr>
          <a:lstStyle/>
          <a:p>
            <a:r>
              <a:rPr lang="en-US" sz="2400" u="sng" dirty="0"/>
              <a:t>Brief overview of the market deploying GHG emission accounting systems.</a:t>
            </a:r>
            <a:endParaRPr lang="en-US" sz="1800" u="sng" dirty="0"/>
          </a:p>
          <a:p>
            <a:r>
              <a:rPr lang="en-US" sz="2400" b="1" u="sng" dirty="0">
                <a:solidFill>
                  <a:schemeClr val="tx2">
                    <a:lumMod val="90000"/>
                    <a:lumOff val="10000"/>
                  </a:schemeClr>
                </a:solidFill>
              </a:rPr>
              <a:t> </a:t>
            </a:r>
          </a:p>
        </p:txBody>
      </p:sp>
      <p:sp>
        <p:nvSpPr>
          <p:cNvPr id="22" name="TextBox 21">
            <a:extLst>
              <a:ext uri="{FF2B5EF4-FFF2-40B4-BE49-F238E27FC236}">
                <a16:creationId xmlns:a16="http://schemas.microsoft.com/office/drawing/2014/main" id="{AFF322A8-2F01-EA78-02B7-2119FC06616C}"/>
              </a:ext>
            </a:extLst>
          </p:cNvPr>
          <p:cNvSpPr txBox="1"/>
          <p:nvPr/>
        </p:nvSpPr>
        <p:spPr>
          <a:xfrm>
            <a:off x="198816" y="466875"/>
            <a:ext cx="11865117" cy="2031325"/>
          </a:xfrm>
          <a:prstGeom prst="rect">
            <a:avLst/>
          </a:prstGeom>
          <a:noFill/>
        </p:spPr>
        <p:txBody>
          <a:bodyPr wrap="square" rtlCol="0">
            <a:spAutoFit/>
          </a:bodyPr>
          <a:lstStyle/>
          <a:p>
            <a:endParaRPr lang="en-US" sz="1400" dirty="0"/>
          </a:p>
          <a:p>
            <a:endParaRPr lang="en-US" sz="1400" dirty="0"/>
          </a:p>
          <a:p>
            <a:endParaRPr lang="en-US" sz="1400" dirty="0"/>
          </a:p>
          <a:p>
            <a:r>
              <a:rPr lang="en-US" sz="1400" dirty="0">
                <a:solidFill>
                  <a:schemeClr val="accent1">
                    <a:lumMod val="75000"/>
                  </a:schemeClr>
                </a:solidFill>
              </a:rPr>
              <a:t>Platform to aggregate , sort and filter emissions data. Functionality to compare emission source and resource consumption to identify trends, patterns and emission hotspots. Data integration consists of uploads of emission data – no API for real time tracking of emissions. Large tool set for computing the cost of decarbonization in marginal abatement cost curves(MAC curves). C</a:t>
            </a:r>
            <a:r>
              <a:rPr lang="en-US" sz="1400" b="0" i="0" dirty="0">
                <a:solidFill>
                  <a:schemeClr val="accent1">
                    <a:lumMod val="75000"/>
                  </a:schemeClr>
                </a:solidFill>
                <a:effectLst/>
                <a:latin typeface="OktaNeue"/>
              </a:rPr>
              <a:t>alculate and compare costs of mitigation options that are too costly to be reduced internally. Collects scope 1, 2, 3 emissions. Compare and contrast marginal abatement costs of mitigation options across multiple business units.</a:t>
            </a:r>
            <a:endParaRPr lang="en-US" sz="1400" dirty="0">
              <a:solidFill>
                <a:schemeClr val="accent1">
                  <a:lumMod val="75000"/>
                </a:schemeClr>
              </a:solidFill>
            </a:endParaRPr>
          </a:p>
          <a:p>
            <a:endParaRPr lang="en-US" sz="1400" dirty="0">
              <a:solidFill>
                <a:schemeClr val="accent1">
                  <a:lumMod val="75000"/>
                </a:schemeClr>
              </a:solidFill>
            </a:endParaRPr>
          </a:p>
          <a:p>
            <a:endParaRPr lang="en-US" sz="1400" dirty="0"/>
          </a:p>
        </p:txBody>
      </p:sp>
      <p:pic>
        <p:nvPicPr>
          <p:cNvPr id="1026" name="Picture 2" descr="Market potential analysis hi-res stock photography and ...">
            <a:extLst>
              <a:ext uri="{FF2B5EF4-FFF2-40B4-BE49-F238E27FC236}">
                <a16:creationId xmlns:a16="http://schemas.microsoft.com/office/drawing/2014/main" id="{D0E2536C-CA3D-9759-4B49-941779C114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9469" y="50657"/>
            <a:ext cx="884464" cy="83243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405372D-4661-5993-2EBD-465B5852E202}"/>
              </a:ext>
            </a:extLst>
          </p:cNvPr>
          <p:cNvSpPr txBox="1"/>
          <p:nvPr/>
        </p:nvSpPr>
        <p:spPr>
          <a:xfrm>
            <a:off x="128067" y="2111766"/>
            <a:ext cx="11935866" cy="1661993"/>
          </a:xfrm>
          <a:prstGeom prst="rect">
            <a:avLst/>
          </a:prstGeom>
          <a:noFill/>
        </p:spPr>
        <p:txBody>
          <a:bodyPr wrap="square">
            <a:spAutoFit/>
          </a:bodyPr>
          <a:lstStyle/>
          <a:p>
            <a:pPr algn="l"/>
            <a:r>
              <a:rPr lang="en-US" b="1" i="0" dirty="0">
                <a:effectLst/>
                <a:latin typeface="Ibmplexsans"/>
              </a:rPr>
              <a:t>Microsoft Sustainability Cloud</a:t>
            </a:r>
          </a:p>
          <a:p>
            <a:pPr algn="l"/>
            <a:r>
              <a:rPr lang="en-US" sz="1400" b="0" i="0" dirty="0">
                <a:solidFill>
                  <a:schemeClr val="accent1">
                    <a:lumMod val="75000"/>
                  </a:schemeClr>
                </a:solidFill>
                <a:effectLst/>
                <a:latin typeface="Ibmplexsans"/>
              </a:rPr>
              <a:t>With a suite of ESG (environmental, social, and governance) tools, it is designed to empower organizations in accelerating their sustainability initiatives and driving business growth through the power of data and AI. With features like Microsoft Sustainability Manager, users can drive data transparency and insights to take actionable steps.</a:t>
            </a:r>
          </a:p>
          <a:p>
            <a:r>
              <a:rPr lang="en-US" sz="1400" b="0" i="0" dirty="0">
                <a:solidFill>
                  <a:schemeClr val="accent1">
                    <a:lumMod val="75000"/>
                  </a:schemeClr>
                </a:solidFill>
                <a:effectLst/>
                <a:latin typeface="Ibmplexsans"/>
              </a:rPr>
              <a:t>Microsoft's Sustainability Cloud already has a series of heavy-hitting partnerships. The Sustainability Cloud interprets data from the whole spectrum of ESG, which may impact the granularity of its carbon accounting data and subsequent insights it may be able to provide. It may lend itself more to the mid-market/SMB customer, but it is too early to tell.</a:t>
            </a:r>
            <a:r>
              <a:rPr lang="en-US" sz="1400" b="1" i="0" dirty="0">
                <a:effectLst/>
                <a:latin typeface="Ibmplexsans"/>
              </a:rPr>
              <a:t> </a:t>
            </a:r>
            <a:endParaRPr lang="en-US" b="1" i="0" dirty="0">
              <a:effectLst/>
              <a:latin typeface="Ibmplexsans"/>
            </a:endParaRPr>
          </a:p>
        </p:txBody>
      </p:sp>
      <p:sp>
        <p:nvSpPr>
          <p:cNvPr id="10" name="TextBox 9">
            <a:extLst>
              <a:ext uri="{FF2B5EF4-FFF2-40B4-BE49-F238E27FC236}">
                <a16:creationId xmlns:a16="http://schemas.microsoft.com/office/drawing/2014/main" id="{33EB9ED1-1940-77E4-BBD2-DD15B3DC170E}"/>
              </a:ext>
            </a:extLst>
          </p:cNvPr>
          <p:cNvSpPr txBox="1"/>
          <p:nvPr/>
        </p:nvSpPr>
        <p:spPr>
          <a:xfrm>
            <a:off x="124876" y="3816516"/>
            <a:ext cx="12059444" cy="2862322"/>
          </a:xfrm>
          <a:prstGeom prst="rect">
            <a:avLst/>
          </a:prstGeom>
          <a:noFill/>
        </p:spPr>
        <p:txBody>
          <a:bodyPr wrap="square">
            <a:spAutoFit/>
          </a:bodyPr>
          <a:lstStyle/>
          <a:p>
            <a:pPr algn="l"/>
            <a:r>
              <a:rPr lang="en-US" b="1" dirty="0">
                <a:latin typeface="Ibmplexsans"/>
              </a:rPr>
              <a:t>Net Zero Cloud – Salesforce</a:t>
            </a:r>
          </a:p>
          <a:p>
            <a:pPr algn="l"/>
            <a:r>
              <a:rPr lang="en-US" sz="1400" dirty="0">
                <a:solidFill>
                  <a:schemeClr val="accent1">
                    <a:lumMod val="75000"/>
                  </a:schemeClr>
                </a:solidFill>
                <a:latin typeface="Ibmplexsans"/>
              </a:rPr>
              <a:t>E</a:t>
            </a:r>
            <a:r>
              <a:rPr lang="en-US" sz="1400" b="0" i="0" dirty="0">
                <a:solidFill>
                  <a:schemeClr val="accent1">
                    <a:lumMod val="75000"/>
                  </a:schemeClr>
                </a:solidFill>
                <a:effectLst/>
                <a:latin typeface="Ibmplexsans"/>
              </a:rPr>
              <a:t>missions accounting product built on Salesforce's automation, language support, and integration features. While this can be a strength and lend itself to useful emissions reporting features, it also comes with limitations due to its reliance on its existing data schema, which wasn't built for accounting. Net Zero Cloud does come with a robust list of partners like Accenture and several others in the enterprise space. While there have been mixed reports on the overall scalability of the tool, its dashboard functionality is solid.</a:t>
            </a:r>
            <a:endParaRPr lang="en-US" sz="1400" dirty="0">
              <a:solidFill>
                <a:schemeClr val="accent1">
                  <a:lumMod val="75000"/>
                </a:schemeClr>
              </a:solidFill>
              <a:latin typeface="Ibmplexsans"/>
            </a:endParaRPr>
          </a:p>
          <a:p>
            <a:pPr algn="l"/>
            <a:endParaRPr lang="en-US" sz="1400" b="0" i="0" dirty="0">
              <a:solidFill>
                <a:schemeClr val="accent1">
                  <a:lumMod val="75000"/>
                </a:schemeClr>
              </a:solidFill>
              <a:effectLst/>
              <a:latin typeface="Ibmplexsans"/>
            </a:endParaRPr>
          </a:p>
          <a:p>
            <a:r>
              <a:rPr lang="en-US" b="1" i="0" dirty="0">
                <a:effectLst/>
                <a:latin typeface="Ibmplexsans"/>
              </a:rPr>
              <a:t>IBM Environmental Intelligence Suite</a:t>
            </a:r>
            <a:endParaRPr lang="en-US" b="0" i="0" dirty="0">
              <a:solidFill>
                <a:schemeClr val="accent1">
                  <a:lumMod val="75000"/>
                </a:schemeClr>
              </a:solidFill>
              <a:effectLst/>
              <a:latin typeface="Ibmplexsans"/>
            </a:endParaRPr>
          </a:p>
          <a:p>
            <a:pPr algn="l"/>
            <a:r>
              <a:rPr lang="en-US" sz="1400" b="0" i="0" strike="noStrike" dirty="0">
                <a:solidFill>
                  <a:schemeClr val="accent1">
                    <a:lumMod val="75000"/>
                  </a:schemeClr>
                </a:solidFill>
                <a:effectLst/>
                <a:latin typeface="Ibmplexsans"/>
                <a:hlinkClick r:id="rId3">
                  <a:extLst>
                    <a:ext uri="{A12FA001-AC4F-418D-AE19-62706E023703}">
                      <ahyp:hlinkClr xmlns:ahyp="http://schemas.microsoft.com/office/drawing/2018/hyperlinkcolor" val="tx"/>
                    </a:ext>
                  </a:extLst>
                </a:hlinkClick>
              </a:rPr>
              <a:t>IBM Environmental Intelligence Suite</a:t>
            </a:r>
            <a:r>
              <a:rPr lang="en-US" sz="1400" b="0" i="0" dirty="0">
                <a:solidFill>
                  <a:schemeClr val="accent1">
                    <a:lumMod val="75000"/>
                  </a:schemeClr>
                </a:solidFill>
                <a:effectLst/>
                <a:latin typeface="Ibmplexsans"/>
              </a:rPr>
              <a:t> is mostly legacy software aimed at managing swaths of data. As an emissions management solution, it offers basic climate risk analytics with the help of IBM AI capabilities.</a:t>
            </a:r>
          </a:p>
          <a:p>
            <a:pPr algn="l"/>
            <a:r>
              <a:rPr lang="en-US" sz="1400" b="0" i="0" dirty="0">
                <a:solidFill>
                  <a:schemeClr val="accent1">
                    <a:lumMod val="75000"/>
                  </a:schemeClr>
                </a:solidFill>
                <a:effectLst/>
                <a:latin typeface="Ibmplexsans"/>
              </a:rPr>
              <a:t>A large part of IBM’s offering is focused on risk analysis and response efforts. Its features help organizations monitor disruptive climate conditions as it aims to operationalize carbon accounting</a:t>
            </a:r>
          </a:p>
          <a:p>
            <a:pPr algn="l"/>
            <a:endParaRPr lang="en-US" b="1" i="0" dirty="0">
              <a:effectLst/>
              <a:latin typeface="Ibmplexsans"/>
            </a:endParaRPr>
          </a:p>
        </p:txBody>
      </p:sp>
      <p:sp>
        <p:nvSpPr>
          <p:cNvPr id="11" name="AutoShape 4">
            <a:extLst>
              <a:ext uri="{FF2B5EF4-FFF2-40B4-BE49-F238E27FC236}">
                <a16:creationId xmlns:a16="http://schemas.microsoft.com/office/drawing/2014/main" id="{2BDFD0D1-C26A-169D-811A-3FB84D5361FC}"/>
              </a:ext>
            </a:extLst>
          </p:cNvPr>
          <p:cNvSpPr>
            <a:spLocks noChangeAspect="1" noChangeArrowheads="1"/>
          </p:cNvSpPr>
          <p:nvPr/>
        </p:nvSpPr>
        <p:spPr bwMode="auto">
          <a:xfrm>
            <a:off x="5943600" y="3276600"/>
            <a:ext cx="1289483" cy="12894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9933A527-DBC6-8742-9A49-81BE795EA168}"/>
              </a:ext>
            </a:extLst>
          </p:cNvPr>
          <p:cNvPicPr>
            <a:picLocks noChangeAspect="1"/>
          </p:cNvPicPr>
          <p:nvPr/>
        </p:nvPicPr>
        <p:blipFill>
          <a:blip r:embed="rId4"/>
          <a:stretch>
            <a:fillRect/>
          </a:stretch>
        </p:blipFill>
        <p:spPr>
          <a:xfrm>
            <a:off x="283209" y="664594"/>
            <a:ext cx="1054134" cy="454725"/>
          </a:xfrm>
          <a:prstGeom prst="rect">
            <a:avLst/>
          </a:prstGeom>
        </p:spPr>
      </p:pic>
      <p:pic>
        <p:nvPicPr>
          <p:cNvPr id="14" name="Picture 6" descr="Salesforce Logo - Salesforce">
            <a:extLst>
              <a:ext uri="{FF2B5EF4-FFF2-40B4-BE49-F238E27FC236}">
                <a16:creationId xmlns:a16="http://schemas.microsoft.com/office/drawing/2014/main" id="{19E3BF67-37C8-21C3-4A54-48A328ADFC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1033" y="3653921"/>
            <a:ext cx="564196" cy="526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5354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780BC-F3F0-F343-F905-9289A10FBF89}"/>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CB49E747-ABD9-34F5-8754-FA1D4513D61E}"/>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simwell.io</a:t>
            </a:r>
          </a:p>
        </p:txBody>
      </p:sp>
      <p:sp>
        <p:nvSpPr>
          <p:cNvPr id="65" name="AutoShape 2" descr="Cash Pictures, Cash Stock Photos &amp; Images | Depositphotos®">
            <a:extLst>
              <a:ext uri="{FF2B5EF4-FFF2-40B4-BE49-F238E27FC236}">
                <a16:creationId xmlns:a16="http://schemas.microsoft.com/office/drawing/2014/main" id="{3BEB9991-1D78-05F0-8FC4-FE2FE0B988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9D497C82-FE01-FADC-CB8B-2E2F83CE738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C81939BB-0CB7-3AD1-041C-F3941D2C6C37}"/>
              </a:ext>
            </a:extLst>
          </p:cNvPr>
          <p:cNvSpPr txBox="1"/>
          <p:nvPr/>
        </p:nvSpPr>
        <p:spPr>
          <a:xfrm>
            <a:off x="848772" y="617787"/>
            <a:ext cx="10506648" cy="461665"/>
          </a:xfrm>
          <a:prstGeom prst="rect">
            <a:avLst/>
          </a:prstGeom>
          <a:noFill/>
        </p:spPr>
        <p:txBody>
          <a:bodyPr wrap="square" rtlCol="0">
            <a:spAutoFit/>
          </a:bodyPr>
          <a:lstStyle/>
          <a:p>
            <a:pPr algn="ctr"/>
            <a:r>
              <a:rPr lang="en-US" sz="2400" b="1" i="0" u="sng" dirty="0">
                <a:solidFill>
                  <a:srgbClr val="F2672B"/>
                </a:solidFill>
                <a:effectLst/>
                <a:latin typeface="Arial" panose="020B0604020202020204" pitchFamily="34" charset="0"/>
              </a:rPr>
              <a:t>Seize the Future: Digital Twins Driving a More Agile 2025 and Beyond</a:t>
            </a:r>
            <a:r>
              <a:rPr lang="en-US" sz="2400" b="1" u="sng" dirty="0">
                <a:solidFill>
                  <a:schemeClr val="tx2">
                    <a:lumMod val="90000"/>
                    <a:lumOff val="10000"/>
                  </a:schemeClr>
                </a:solidFill>
              </a:rPr>
              <a:t> </a:t>
            </a:r>
          </a:p>
        </p:txBody>
      </p:sp>
      <p:sp>
        <p:nvSpPr>
          <p:cNvPr id="22" name="TextBox 21">
            <a:extLst>
              <a:ext uri="{FF2B5EF4-FFF2-40B4-BE49-F238E27FC236}">
                <a16:creationId xmlns:a16="http://schemas.microsoft.com/office/drawing/2014/main" id="{6D1EE5CD-A0F9-79CB-5AA5-E7669EFBFDA9}"/>
              </a:ext>
            </a:extLst>
          </p:cNvPr>
          <p:cNvSpPr txBox="1"/>
          <p:nvPr/>
        </p:nvSpPr>
        <p:spPr>
          <a:xfrm>
            <a:off x="0" y="911520"/>
            <a:ext cx="12180896" cy="6394058"/>
          </a:xfrm>
          <a:prstGeom prst="rect">
            <a:avLst/>
          </a:prstGeom>
          <a:noFill/>
        </p:spPr>
        <p:txBody>
          <a:bodyPr wrap="square" rtlCol="0">
            <a:spAutoFit/>
          </a:bodyPr>
          <a:lstStyle/>
          <a:p>
            <a:endParaRPr lang="en-US" sz="1400" dirty="0"/>
          </a:p>
          <a:p>
            <a:pPr algn="just">
              <a:lnSpc>
                <a:spcPts val="1969"/>
              </a:lnSpc>
            </a:pPr>
            <a:r>
              <a:rPr lang="en-US" sz="1600" b="0" i="0" dirty="0">
                <a:solidFill>
                  <a:srgbClr val="23496D"/>
                </a:solidFill>
                <a:effectLst/>
                <a:latin typeface="Arial" panose="020B0604020202020204" pitchFamily="34" charset="0"/>
              </a:rPr>
              <a:t>As an example of the advantages for using a digital twin for monitoring supply chain operations is the company SIMWELL. This firm markets its capability to develop and deploy commercial digital twins for simulation, optimization, and modeling for supply chains. </a:t>
            </a:r>
          </a:p>
          <a:p>
            <a:pPr algn="just">
              <a:lnSpc>
                <a:spcPts val="1969"/>
              </a:lnSpc>
            </a:pPr>
            <a:endParaRPr lang="en-US" sz="1400" dirty="0">
              <a:solidFill>
                <a:srgbClr val="23496D"/>
              </a:solidFill>
              <a:latin typeface="Arial" panose="020B0604020202020204" pitchFamily="34" charset="0"/>
            </a:endParaRPr>
          </a:p>
          <a:p>
            <a:pPr algn="just">
              <a:lnSpc>
                <a:spcPts val="1969"/>
              </a:lnSpc>
            </a:pPr>
            <a:r>
              <a:rPr lang="en-US" sz="1600" dirty="0">
                <a:solidFill>
                  <a:srgbClr val="23496D"/>
                </a:solidFill>
                <a:latin typeface="Arial" panose="020B0604020202020204" pitchFamily="34" charset="0"/>
              </a:rPr>
              <a:t>SIMWELL has a value statement for the use of digital twins in an ever changing business environment where tariffs are imposed:</a:t>
            </a:r>
          </a:p>
          <a:p>
            <a:pPr algn="just">
              <a:lnSpc>
                <a:spcPts val="1969"/>
              </a:lnSpc>
            </a:pPr>
            <a:endParaRPr lang="en-US" sz="1600" dirty="0">
              <a:solidFill>
                <a:srgbClr val="23496D"/>
              </a:solidFill>
              <a:latin typeface="Arial" panose="020B0604020202020204" pitchFamily="34" charset="0"/>
            </a:endParaRPr>
          </a:p>
          <a:p>
            <a:pPr algn="l">
              <a:lnSpc>
                <a:spcPts val="2625"/>
              </a:lnSpc>
            </a:pPr>
            <a:r>
              <a:rPr lang="en-US" sz="1600" b="1" i="0" dirty="0">
                <a:solidFill>
                  <a:srgbClr val="23496D"/>
                </a:solidFill>
                <a:effectLst/>
                <a:latin typeface="Arial" panose="020B0604020202020204" pitchFamily="34" charset="0"/>
              </a:rPr>
              <a:t>                        When Tariffs Strike: Essential Questions to Guide Decisions</a:t>
            </a:r>
          </a:p>
          <a:p>
            <a:pPr marL="2114550" lvl="4" indent="-285750" algn="just">
              <a:lnSpc>
                <a:spcPts val="1969"/>
              </a:lnSpc>
              <a:buFont typeface="Arial" panose="020B0604020202020204" pitchFamily="34" charset="0"/>
              <a:buChar char="•"/>
            </a:pPr>
            <a:r>
              <a:rPr lang="en-US" sz="1600" b="0" i="0" dirty="0">
                <a:solidFill>
                  <a:srgbClr val="23496D"/>
                </a:solidFill>
                <a:effectLst/>
                <a:latin typeface="Arial" panose="020B0604020202020204" pitchFamily="34" charset="0"/>
              </a:rPr>
              <a:t>Can I still serve U.S. clients from Canadian plants </a:t>
            </a:r>
            <a:r>
              <a:rPr lang="en-US" sz="1600" b="0" i="0" dirty="0">
                <a:solidFill>
                  <a:srgbClr val="F2672B"/>
                </a:solidFill>
                <a:effectLst/>
                <a:latin typeface="Arial" panose="020B0604020202020204" pitchFamily="34" charset="0"/>
              </a:rPr>
              <a:t>profitably?</a:t>
            </a:r>
            <a:endParaRPr lang="en-US" sz="1600" b="0" i="0" dirty="0">
              <a:solidFill>
                <a:srgbClr val="23496D"/>
              </a:solidFill>
              <a:effectLst/>
              <a:latin typeface="Arial" panose="020B0604020202020204" pitchFamily="34" charset="0"/>
            </a:endParaRPr>
          </a:p>
          <a:p>
            <a:pPr marL="2114550" lvl="4" indent="-285750">
              <a:lnSpc>
                <a:spcPts val="2250"/>
              </a:lnSpc>
              <a:buFont typeface="Arial" panose="020B0604020202020204" pitchFamily="34" charset="0"/>
              <a:buChar char="•"/>
            </a:pPr>
            <a:r>
              <a:rPr lang="en-US" sz="1600" b="0" i="0" dirty="0">
                <a:solidFill>
                  <a:srgbClr val="23496D"/>
                </a:solidFill>
                <a:effectLst/>
                <a:latin typeface="Arial" panose="020B0604020202020204" pitchFamily="34" charset="0"/>
              </a:rPr>
              <a:t>How do I optimize routes and sourcing to offset tariff costs?</a:t>
            </a:r>
          </a:p>
          <a:p>
            <a:pPr marL="2114550" lvl="4" indent="-285750">
              <a:lnSpc>
                <a:spcPts val="2250"/>
              </a:lnSpc>
              <a:buFont typeface="Arial" panose="020B0604020202020204" pitchFamily="34" charset="0"/>
              <a:buChar char="•"/>
            </a:pPr>
            <a:r>
              <a:rPr lang="en-US" sz="1600" b="0" i="0" dirty="0">
                <a:solidFill>
                  <a:srgbClr val="23496D"/>
                </a:solidFill>
                <a:effectLst/>
                <a:latin typeface="Arial" panose="020B0604020202020204" pitchFamily="34" charset="0"/>
              </a:rPr>
              <a:t> If I must cancel orders or prioritize customers, </a:t>
            </a:r>
            <a:r>
              <a:rPr lang="en-US" sz="1600" b="0" i="0" dirty="0">
                <a:solidFill>
                  <a:srgbClr val="F2672B"/>
                </a:solidFill>
                <a:effectLst/>
                <a:latin typeface="Arial" panose="020B0604020202020204" pitchFamily="34" charset="0"/>
              </a:rPr>
              <a:t>who gets served first?</a:t>
            </a:r>
            <a:endParaRPr lang="en-US" sz="1600" b="0" i="0" dirty="0">
              <a:solidFill>
                <a:srgbClr val="23496D"/>
              </a:solidFill>
              <a:effectLst/>
              <a:latin typeface="Arial" panose="020B0604020202020204" pitchFamily="34" charset="0"/>
            </a:endParaRPr>
          </a:p>
          <a:p>
            <a:pPr marL="2114550" lvl="4" indent="-285750">
              <a:lnSpc>
                <a:spcPts val="2250"/>
              </a:lnSpc>
              <a:buFont typeface="Arial" panose="020B0604020202020204" pitchFamily="34" charset="0"/>
              <a:buChar char="•"/>
            </a:pPr>
            <a:r>
              <a:rPr lang="en-US" sz="1600" b="0" i="0" dirty="0">
                <a:solidFill>
                  <a:srgbClr val="23496D"/>
                </a:solidFill>
                <a:effectLst/>
                <a:latin typeface="Arial" panose="020B0604020202020204" pitchFamily="34" charset="0"/>
              </a:rPr>
              <a:t>Do I need to impose constraints on how I serve clients?</a:t>
            </a:r>
          </a:p>
          <a:p>
            <a:pPr marL="2114550" lvl="4" indent="-285750">
              <a:lnSpc>
                <a:spcPts val="2250"/>
              </a:lnSpc>
              <a:buFont typeface="Arial" panose="020B0604020202020204" pitchFamily="34" charset="0"/>
              <a:buChar char="•"/>
            </a:pPr>
            <a:r>
              <a:rPr lang="en-US" sz="1600" b="0" i="0" dirty="0">
                <a:solidFill>
                  <a:srgbClr val="23496D"/>
                </a:solidFill>
                <a:effectLst/>
                <a:latin typeface="Arial" panose="020B0604020202020204" pitchFamily="34" charset="0"/>
              </a:rPr>
              <a:t>Should I </a:t>
            </a:r>
            <a:r>
              <a:rPr lang="en-US" sz="1600" b="0" i="0" dirty="0">
                <a:solidFill>
                  <a:srgbClr val="F2672B"/>
                </a:solidFill>
                <a:effectLst/>
                <a:latin typeface="Arial" panose="020B0604020202020204" pitchFamily="34" charset="0"/>
              </a:rPr>
              <a:t>diversify my supply base or shift production</a:t>
            </a:r>
            <a:r>
              <a:rPr lang="en-US" sz="1600" b="0" i="0" dirty="0">
                <a:solidFill>
                  <a:srgbClr val="23496D"/>
                </a:solidFill>
                <a:effectLst/>
                <a:latin typeface="Arial" panose="020B0604020202020204" pitchFamily="34" charset="0"/>
              </a:rPr>
              <a:t> to other regions to reduce risk?</a:t>
            </a:r>
          </a:p>
          <a:p>
            <a:pPr marL="2114550" lvl="4" indent="-285750">
              <a:lnSpc>
                <a:spcPts val="2250"/>
              </a:lnSpc>
              <a:buFont typeface="Arial" panose="020B0604020202020204" pitchFamily="34" charset="0"/>
              <a:buChar char="•"/>
            </a:pPr>
            <a:r>
              <a:rPr lang="en-US" sz="1600" b="0" i="0" dirty="0">
                <a:solidFill>
                  <a:srgbClr val="23496D"/>
                </a:solidFill>
                <a:effectLst/>
                <a:latin typeface="Arial" panose="020B0604020202020204" pitchFamily="34" charset="0"/>
              </a:rPr>
              <a:t>Can I </a:t>
            </a:r>
            <a:r>
              <a:rPr lang="en-US" sz="1600" b="0" i="0" dirty="0">
                <a:solidFill>
                  <a:srgbClr val="F2672B"/>
                </a:solidFill>
                <a:effectLst/>
                <a:latin typeface="Arial" panose="020B0604020202020204" pitchFamily="34" charset="0"/>
              </a:rPr>
              <a:t>renegotiate contracts or terms </a:t>
            </a:r>
            <a:r>
              <a:rPr lang="en-US" sz="1600" b="0" i="0" dirty="0">
                <a:solidFill>
                  <a:srgbClr val="23496D"/>
                </a:solidFill>
                <a:effectLst/>
                <a:latin typeface="Arial" panose="020B0604020202020204" pitchFamily="34" charset="0"/>
              </a:rPr>
              <a:t>to better align with the new tariff landscape?</a:t>
            </a:r>
          </a:p>
          <a:p>
            <a:pPr algn="just">
              <a:lnSpc>
                <a:spcPts val="1969"/>
              </a:lnSpc>
            </a:pPr>
            <a:endParaRPr lang="en-US" sz="1600" dirty="0">
              <a:solidFill>
                <a:srgbClr val="23496D"/>
              </a:solidFill>
              <a:latin typeface="Arial" panose="020B0604020202020204" pitchFamily="34" charset="0"/>
            </a:endParaRPr>
          </a:p>
          <a:p>
            <a:pPr algn="just">
              <a:lnSpc>
                <a:spcPts val="1969"/>
              </a:lnSpc>
            </a:pPr>
            <a:endParaRPr lang="en-US" sz="1600" dirty="0">
              <a:solidFill>
                <a:srgbClr val="23496D"/>
              </a:solidFill>
              <a:latin typeface="Arial" panose="020B0604020202020204" pitchFamily="34" charset="0"/>
            </a:endParaRPr>
          </a:p>
          <a:p>
            <a:pPr algn="just">
              <a:lnSpc>
                <a:spcPts val="1969"/>
              </a:lnSpc>
            </a:pPr>
            <a:r>
              <a:rPr lang="en-US" sz="1600" u="sng" dirty="0">
                <a:latin typeface="Arial" panose="020B0604020202020204" pitchFamily="34" charset="0"/>
              </a:rPr>
              <a:t>NOTES:</a:t>
            </a:r>
          </a:p>
          <a:p>
            <a:pPr marL="342900" indent="-342900" algn="just">
              <a:lnSpc>
                <a:spcPts val="1969"/>
              </a:lnSpc>
              <a:buFont typeface="+mj-lt"/>
              <a:buAutoNum type="arabicPeriod"/>
            </a:pPr>
            <a:r>
              <a:rPr lang="en-US" sz="1600" dirty="0" err="1">
                <a:solidFill>
                  <a:srgbClr val="23496D"/>
                </a:solidFill>
                <a:latin typeface="Arial" panose="020B0604020202020204" pitchFamily="34" charset="0"/>
              </a:rPr>
              <a:t>Simwell</a:t>
            </a:r>
            <a:r>
              <a:rPr lang="en-US" sz="1600" dirty="0">
                <a:solidFill>
                  <a:srgbClr val="23496D"/>
                </a:solidFill>
                <a:latin typeface="Arial" panose="020B0604020202020204" pitchFamily="34" charset="0"/>
              </a:rPr>
              <a:t> does not collect data in real time.</a:t>
            </a:r>
          </a:p>
          <a:p>
            <a:pPr marL="342900" indent="-342900" algn="just">
              <a:lnSpc>
                <a:spcPts val="1969"/>
              </a:lnSpc>
              <a:buFont typeface="+mj-lt"/>
              <a:buAutoNum type="arabicPeriod"/>
            </a:pPr>
            <a:r>
              <a:rPr lang="en-US" sz="1600" dirty="0">
                <a:solidFill>
                  <a:srgbClr val="23496D"/>
                </a:solidFill>
                <a:latin typeface="Arial" panose="020B0604020202020204" pitchFamily="34" charset="0"/>
              </a:rPr>
              <a:t>The </a:t>
            </a:r>
            <a:r>
              <a:rPr lang="en-US" sz="1600" dirty="0" err="1">
                <a:solidFill>
                  <a:srgbClr val="23496D"/>
                </a:solidFill>
                <a:latin typeface="Arial" panose="020B0604020202020204" pitchFamily="34" charset="0"/>
              </a:rPr>
              <a:t>Simwell</a:t>
            </a:r>
            <a:r>
              <a:rPr lang="en-US" sz="1600" dirty="0">
                <a:solidFill>
                  <a:srgbClr val="23496D"/>
                </a:solidFill>
                <a:latin typeface="Arial" panose="020B0604020202020204" pitchFamily="34" charset="0"/>
              </a:rPr>
              <a:t> solution is focused on economics – GHG emissions.</a:t>
            </a:r>
          </a:p>
          <a:p>
            <a:pPr marL="342900" indent="-342900" algn="just">
              <a:lnSpc>
                <a:spcPts val="1969"/>
              </a:lnSpc>
              <a:buFont typeface="+mj-lt"/>
              <a:buAutoNum type="arabicPeriod"/>
            </a:pPr>
            <a:r>
              <a:rPr lang="en-US" sz="1600" dirty="0">
                <a:solidFill>
                  <a:srgbClr val="23496D"/>
                </a:solidFill>
                <a:latin typeface="Arial" panose="020B0604020202020204" pitchFamily="34" charset="0"/>
              </a:rPr>
              <a:t>It is </a:t>
            </a:r>
            <a:r>
              <a:rPr lang="en-US" sz="1600" b="0" i="0" dirty="0">
                <a:solidFill>
                  <a:srgbClr val="23496D"/>
                </a:solidFill>
                <a:effectLst/>
                <a:latin typeface="Arial" panose="020B0604020202020204" pitchFamily="34" charset="0"/>
              </a:rPr>
              <a:t>no longer enough to rely on static models and gut instincts to determine GHG emission totals</a:t>
            </a:r>
          </a:p>
          <a:p>
            <a:pPr algn="just">
              <a:lnSpc>
                <a:spcPts val="1969"/>
              </a:lnSpc>
            </a:pPr>
            <a:r>
              <a:rPr lang="en-US" sz="1600" dirty="0">
                <a:solidFill>
                  <a:srgbClr val="23496D"/>
                </a:solidFill>
                <a:latin typeface="Arial" panose="020B0604020202020204" pitchFamily="34" charset="0"/>
              </a:rPr>
              <a:t>      </a:t>
            </a:r>
            <a:r>
              <a:rPr lang="en-US" sz="1600" b="0" i="0" dirty="0">
                <a:solidFill>
                  <a:srgbClr val="23496D"/>
                </a:solidFill>
                <a:effectLst/>
                <a:latin typeface="Arial" panose="020B0604020202020204" pitchFamily="34" charset="0"/>
              </a:rPr>
              <a:t>in future operations yet, </a:t>
            </a:r>
            <a:r>
              <a:rPr lang="en-US" sz="1600" b="0" i="0" dirty="0" err="1">
                <a:solidFill>
                  <a:srgbClr val="23496D"/>
                </a:solidFill>
                <a:effectLst/>
                <a:latin typeface="Arial" panose="020B0604020202020204" pitchFamily="34" charset="0"/>
              </a:rPr>
              <a:t>Simwell</a:t>
            </a:r>
            <a:r>
              <a:rPr lang="en-US" sz="1600" b="0" i="0" dirty="0">
                <a:solidFill>
                  <a:srgbClr val="23496D"/>
                </a:solidFill>
                <a:effectLst/>
                <a:latin typeface="Arial" panose="020B0604020202020204" pitchFamily="34" charset="0"/>
              </a:rPr>
              <a:t> does not address </a:t>
            </a:r>
            <a:r>
              <a:rPr lang="en-US" sz="1600" dirty="0">
                <a:solidFill>
                  <a:srgbClr val="23496D"/>
                </a:solidFill>
                <a:latin typeface="Arial" panose="020B0604020202020204" pitchFamily="34" charset="0"/>
              </a:rPr>
              <a:t>GHG emissions</a:t>
            </a:r>
            <a:r>
              <a:rPr lang="en-US" sz="1600" b="0" i="0" dirty="0">
                <a:solidFill>
                  <a:srgbClr val="23496D"/>
                </a:solidFill>
                <a:effectLst/>
                <a:latin typeface="Arial" panose="020B0604020202020204" pitchFamily="34" charset="0"/>
              </a:rPr>
              <a:t> accounting.</a:t>
            </a:r>
          </a:p>
          <a:p>
            <a:pPr marL="342900" indent="-342900" algn="just">
              <a:lnSpc>
                <a:spcPts val="1969"/>
              </a:lnSpc>
              <a:buFont typeface="+mj-lt"/>
              <a:buAutoNum type="arabicPeriod"/>
            </a:pPr>
            <a:endParaRPr lang="en-US" sz="1600" dirty="0">
              <a:solidFill>
                <a:srgbClr val="23496D"/>
              </a:solidFill>
              <a:latin typeface="Arial" panose="020B0604020202020204" pitchFamily="34" charset="0"/>
            </a:endParaRPr>
          </a:p>
          <a:p>
            <a:pPr algn="just">
              <a:lnSpc>
                <a:spcPts val="1969"/>
              </a:lnSpc>
            </a:pPr>
            <a:endParaRPr lang="en-US" sz="1400" dirty="0">
              <a:solidFill>
                <a:schemeClr val="accent1">
                  <a:lumMod val="75000"/>
                </a:schemeClr>
              </a:solidFill>
            </a:endParaRPr>
          </a:p>
          <a:p>
            <a:endParaRPr lang="en-US" sz="1400" dirty="0">
              <a:solidFill>
                <a:schemeClr val="accent1">
                  <a:lumMod val="75000"/>
                </a:schemeClr>
              </a:solidFill>
            </a:endParaRPr>
          </a:p>
          <a:p>
            <a:endParaRPr lang="en-US" sz="1400" dirty="0"/>
          </a:p>
        </p:txBody>
      </p:sp>
      <p:pic>
        <p:nvPicPr>
          <p:cNvPr id="3" name="Picture 6" descr="concept of digital twin, internet of things (iot), machine learning. concept of digital twin, internet of things (iot), machine learning. digital twins stock illustrations">
            <a:extLst>
              <a:ext uri="{FF2B5EF4-FFF2-40B4-BE49-F238E27FC236}">
                <a16:creationId xmlns:a16="http://schemas.microsoft.com/office/drawing/2014/main" id="{19B22822-527B-A581-6ACE-830EDA5F6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087" y="1777"/>
            <a:ext cx="2002232" cy="55882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59EAC29-A4E6-1AD8-17A5-4425F86B8B08}"/>
              </a:ext>
            </a:extLst>
          </p:cNvPr>
          <p:cNvPicPr>
            <a:picLocks noChangeAspect="1"/>
          </p:cNvPicPr>
          <p:nvPr/>
        </p:nvPicPr>
        <p:blipFill>
          <a:blip r:embed="rId3"/>
          <a:stretch>
            <a:fillRect/>
          </a:stretch>
        </p:blipFill>
        <p:spPr>
          <a:xfrm>
            <a:off x="0" y="1072"/>
            <a:ext cx="10182087" cy="558829"/>
          </a:xfrm>
          <a:prstGeom prst="rect">
            <a:avLst/>
          </a:prstGeom>
        </p:spPr>
      </p:pic>
      <p:pic>
        <p:nvPicPr>
          <p:cNvPr id="1028" name="Picture 4" descr="Simulation Digital Twin and Digital Twin">
            <a:extLst>
              <a:ext uri="{FF2B5EF4-FFF2-40B4-BE49-F238E27FC236}">
                <a16:creationId xmlns:a16="http://schemas.microsoft.com/office/drawing/2014/main" id="{8789ACE4-846C-542D-4BEF-6BBFF72DDF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4224" y="4872174"/>
            <a:ext cx="2796672" cy="163342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D03D82E-561C-28F0-169E-116D704BA39D}"/>
              </a:ext>
            </a:extLst>
          </p:cNvPr>
          <p:cNvSpPr txBox="1"/>
          <p:nvPr/>
        </p:nvSpPr>
        <p:spPr>
          <a:xfrm>
            <a:off x="2340095" y="64824"/>
            <a:ext cx="2394637" cy="461665"/>
          </a:xfrm>
          <a:prstGeom prst="rect">
            <a:avLst/>
          </a:prstGeom>
          <a:noFill/>
        </p:spPr>
        <p:txBody>
          <a:bodyPr wrap="square" rtlCol="0">
            <a:spAutoFit/>
          </a:bodyPr>
          <a:lstStyle/>
          <a:p>
            <a:r>
              <a:rPr lang="en-US" sz="2400" b="1" dirty="0">
                <a:solidFill>
                  <a:schemeClr val="bg1"/>
                </a:solidFill>
              </a:rPr>
              <a:t>Market overview</a:t>
            </a:r>
          </a:p>
        </p:txBody>
      </p:sp>
    </p:spTree>
    <p:extLst>
      <p:ext uri="{BB962C8B-B14F-4D97-AF65-F5344CB8AC3E}">
        <p14:creationId xmlns:p14="http://schemas.microsoft.com/office/powerpoint/2010/main" val="891576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B340E-4ECB-FA2A-9ABD-20A4EA9F50E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9509EC2-FC1E-BBB3-7E5C-69A37A08935F}"/>
              </a:ext>
            </a:extLst>
          </p:cNvPr>
          <p:cNvSpPr/>
          <p:nvPr/>
        </p:nvSpPr>
        <p:spPr>
          <a:xfrm>
            <a:off x="-4608" y="8756"/>
            <a:ext cx="12180896" cy="656492"/>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56C35B4-E1A5-909A-74F8-393B82812830}"/>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contents of this slide were collected from </a:t>
            </a:r>
            <a:r>
              <a:rPr lang="en-US" dirty="0" err="1">
                <a:solidFill>
                  <a:schemeClr val="tx1"/>
                </a:solidFill>
              </a:rPr>
              <a:t>openAI</a:t>
            </a:r>
            <a:r>
              <a:rPr lang="en-US" dirty="0">
                <a:solidFill>
                  <a:schemeClr val="tx1"/>
                </a:solidFill>
              </a:rPr>
              <a:t> responses to questions centered on the advantages of digital twins.</a:t>
            </a:r>
          </a:p>
        </p:txBody>
      </p:sp>
      <p:sp>
        <p:nvSpPr>
          <p:cNvPr id="65" name="AutoShape 2" descr="Cash Pictures, Cash Stock Photos &amp; Images | Depositphotos®">
            <a:extLst>
              <a:ext uri="{FF2B5EF4-FFF2-40B4-BE49-F238E27FC236}">
                <a16:creationId xmlns:a16="http://schemas.microsoft.com/office/drawing/2014/main" id="{50B3AD47-2C30-398B-4849-44E3466A883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F30B75AC-C828-1285-CF87-F00C301AC60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BDB42B01-0CA3-0BFE-76F1-F82983A0DE8F}"/>
              </a:ext>
            </a:extLst>
          </p:cNvPr>
          <p:cNvSpPr txBox="1"/>
          <p:nvPr/>
        </p:nvSpPr>
        <p:spPr>
          <a:xfrm>
            <a:off x="221102" y="744346"/>
            <a:ext cx="11754052" cy="646331"/>
          </a:xfrm>
          <a:prstGeom prst="rect">
            <a:avLst/>
          </a:prstGeom>
          <a:noFill/>
        </p:spPr>
        <p:txBody>
          <a:bodyPr wrap="square" rtlCol="0">
            <a:spAutoFit/>
          </a:bodyPr>
          <a:lstStyle/>
          <a:p>
            <a:r>
              <a:rPr lang="en-US" b="1" dirty="0"/>
              <a:t>Digital twins offer several advantages across industries</a:t>
            </a:r>
            <a:r>
              <a:rPr lang="en-US" dirty="0"/>
              <a:t>, primarily by creating virtual replicas of physical objects, processes, or systems. These replicas help organizations optimize performance, improve decision-making, and reduce costs. </a:t>
            </a:r>
            <a:endParaRPr lang="en-US" sz="2000" dirty="0">
              <a:solidFill>
                <a:schemeClr val="accent3"/>
              </a:solidFill>
            </a:endParaRPr>
          </a:p>
        </p:txBody>
      </p:sp>
      <p:sp>
        <p:nvSpPr>
          <p:cNvPr id="2" name="TextBox 1">
            <a:extLst>
              <a:ext uri="{FF2B5EF4-FFF2-40B4-BE49-F238E27FC236}">
                <a16:creationId xmlns:a16="http://schemas.microsoft.com/office/drawing/2014/main" id="{B8EF033B-080A-C407-527D-89042CFC8A7D}"/>
              </a:ext>
            </a:extLst>
          </p:cNvPr>
          <p:cNvSpPr txBox="1"/>
          <p:nvPr/>
        </p:nvSpPr>
        <p:spPr>
          <a:xfrm>
            <a:off x="370182" y="88008"/>
            <a:ext cx="11428739" cy="1200329"/>
          </a:xfrm>
          <a:prstGeom prst="rect">
            <a:avLst/>
          </a:prstGeom>
          <a:noFill/>
        </p:spPr>
        <p:txBody>
          <a:bodyPr wrap="square" rtlCol="0">
            <a:spAutoFit/>
          </a:bodyPr>
          <a:lstStyle/>
          <a:p>
            <a:r>
              <a:rPr lang="en-US" sz="2400" b="1" i="0" dirty="0">
                <a:solidFill>
                  <a:schemeClr val="bg1"/>
                </a:solidFill>
                <a:effectLst/>
                <a:latin typeface="Arial" panose="020B0604020202020204" pitchFamily="34" charset="0"/>
              </a:rPr>
              <a:t>Stepping Up: The Simulation Digital Twin Advantage</a:t>
            </a:r>
          </a:p>
          <a:p>
            <a:endParaRPr lang="en-US" sz="2400" b="1" dirty="0">
              <a:solidFill>
                <a:schemeClr val="bg1"/>
              </a:solidFill>
            </a:endParaRPr>
          </a:p>
          <a:p>
            <a:r>
              <a:rPr lang="en-US" sz="2400" b="1" u="sng" dirty="0">
                <a:solidFill>
                  <a:schemeClr val="tx2">
                    <a:lumMod val="90000"/>
                    <a:lumOff val="10000"/>
                  </a:schemeClr>
                </a:solidFill>
              </a:rPr>
              <a:t> </a:t>
            </a:r>
          </a:p>
        </p:txBody>
      </p:sp>
      <p:pic>
        <p:nvPicPr>
          <p:cNvPr id="3" name="Picture 8" descr="net zero carbon footprint icon vector emissions free no ...">
            <a:extLst>
              <a:ext uri="{FF2B5EF4-FFF2-40B4-BE49-F238E27FC236}">
                <a16:creationId xmlns:a16="http://schemas.microsoft.com/office/drawing/2014/main" id="{F76B67CF-B401-8D53-F9DE-C56901C873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9456" y="5695129"/>
            <a:ext cx="861416" cy="8107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F212A4D1-917C-4D0E-3672-8C11B07D48B4}"/>
              </a:ext>
            </a:extLst>
          </p:cNvPr>
          <p:cNvPicPr>
            <a:picLocks noChangeAspect="1"/>
          </p:cNvPicPr>
          <p:nvPr/>
        </p:nvPicPr>
        <p:blipFill>
          <a:blip r:embed="rId3"/>
          <a:stretch>
            <a:fillRect/>
          </a:stretch>
        </p:blipFill>
        <p:spPr>
          <a:xfrm>
            <a:off x="370182" y="5714875"/>
            <a:ext cx="2674648" cy="742040"/>
          </a:xfrm>
          <a:prstGeom prst="rect">
            <a:avLst/>
          </a:prstGeom>
        </p:spPr>
      </p:pic>
      <p:pic>
        <p:nvPicPr>
          <p:cNvPr id="12" name="Picture 2" descr="Dashboard For Our Successful Digital Twin Model Digital Twin ...">
            <a:extLst>
              <a:ext uri="{FF2B5EF4-FFF2-40B4-BE49-F238E27FC236}">
                <a16:creationId xmlns:a16="http://schemas.microsoft.com/office/drawing/2014/main" id="{8B9BB0B2-7807-736B-2DEF-517B641F97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9897" y="5708466"/>
            <a:ext cx="1310985" cy="73742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E4D4C375-7938-B4F0-3BD6-199B0E827BEB}"/>
              </a:ext>
            </a:extLst>
          </p:cNvPr>
          <p:cNvPicPr>
            <a:picLocks noChangeAspect="1"/>
          </p:cNvPicPr>
          <p:nvPr/>
        </p:nvPicPr>
        <p:blipFill>
          <a:blip r:embed="rId5"/>
          <a:stretch>
            <a:fillRect/>
          </a:stretch>
        </p:blipFill>
        <p:spPr>
          <a:xfrm>
            <a:off x="8574781" y="5714875"/>
            <a:ext cx="937374" cy="731020"/>
          </a:xfrm>
          <a:prstGeom prst="rect">
            <a:avLst/>
          </a:prstGeom>
        </p:spPr>
      </p:pic>
      <p:pic>
        <p:nvPicPr>
          <p:cNvPr id="19" name="Picture 2" descr="Carbon Trading Market Size, Growth ...">
            <a:extLst>
              <a:ext uri="{FF2B5EF4-FFF2-40B4-BE49-F238E27FC236}">
                <a16:creationId xmlns:a16="http://schemas.microsoft.com/office/drawing/2014/main" id="{555B31A9-EC7E-CF83-8ECD-17CE0A23BA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96053" y="5708466"/>
            <a:ext cx="1109504" cy="79740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concept of digital twin, internet of things (iot), machine learning. concept of digital twin, internet of things (iot), machine learning. digital twins stock illustrations">
            <a:extLst>
              <a:ext uri="{FF2B5EF4-FFF2-40B4-BE49-F238E27FC236}">
                <a16:creationId xmlns:a16="http://schemas.microsoft.com/office/drawing/2014/main" id="{E9E71040-F7EA-B1D9-5B1C-4AD920CDA2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0715" y="5708466"/>
            <a:ext cx="1605758" cy="7431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Trends to Look Forward to in 2023 for Supply Chain Trade Finance">
            <a:extLst>
              <a:ext uri="{FF2B5EF4-FFF2-40B4-BE49-F238E27FC236}">
                <a16:creationId xmlns:a16="http://schemas.microsoft.com/office/drawing/2014/main" id="{0FCB76B0-D04A-2FC5-5B73-E749497966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3403" y="5710937"/>
            <a:ext cx="1450449" cy="742039"/>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68AFB66-701E-05B2-5858-416DEAE7A472}"/>
              </a:ext>
            </a:extLst>
          </p:cNvPr>
          <p:cNvSpPr txBox="1"/>
          <p:nvPr/>
        </p:nvSpPr>
        <p:spPr>
          <a:xfrm>
            <a:off x="216846" y="1788561"/>
            <a:ext cx="11865117" cy="3693319"/>
          </a:xfrm>
          <a:prstGeom prst="rect">
            <a:avLst/>
          </a:prstGeom>
          <a:noFill/>
        </p:spPr>
        <p:txBody>
          <a:bodyPr wrap="square" rtlCol="0">
            <a:spAutoFit/>
          </a:bodyPr>
          <a:lstStyle/>
          <a:p>
            <a:pPr>
              <a:buFont typeface="+mj-lt"/>
              <a:buAutoNum type="arabicPeriod"/>
            </a:pPr>
            <a:r>
              <a:rPr lang="en-US" b="1" dirty="0"/>
              <a:t> Real-Time Monitoring - </a:t>
            </a:r>
            <a:r>
              <a:rPr lang="en-US" dirty="0"/>
              <a:t>Digital twins provide functionality for real-time emission monitoring on the assets within a supply chain. </a:t>
            </a:r>
          </a:p>
          <a:p>
            <a:pPr>
              <a:buFont typeface="+mj-lt"/>
              <a:buAutoNum type="arabicPeriod"/>
            </a:pPr>
            <a:r>
              <a:rPr lang="en-US" b="1" dirty="0"/>
              <a:t> Simulation - </a:t>
            </a:r>
            <a:r>
              <a:rPr lang="en-US" dirty="0"/>
              <a:t>By simulating various emission scenarios within the digital twin, companies can demonstrate to their partners how changes to their supply chain can reduce emissions prior to any actual changes. </a:t>
            </a:r>
          </a:p>
          <a:p>
            <a:pPr>
              <a:buFont typeface="+mj-lt"/>
              <a:buAutoNum type="arabicPeriod"/>
            </a:pPr>
            <a:r>
              <a:rPr lang="en-US" b="1" dirty="0"/>
              <a:t> Improved Decision-Making through Data Insights - </a:t>
            </a:r>
            <a:r>
              <a:rPr lang="en-US" dirty="0"/>
              <a:t>Digital twins collect and aggregate data from IoT devices and other sources providing actionable insights. This data-driven approach facilitates faster decision-making, especially for complex systems such as </a:t>
            </a:r>
            <a:r>
              <a:rPr lang="en-US" dirty="0">
                <a:solidFill>
                  <a:srgbClr val="FF0000"/>
                </a:solidFill>
              </a:rPr>
              <a:t>supply chains</a:t>
            </a:r>
            <a:r>
              <a:rPr lang="en-US" dirty="0"/>
              <a:t>​, where changes to operations can occur in real-time to prevent deviation from emission baselines.</a:t>
            </a:r>
          </a:p>
          <a:p>
            <a:pPr>
              <a:buFont typeface="+mj-lt"/>
              <a:buAutoNum type="arabicPeriod"/>
            </a:pPr>
            <a:r>
              <a:rPr lang="en-US" b="1" dirty="0"/>
              <a:t> Emission Baseline Design – </a:t>
            </a:r>
            <a:r>
              <a:rPr lang="en-US" dirty="0"/>
              <a:t>A digital twin enables GHG emissions experts to determine a realistic approach for the reduction of GHG emissions using the </a:t>
            </a:r>
            <a:r>
              <a:rPr lang="en-US" dirty="0">
                <a:solidFill>
                  <a:srgbClr val="FF0000"/>
                </a:solidFill>
              </a:rPr>
              <a:t>SB…</a:t>
            </a:r>
            <a:r>
              <a:rPr lang="en-US" dirty="0"/>
              <a:t>approach and strategize with supply chain partners.</a:t>
            </a:r>
          </a:p>
          <a:p>
            <a:pPr>
              <a:buFont typeface="+mj-lt"/>
              <a:buAutoNum type="arabicPeriod"/>
            </a:pPr>
            <a:r>
              <a:rPr lang="en-US" b="1" dirty="0"/>
              <a:t> GHG Emission Accounting – </a:t>
            </a:r>
            <a:r>
              <a:rPr lang="en-US" dirty="0"/>
              <a:t>If needed, GHG emission counting functionality can be added to a Digital Twin</a:t>
            </a:r>
            <a:endParaRPr lang="en-US" b="1" dirty="0"/>
          </a:p>
          <a:p>
            <a:pPr>
              <a:buFont typeface="+mj-lt"/>
              <a:buAutoNum type="arabicPeriod"/>
            </a:pPr>
            <a:r>
              <a:rPr lang="en-US" b="1" dirty="0"/>
              <a:t> Scenario Simulation for Risk Management - </a:t>
            </a:r>
            <a:r>
              <a:rPr lang="en-US" dirty="0"/>
              <a:t>Organizations can run simulations for various scenarios (e.g., natural disasters, </a:t>
            </a:r>
            <a:r>
              <a:rPr lang="en-US" dirty="0">
                <a:solidFill>
                  <a:srgbClr val="FF0000"/>
                </a:solidFill>
              </a:rPr>
              <a:t>supply chain disruptions</a:t>
            </a:r>
            <a:r>
              <a:rPr lang="en-US" dirty="0"/>
              <a:t>) to identify potential risks and develop mitigation strategies. .</a:t>
            </a:r>
          </a:p>
        </p:txBody>
      </p:sp>
      <p:cxnSp>
        <p:nvCxnSpPr>
          <p:cNvPr id="24" name="Connector: Elbow 23">
            <a:extLst>
              <a:ext uri="{FF2B5EF4-FFF2-40B4-BE49-F238E27FC236}">
                <a16:creationId xmlns:a16="http://schemas.microsoft.com/office/drawing/2014/main" id="{2AF7530F-104C-5FDE-BC9F-167BED2A24C4}"/>
              </a:ext>
            </a:extLst>
          </p:cNvPr>
          <p:cNvCxnSpPr>
            <a:cxnSpLocks/>
            <a:stCxn id="8" idx="3"/>
            <a:endCxn id="21" idx="1"/>
          </p:cNvCxnSpPr>
          <p:nvPr/>
        </p:nvCxnSpPr>
        <p:spPr>
          <a:xfrm flipV="1">
            <a:off x="3044830" y="6081957"/>
            <a:ext cx="228573" cy="39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6B1728B3-049B-3F55-11D7-68B7B3C76ADE}"/>
              </a:ext>
            </a:extLst>
          </p:cNvPr>
          <p:cNvCxnSpPr>
            <a:stCxn id="21" idx="3"/>
            <a:endCxn id="20" idx="1"/>
          </p:cNvCxnSpPr>
          <p:nvPr/>
        </p:nvCxnSpPr>
        <p:spPr>
          <a:xfrm flipV="1">
            <a:off x="4723852" y="6080016"/>
            <a:ext cx="296863" cy="194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DBE00A21-F0AE-20A0-A2F7-27E6130F2F57}"/>
              </a:ext>
            </a:extLst>
          </p:cNvPr>
          <p:cNvCxnSpPr>
            <a:stCxn id="20" idx="3"/>
            <a:endCxn id="12" idx="1"/>
          </p:cNvCxnSpPr>
          <p:nvPr/>
        </p:nvCxnSpPr>
        <p:spPr>
          <a:xfrm flipV="1">
            <a:off x="6626473" y="6077181"/>
            <a:ext cx="353424" cy="28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B6A2B7B-A295-2F29-C580-FA748A4A797C}"/>
              </a:ext>
            </a:extLst>
          </p:cNvPr>
          <p:cNvSpPr txBox="1"/>
          <p:nvPr/>
        </p:nvSpPr>
        <p:spPr>
          <a:xfrm>
            <a:off x="2959101" y="5374059"/>
            <a:ext cx="6767280" cy="369332"/>
          </a:xfrm>
          <a:prstGeom prst="rect">
            <a:avLst/>
          </a:prstGeom>
          <a:noFill/>
        </p:spPr>
        <p:txBody>
          <a:bodyPr wrap="square" rtlCol="0">
            <a:spAutoFit/>
          </a:bodyPr>
          <a:lstStyle/>
          <a:p>
            <a:pPr algn="ctr"/>
            <a:r>
              <a:rPr lang="en-US" b="1" dirty="0"/>
              <a:t>Measuring and Actions in Supply Chains</a:t>
            </a:r>
          </a:p>
        </p:txBody>
      </p:sp>
      <p:sp>
        <p:nvSpPr>
          <p:cNvPr id="5" name="TextBox 4">
            <a:extLst>
              <a:ext uri="{FF2B5EF4-FFF2-40B4-BE49-F238E27FC236}">
                <a16:creationId xmlns:a16="http://schemas.microsoft.com/office/drawing/2014/main" id="{6DD7CEAE-F3A2-E4DB-3549-3313B930F8B7}"/>
              </a:ext>
            </a:extLst>
          </p:cNvPr>
          <p:cNvSpPr txBox="1"/>
          <p:nvPr/>
        </p:nvSpPr>
        <p:spPr>
          <a:xfrm>
            <a:off x="221102" y="1466803"/>
            <a:ext cx="11754052" cy="400110"/>
          </a:xfrm>
          <a:prstGeom prst="rect">
            <a:avLst/>
          </a:prstGeom>
          <a:noFill/>
        </p:spPr>
        <p:txBody>
          <a:bodyPr wrap="square" rtlCol="0">
            <a:spAutoFit/>
          </a:bodyPr>
          <a:lstStyle/>
          <a:p>
            <a:r>
              <a:rPr lang="en-US" sz="2000" dirty="0">
                <a:solidFill>
                  <a:schemeClr val="accent3"/>
                </a:solidFill>
              </a:rPr>
              <a:t>The benefits of a Digital Twin for GHG emissions accounting and supply chain modeled scenarios:</a:t>
            </a:r>
          </a:p>
        </p:txBody>
      </p:sp>
      <p:cxnSp>
        <p:nvCxnSpPr>
          <p:cNvPr id="13" name="Straight Connector 12">
            <a:extLst>
              <a:ext uri="{FF2B5EF4-FFF2-40B4-BE49-F238E27FC236}">
                <a16:creationId xmlns:a16="http://schemas.microsoft.com/office/drawing/2014/main" id="{72C49BAF-FA99-8391-2242-FA40CA85EAAD}"/>
              </a:ext>
            </a:extLst>
          </p:cNvPr>
          <p:cNvCxnSpPr>
            <a:cxnSpLocks/>
          </p:cNvCxnSpPr>
          <p:nvPr/>
        </p:nvCxnSpPr>
        <p:spPr>
          <a:xfrm flipV="1">
            <a:off x="817756" y="1390677"/>
            <a:ext cx="10216516" cy="36988"/>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520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CF6392-90C9-4ECE-941A-84CA8666738A}"/>
              </a:ext>
            </a:extLst>
          </p:cNvPr>
          <p:cNvSpPr/>
          <p:nvPr/>
        </p:nvSpPr>
        <p:spPr>
          <a:xfrm rot="5400000">
            <a:off x="-400701" y="388770"/>
            <a:ext cx="6897402" cy="6096000"/>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80"/>
              </a:highlight>
            </a:endParaRPr>
          </a:p>
        </p:txBody>
      </p:sp>
      <p:sp>
        <p:nvSpPr>
          <p:cNvPr id="10" name="TextBox 9">
            <a:extLst>
              <a:ext uri="{FF2B5EF4-FFF2-40B4-BE49-F238E27FC236}">
                <a16:creationId xmlns:a16="http://schemas.microsoft.com/office/drawing/2014/main" id="{61A37C87-2367-488E-911E-FB0247783232}"/>
              </a:ext>
            </a:extLst>
          </p:cNvPr>
          <p:cNvSpPr txBox="1"/>
          <p:nvPr/>
        </p:nvSpPr>
        <p:spPr>
          <a:xfrm>
            <a:off x="0" y="1237192"/>
            <a:ext cx="6096000" cy="4401205"/>
          </a:xfrm>
          <a:prstGeom prst="rect">
            <a:avLst/>
          </a:prstGeom>
          <a:solidFill>
            <a:schemeClr val="tx2">
              <a:lumMod val="75000"/>
              <a:lumOff val="25000"/>
            </a:schemeClr>
          </a:solidFill>
        </p:spPr>
        <p:txBody>
          <a:bodyPr wrap="square" rtlCol="0">
            <a:spAutoFit/>
          </a:bodyPr>
          <a:lstStyle/>
          <a:p>
            <a:pPr algn="ctr"/>
            <a:endParaRPr lang="en-US" sz="4000" b="1" dirty="0">
              <a:solidFill>
                <a:schemeClr val="bg1">
                  <a:lumMod val="95000"/>
                </a:schemeClr>
              </a:solidFill>
            </a:endParaRPr>
          </a:p>
          <a:p>
            <a:pPr algn="ctr"/>
            <a:r>
              <a:rPr lang="en-US" sz="4000" b="1" dirty="0">
                <a:solidFill>
                  <a:schemeClr val="bg1">
                    <a:lumMod val="95000"/>
                  </a:schemeClr>
                </a:solidFill>
              </a:rPr>
              <a:t>Advantages</a:t>
            </a:r>
          </a:p>
          <a:p>
            <a:pPr algn="ctr"/>
            <a:r>
              <a:rPr lang="en-US" sz="4000" b="1" dirty="0">
                <a:solidFill>
                  <a:schemeClr val="bg1">
                    <a:lumMod val="95000"/>
                  </a:schemeClr>
                </a:solidFill>
              </a:rPr>
              <a:t>of</a:t>
            </a:r>
          </a:p>
          <a:p>
            <a:pPr algn="ctr"/>
            <a:r>
              <a:rPr lang="en-US" sz="4000" b="1" dirty="0">
                <a:solidFill>
                  <a:schemeClr val="bg1">
                    <a:lumMod val="95000"/>
                  </a:schemeClr>
                </a:solidFill>
              </a:rPr>
              <a:t>LFDT Blockchain and Related Platforms </a:t>
            </a:r>
          </a:p>
          <a:p>
            <a:pPr algn="ctr"/>
            <a:r>
              <a:rPr lang="en-US" sz="4000" b="1" dirty="0">
                <a:solidFill>
                  <a:schemeClr val="bg1">
                    <a:lumMod val="95000"/>
                  </a:schemeClr>
                </a:solidFill>
              </a:rPr>
              <a:t>to Architect a </a:t>
            </a:r>
          </a:p>
          <a:p>
            <a:pPr algn="ctr"/>
            <a:r>
              <a:rPr lang="en-US" sz="4000" b="1" dirty="0">
                <a:solidFill>
                  <a:schemeClr val="bg1">
                    <a:lumMod val="95000"/>
                  </a:schemeClr>
                </a:solidFill>
              </a:rPr>
              <a:t>Digital Twin</a:t>
            </a:r>
          </a:p>
        </p:txBody>
      </p:sp>
      <p:sp>
        <p:nvSpPr>
          <p:cNvPr id="65" name="AutoShape 2" descr="Cash Pictures, Cash Stock Photos &amp; Images | Depositphotos®">
            <a:extLst>
              <a:ext uri="{FF2B5EF4-FFF2-40B4-BE49-F238E27FC236}">
                <a16:creationId xmlns:a16="http://schemas.microsoft.com/office/drawing/2014/main" id="{E0F87420-C907-404A-8355-4C22CA4E51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76324356-DFA6-4B51-9B4E-50BF6CBE2E3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51D47B1A-C0C9-1192-B6D7-2E54917D0775}"/>
              </a:ext>
            </a:extLst>
          </p:cNvPr>
          <p:cNvPicPr>
            <a:picLocks noChangeAspect="1"/>
          </p:cNvPicPr>
          <p:nvPr/>
        </p:nvPicPr>
        <p:blipFill>
          <a:blip r:embed="rId2"/>
          <a:stretch>
            <a:fillRect/>
          </a:stretch>
        </p:blipFill>
        <p:spPr>
          <a:xfrm>
            <a:off x="-6475" y="17042"/>
            <a:ext cx="4638906" cy="436641"/>
          </a:xfrm>
          <a:prstGeom prst="rect">
            <a:avLst/>
          </a:prstGeom>
        </p:spPr>
      </p:pic>
      <p:pic>
        <p:nvPicPr>
          <p:cNvPr id="3078" name="Picture 6">
            <a:extLst>
              <a:ext uri="{FF2B5EF4-FFF2-40B4-BE49-F238E27FC236}">
                <a16:creationId xmlns:a16="http://schemas.microsoft.com/office/drawing/2014/main" id="{45C64F0B-2251-FD78-F64C-1827A41C7A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2050" y="-21892"/>
            <a:ext cx="6089950" cy="366156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What is the Blockchain and Why is it So Important?">
            <a:extLst>
              <a:ext uri="{FF2B5EF4-FFF2-40B4-BE49-F238E27FC236}">
                <a16:creationId xmlns:a16="http://schemas.microsoft.com/office/drawing/2014/main" id="{5327874C-BB10-218D-ABB3-A1CC2B9169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2474" y="3581400"/>
            <a:ext cx="6089525" cy="3295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1018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F10702-6580-3398-1806-59E4E8F8605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DA2CCB5-88EA-A4F7-5DF9-A97CBC19E192}"/>
              </a:ext>
            </a:extLst>
          </p:cNvPr>
          <p:cNvSpPr/>
          <p:nvPr/>
        </p:nvSpPr>
        <p:spPr>
          <a:xfrm>
            <a:off x="95575" y="89451"/>
            <a:ext cx="11608239" cy="584775"/>
          </a:xfrm>
          <a:prstGeom prst="rect">
            <a:avLst/>
          </a:prstGeom>
          <a:noFill/>
        </p:spPr>
        <p:txBody>
          <a:bodyPr wrap="square" lIns="91440" tIns="45720" rIns="91440" bIns="45720">
            <a:spAutoFit/>
          </a:bodyPr>
          <a:lstStyle/>
          <a:p>
            <a:r>
              <a:rPr lang="en-US" sz="3200" b="1" cap="none" spc="0" dirty="0">
                <a:ln w="9525">
                  <a:solidFill>
                    <a:schemeClr val="bg1"/>
                  </a:solidFill>
                  <a:prstDash val="solid"/>
                </a:ln>
                <a:solidFill>
                  <a:schemeClr val="bg1"/>
                </a:solidFill>
              </a:rPr>
              <a:t>The </a:t>
            </a:r>
            <a:r>
              <a:rPr lang="en-US" sz="3200" b="1" dirty="0">
                <a:ln w="9525">
                  <a:solidFill>
                    <a:schemeClr val="bg1"/>
                  </a:solidFill>
                  <a:prstDash val="solid"/>
                </a:ln>
                <a:solidFill>
                  <a:schemeClr val="bg1"/>
                </a:solidFill>
              </a:rPr>
              <a:t>GHG emission</a:t>
            </a:r>
            <a:r>
              <a:rPr lang="en-US" sz="3200" b="1" cap="none" spc="0" dirty="0">
                <a:ln w="9525">
                  <a:solidFill>
                    <a:schemeClr val="bg1"/>
                  </a:solidFill>
                  <a:prstDash val="solid"/>
                </a:ln>
                <a:solidFill>
                  <a:schemeClr val="bg1"/>
                </a:solidFill>
              </a:rPr>
              <a:t> challenge is</a:t>
            </a:r>
            <a:r>
              <a:rPr lang="en-US" sz="3200" b="1" dirty="0">
                <a:ln w="9525">
                  <a:solidFill>
                    <a:schemeClr val="bg1"/>
                  </a:solidFill>
                  <a:prstDash val="solid"/>
                </a:ln>
                <a:solidFill>
                  <a:schemeClr val="bg1"/>
                </a:solidFill>
              </a:rPr>
              <a:t>……………</a:t>
            </a:r>
            <a:endParaRPr lang="en-US" sz="3200" b="1" cap="none" spc="0" dirty="0">
              <a:ln w="9525">
                <a:solidFill>
                  <a:schemeClr val="bg1"/>
                </a:solidFill>
                <a:prstDash val="solid"/>
              </a:ln>
              <a:solidFill>
                <a:schemeClr val="bg1"/>
              </a:solidFill>
            </a:endParaRPr>
          </a:p>
        </p:txBody>
      </p:sp>
      <p:sp>
        <p:nvSpPr>
          <p:cNvPr id="11" name="Rectangle 10">
            <a:extLst>
              <a:ext uri="{FF2B5EF4-FFF2-40B4-BE49-F238E27FC236}">
                <a16:creationId xmlns:a16="http://schemas.microsoft.com/office/drawing/2014/main" id="{CB3A395A-F2BE-B551-B1CB-2D8F3739A5D8}"/>
              </a:ext>
            </a:extLst>
          </p:cNvPr>
          <p:cNvSpPr/>
          <p:nvPr/>
        </p:nvSpPr>
        <p:spPr>
          <a:xfrm>
            <a:off x="95574" y="1450407"/>
            <a:ext cx="12000852" cy="5324535"/>
          </a:xfrm>
          <a:prstGeom prst="rect">
            <a:avLst/>
          </a:prstGeom>
          <a:noFill/>
          <a:ln>
            <a:noFill/>
          </a:ln>
        </p:spPr>
        <p:txBody>
          <a:bodyPr wrap="square" lIns="91440" tIns="45720" rIns="91440" bIns="45720">
            <a:spAutoFit/>
          </a:bodyPr>
          <a:lstStyle/>
          <a:p>
            <a:pPr marL="342900" indent="-342900">
              <a:buAutoNum type="arabicPeriod"/>
            </a:pPr>
            <a:r>
              <a:rPr lang="en-US" sz="1600" b="1" i="0" dirty="0">
                <a:solidFill>
                  <a:schemeClr val="tx2">
                    <a:lumMod val="75000"/>
                    <a:lumOff val="25000"/>
                  </a:schemeClr>
                </a:solidFill>
                <a:effectLst/>
              </a:rPr>
              <a:t>Issue - High initial investment:</a:t>
            </a:r>
            <a:r>
              <a:rPr lang="en-US" sz="1600" b="0" i="0" dirty="0">
                <a:solidFill>
                  <a:schemeClr val="tx2">
                    <a:lumMod val="75000"/>
                    <a:lumOff val="25000"/>
                  </a:schemeClr>
                </a:solidFill>
                <a:effectLst/>
              </a:rPr>
              <a:t> </a:t>
            </a:r>
            <a:r>
              <a:rPr lang="en-US" sz="1600" b="0" i="0" dirty="0">
                <a:solidFill>
                  <a:srgbClr val="001D35"/>
                </a:solidFill>
                <a:effectLst/>
              </a:rPr>
              <a:t>Implementing a digital twin can require significant upfront costs for hardware, software, and expertise.</a:t>
            </a:r>
          </a:p>
          <a:p>
            <a:r>
              <a:rPr lang="en-US" sz="1600" dirty="0">
                <a:solidFill>
                  <a:srgbClr val="001D35"/>
                </a:solidFill>
              </a:rPr>
              <a:t>           </a:t>
            </a:r>
            <a:r>
              <a:rPr lang="en-US" sz="1600" b="1" dirty="0">
                <a:solidFill>
                  <a:schemeClr val="tx2">
                    <a:lumMod val="75000"/>
                    <a:lumOff val="25000"/>
                  </a:schemeClr>
                </a:solidFill>
              </a:rPr>
              <a:t>Solution:</a:t>
            </a:r>
            <a:r>
              <a:rPr lang="en-US" sz="1600" dirty="0">
                <a:solidFill>
                  <a:srgbClr val="001D35"/>
                </a:solidFill>
              </a:rPr>
              <a:t> </a:t>
            </a:r>
            <a:r>
              <a:rPr lang="en-US" sz="1600" dirty="0"/>
              <a:t>LFDT platforms offer a cost effective modular and customizable architecture, allowing businesses to tailor blockchain</a:t>
            </a:r>
          </a:p>
          <a:p>
            <a:r>
              <a:rPr lang="en-US" sz="1600" dirty="0"/>
              <a:t>           solutions to their specific needs while ensuring scalability and performance. </a:t>
            </a:r>
            <a:endParaRPr lang="en-US" sz="1600" dirty="0">
              <a:solidFill>
                <a:srgbClr val="001D35"/>
              </a:solidFill>
            </a:endParaRPr>
          </a:p>
          <a:p>
            <a:endParaRPr lang="en-US" sz="1600" b="1" dirty="0"/>
          </a:p>
          <a:p>
            <a:pPr marL="342900" indent="-342900" algn="l">
              <a:buAutoNum type="arabicPeriod" startAt="2"/>
            </a:pPr>
            <a:r>
              <a:rPr lang="en-US" sz="1600" b="1" i="0" dirty="0">
                <a:solidFill>
                  <a:schemeClr val="tx2">
                    <a:lumMod val="75000"/>
                    <a:lumOff val="25000"/>
                  </a:schemeClr>
                </a:solidFill>
                <a:effectLst/>
              </a:rPr>
              <a:t>Issue - Need for real-time Data Processing:</a:t>
            </a:r>
            <a:r>
              <a:rPr lang="en-US" sz="1600" b="1" i="0" dirty="0">
                <a:solidFill>
                  <a:srgbClr val="2C2E31"/>
                </a:solidFill>
                <a:effectLst/>
              </a:rPr>
              <a:t> </a:t>
            </a:r>
            <a:r>
              <a:rPr lang="en-US" sz="1600" b="0" i="0" dirty="0">
                <a:solidFill>
                  <a:srgbClr val="2C2E31"/>
                </a:solidFill>
                <a:effectLst/>
              </a:rPr>
              <a:t>Real-time data is essential for digital twins, but processing it fast and effectively requires a strong IT infrastructure, which presents a challenge for some businesses. </a:t>
            </a:r>
          </a:p>
          <a:p>
            <a:r>
              <a:rPr lang="en-US" sz="1600" dirty="0">
                <a:solidFill>
                  <a:srgbClr val="2C2E31"/>
                </a:solidFill>
              </a:rPr>
              <a:t>          </a:t>
            </a:r>
            <a:r>
              <a:rPr lang="en-US" sz="1600" b="1" dirty="0">
                <a:solidFill>
                  <a:schemeClr val="tx2">
                    <a:lumMod val="75000"/>
                    <a:lumOff val="25000"/>
                  </a:schemeClr>
                </a:solidFill>
              </a:rPr>
              <a:t>Solution: </a:t>
            </a:r>
            <a:r>
              <a:rPr lang="en-US" sz="1600" dirty="0">
                <a:solidFill>
                  <a:srgbClr val="2C2E31"/>
                </a:solidFill>
              </a:rPr>
              <a:t>LFDT platforms are best choice for </a:t>
            </a:r>
            <a:r>
              <a:rPr lang="en-US" sz="1600" dirty="0"/>
              <a:t>processing large volumes of </a:t>
            </a:r>
            <a:r>
              <a:rPr lang="en-US" sz="1600" b="1" dirty="0"/>
              <a:t>GHG emission IoT data through Fabric channels and Iroha.</a:t>
            </a:r>
          </a:p>
          <a:p>
            <a:pPr marL="342900" indent="-342900" algn="l">
              <a:buAutoNum type="arabicPeriod" startAt="2"/>
            </a:pPr>
            <a:endParaRPr lang="en-US" sz="1600" b="0" i="0" dirty="0">
              <a:solidFill>
                <a:srgbClr val="2C2E31"/>
              </a:solidFill>
              <a:effectLst/>
            </a:endParaRPr>
          </a:p>
          <a:p>
            <a:pPr marL="342900" indent="-342900" algn="l">
              <a:buAutoNum type="arabicPeriod" startAt="3"/>
            </a:pPr>
            <a:r>
              <a:rPr lang="en-US" sz="1600" b="1" dirty="0">
                <a:solidFill>
                  <a:schemeClr val="tx2">
                    <a:lumMod val="75000"/>
                    <a:lumOff val="25000"/>
                  </a:schemeClr>
                </a:solidFill>
              </a:rPr>
              <a:t>Issue - Systems Integration: </a:t>
            </a:r>
            <a:r>
              <a:rPr lang="en-US" sz="1600" b="0" i="0" dirty="0">
                <a:solidFill>
                  <a:srgbClr val="2C2E31"/>
                </a:solidFill>
                <a:effectLst/>
              </a:rPr>
              <a:t>Digital twins are not isolated entities. They must integrate with current technology and systems. Because it frequently entails integrating new software with historical systems that weren't intended to communicate with one another</a:t>
            </a:r>
            <a:r>
              <a:rPr lang="en-US" sz="1600" dirty="0">
                <a:solidFill>
                  <a:srgbClr val="2C2E31"/>
                </a:solidFill>
              </a:rPr>
              <a:t>.</a:t>
            </a:r>
          </a:p>
          <a:p>
            <a:r>
              <a:rPr lang="en-US" sz="1600" dirty="0">
                <a:solidFill>
                  <a:srgbClr val="2C2E31"/>
                </a:solidFill>
              </a:rPr>
              <a:t>          </a:t>
            </a:r>
            <a:r>
              <a:rPr lang="en-US" sz="1600" b="1" dirty="0">
                <a:solidFill>
                  <a:schemeClr val="tx2">
                    <a:lumMod val="75000"/>
                    <a:lumOff val="25000"/>
                  </a:schemeClr>
                </a:solidFill>
              </a:rPr>
              <a:t>Solution: </a:t>
            </a:r>
            <a:r>
              <a:rPr lang="en-US" sz="1600" dirty="0">
                <a:solidFill>
                  <a:srgbClr val="2C2E31"/>
                </a:solidFill>
              </a:rPr>
              <a:t>LFDT </a:t>
            </a:r>
            <a:r>
              <a:rPr lang="en-US" sz="1600" dirty="0"/>
              <a:t>platforms facilitate seamless systems integration by offering interoperable frameworks and tools that connect diverse</a:t>
            </a:r>
          </a:p>
          <a:p>
            <a:r>
              <a:rPr lang="en-US" sz="1600" dirty="0"/>
              <a:t>          technologies and data sources within a permissioned blockchain network. </a:t>
            </a:r>
            <a:endParaRPr lang="en-US" sz="1600" dirty="0">
              <a:solidFill>
                <a:srgbClr val="2C2E31"/>
              </a:solidFill>
            </a:endParaRPr>
          </a:p>
          <a:p>
            <a:pPr marL="342900" indent="-342900" algn="l">
              <a:buAutoNum type="arabicPeriod" startAt="3"/>
            </a:pPr>
            <a:endParaRPr lang="en-US" sz="1600" b="0" i="0" dirty="0">
              <a:solidFill>
                <a:srgbClr val="2C2E31"/>
              </a:solidFill>
              <a:effectLst/>
            </a:endParaRPr>
          </a:p>
          <a:p>
            <a:pPr marL="342900" indent="-342900" algn="l">
              <a:buAutoNum type="arabicPeriod" startAt="4"/>
            </a:pPr>
            <a:r>
              <a:rPr lang="en-US" sz="1600" b="1" dirty="0">
                <a:solidFill>
                  <a:schemeClr val="tx2">
                    <a:lumMod val="75000"/>
                    <a:lumOff val="25000"/>
                  </a:schemeClr>
                </a:solidFill>
              </a:rPr>
              <a:t>Issue - Data Protection</a:t>
            </a:r>
            <a:r>
              <a:rPr lang="en-US" sz="1600" dirty="0">
                <a:solidFill>
                  <a:schemeClr val="tx2">
                    <a:lumMod val="75000"/>
                    <a:lumOff val="25000"/>
                  </a:schemeClr>
                </a:solidFill>
              </a:rPr>
              <a:t>: </a:t>
            </a:r>
            <a:r>
              <a:rPr lang="en-US" sz="1600" dirty="0">
                <a:solidFill>
                  <a:srgbClr val="2C2E31"/>
                </a:solidFill>
              </a:rPr>
              <a:t>Sensitive data associated with a digital twin may need additional security measures.</a:t>
            </a:r>
          </a:p>
          <a:p>
            <a:pPr algn="l"/>
            <a:r>
              <a:rPr lang="en-US" sz="1600" dirty="0">
                <a:solidFill>
                  <a:srgbClr val="2C2E31"/>
                </a:solidFill>
              </a:rPr>
              <a:t>           </a:t>
            </a:r>
            <a:r>
              <a:rPr lang="en-US" sz="1600" b="1" dirty="0">
                <a:solidFill>
                  <a:schemeClr val="tx2">
                    <a:lumMod val="75000"/>
                    <a:lumOff val="25000"/>
                  </a:schemeClr>
                </a:solidFill>
              </a:rPr>
              <a:t>Solution: </a:t>
            </a:r>
            <a:r>
              <a:rPr lang="en-US" sz="1600" dirty="0"/>
              <a:t>With advanced cryptographic techniques and tamper-resistant ledgers, LFDT platforms provide robust security, safeguarding</a:t>
            </a:r>
          </a:p>
          <a:p>
            <a:pPr algn="l"/>
            <a:r>
              <a:rPr lang="en-US" sz="1600" dirty="0"/>
              <a:t>           data</a:t>
            </a:r>
            <a:r>
              <a:rPr lang="en-US" dirty="0"/>
              <a:t> integrity and confidentiality in enterprise applications.</a:t>
            </a:r>
          </a:p>
          <a:p>
            <a:pPr algn="l"/>
            <a:endParaRPr lang="en-US" dirty="0"/>
          </a:p>
          <a:p>
            <a:pPr marL="342900" indent="-342900" algn="l">
              <a:buAutoNum type="arabicPeriod" startAt="5"/>
            </a:pPr>
            <a:r>
              <a:rPr kumimoji="0" lang="en-US" altLang="en-US" sz="1600" b="1" i="0" u="none" strike="noStrike" cap="none" normalizeH="0" baseline="0" dirty="0">
                <a:ln>
                  <a:noFill/>
                </a:ln>
                <a:solidFill>
                  <a:schemeClr val="tx2">
                    <a:lumMod val="75000"/>
                    <a:lumOff val="25000"/>
                  </a:schemeClr>
                </a:solidFill>
                <a:effectLst/>
              </a:rPr>
              <a:t>Issue - No universal framework:</a:t>
            </a:r>
            <a:r>
              <a:rPr kumimoji="0" lang="en-US" altLang="en-US" sz="1600" b="0" i="0" u="none" strike="noStrike" cap="none" normalizeH="0" baseline="0" dirty="0">
                <a:ln>
                  <a:noFill/>
                </a:ln>
                <a:solidFill>
                  <a:schemeClr val="tx2">
                    <a:lumMod val="75000"/>
                    <a:lumOff val="25000"/>
                  </a:schemeClr>
                </a:solidFill>
                <a:effectLst/>
              </a:rPr>
              <a:t> </a:t>
            </a:r>
            <a:r>
              <a:rPr kumimoji="0" lang="en-US" altLang="en-US" sz="1600" b="0" i="0" u="none" strike="noStrike" cap="none" normalizeH="0" baseline="0" dirty="0">
                <a:ln>
                  <a:noFill/>
                </a:ln>
                <a:solidFill>
                  <a:srgbClr val="001D35"/>
                </a:solidFill>
                <a:effectLst/>
              </a:rPr>
              <a:t>There is currently no standardized approach to building and managing digital twins, leading to potential inconsistencies</a:t>
            </a:r>
            <a:endParaRPr lang="en-US" altLang="en-US" sz="1600" dirty="0">
              <a:solidFill>
                <a:srgbClr val="001D35"/>
              </a:solidFill>
            </a:endParaRPr>
          </a:p>
          <a:p>
            <a:pPr algn="l"/>
            <a:r>
              <a:rPr lang="en-US" altLang="en-US" sz="1600" dirty="0">
                <a:solidFill>
                  <a:srgbClr val="001D35"/>
                </a:solidFill>
              </a:rPr>
              <a:t>           </a:t>
            </a:r>
            <a:r>
              <a:rPr lang="en-US" sz="1600" b="1" dirty="0">
                <a:solidFill>
                  <a:schemeClr val="tx2">
                    <a:lumMod val="75000"/>
                    <a:lumOff val="25000"/>
                  </a:schemeClr>
                </a:solidFill>
              </a:rPr>
              <a:t>Solution: </a:t>
            </a:r>
            <a:r>
              <a:rPr lang="en-US" sz="1600" dirty="0">
                <a:solidFill>
                  <a:srgbClr val="001D35"/>
                </a:solidFill>
              </a:rPr>
              <a:t>LFDT </a:t>
            </a:r>
            <a:r>
              <a:rPr lang="en-US" sz="1600" dirty="0"/>
              <a:t>platforms provide flexible, modular tools that enable the  creation of custom blockchain solutions tailored to unique</a:t>
            </a:r>
          </a:p>
          <a:p>
            <a:pPr algn="l"/>
            <a:r>
              <a:rPr lang="en-US" sz="1600" dirty="0"/>
              <a:t>           system requirements, making them ideal where no universal frameworks exist. </a:t>
            </a:r>
            <a:endParaRPr kumimoji="0" lang="en-US" altLang="en-US" sz="1600" b="0" i="0" u="none" strike="noStrike" cap="none" normalizeH="0" baseline="0" dirty="0">
              <a:ln>
                <a:noFill/>
              </a:ln>
              <a:solidFill>
                <a:srgbClr val="001D35"/>
              </a:solidFill>
              <a:effectLst/>
            </a:endParaRPr>
          </a:p>
        </p:txBody>
      </p:sp>
      <p:sp>
        <p:nvSpPr>
          <p:cNvPr id="5" name="Rectangle 4">
            <a:extLst>
              <a:ext uri="{FF2B5EF4-FFF2-40B4-BE49-F238E27FC236}">
                <a16:creationId xmlns:a16="http://schemas.microsoft.com/office/drawing/2014/main" id="{01E3DD51-66BA-5E91-11A2-12C5926F6126}"/>
              </a:ext>
            </a:extLst>
          </p:cNvPr>
          <p:cNvSpPr/>
          <p:nvPr/>
        </p:nvSpPr>
        <p:spPr>
          <a:xfrm>
            <a:off x="3872" y="5917"/>
            <a:ext cx="12180896" cy="656492"/>
          </a:xfrm>
          <a:prstGeom prst="rect">
            <a:avLst/>
          </a:prstGeom>
          <a:solidFill>
            <a:srgbClr val="1560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Issues Developing and Deploying a Digital Twin </a:t>
            </a:r>
          </a:p>
        </p:txBody>
      </p:sp>
      <p:sp>
        <p:nvSpPr>
          <p:cNvPr id="17" name="Rectangle 4">
            <a:extLst>
              <a:ext uri="{FF2B5EF4-FFF2-40B4-BE49-F238E27FC236}">
                <a16:creationId xmlns:a16="http://schemas.microsoft.com/office/drawing/2014/main" id="{1CCEAB49-53C2-DE9F-4E29-CDAABDDBA810}"/>
              </a:ext>
            </a:extLst>
          </p:cNvPr>
          <p:cNvSpPr>
            <a:spLocks noChangeArrowheads="1"/>
          </p:cNvSpPr>
          <p:nvPr/>
        </p:nvSpPr>
        <p:spPr bwMode="auto">
          <a:xfrm>
            <a:off x="0" y="-366739"/>
            <a:ext cx="65" cy="7334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TextBox 27">
            <a:extLst>
              <a:ext uri="{FF2B5EF4-FFF2-40B4-BE49-F238E27FC236}">
                <a16:creationId xmlns:a16="http://schemas.microsoft.com/office/drawing/2014/main" id="{7CCA25CE-9EA3-9307-9C8F-8F47B96E8B7E}"/>
              </a:ext>
            </a:extLst>
          </p:cNvPr>
          <p:cNvSpPr txBox="1"/>
          <p:nvPr/>
        </p:nvSpPr>
        <p:spPr>
          <a:xfrm>
            <a:off x="224978" y="668343"/>
            <a:ext cx="11759310" cy="707886"/>
          </a:xfrm>
          <a:prstGeom prst="rect">
            <a:avLst/>
          </a:prstGeom>
          <a:noFill/>
        </p:spPr>
        <p:txBody>
          <a:bodyPr wrap="square" rtlCol="0">
            <a:spAutoFit/>
          </a:bodyPr>
          <a:lstStyle/>
          <a:p>
            <a:r>
              <a:rPr lang="en-US" sz="2000" i="1" dirty="0"/>
              <a:t>These challenges range from data integration and system interoperability to high implementation costs and organizational resistance, often complicating successful adoption.</a:t>
            </a:r>
            <a:endParaRPr lang="en-US" sz="2000" i="1" u="sng" dirty="0"/>
          </a:p>
        </p:txBody>
      </p:sp>
      <p:cxnSp>
        <p:nvCxnSpPr>
          <p:cNvPr id="4" name="Straight Connector 3">
            <a:extLst>
              <a:ext uri="{FF2B5EF4-FFF2-40B4-BE49-F238E27FC236}">
                <a16:creationId xmlns:a16="http://schemas.microsoft.com/office/drawing/2014/main" id="{4081D4D9-4FDC-F087-84B3-145B2A5D7D5B}"/>
              </a:ext>
            </a:extLst>
          </p:cNvPr>
          <p:cNvCxnSpPr>
            <a:cxnSpLocks/>
          </p:cNvCxnSpPr>
          <p:nvPr/>
        </p:nvCxnSpPr>
        <p:spPr>
          <a:xfrm flipH="1">
            <a:off x="224978" y="1354648"/>
            <a:ext cx="11180618" cy="43401"/>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3432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ABF646-EDB8-D7C8-B8EB-8ED6C8B620E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2EF0FC6-3FE4-D787-C152-1E455563E4B3}"/>
              </a:ext>
            </a:extLst>
          </p:cNvPr>
          <p:cNvSpPr/>
          <p:nvPr/>
        </p:nvSpPr>
        <p:spPr>
          <a:xfrm>
            <a:off x="95575" y="89451"/>
            <a:ext cx="11608239" cy="584775"/>
          </a:xfrm>
          <a:prstGeom prst="rect">
            <a:avLst/>
          </a:prstGeom>
          <a:noFill/>
        </p:spPr>
        <p:txBody>
          <a:bodyPr wrap="square" lIns="91440" tIns="45720" rIns="91440" bIns="45720">
            <a:spAutoFit/>
          </a:bodyPr>
          <a:lstStyle/>
          <a:p>
            <a:r>
              <a:rPr lang="en-US" sz="3200" b="1" cap="none" spc="0" dirty="0">
                <a:ln w="9525">
                  <a:solidFill>
                    <a:schemeClr val="bg1"/>
                  </a:solidFill>
                  <a:prstDash val="solid"/>
                </a:ln>
                <a:solidFill>
                  <a:schemeClr val="bg1"/>
                </a:solidFill>
              </a:rPr>
              <a:t>The </a:t>
            </a:r>
            <a:r>
              <a:rPr lang="en-US" sz="3200" b="1" dirty="0">
                <a:ln w="9525">
                  <a:solidFill>
                    <a:schemeClr val="bg1"/>
                  </a:solidFill>
                  <a:prstDash val="solid"/>
                </a:ln>
                <a:solidFill>
                  <a:schemeClr val="bg1"/>
                </a:solidFill>
              </a:rPr>
              <a:t>GHG emission</a:t>
            </a:r>
            <a:r>
              <a:rPr lang="en-US" sz="3200" b="1" cap="none" spc="0" dirty="0">
                <a:ln w="9525">
                  <a:solidFill>
                    <a:schemeClr val="bg1"/>
                  </a:solidFill>
                  <a:prstDash val="solid"/>
                </a:ln>
                <a:solidFill>
                  <a:schemeClr val="bg1"/>
                </a:solidFill>
              </a:rPr>
              <a:t> challenge is</a:t>
            </a:r>
            <a:r>
              <a:rPr lang="en-US" sz="3200" b="1" dirty="0">
                <a:ln w="9525">
                  <a:solidFill>
                    <a:schemeClr val="bg1"/>
                  </a:solidFill>
                  <a:prstDash val="solid"/>
                </a:ln>
                <a:solidFill>
                  <a:schemeClr val="bg1"/>
                </a:solidFill>
              </a:rPr>
              <a:t>……………</a:t>
            </a:r>
            <a:endParaRPr lang="en-US" sz="3200" b="1" cap="none" spc="0" dirty="0">
              <a:ln w="9525">
                <a:solidFill>
                  <a:schemeClr val="bg1"/>
                </a:solidFill>
                <a:prstDash val="solid"/>
              </a:ln>
              <a:solidFill>
                <a:schemeClr val="bg1"/>
              </a:solidFill>
            </a:endParaRPr>
          </a:p>
        </p:txBody>
      </p:sp>
      <p:sp>
        <p:nvSpPr>
          <p:cNvPr id="11" name="Rectangle 10">
            <a:extLst>
              <a:ext uri="{FF2B5EF4-FFF2-40B4-BE49-F238E27FC236}">
                <a16:creationId xmlns:a16="http://schemas.microsoft.com/office/drawing/2014/main" id="{318454B8-6549-FE52-0396-911E8F18E5E4}"/>
              </a:ext>
            </a:extLst>
          </p:cNvPr>
          <p:cNvSpPr/>
          <p:nvPr/>
        </p:nvSpPr>
        <p:spPr>
          <a:xfrm>
            <a:off x="95574" y="1526013"/>
            <a:ext cx="5520222" cy="5262979"/>
          </a:xfrm>
          <a:prstGeom prst="rect">
            <a:avLst/>
          </a:prstGeom>
          <a:noFill/>
          <a:ln>
            <a:solidFill>
              <a:schemeClr val="accent1"/>
            </a:solidFill>
          </a:ln>
        </p:spPr>
        <p:txBody>
          <a:bodyPr wrap="square" lIns="91440" tIns="45720" rIns="91440" bIns="45720">
            <a:spAutoFit/>
          </a:bodyPr>
          <a:lstStyle/>
          <a:p>
            <a:pPr marL="342900" indent="-342900">
              <a:buAutoNum type="arabicPeriod"/>
            </a:pPr>
            <a:r>
              <a:rPr lang="en-US" sz="1600" b="1" i="0" dirty="0">
                <a:solidFill>
                  <a:srgbClr val="001D35"/>
                </a:solidFill>
                <a:effectLst/>
              </a:rPr>
              <a:t>High initial investment:</a:t>
            </a:r>
            <a:r>
              <a:rPr lang="en-US" sz="1600" b="0" i="0" dirty="0">
                <a:solidFill>
                  <a:srgbClr val="001D35"/>
                </a:solidFill>
                <a:effectLst/>
              </a:rPr>
              <a:t> Implementing a digital twin can require significant upfront costs for hardware, software, and expertise.</a:t>
            </a:r>
            <a:endParaRPr lang="en-US" sz="1600" b="1" dirty="0"/>
          </a:p>
          <a:p>
            <a:pPr marL="342900" indent="-342900" algn="l">
              <a:buAutoNum type="arabicPeriod" startAt="2"/>
            </a:pPr>
            <a:r>
              <a:rPr lang="en-US" sz="1600" b="1" i="0" dirty="0">
                <a:solidFill>
                  <a:srgbClr val="2C2E31"/>
                </a:solidFill>
                <a:effectLst/>
              </a:rPr>
              <a:t>Real-time Data Processing: </a:t>
            </a:r>
            <a:r>
              <a:rPr lang="en-US" sz="1600" b="0" i="0" dirty="0">
                <a:solidFill>
                  <a:srgbClr val="2C2E31"/>
                </a:solidFill>
                <a:effectLst/>
              </a:rPr>
              <a:t>Real-time data is essential for digital twins, but processing it fast and effectively requires a strong IT infrastructure, which presents a challenge for some businesses. </a:t>
            </a:r>
          </a:p>
          <a:p>
            <a:pPr algn="l"/>
            <a:r>
              <a:rPr lang="en-US" sz="1600" b="1" i="0" dirty="0">
                <a:solidFill>
                  <a:srgbClr val="2C2E31"/>
                </a:solidFill>
                <a:effectLst/>
              </a:rPr>
              <a:t>3</a:t>
            </a:r>
            <a:r>
              <a:rPr lang="en-US" sz="1600" b="1" dirty="0">
                <a:solidFill>
                  <a:srgbClr val="2C2E31"/>
                </a:solidFill>
              </a:rPr>
              <a:t>.    Systems Integration: </a:t>
            </a:r>
            <a:r>
              <a:rPr lang="en-US" sz="1600" b="0" i="0" dirty="0">
                <a:solidFill>
                  <a:srgbClr val="2C2E31"/>
                </a:solidFill>
                <a:effectLst/>
              </a:rPr>
              <a:t>Digital twins are not isolated entities.</a:t>
            </a:r>
          </a:p>
          <a:p>
            <a:pPr algn="l"/>
            <a:r>
              <a:rPr lang="en-US" sz="1600" b="0" i="0" dirty="0">
                <a:solidFill>
                  <a:srgbClr val="2C2E31"/>
                </a:solidFill>
                <a:effectLst/>
              </a:rPr>
              <a:t>       They must integrate with current technology and systems.</a:t>
            </a:r>
          </a:p>
          <a:p>
            <a:pPr algn="l"/>
            <a:r>
              <a:rPr lang="en-US" sz="1600" dirty="0">
                <a:solidFill>
                  <a:srgbClr val="2C2E31"/>
                </a:solidFill>
              </a:rPr>
              <a:t>     </a:t>
            </a:r>
            <a:r>
              <a:rPr lang="en-US" sz="1600" b="0" i="0" dirty="0">
                <a:solidFill>
                  <a:srgbClr val="2C2E31"/>
                </a:solidFill>
                <a:effectLst/>
              </a:rPr>
              <a:t> Because it frequently entails integrating new software with</a:t>
            </a:r>
          </a:p>
          <a:p>
            <a:pPr algn="l"/>
            <a:r>
              <a:rPr lang="en-US" sz="1600" dirty="0">
                <a:solidFill>
                  <a:srgbClr val="2C2E31"/>
                </a:solidFill>
              </a:rPr>
              <a:t>     </a:t>
            </a:r>
            <a:r>
              <a:rPr lang="en-US" sz="1600" b="0" i="0" dirty="0">
                <a:solidFill>
                  <a:srgbClr val="2C2E31"/>
                </a:solidFill>
                <a:effectLst/>
              </a:rPr>
              <a:t> historical systems that weren't intended to communicate</a:t>
            </a:r>
          </a:p>
          <a:p>
            <a:pPr algn="l"/>
            <a:r>
              <a:rPr lang="en-US" sz="1600" dirty="0">
                <a:solidFill>
                  <a:srgbClr val="2C2E31"/>
                </a:solidFill>
              </a:rPr>
              <a:t>     </a:t>
            </a:r>
            <a:r>
              <a:rPr lang="en-US" sz="1600" b="0" i="0" dirty="0">
                <a:solidFill>
                  <a:srgbClr val="2C2E31"/>
                </a:solidFill>
                <a:effectLst/>
              </a:rPr>
              <a:t> with one another, this integration can be challenging.</a:t>
            </a:r>
          </a:p>
          <a:p>
            <a:pPr marL="342900" indent="-342900" algn="l">
              <a:buAutoNum type="arabicPeriod" startAt="4"/>
            </a:pPr>
            <a:r>
              <a:rPr lang="en-US" sz="1600" b="1" dirty="0">
                <a:solidFill>
                  <a:srgbClr val="2C2E31"/>
                </a:solidFill>
              </a:rPr>
              <a:t>Data Protection</a:t>
            </a:r>
            <a:r>
              <a:rPr lang="en-US" sz="1600" dirty="0">
                <a:solidFill>
                  <a:srgbClr val="2C2E31"/>
                </a:solidFill>
              </a:rPr>
              <a:t>: Sensitive data associated with a digital twin</a:t>
            </a:r>
          </a:p>
          <a:p>
            <a:pPr algn="l"/>
            <a:r>
              <a:rPr lang="en-US" sz="1600" dirty="0">
                <a:solidFill>
                  <a:srgbClr val="2C2E31"/>
                </a:solidFill>
              </a:rPr>
              <a:t>       may need additional security measures</a:t>
            </a:r>
          </a:p>
          <a:p>
            <a:pPr marL="342900" indent="-342900" algn="l">
              <a:buAutoNum type="arabicPeriod" startAt="5"/>
            </a:pPr>
            <a:r>
              <a:rPr kumimoji="0" lang="en-US" altLang="en-US" sz="1600" b="1" i="0" u="none" strike="noStrike" cap="none" normalizeH="0" baseline="0" dirty="0">
                <a:ln>
                  <a:noFill/>
                </a:ln>
                <a:solidFill>
                  <a:srgbClr val="001D35"/>
                </a:solidFill>
                <a:effectLst/>
              </a:rPr>
              <a:t>No universal framework:</a:t>
            </a:r>
            <a:r>
              <a:rPr kumimoji="0" lang="en-US" altLang="en-US" sz="1600" b="0" i="0" u="none" strike="noStrike" cap="none" normalizeH="0" baseline="0" dirty="0">
                <a:ln>
                  <a:noFill/>
                </a:ln>
                <a:solidFill>
                  <a:srgbClr val="001D35"/>
                </a:solidFill>
                <a:effectLst/>
              </a:rPr>
              <a:t> There is currently no standardized </a:t>
            </a:r>
          </a:p>
          <a:p>
            <a:pPr algn="l"/>
            <a:r>
              <a:rPr lang="en-US" altLang="en-US" sz="1600" dirty="0">
                <a:solidFill>
                  <a:srgbClr val="001D35"/>
                </a:solidFill>
              </a:rPr>
              <a:t>      </a:t>
            </a:r>
            <a:r>
              <a:rPr kumimoji="0" lang="en-US" altLang="en-US" sz="1600" b="0" i="0" u="none" strike="noStrike" cap="none" normalizeH="0" baseline="0" dirty="0">
                <a:ln>
                  <a:noFill/>
                </a:ln>
                <a:solidFill>
                  <a:srgbClr val="001D35"/>
                </a:solidFill>
                <a:effectLst/>
              </a:rPr>
              <a:t> approach to building and managing digital twins, leading to</a:t>
            </a:r>
          </a:p>
          <a:p>
            <a:pPr algn="l"/>
            <a:r>
              <a:rPr lang="en-US" altLang="en-US" sz="1600" dirty="0">
                <a:solidFill>
                  <a:srgbClr val="001D35"/>
                </a:solidFill>
              </a:rPr>
              <a:t>      </a:t>
            </a:r>
            <a:r>
              <a:rPr kumimoji="0" lang="en-US" altLang="en-US" sz="1600" b="0" i="0" u="none" strike="noStrike" cap="none" normalizeH="0" baseline="0" dirty="0">
                <a:ln>
                  <a:noFill/>
                </a:ln>
                <a:solidFill>
                  <a:srgbClr val="001D35"/>
                </a:solidFill>
                <a:effectLst/>
              </a:rPr>
              <a:t> potential inconsistencies</a:t>
            </a:r>
          </a:p>
          <a:p>
            <a:pPr marL="342900" indent="-342900" algn="l">
              <a:buAutoNum type="arabicPeriod" startAt="6"/>
            </a:pPr>
            <a:r>
              <a:rPr lang="en-US" sz="1600" b="1" i="0" dirty="0">
                <a:solidFill>
                  <a:srgbClr val="2C2E31"/>
                </a:solidFill>
                <a:effectLst/>
              </a:rPr>
              <a:t>Long-term Maintenance </a:t>
            </a:r>
            <a:r>
              <a:rPr lang="en-US" sz="1600" b="0" i="0" dirty="0">
                <a:solidFill>
                  <a:srgbClr val="2C2E31"/>
                </a:solidFill>
                <a:effectLst/>
              </a:rPr>
              <a:t>For digital twins to continue being</a:t>
            </a:r>
          </a:p>
          <a:p>
            <a:pPr algn="l"/>
            <a:r>
              <a:rPr lang="en-US" sz="1600" b="0" i="0" dirty="0">
                <a:solidFill>
                  <a:srgbClr val="2C2E31"/>
                </a:solidFill>
                <a:effectLst/>
              </a:rPr>
              <a:t>       accurate and helpful, constant upkeep is necessary. This kind</a:t>
            </a:r>
          </a:p>
          <a:p>
            <a:pPr algn="l"/>
            <a:r>
              <a:rPr lang="en-US" sz="1600" dirty="0">
                <a:solidFill>
                  <a:srgbClr val="2C2E31"/>
                </a:solidFill>
              </a:rPr>
              <a:t>      </a:t>
            </a:r>
            <a:r>
              <a:rPr lang="en-US" sz="1600" b="0" i="0" dirty="0">
                <a:solidFill>
                  <a:srgbClr val="2C2E31"/>
                </a:solidFill>
                <a:effectLst/>
              </a:rPr>
              <a:t> of long-term dedication can be difficult, particularly when</a:t>
            </a:r>
          </a:p>
          <a:p>
            <a:pPr algn="l"/>
            <a:r>
              <a:rPr lang="en-US" sz="1600" dirty="0">
                <a:solidFill>
                  <a:srgbClr val="2C2E31"/>
                </a:solidFill>
              </a:rPr>
              <a:t>      </a:t>
            </a:r>
            <a:r>
              <a:rPr lang="en-US" sz="1600" b="0" i="0" dirty="0">
                <a:solidFill>
                  <a:srgbClr val="2C2E31"/>
                </a:solidFill>
                <a:effectLst/>
              </a:rPr>
              <a:t> company requirements and technology change.</a:t>
            </a:r>
          </a:p>
        </p:txBody>
      </p:sp>
      <p:sp>
        <p:nvSpPr>
          <p:cNvPr id="5" name="Rectangle 4">
            <a:extLst>
              <a:ext uri="{FF2B5EF4-FFF2-40B4-BE49-F238E27FC236}">
                <a16:creationId xmlns:a16="http://schemas.microsoft.com/office/drawing/2014/main" id="{ACE23790-F1C2-8378-6442-1682CE745FA7}"/>
              </a:ext>
            </a:extLst>
          </p:cNvPr>
          <p:cNvSpPr/>
          <p:nvPr/>
        </p:nvSpPr>
        <p:spPr>
          <a:xfrm>
            <a:off x="3872" y="5917"/>
            <a:ext cx="12180896" cy="6564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Advantages of Using LFDT Platforms to Develop a GHG Emission Tracking Digital Twin  </a:t>
            </a:r>
          </a:p>
        </p:txBody>
      </p:sp>
      <p:sp>
        <p:nvSpPr>
          <p:cNvPr id="17" name="Rectangle 4">
            <a:extLst>
              <a:ext uri="{FF2B5EF4-FFF2-40B4-BE49-F238E27FC236}">
                <a16:creationId xmlns:a16="http://schemas.microsoft.com/office/drawing/2014/main" id="{A6A74F91-1808-2B6E-35F6-04D2B1869C29}"/>
              </a:ext>
            </a:extLst>
          </p:cNvPr>
          <p:cNvSpPr>
            <a:spLocks noChangeArrowheads="1"/>
          </p:cNvSpPr>
          <p:nvPr/>
        </p:nvSpPr>
        <p:spPr bwMode="auto">
          <a:xfrm>
            <a:off x="0" y="-366739"/>
            <a:ext cx="65" cy="7334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TextBox 27">
            <a:extLst>
              <a:ext uri="{FF2B5EF4-FFF2-40B4-BE49-F238E27FC236}">
                <a16:creationId xmlns:a16="http://schemas.microsoft.com/office/drawing/2014/main" id="{1B1375A6-CED9-7DAB-D653-276B737EBC98}"/>
              </a:ext>
            </a:extLst>
          </p:cNvPr>
          <p:cNvSpPr txBox="1"/>
          <p:nvPr/>
        </p:nvSpPr>
        <p:spPr>
          <a:xfrm>
            <a:off x="37440" y="703143"/>
            <a:ext cx="11759310" cy="400110"/>
          </a:xfrm>
          <a:prstGeom prst="rect">
            <a:avLst/>
          </a:prstGeom>
          <a:noFill/>
        </p:spPr>
        <p:txBody>
          <a:bodyPr wrap="square" rtlCol="0">
            <a:spAutoFit/>
          </a:bodyPr>
          <a:lstStyle/>
          <a:p>
            <a:r>
              <a:rPr lang="en-US" sz="2000" dirty="0"/>
              <a:t>How do LFDT platforms address the challenges of building digital twins for GHG emissions tracking?</a:t>
            </a:r>
            <a:endParaRPr lang="en-US" sz="2000" u="sng" dirty="0">
              <a:solidFill>
                <a:schemeClr val="tx2">
                  <a:lumMod val="75000"/>
                  <a:lumOff val="25000"/>
                </a:schemeClr>
              </a:solidFill>
            </a:endParaRPr>
          </a:p>
        </p:txBody>
      </p:sp>
      <p:sp>
        <p:nvSpPr>
          <p:cNvPr id="29" name="Rectangle 28">
            <a:extLst>
              <a:ext uri="{FF2B5EF4-FFF2-40B4-BE49-F238E27FC236}">
                <a16:creationId xmlns:a16="http://schemas.microsoft.com/office/drawing/2014/main" id="{E475B411-2A01-EC65-976D-D373E671F2E8}"/>
              </a:ext>
            </a:extLst>
          </p:cNvPr>
          <p:cNvSpPr/>
          <p:nvPr/>
        </p:nvSpPr>
        <p:spPr>
          <a:xfrm>
            <a:off x="6096000" y="1527048"/>
            <a:ext cx="6000426" cy="5262979"/>
          </a:xfrm>
          <a:prstGeom prst="rect">
            <a:avLst/>
          </a:prstGeom>
          <a:noFill/>
          <a:ln>
            <a:solidFill>
              <a:schemeClr val="accent1"/>
            </a:solidFill>
          </a:ln>
        </p:spPr>
        <p:txBody>
          <a:bodyPr wrap="square" lIns="91440" tIns="45720" rIns="91440" bIns="45720">
            <a:spAutoFit/>
          </a:bodyPr>
          <a:lstStyle/>
          <a:p>
            <a:pPr marL="342900" indent="-342900">
              <a:buAutoNum type="arabicPeriod"/>
            </a:pPr>
            <a:r>
              <a:rPr lang="en-US" sz="1600" dirty="0"/>
              <a:t>LFDT platforms offer a cost effective modular and customizable architecture, allowing businesses to tailor blockchain solutions to their specific needs while ensuring scalability and performance. </a:t>
            </a:r>
            <a:endParaRPr lang="en-US" sz="1600" b="1" dirty="0"/>
          </a:p>
          <a:p>
            <a:pPr marL="342900" indent="-342900" algn="l">
              <a:buAutoNum type="arabicPeriod" startAt="2"/>
            </a:pPr>
            <a:r>
              <a:rPr lang="en-US" sz="1600" dirty="0">
                <a:solidFill>
                  <a:srgbClr val="2C2E31"/>
                </a:solidFill>
              </a:rPr>
              <a:t>LFDT platforms are best choice for </a:t>
            </a:r>
            <a:r>
              <a:rPr lang="en-US" sz="1600" dirty="0"/>
              <a:t>processing large volumes of </a:t>
            </a:r>
            <a:r>
              <a:rPr lang="en-US" sz="1600" b="1" dirty="0"/>
              <a:t>GHG emission IoT data through Fabric channels and Iroha.</a:t>
            </a:r>
          </a:p>
          <a:p>
            <a:pPr marL="342900" indent="-342900" algn="l">
              <a:buAutoNum type="arabicPeriod" startAt="2"/>
            </a:pPr>
            <a:r>
              <a:rPr lang="en-US" sz="1600" dirty="0">
                <a:solidFill>
                  <a:srgbClr val="2C2E31"/>
                </a:solidFill>
              </a:rPr>
              <a:t>LFDT </a:t>
            </a:r>
            <a:r>
              <a:rPr lang="en-US" sz="1600" dirty="0"/>
              <a:t>platforms facilitate seamless systems integration by offering interoperable frameworks and tools that connect diverse technologies and data sources within a permissioned blockchain network. </a:t>
            </a:r>
          </a:p>
          <a:p>
            <a:pPr marL="342900" indent="-342900" algn="l">
              <a:buAutoNum type="arabicPeriod" startAt="2"/>
            </a:pPr>
            <a:r>
              <a:rPr lang="en-US" sz="1600" dirty="0">
                <a:solidFill>
                  <a:srgbClr val="2C2E31"/>
                </a:solidFill>
              </a:rPr>
              <a:t> </a:t>
            </a:r>
            <a:r>
              <a:rPr lang="en-US" sz="1600" dirty="0"/>
              <a:t>With advanced cryptographic techniques and tamper-resistant ledgers, LFDT platforms provide robust security, safeguarding data integrity and confidentiality in enterprise applications.</a:t>
            </a:r>
            <a:endParaRPr lang="en-US" sz="1600" dirty="0">
              <a:solidFill>
                <a:srgbClr val="2C2E31"/>
              </a:solidFill>
            </a:endParaRPr>
          </a:p>
          <a:p>
            <a:pPr marL="342900" indent="-342900" algn="l">
              <a:buAutoNum type="arabicPeriod" startAt="5"/>
            </a:pPr>
            <a:r>
              <a:rPr lang="en-US" sz="1600" dirty="0">
                <a:solidFill>
                  <a:srgbClr val="001D35"/>
                </a:solidFill>
              </a:rPr>
              <a:t>LFDT </a:t>
            </a:r>
            <a:r>
              <a:rPr lang="en-US" sz="1600" dirty="0"/>
              <a:t>platforms provide flexible, modular tools that enable the</a:t>
            </a:r>
          </a:p>
          <a:p>
            <a:pPr algn="l"/>
            <a:r>
              <a:rPr lang="en-US" sz="1600" dirty="0"/>
              <a:t>       creation of custom blockchain solutions tailored to unique  </a:t>
            </a:r>
          </a:p>
          <a:p>
            <a:pPr algn="l"/>
            <a:r>
              <a:rPr lang="en-US" sz="1600" dirty="0"/>
              <a:t>       system requirements, making them ideal where no universal</a:t>
            </a:r>
          </a:p>
          <a:p>
            <a:pPr algn="l"/>
            <a:r>
              <a:rPr lang="en-US" sz="1600" dirty="0"/>
              <a:t>       frameworks exist. </a:t>
            </a:r>
          </a:p>
          <a:p>
            <a:pPr algn="l"/>
            <a:r>
              <a:rPr lang="en-US" sz="1600" dirty="0">
                <a:solidFill>
                  <a:srgbClr val="2C2E31"/>
                </a:solidFill>
              </a:rPr>
              <a:t>6</a:t>
            </a:r>
            <a:r>
              <a:rPr lang="en-US" sz="1600" i="0" dirty="0">
                <a:solidFill>
                  <a:srgbClr val="2C2E31"/>
                </a:solidFill>
                <a:effectLst/>
              </a:rPr>
              <a:t>.    Long-term Maintenance </a:t>
            </a:r>
            <a:r>
              <a:rPr lang="en-US" sz="1600" b="0" i="0" dirty="0">
                <a:solidFill>
                  <a:srgbClr val="2C2E31"/>
                </a:solidFill>
                <a:effectLst/>
              </a:rPr>
              <a:t>For digital twins to continue being</a:t>
            </a:r>
          </a:p>
          <a:p>
            <a:pPr algn="l"/>
            <a:r>
              <a:rPr lang="en-US" sz="1600" dirty="0">
                <a:solidFill>
                  <a:srgbClr val="2C2E31"/>
                </a:solidFill>
              </a:rPr>
              <a:t>   </a:t>
            </a:r>
            <a:r>
              <a:rPr lang="en-US" sz="1600" b="0" i="0" dirty="0">
                <a:solidFill>
                  <a:srgbClr val="2C2E31"/>
                </a:solidFill>
                <a:effectLst/>
              </a:rPr>
              <a:t>    accurate and helpful, constant upkeep is necessary. </a:t>
            </a:r>
            <a:r>
              <a:rPr lang="en-US" sz="1600" dirty="0"/>
              <a:t>LFDT</a:t>
            </a:r>
          </a:p>
          <a:p>
            <a:pPr algn="l"/>
            <a:r>
              <a:rPr lang="en-US" sz="1600" dirty="0"/>
              <a:t>       platforms simplify blockchain maintenance with modular</a:t>
            </a:r>
          </a:p>
          <a:p>
            <a:pPr algn="l"/>
            <a:r>
              <a:rPr lang="en-US" sz="1600" dirty="0"/>
              <a:t>       architectures, enabling easy updates, customization, and</a:t>
            </a:r>
          </a:p>
          <a:p>
            <a:pPr algn="l"/>
            <a:r>
              <a:rPr lang="en-US" sz="1600" dirty="0"/>
              <a:t>       scalability without disrupting the network. </a:t>
            </a:r>
            <a:endParaRPr lang="en-US" sz="1600" b="0" i="0" dirty="0">
              <a:solidFill>
                <a:srgbClr val="2C2E31"/>
              </a:solidFill>
              <a:effectLst/>
              <a:latin typeface="Rubik"/>
            </a:endParaRPr>
          </a:p>
        </p:txBody>
      </p:sp>
      <p:sp>
        <p:nvSpPr>
          <p:cNvPr id="30" name="TextBox 29">
            <a:extLst>
              <a:ext uri="{FF2B5EF4-FFF2-40B4-BE49-F238E27FC236}">
                <a16:creationId xmlns:a16="http://schemas.microsoft.com/office/drawing/2014/main" id="{5C5D35F7-0F32-4BED-76A4-4882A3532DE1}"/>
              </a:ext>
            </a:extLst>
          </p:cNvPr>
          <p:cNvSpPr txBox="1"/>
          <p:nvPr/>
        </p:nvSpPr>
        <p:spPr>
          <a:xfrm>
            <a:off x="170339" y="1119145"/>
            <a:ext cx="876332" cy="400110"/>
          </a:xfrm>
          <a:prstGeom prst="rect">
            <a:avLst/>
          </a:prstGeom>
          <a:noFill/>
        </p:spPr>
        <p:txBody>
          <a:bodyPr wrap="square" rtlCol="0">
            <a:spAutoFit/>
          </a:bodyPr>
          <a:lstStyle/>
          <a:p>
            <a:r>
              <a:rPr lang="en-US" sz="2000" u="sng" dirty="0">
                <a:solidFill>
                  <a:schemeClr val="tx2">
                    <a:lumMod val="75000"/>
                    <a:lumOff val="25000"/>
                  </a:schemeClr>
                </a:solidFill>
              </a:rPr>
              <a:t>Issues</a:t>
            </a:r>
          </a:p>
        </p:txBody>
      </p:sp>
      <p:sp>
        <p:nvSpPr>
          <p:cNvPr id="31" name="TextBox 30">
            <a:extLst>
              <a:ext uri="{FF2B5EF4-FFF2-40B4-BE49-F238E27FC236}">
                <a16:creationId xmlns:a16="http://schemas.microsoft.com/office/drawing/2014/main" id="{A84A1673-34B4-6C55-658C-002869007F17}"/>
              </a:ext>
            </a:extLst>
          </p:cNvPr>
          <p:cNvSpPr txBox="1"/>
          <p:nvPr/>
        </p:nvSpPr>
        <p:spPr>
          <a:xfrm>
            <a:off x="5994295" y="1115568"/>
            <a:ext cx="4667953" cy="400110"/>
          </a:xfrm>
          <a:prstGeom prst="rect">
            <a:avLst/>
          </a:prstGeom>
          <a:noFill/>
        </p:spPr>
        <p:txBody>
          <a:bodyPr wrap="square" rtlCol="0">
            <a:spAutoFit/>
          </a:bodyPr>
          <a:lstStyle/>
          <a:p>
            <a:r>
              <a:rPr lang="en-US" sz="2000" u="sng" dirty="0">
                <a:solidFill>
                  <a:schemeClr val="tx2">
                    <a:lumMod val="75000"/>
                    <a:lumOff val="25000"/>
                  </a:schemeClr>
                </a:solidFill>
              </a:rPr>
              <a:t>LFDT Advantage</a:t>
            </a:r>
          </a:p>
        </p:txBody>
      </p:sp>
      <p:sp>
        <p:nvSpPr>
          <p:cNvPr id="2" name="Arrow: Right 1">
            <a:extLst>
              <a:ext uri="{FF2B5EF4-FFF2-40B4-BE49-F238E27FC236}">
                <a16:creationId xmlns:a16="http://schemas.microsoft.com/office/drawing/2014/main" id="{4A54C4D3-367E-90DB-BD8D-CACBAA9A03A7}"/>
              </a:ext>
            </a:extLst>
          </p:cNvPr>
          <p:cNvSpPr/>
          <p:nvPr/>
        </p:nvSpPr>
        <p:spPr>
          <a:xfrm>
            <a:off x="5615796" y="3604731"/>
            <a:ext cx="480204" cy="400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0253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71D15-53B2-DF35-7A0F-F35FF1FC7A59}"/>
            </a:ext>
          </a:extLst>
        </p:cNvPr>
        <p:cNvGrpSpPr/>
        <p:nvPr/>
      </p:nvGrpSpPr>
      <p:grpSpPr>
        <a:xfrm>
          <a:off x="0" y="0"/>
          <a:ext cx="0" cy="0"/>
          <a:chOff x="0" y="0"/>
          <a:chExt cx="0" cy="0"/>
        </a:xfrm>
      </p:grpSpPr>
      <p:cxnSp>
        <p:nvCxnSpPr>
          <p:cNvPr id="34" name="Straight Connector 33">
            <a:extLst>
              <a:ext uri="{FF2B5EF4-FFF2-40B4-BE49-F238E27FC236}">
                <a16:creationId xmlns:a16="http://schemas.microsoft.com/office/drawing/2014/main" id="{305E465A-A68F-7614-6F59-F47F583A611E}"/>
              </a:ext>
            </a:extLst>
          </p:cNvPr>
          <p:cNvCxnSpPr>
            <a:cxnSpLocks/>
          </p:cNvCxnSpPr>
          <p:nvPr/>
        </p:nvCxnSpPr>
        <p:spPr>
          <a:xfrm>
            <a:off x="6175349" y="1234327"/>
            <a:ext cx="0" cy="50122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5269A41-D525-CF1C-3B96-7FFF22AC01C5}"/>
              </a:ext>
            </a:extLst>
          </p:cNvPr>
          <p:cNvCxnSpPr>
            <a:cxnSpLocks/>
          </p:cNvCxnSpPr>
          <p:nvPr/>
        </p:nvCxnSpPr>
        <p:spPr>
          <a:xfrm>
            <a:off x="225653" y="1105147"/>
            <a:ext cx="0" cy="50122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A76E300-6C6B-765C-E008-92E33AE4617D}"/>
              </a:ext>
            </a:extLst>
          </p:cNvPr>
          <p:cNvSpPr txBox="1"/>
          <p:nvPr/>
        </p:nvSpPr>
        <p:spPr>
          <a:xfrm>
            <a:off x="0" y="6207987"/>
            <a:ext cx="12180896" cy="646331"/>
          </a:xfrm>
          <a:prstGeom prst="rect">
            <a:avLst/>
          </a:prstGeom>
          <a:solidFill>
            <a:schemeClr val="bg1"/>
          </a:solidFill>
        </p:spPr>
        <p:txBody>
          <a:bodyPr wrap="square" rtlCol="0">
            <a:spAutoFit/>
          </a:bodyPr>
          <a:lstStyle/>
          <a:p>
            <a:endParaRPr lang="en-US" dirty="0">
              <a:solidFill>
                <a:schemeClr val="bg1"/>
              </a:solidFill>
            </a:endParaRPr>
          </a:p>
          <a:p>
            <a:endParaRPr lang="en-US" dirty="0">
              <a:solidFill>
                <a:schemeClr val="bg1"/>
              </a:solidFill>
            </a:endParaRPr>
          </a:p>
        </p:txBody>
      </p:sp>
      <p:sp>
        <p:nvSpPr>
          <p:cNvPr id="65" name="AutoShape 2" descr="Cash Pictures, Cash Stock Photos &amp; Images | Depositphotos®">
            <a:extLst>
              <a:ext uri="{FF2B5EF4-FFF2-40B4-BE49-F238E27FC236}">
                <a16:creationId xmlns:a16="http://schemas.microsoft.com/office/drawing/2014/main" id="{C1107B51-0CAD-1FAB-08BE-DB226F624C9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51F63CCE-2191-FC4A-D42C-451F67CFD41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5" name="Straight Connector 4">
            <a:extLst>
              <a:ext uri="{FF2B5EF4-FFF2-40B4-BE49-F238E27FC236}">
                <a16:creationId xmlns:a16="http://schemas.microsoft.com/office/drawing/2014/main" id="{225FFDD2-9C6B-9326-19E2-AA994617144E}"/>
              </a:ext>
            </a:extLst>
          </p:cNvPr>
          <p:cNvCxnSpPr>
            <a:cxnSpLocks/>
          </p:cNvCxnSpPr>
          <p:nvPr/>
        </p:nvCxnSpPr>
        <p:spPr>
          <a:xfrm>
            <a:off x="5816814" y="1281299"/>
            <a:ext cx="0" cy="4476928"/>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6" name="Picture 2" descr="Hyperledger –  Folder on desk with label beside diagrams. ">
            <a:extLst>
              <a:ext uri="{FF2B5EF4-FFF2-40B4-BE49-F238E27FC236}">
                <a16:creationId xmlns:a16="http://schemas.microsoft.com/office/drawing/2014/main" id="{F13463E5-D5F2-96CC-0AEB-2068254F7B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78392" y="14490"/>
            <a:ext cx="791753" cy="49611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541F22B-9A2B-57C6-190A-755D6653CB61}"/>
              </a:ext>
            </a:extLst>
          </p:cNvPr>
          <p:cNvSpPr/>
          <p:nvPr/>
        </p:nvSpPr>
        <p:spPr>
          <a:xfrm>
            <a:off x="3872" y="5917"/>
            <a:ext cx="12180896" cy="6564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Digital Twin GHG Tracking and Modeling Advantages Through Specific LFDT Components</a:t>
            </a:r>
          </a:p>
        </p:txBody>
      </p:sp>
      <p:pic>
        <p:nvPicPr>
          <p:cNvPr id="9" name="Picture 8">
            <a:extLst>
              <a:ext uri="{FF2B5EF4-FFF2-40B4-BE49-F238E27FC236}">
                <a16:creationId xmlns:a16="http://schemas.microsoft.com/office/drawing/2014/main" id="{44168A13-3238-640D-E875-9BB05930BF26}"/>
              </a:ext>
            </a:extLst>
          </p:cNvPr>
          <p:cNvPicPr>
            <a:picLocks noChangeAspect="1"/>
          </p:cNvPicPr>
          <p:nvPr/>
        </p:nvPicPr>
        <p:blipFill>
          <a:blip r:embed="rId3"/>
          <a:stretch>
            <a:fillRect/>
          </a:stretch>
        </p:blipFill>
        <p:spPr>
          <a:xfrm>
            <a:off x="65392" y="834979"/>
            <a:ext cx="1088134" cy="324531"/>
          </a:xfrm>
          <a:prstGeom prst="rect">
            <a:avLst/>
          </a:prstGeom>
        </p:spPr>
      </p:pic>
      <p:sp>
        <p:nvSpPr>
          <p:cNvPr id="11" name="Rectangle 10">
            <a:extLst>
              <a:ext uri="{FF2B5EF4-FFF2-40B4-BE49-F238E27FC236}">
                <a16:creationId xmlns:a16="http://schemas.microsoft.com/office/drawing/2014/main" id="{ADEC527E-8B2A-7A98-0AEE-67B8B15EE50B}"/>
              </a:ext>
            </a:extLst>
          </p:cNvPr>
          <p:cNvSpPr/>
          <p:nvPr/>
        </p:nvSpPr>
        <p:spPr>
          <a:xfrm>
            <a:off x="303205" y="1131430"/>
            <a:ext cx="5460151" cy="3939540"/>
          </a:xfrm>
          <a:prstGeom prst="rect">
            <a:avLst/>
          </a:prstGeom>
          <a:noFill/>
        </p:spPr>
        <p:txBody>
          <a:bodyPr wrap="square" lIns="91440" tIns="45720" rIns="91440" bIns="45720">
            <a:spAutoFit/>
          </a:bodyPr>
          <a:lstStyle/>
          <a:p>
            <a:pPr marL="171450" indent="-171450">
              <a:buFont typeface="Arial" panose="020B0604020202020204" pitchFamily="34" charset="0"/>
              <a:buChar char="•"/>
            </a:pPr>
            <a:r>
              <a:rPr lang="en-US" sz="1000" dirty="0">
                <a:solidFill>
                  <a:srgbClr val="FF0000"/>
                </a:solidFill>
                <a:highlight>
                  <a:srgbClr val="FFFFFF"/>
                </a:highlight>
                <a:latin typeface="Titillium Web Light" panose="00000400000000000000" pitchFamily="2" charset="0"/>
              </a:rPr>
              <a:t>The difficult task of collecting </a:t>
            </a:r>
            <a:r>
              <a:rPr lang="en-US" sz="1000" b="1" dirty="0">
                <a:solidFill>
                  <a:srgbClr val="FF0000"/>
                </a:solidFill>
                <a:highlight>
                  <a:srgbClr val="FFFFFF"/>
                </a:highlight>
                <a:latin typeface="Titillium Web Light" panose="00000400000000000000" pitchFamily="2" charset="0"/>
              </a:rPr>
              <a:t>Scope 3 emissions </a:t>
            </a:r>
            <a:r>
              <a:rPr lang="en-US" sz="1000" dirty="0">
                <a:solidFill>
                  <a:srgbClr val="FF0000"/>
                </a:solidFill>
                <a:highlight>
                  <a:srgbClr val="FFFFFF"/>
                </a:highlight>
                <a:latin typeface="Titillium Web Light" panose="00000400000000000000" pitchFamily="2" charset="0"/>
              </a:rPr>
              <a:t>becomes a straightforward process.</a:t>
            </a:r>
          </a:p>
          <a:p>
            <a:pPr marL="171450" indent="-171450">
              <a:buFont typeface="Arial" panose="020B0604020202020204" pitchFamily="34" charset="0"/>
              <a:buChar char="•"/>
            </a:pPr>
            <a:r>
              <a:rPr lang="en-US" sz="1000" dirty="0">
                <a:latin typeface="Titillium Web Light" panose="00000400000000000000" pitchFamily="2" charset="0"/>
              </a:rPr>
              <a:t>Supply chain emissions data are readily converted into a standardized format, ensuring consistency in data comparisons and calculations using uniform units. </a:t>
            </a:r>
          </a:p>
          <a:p>
            <a:pPr marL="171450" indent="-171450">
              <a:buFont typeface="Arial" panose="020B0604020202020204" pitchFamily="34" charset="0"/>
              <a:buChar char="•"/>
            </a:pPr>
            <a:r>
              <a:rPr lang="en-US" sz="1000" dirty="0">
                <a:latin typeface="Titillium Web Light" panose="00000400000000000000" pitchFamily="2" charset="0"/>
              </a:rPr>
              <a:t>Abide by </a:t>
            </a:r>
            <a:r>
              <a:rPr lang="en-US" sz="1000" b="1" dirty="0"/>
              <a:t>ISO 14064 </a:t>
            </a:r>
            <a:r>
              <a:rPr lang="en-US" sz="1000" dirty="0">
                <a:latin typeface="Titillium Web Light" panose="00000400000000000000" pitchFamily="2" charset="0"/>
              </a:rPr>
              <a:t>data standard </a:t>
            </a:r>
            <a:r>
              <a:rPr lang="en-US" sz="1000" dirty="0"/>
              <a:t>series for GHG emission accounting.</a:t>
            </a:r>
            <a:endParaRPr lang="en-US" sz="1000" b="1" cap="none" spc="0" dirty="0">
              <a:ln w="0"/>
              <a:solidFill>
                <a:schemeClr val="bg1"/>
              </a:solidFill>
              <a:effectLst>
                <a:outerShdw blurRad="38100" dist="19050" dir="2700000" algn="tl" rotWithShape="0">
                  <a:schemeClr val="dk1">
                    <a:alpha val="40000"/>
                  </a:schemeClr>
                </a:outerShdw>
              </a:effectLst>
            </a:endParaRPr>
          </a:p>
          <a:p>
            <a:pPr marL="171450" indent="-171450">
              <a:buFont typeface="Arial" panose="020B0604020202020204" pitchFamily="34" charset="0"/>
              <a:buChar char="•"/>
            </a:pPr>
            <a:r>
              <a:rPr lang="en-US" sz="1000" dirty="0">
                <a:latin typeface="Titillium Web" panose="00000500000000000000" pitchFamily="2" charset="0"/>
              </a:rPr>
              <a:t>Consensus mechanisms that are energy-efficient and designed for enterprise-grade private or permissioned networks. Unlike Proof of Work (PoW) used in blockchains like Bitcoin or Ethereum (prior to Ethereum 2.0), Hyperledger frameworks rely on consensus algorithms with a </a:t>
            </a:r>
            <a:r>
              <a:rPr lang="en-US" sz="1000" b="1" dirty="0">
                <a:latin typeface="Titillium Web" panose="00000500000000000000" pitchFamily="2" charset="0"/>
              </a:rPr>
              <a:t>very small GHG emission footprint.</a:t>
            </a:r>
          </a:p>
          <a:p>
            <a:pPr marL="171450" indent="-171450">
              <a:buFont typeface="Arial" panose="020B0604020202020204" pitchFamily="34" charset="0"/>
              <a:buChar char="•"/>
            </a:pPr>
            <a:r>
              <a:rPr lang="en-US" sz="1000" dirty="0">
                <a:highlight>
                  <a:srgbClr val="FFFFFF"/>
                </a:highlight>
                <a:latin typeface="Titillium Web Light" panose="00000400000000000000" pitchFamily="2" charset="0"/>
              </a:rPr>
              <a:t>LFDT architecture provides emission data channels that hold recognized emission factors used by auditors in the data verification process. </a:t>
            </a:r>
          </a:p>
          <a:p>
            <a:pPr marL="171450" indent="-171450">
              <a:buFont typeface="Arial" panose="020B0604020202020204" pitchFamily="34" charset="0"/>
              <a:buChar char="•"/>
            </a:pPr>
            <a:r>
              <a:rPr lang="en-US" sz="1000" dirty="0">
                <a:highlight>
                  <a:srgbClr val="FFFFFF"/>
                </a:highlight>
                <a:latin typeface="Titillium Web Light" panose="00000400000000000000" pitchFamily="2" charset="0"/>
              </a:rPr>
              <a:t>Performance: </a:t>
            </a:r>
            <a:r>
              <a:rPr lang="en-US" sz="1000" dirty="0">
                <a:latin typeface="Titillium Web Light" panose="00000400000000000000" pitchFamily="2" charset="0"/>
              </a:rPr>
              <a:t>Fabric allows parallel transaction processing, unlike many public blockchains where transactions are serialized. increases throughput significantly.    </a:t>
            </a:r>
          </a:p>
          <a:p>
            <a:pPr marL="171450" indent="-171450">
              <a:buFont typeface="Arial" panose="020B0604020202020204" pitchFamily="34" charset="0"/>
              <a:buChar char="•"/>
            </a:pPr>
            <a:r>
              <a:rPr lang="en-US" sz="1000" dirty="0">
                <a:latin typeface="Titillium Web Light" panose="00000400000000000000" pitchFamily="2" charset="0"/>
              </a:rPr>
              <a:t>Fabric provides fine-grained control over data visibility. Organizations can share data only with                             authorized parties while keeping it confidential from other participants. This makes it ideal for GHG  emission tracking.</a:t>
            </a:r>
          </a:p>
          <a:p>
            <a:pPr marL="171450" indent="-171450">
              <a:buFont typeface="Arial" panose="020B0604020202020204" pitchFamily="34" charset="0"/>
              <a:buChar char="•"/>
            </a:pPr>
            <a:r>
              <a:rPr lang="en-US" sz="1000" dirty="0">
                <a:latin typeface="Titillium Web Light" panose="00000400000000000000" pitchFamily="2" charset="0"/>
              </a:rPr>
              <a:t>Allows the creation of private channels, where data and transactions are only visible to authorized members within that channel. This ensures privacy within a consortium of organizations.</a:t>
            </a:r>
          </a:p>
          <a:p>
            <a:pPr marL="171450" indent="-171450">
              <a:buFont typeface="Arial" panose="020B0604020202020204" pitchFamily="34" charset="0"/>
              <a:buChar char="•"/>
            </a:pPr>
            <a:r>
              <a:rPr lang="en-US" sz="1000" dirty="0">
                <a:latin typeface="Titillium Web Light" panose="00000400000000000000" pitchFamily="2" charset="0"/>
              </a:rPr>
              <a:t>Fabric has a “Gateway” component for seamless data collection with the option of collecting  data from multiple sources as a “digital thread”. Option for on or off chain storage. Utilizes multi-channel </a:t>
            </a:r>
            <a:r>
              <a:rPr lang="en-US" sz="1000" dirty="0" err="1">
                <a:latin typeface="Titillium Web Light" panose="00000400000000000000" pitchFamily="2" charset="0"/>
              </a:rPr>
              <a:t>architecture.</a:t>
            </a:r>
            <a:r>
              <a:rPr lang="en-US" sz="1000" dirty="0" err="1">
                <a:solidFill>
                  <a:schemeClr val="bg1"/>
                </a:solidFill>
                <a:latin typeface="Titillium Web Light" panose="00000400000000000000" pitchFamily="2" charset="0"/>
              </a:rPr>
              <a:t>hin</a:t>
            </a:r>
            <a:r>
              <a:rPr lang="en-US" sz="1000" dirty="0">
                <a:solidFill>
                  <a:schemeClr val="bg1"/>
                </a:solidFill>
                <a:latin typeface="Titillium Web Light" panose="00000400000000000000" pitchFamily="2" charset="0"/>
              </a:rPr>
              <a:t>.</a:t>
            </a:r>
            <a:endParaRPr lang="en-US" sz="1000" dirty="0">
              <a:latin typeface="Titillium Web Light" panose="00000400000000000000" pitchFamily="2" charset="0"/>
            </a:endParaRPr>
          </a:p>
          <a:p>
            <a:pPr marL="171450" indent="-171450">
              <a:buFont typeface="Arial" panose="020B0604020202020204" pitchFamily="34" charset="0"/>
              <a:buChar char="•"/>
            </a:pPr>
            <a:endParaRPr lang="en-US" sz="1000" dirty="0">
              <a:latin typeface="Titillium Web Light" panose="00000400000000000000" pitchFamily="2" charset="0"/>
            </a:endParaRPr>
          </a:p>
          <a:p>
            <a:pPr marL="171450" indent="-171450">
              <a:buFont typeface="Arial" panose="020B0604020202020204" pitchFamily="34" charset="0"/>
              <a:buChar char="•"/>
            </a:pPr>
            <a:endParaRPr lang="en-US" sz="1000" dirty="0">
              <a:latin typeface="Titillium Web Light" panose="00000400000000000000" pitchFamily="2" charset="0"/>
            </a:endParaRPr>
          </a:p>
          <a:p>
            <a:pPr marL="171450" indent="-171450">
              <a:buFont typeface="Arial" panose="020B0604020202020204" pitchFamily="34" charset="0"/>
              <a:buChar char="•"/>
            </a:pPr>
            <a:endParaRPr lang="en-US" sz="1000" dirty="0">
              <a:highlight>
                <a:srgbClr val="FFFFFF"/>
              </a:highlight>
              <a:latin typeface="Titillium Web Light" panose="00000400000000000000" pitchFamily="2" charset="0"/>
            </a:endParaRPr>
          </a:p>
          <a:p>
            <a:pPr marL="171450" indent="-171450">
              <a:buFont typeface="Arial" panose="020B0604020202020204" pitchFamily="34" charset="0"/>
              <a:buChar char="•"/>
            </a:pPr>
            <a:endParaRPr lang="en-US" sz="1000" b="1" cap="none" spc="0" dirty="0">
              <a:ln w="0"/>
              <a:solidFill>
                <a:schemeClr val="bg1"/>
              </a:solidFill>
              <a:effectLst>
                <a:outerShdw blurRad="38100" dist="19050" dir="2700000" algn="tl" rotWithShape="0">
                  <a:schemeClr val="dk1">
                    <a:alpha val="40000"/>
                  </a:schemeClr>
                </a:outerShdw>
              </a:effectLst>
            </a:endParaRPr>
          </a:p>
        </p:txBody>
      </p:sp>
      <p:pic>
        <p:nvPicPr>
          <p:cNvPr id="14" name="Picture 13">
            <a:extLst>
              <a:ext uri="{FF2B5EF4-FFF2-40B4-BE49-F238E27FC236}">
                <a16:creationId xmlns:a16="http://schemas.microsoft.com/office/drawing/2014/main" id="{7AE83B43-5300-535B-0B19-C529D4D34C0C}"/>
              </a:ext>
            </a:extLst>
          </p:cNvPr>
          <p:cNvPicPr>
            <a:picLocks noChangeAspect="1"/>
          </p:cNvPicPr>
          <p:nvPr/>
        </p:nvPicPr>
        <p:blipFill>
          <a:blip r:embed="rId4"/>
          <a:stretch>
            <a:fillRect/>
          </a:stretch>
        </p:blipFill>
        <p:spPr>
          <a:xfrm>
            <a:off x="6025674" y="4537039"/>
            <a:ext cx="923746" cy="389473"/>
          </a:xfrm>
          <a:prstGeom prst="rect">
            <a:avLst/>
          </a:prstGeom>
        </p:spPr>
      </p:pic>
      <p:pic>
        <p:nvPicPr>
          <p:cNvPr id="15" name="Picture 14">
            <a:extLst>
              <a:ext uri="{FF2B5EF4-FFF2-40B4-BE49-F238E27FC236}">
                <a16:creationId xmlns:a16="http://schemas.microsoft.com/office/drawing/2014/main" id="{C4B9564C-471C-1959-480D-9274C04A3050}"/>
              </a:ext>
            </a:extLst>
          </p:cNvPr>
          <p:cNvPicPr>
            <a:picLocks noChangeAspect="1"/>
          </p:cNvPicPr>
          <p:nvPr/>
        </p:nvPicPr>
        <p:blipFill>
          <a:blip r:embed="rId5"/>
          <a:stretch>
            <a:fillRect/>
          </a:stretch>
        </p:blipFill>
        <p:spPr>
          <a:xfrm>
            <a:off x="79506" y="4493480"/>
            <a:ext cx="1050273" cy="299654"/>
          </a:xfrm>
          <a:prstGeom prst="rect">
            <a:avLst/>
          </a:prstGeom>
        </p:spPr>
      </p:pic>
      <p:sp>
        <p:nvSpPr>
          <p:cNvPr id="20" name="Rectangle 19">
            <a:extLst>
              <a:ext uri="{FF2B5EF4-FFF2-40B4-BE49-F238E27FC236}">
                <a16:creationId xmlns:a16="http://schemas.microsoft.com/office/drawing/2014/main" id="{6A2E6CD2-7D03-6AA3-C82F-CF215EEEA63A}"/>
              </a:ext>
            </a:extLst>
          </p:cNvPr>
          <p:cNvSpPr/>
          <p:nvPr/>
        </p:nvSpPr>
        <p:spPr>
          <a:xfrm>
            <a:off x="6248490" y="1147393"/>
            <a:ext cx="5679229" cy="1323439"/>
          </a:xfrm>
          <a:prstGeom prst="rect">
            <a:avLst/>
          </a:prstGeom>
          <a:noFill/>
        </p:spPr>
        <p:txBody>
          <a:bodyPr wrap="square" lIns="91440" tIns="45720" rIns="91440" bIns="45720">
            <a:spAutoFit/>
          </a:bodyPr>
          <a:lstStyle/>
          <a:p>
            <a:pPr marL="171450" indent="-171450">
              <a:buFont typeface="Arial" panose="020B0604020202020204" pitchFamily="34" charset="0"/>
              <a:buChar char="•"/>
            </a:pPr>
            <a:r>
              <a:rPr lang="en-US" sz="1000" dirty="0">
                <a:latin typeface="Titillium Web Light" panose="00000400000000000000" pitchFamily="2" charset="0"/>
              </a:rPr>
              <a:t>Important for </a:t>
            </a:r>
            <a:r>
              <a:rPr lang="en-US" sz="1000" b="1" dirty="0">
                <a:latin typeface="Titillium Web Light" panose="00000400000000000000" pitchFamily="2" charset="0"/>
              </a:rPr>
              <a:t>GHG emission tracking </a:t>
            </a:r>
            <a:r>
              <a:rPr lang="en-US" sz="1000" dirty="0">
                <a:latin typeface="Titillium Web Light" panose="00000400000000000000" pitchFamily="2" charset="0"/>
              </a:rPr>
              <a:t>as it enables secure and decentralized identity management for organizations, devices, and systems involved in reporting and verifying emissions data.</a:t>
            </a:r>
            <a:r>
              <a:rPr lang="en-US" sz="1000" dirty="0">
                <a:solidFill>
                  <a:schemeClr val="bg1"/>
                </a:solidFill>
                <a:latin typeface="Titillium Web Light" panose="00000400000000000000" pitchFamily="2" charset="0"/>
              </a:rPr>
              <a:t>hn</a:t>
            </a:r>
          </a:p>
          <a:p>
            <a:pPr marL="171450" indent="-171450">
              <a:buFont typeface="Arial" panose="020B0604020202020204" pitchFamily="34" charset="0"/>
              <a:buChar char="•"/>
            </a:pPr>
            <a:r>
              <a:rPr lang="en-US" sz="1000" dirty="0">
                <a:latin typeface="Titillium Web Light" panose="00000400000000000000" pitchFamily="2" charset="0"/>
              </a:rPr>
              <a:t>Leveraging self-sovereign identity principles, Indy ensures data integrity, privacy, and trust in the entities submitting emissions reports. </a:t>
            </a:r>
          </a:p>
          <a:p>
            <a:pPr marL="171450" indent="-171450">
              <a:buFont typeface="Arial" panose="020B0604020202020204" pitchFamily="34" charset="0"/>
              <a:buChar char="•"/>
            </a:pPr>
            <a:r>
              <a:rPr lang="en-US" sz="1000" dirty="0">
                <a:latin typeface="Titillium Web Light" panose="00000400000000000000" pitchFamily="2" charset="0"/>
              </a:rPr>
              <a:t>Fosters transparency and accountability in tracking greenhouse gas emissions while reducing the reliance on centralized </a:t>
            </a:r>
            <a:r>
              <a:rPr lang="en-US" sz="1000" dirty="0" err="1">
                <a:latin typeface="Titillium Web Light" panose="00000400000000000000" pitchFamily="2" charset="0"/>
              </a:rPr>
              <a:t>authorities.</a:t>
            </a:r>
            <a:r>
              <a:rPr lang="en-US" sz="1000" dirty="0" err="1">
                <a:solidFill>
                  <a:schemeClr val="bg1"/>
                </a:solidFill>
                <a:latin typeface="Titillium Web Light" panose="00000400000000000000" pitchFamily="2" charset="0"/>
              </a:rPr>
              <a:t>g</a:t>
            </a:r>
            <a:endParaRPr lang="en-US" sz="1000" dirty="0">
              <a:solidFill>
                <a:schemeClr val="bg1"/>
              </a:solidFill>
              <a:latin typeface="Titillium Web Light" panose="00000400000000000000" pitchFamily="2" charset="0"/>
            </a:endParaRPr>
          </a:p>
          <a:p>
            <a:pPr marL="171450" indent="-171450">
              <a:buFont typeface="Arial" panose="020B0604020202020204" pitchFamily="34" charset="0"/>
              <a:buChar char="•"/>
            </a:pPr>
            <a:r>
              <a:rPr lang="en-US" sz="1000" dirty="0">
                <a:latin typeface="Titillium Web Light" panose="00000400000000000000" pitchFamily="2" charset="0"/>
              </a:rPr>
              <a:t>Indy’s blockchain ledger ensures that emissions data and certifications are immutable, preventing fraud or manipulation of </a:t>
            </a:r>
            <a:r>
              <a:rPr lang="en-US" sz="1000" dirty="0" err="1">
                <a:latin typeface="Titillium Web Light" panose="00000400000000000000" pitchFamily="2" charset="0"/>
              </a:rPr>
              <a:t>records.</a:t>
            </a:r>
            <a:r>
              <a:rPr lang="en-US" sz="1000" dirty="0" err="1">
                <a:solidFill>
                  <a:schemeClr val="bg1"/>
                </a:solidFill>
                <a:latin typeface="Titillium Web Light" panose="00000400000000000000" pitchFamily="2" charset="0"/>
              </a:rPr>
              <a:t>s</a:t>
            </a:r>
            <a:r>
              <a:rPr lang="en-US" sz="1000" dirty="0">
                <a:solidFill>
                  <a:schemeClr val="bg1"/>
                </a:solidFill>
                <a:latin typeface="Titillium Web Light" panose="00000400000000000000" pitchFamily="2" charset="0"/>
              </a:rPr>
              <a:t> in the supply chain.</a:t>
            </a:r>
            <a:endParaRPr lang="en-US" sz="1000" b="1" cap="none" spc="0" dirty="0">
              <a:ln w="0"/>
              <a:solidFill>
                <a:schemeClr val="bg1"/>
              </a:solidFill>
              <a:effectLst>
                <a:outerShdw blurRad="38100" dist="19050" dir="2700000" algn="tl" rotWithShape="0">
                  <a:schemeClr val="dk1">
                    <a:alpha val="40000"/>
                  </a:schemeClr>
                </a:outerShdw>
              </a:effectLst>
            </a:endParaRPr>
          </a:p>
        </p:txBody>
      </p:sp>
      <p:pic>
        <p:nvPicPr>
          <p:cNvPr id="21" name="Picture 20">
            <a:extLst>
              <a:ext uri="{FF2B5EF4-FFF2-40B4-BE49-F238E27FC236}">
                <a16:creationId xmlns:a16="http://schemas.microsoft.com/office/drawing/2014/main" id="{20F8DCA8-988F-05F9-60EE-375FBD397EF9}"/>
              </a:ext>
            </a:extLst>
          </p:cNvPr>
          <p:cNvPicPr>
            <a:picLocks noChangeAspect="1"/>
          </p:cNvPicPr>
          <p:nvPr/>
        </p:nvPicPr>
        <p:blipFill>
          <a:blip r:embed="rId6"/>
          <a:stretch>
            <a:fillRect/>
          </a:stretch>
        </p:blipFill>
        <p:spPr>
          <a:xfrm>
            <a:off x="6008904" y="843085"/>
            <a:ext cx="1088134" cy="321568"/>
          </a:xfrm>
          <a:prstGeom prst="rect">
            <a:avLst/>
          </a:prstGeom>
        </p:spPr>
      </p:pic>
      <p:pic>
        <p:nvPicPr>
          <p:cNvPr id="22" name="Picture 21">
            <a:extLst>
              <a:ext uri="{FF2B5EF4-FFF2-40B4-BE49-F238E27FC236}">
                <a16:creationId xmlns:a16="http://schemas.microsoft.com/office/drawing/2014/main" id="{B0769DD1-E399-875B-5134-875681FB4ED8}"/>
              </a:ext>
            </a:extLst>
          </p:cNvPr>
          <p:cNvPicPr>
            <a:picLocks noChangeAspect="1"/>
          </p:cNvPicPr>
          <p:nvPr/>
        </p:nvPicPr>
        <p:blipFill>
          <a:blip r:embed="rId7"/>
          <a:stretch>
            <a:fillRect/>
          </a:stretch>
        </p:blipFill>
        <p:spPr>
          <a:xfrm>
            <a:off x="5988695" y="2605897"/>
            <a:ext cx="1334456" cy="337125"/>
          </a:xfrm>
          <a:prstGeom prst="rect">
            <a:avLst/>
          </a:prstGeom>
        </p:spPr>
      </p:pic>
      <p:sp>
        <p:nvSpPr>
          <p:cNvPr id="26" name="Rectangle 25">
            <a:extLst>
              <a:ext uri="{FF2B5EF4-FFF2-40B4-BE49-F238E27FC236}">
                <a16:creationId xmlns:a16="http://schemas.microsoft.com/office/drawing/2014/main" id="{479455D1-A0A6-0EDD-F422-05888AA457ED}"/>
              </a:ext>
            </a:extLst>
          </p:cNvPr>
          <p:cNvSpPr/>
          <p:nvPr/>
        </p:nvSpPr>
        <p:spPr>
          <a:xfrm>
            <a:off x="6274771" y="4863422"/>
            <a:ext cx="5252855" cy="1631216"/>
          </a:xfrm>
          <a:prstGeom prst="rect">
            <a:avLst/>
          </a:prstGeom>
          <a:noFill/>
        </p:spPr>
        <p:txBody>
          <a:bodyPr wrap="square" lIns="91440" tIns="45720" rIns="91440" bIns="45720">
            <a:spAutoFit/>
          </a:bodyPr>
          <a:lstStyle/>
          <a:p>
            <a:pPr marL="285750" indent="-285750">
              <a:buFont typeface="Arial" panose="020B0604020202020204" pitchFamily="34" charset="0"/>
              <a:buChar char="•"/>
            </a:pPr>
            <a:r>
              <a:rPr lang="en-US" sz="1000" dirty="0">
                <a:latin typeface="Titillium Web Light" panose="00000400000000000000" pitchFamily="2" charset="0"/>
              </a:rPr>
              <a:t>Besu provides direct integration to the Ethereum blockchain where </a:t>
            </a:r>
            <a:r>
              <a:rPr lang="en-US" sz="1000" b="1" dirty="0">
                <a:latin typeface="Titillium Web Light" panose="00000400000000000000" pitchFamily="2" charset="0"/>
              </a:rPr>
              <a:t>GHG offsets </a:t>
            </a:r>
            <a:r>
              <a:rPr lang="en-US" sz="1000" dirty="0">
                <a:latin typeface="Titillium Web Light" panose="00000400000000000000" pitchFamily="2" charset="0"/>
              </a:rPr>
              <a:t>are tokenized into digital assets or NFTs and traded on decentralized exchanges. </a:t>
            </a:r>
          </a:p>
          <a:p>
            <a:pPr marL="285750" indent="-285750">
              <a:buFont typeface="Arial" panose="020B0604020202020204" pitchFamily="34" charset="0"/>
              <a:buChar char="•"/>
            </a:pPr>
            <a:r>
              <a:rPr lang="en-US" sz="1000" dirty="0">
                <a:latin typeface="Titillium Web Light" panose="00000400000000000000" pitchFamily="2" charset="0"/>
              </a:rPr>
              <a:t>Besu smart contracts can trigger automated action based on specific conditions or events. An important attribute for the use of a digital twin. </a:t>
            </a:r>
          </a:p>
          <a:p>
            <a:pPr marL="285750" indent="-285750">
              <a:buFont typeface="Arial" panose="020B0604020202020204" pitchFamily="34" charset="0"/>
              <a:buChar char="•"/>
            </a:pPr>
            <a:r>
              <a:rPr lang="en-US" sz="1000" dirty="0">
                <a:latin typeface="Titillium Web Light" panose="00000400000000000000" pitchFamily="2" charset="0"/>
              </a:rPr>
              <a:t>The  use of </a:t>
            </a:r>
            <a:r>
              <a:rPr lang="en-US" sz="1000" b="1" dirty="0">
                <a:latin typeface="Titillium Web Light" panose="00000400000000000000" pitchFamily="2" charset="0"/>
              </a:rPr>
              <a:t>GHG offsets enable supply chains </a:t>
            </a:r>
            <a:r>
              <a:rPr lang="en-US" sz="1000" dirty="0">
                <a:latin typeface="Titillium Web Light" panose="00000400000000000000" pitchFamily="2" charset="0"/>
              </a:rPr>
              <a:t>to reach net-zero emissions rapidly prior to more comprehensive  changes in the supply chain.</a:t>
            </a:r>
          </a:p>
          <a:p>
            <a:pPr marL="285750" indent="-285750">
              <a:buFont typeface="Arial" panose="020B0604020202020204" pitchFamily="34" charset="0"/>
              <a:buChar char="•"/>
            </a:pPr>
            <a:r>
              <a:rPr lang="en-US" sz="1000" dirty="0">
                <a:latin typeface="Titillium Web Light" panose="00000400000000000000" pitchFamily="2" charset="0"/>
              </a:rPr>
              <a:t>The only fully integrated data solution where investments in green technologies are tokenized into carbon credits and digital tokens, enabling their use in supply chain carbon accounting.</a:t>
            </a:r>
          </a:p>
          <a:p>
            <a:pPr marL="285750" indent="-285750">
              <a:buFont typeface="Arial" panose="020B0604020202020204" pitchFamily="34" charset="0"/>
              <a:buChar char="•"/>
            </a:pPr>
            <a:endParaRPr lang="en-US" sz="1000" dirty="0">
              <a:highlight>
                <a:srgbClr val="FFFFFF"/>
              </a:highlight>
              <a:latin typeface="Titillium Web Light" panose="00000400000000000000" pitchFamily="2" charset="0"/>
            </a:endParaRPr>
          </a:p>
        </p:txBody>
      </p:sp>
      <p:sp>
        <p:nvSpPr>
          <p:cNvPr id="30" name="Rectangle 29">
            <a:extLst>
              <a:ext uri="{FF2B5EF4-FFF2-40B4-BE49-F238E27FC236}">
                <a16:creationId xmlns:a16="http://schemas.microsoft.com/office/drawing/2014/main" id="{BCE36C4C-FCAA-415B-C2EC-A823F9F95FB2}"/>
              </a:ext>
            </a:extLst>
          </p:cNvPr>
          <p:cNvSpPr/>
          <p:nvPr/>
        </p:nvSpPr>
        <p:spPr>
          <a:xfrm>
            <a:off x="297837" y="4897374"/>
            <a:ext cx="5323665" cy="1015663"/>
          </a:xfrm>
          <a:prstGeom prst="rect">
            <a:avLst/>
          </a:prstGeom>
          <a:noFill/>
        </p:spPr>
        <p:txBody>
          <a:bodyPr wrap="square" lIns="91440" tIns="45720" rIns="91440" bIns="45720">
            <a:spAutoFit/>
          </a:bodyPr>
          <a:lstStyle/>
          <a:p>
            <a:pPr marL="171450" indent="-171450">
              <a:buFont typeface="Arial" panose="020B0604020202020204" pitchFamily="34" charset="0"/>
              <a:buChar char="•"/>
            </a:pPr>
            <a:r>
              <a:rPr lang="en-US" sz="1000" dirty="0">
                <a:latin typeface="Titillium Web Light" panose="00000400000000000000" pitchFamily="2" charset="0"/>
              </a:rPr>
              <a:t>Best choice for processing large volumes of </a:t>
            </a:r>
            <a:r>
              <a:rPr lang="en-US" sz="1000" b="1" dirty="0">
                <a:latin typeface="Titillium Web Light" panose="00000400000000000000" pitchFamily="2" charset="0"/>
              </a:rPr>
              <a:t>GHG emission IoT data.</a:t>
            </a:r>
          </a:p>
          <a:p>
            <a:pPr marL="171450" indent="-171450">
              <a:buFont typeface="Arial" panose="020B0604020202020204" pitchFamily="34" charset="0"/>
              <a:buChar char="•"/>
            </a:pPr>
            <a:r>
              <a:rPr lang="en-US" sz="1000" dirty="0">
                <a:latin typeface="Titillium Web Light" panose="00000400000000000000" pitchFamily="2" charset="0"/>
              </a:rPr>
              <a:t>Its lightweight modular architecture, multi-signature transactions, and focus on digital asset management make it an ideal choice for IoT and GHG emission tracking.</a:t>
            </a:r>
          </a:p>
          <a:p>
            <a:pPr marL="171450" indent="-171450">
              <a:buFont typeface="Arial" panose="020B0604020202020204" pitchFamily="34" charset="0"/>
              <a:buChar char="•"/>
            </a:pPr>
            <a:r>
              <a:rPr lang="en-US" sz="1000" dirty="0">
                <a:latin typeface="Titillium Web Light" panose="00000400000000000000" pitchFamily="2" charset="0"/>
              </a:rPr>
              <a:t>Simpler asset-based data model that’s effective for tracking GHG emission producing assets, identities, and other data types, which fits well </a:t>
            </a:r>
            <a:r>
              <a:rPr lang="en-US" sz="1000" b="1" dirty="0">
                <a:latin typeface="Titillium Web Light" panose="00000400000000000000" pitchFamily="2" charset="0"/>
              </a:rPr>
              <a:t>with IoT use cases </a:t>
            </a:r>
            <a:r>
              <a:rPr lang="en-US" sz="1000" dirty="0">
                <a:latin typeface="Titillium Web Light" panose="00000400000000000000" pitchFamily="2" charset="0"/>
              </a:rPr>
              <a:t>where devices track sensor data or event logs.</a:t>
            </a:r>
            <a:endParaRPr lang="en-US" sz="1000" b="1" cap="none" spc="0" dirty="0">
              <a:ln w="0"/>
              <a:effectLst>
                <a:outerShdw blurRad="38100" dist="19050" dir="2700000" algn="tl" rotWithShape="0">
                  <a:schemeClr val="dk1">
                    <a:alpha val="40000"/>
                  </a:schemeClr>
                </a:outerShdw>
              </a:effectLst>
            </a:endParaRPr>
          </a:p>
        </p:txBody>
      </p:sp>
      <p:sp>
        <p:nvSpPr>
          <p:cNvPr id="35" name="Rectangle 34">
            <a:extLst>
              <a:ext uri="{FF2B5EF4-FFF2-40B4-BE49-F238E27FC236}">
                <a16:creationId xmlns:a16="http://schemas.microsoft.com/office/drawing/2014/main" id="{28233A45-02DF-7A4E-97BC-46A1890651D0}"/>
              </a:ext>
            </a:extLst>
          </p:cNvPr>
          <p:cNvSpPr/>
          <p:nvPr/>
        </p:nvSpPr>
        <p:spPr>
          <a:xfrm>
            <a:off x="6263429" y="2969284"/>
            <a:ext cx="5679229" cy="1477328"/>
          </a:xfrm>
          <a:prstGeom prst="rect">
            <a:avLst/>
          </a:prstGeom>
          <a:noFill/>
        </p:spPr>
        <p:txBody>
          <a:bodyPr wrap="square" lIns="91440" tIns="45720" rIns="91440" bIns="45720">
            <a:spAutoFit/>
          </a:bodyPr>
          <a:lstStyle/>
          <a:p>
            <a:pPr marL="171450" indent="-171450">
              <a:buFont typeface="Arial" panose="020B0604020202020204" pitchFamily="34" charset="0"/>
              <a:buChar char="•"/>
            </a:pPr>
            <a:r>
              <a:rPr lang="en-US" sz="1000" dirty="0">
                <a:latin typeface="Titillium Web Light" panose="00000400000000000000" pitchFamily="2" charset="0"/>
              </a:rPr>
              <a:t>Important crucial for </a:t>
            </a:r>
            <a:r>
              <a:rPr lang="en-US" sz="1000" b="1" dirty="0">
                <a:latin typeface="Titillium Web Light" panose="00000400000000000000" pitchFamily="2" charset="0"/>
              </a:rPr>
              <a:t>GHG emission tracking </a:t>
            </a:r>
            <a:r>
              <a:rPr lang="en-US" sz="1000" dirty="0">
                <a:latin typeface="Titillium Web Light" panose="00000400000000000000" pitchFamily="2" charset="0"/>
              </a:rPr>
              <a:t>as it enables secure, interoperable, and verifiable communication between entities.</a:t>
            </a:r>
            <a:r>
              <a:rPr lang="en-US" sz="1000" dirty="0">
                <a:solidFill>
                  <a:schemeClr val="bg1"/>
                </a:solidFill>
                <a:latin typeface="Titillium Web Light" panose="00000400000000000000" pitchFamily="2" charset="0"/>
              </a:rPr>
              <a:t>t</a:t>
            </a:r>
          </a:p>
          <a:p>
            <a:pPr marL="171450" indent="-171450">
              <a:buFont typeface="Arial" panose="020B0604020202020204" pitchFamily="34" charset="0"/>
              <a:buChar char="•"/>
            </a:pPr>
            <a:r>
              <a:rPr lang="en-US" sz="1000" dirty="0">
                <a:latin typeface="Titillium Web Light" panose="00000400000000000000" pitchFamily="2" charset="0"/>
              </a:rPr>
              <a:t>Facilitates the exchange of verifiable credentials, allowing organizations to prove compliance with emission standards while maintaining data privacy.</a:t>
            </a:r>
            <a:endParaRPr lang="en-US" sz="1000" dirty="0">
              <a:solidFill>
                <a:schemeClr val="bg1"/>
              </a:solidFill>
              <a:latin typeface="Titillium Web Light" panose="00000400000000000000" pitchFamily="2" charset="0"/>
            </a:endParaRPr>
          </a:p>
          <a:p>
            <a:pPr marL="171450" indent="-171450">
              <a:buFont typeface="Arial" panose="020B0604020202020204" pitchFamily="34" charset="0"/>
              <a:buChar char="•"/>
            </a:pPr>
            <a:r>
              <a:rPr lang="en-US" sz="1000" dirty="0">
                <a:latin typeface="Titillium Web Light" panose="00000400000000000000" pitchFamily="2" charset="0"/>
              </a:rPr>
              <a:t>Paired with Indy’s decentralized identity framework, Aries ensures trust and transparency in GHG emissions reporting, helping streamline verification processes and enhance accountability across the supply chain.</a:t>
            </a:r>
          </a:p>
          <a:p>
            <a:pPr marL="171450" indent="-171450">
              <a:buFont typeface="Arial" panose="020B0604020202020204" pitchFamily="34" charset="0"/>
              <a:buChar char="•"/>
            </a:pPr>
            <a:r>
              <a:rPr lang="en-US" sz="1000" dirty="0">
                <a:latin typeface="Titillium Web Light" panose="00000400000000000000" pitchFamily="2" charset="0"/>
              </a:rPr>
              <a:t>Automation and Efficiency: Verifiable credentials can automate compliance checks, reducing manual verification efforts and speeding up audits and reporting processes.</a:t>
            </a:r>
            <a:r>
              <a:rPr lang="en-US" sz="1000" dirty="0">
                <a:solidFill>
                  <a:schemeClr val="bg1"/>
                </a:solidFill>
                <a:latin typeface="Titillium Web Light" panose="00000400000000000000" pitchFamily="2" charset="0"/>
              </a:rPr>
              <a:t> chain.</a:t>
            </a:r>
            <a:endParaRPr lang="en-US" sz="1000" b="1" cap="none" spc="0" dirty="0">
              <a:ln w="0"/>
              <a:solidFill>
                <a:schemeClr val="bg1"/>
              </a:solidFill>
              <a:effectLst>
                <a:outerShdw blurRad="38100" dist="19050" dir="2700000" algn="tl" rotWithShape="0">
                  <a:schemeClr val="dk1">
                    <a:alpha val="40000"/>
                  </a:schemeClr>
                </a:outerShdw>
              </a:effectLst>
            </a:endParaRPr>
          </a:p>
        </p:txBody>
      </p:sp>
      <p:sp>
        <p:nvSpPr>
          <p:cNvPr id="41" name="Rectangle 40">
            <a:extLst>
              <a:ext uri="{FF2B5EF4-FFF2-40B4-BE49-F238E27FC236}">
                <a16:creationId xmlns:a16="http://schemas.microsoft.com/office/drawing/2014/main" id="{2F4467CB-7ED6-6931-0BE1-DAEF47CF6B61}"/>
              </a:ext>
            </a:extLst>
          </p:cNvPr>
          <p:cNvSpPr/>
          <p:nvPr/>
        </p:nvSpPr>
        <p:spPr>
          <a:xfrm>
            <a:off x="11849340" y="6660213"/>
            <a:ext cx="331556" cy="18329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4</a:t>
            </a:r>
          </a:p>
        </p:txBody>
      </p:sp>
    </p:spTree>
    <p:extLst>
      <p:ext uri="{BB962C8B-B14F-4D97-AF65-F5344CB8AC3E}">
        <p14:creationId xmlns:p14="http://schemas.microsoft.com/office/powerpoint/2010/main" val="3594140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94E4029F-A9A8-4262-BBED-3F8277B6F9A9}"/>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Source: https://astconsulting.in/blog/2023/07/29/understanding-channels-hyperledger/</a:t>
            </a:r>
          </a:p>
        </p:txBody>
      </p:sp>
      <p:sp>
        <p:nvSpPr>
          <p:cNvPr id="65" name="AutoShape 2" descr="Cash Pictures, Cash Stock Photos &amp; Images | Depositphotos®">
            <a:extLst>
              <a:ext uri="{FF2B5EF4-FFF2-40B4-BE49-F238E27FC236}">
                <a16:creationId xmlns:a16="http://schemas.microsoft.com/office/drawing/2014/main" id="{E0F87420-C907-404A-8355-4C22CA4E51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76324356-DFA6-4B51-9B4E-50BF6CBE2E3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5" name="Straight Connector 4">
            <a:extLst>
              <a:ext uri="{FF2B5EF4-FFF2-40B4-BE49-F238E27FC236}">
                <a16:creationId xmlns:a16="http://schemas.microsoft.com/office/drawing/2014/main" id="{94F0A356-8708-E750-0011-50C5C6B51316}"/>
              </a:ext>
            </a:extLst>
          </p:cNvPr>
          <p:cNvCxnSpPr>
            <a:cxnSpLocks/>
          </p:cNvCxnSpPr>
          <p:nvPr/>
        </p:nvCxnSpPr>
        <p:spPr>
          <a:xfrm flipV="1">
            <a:off x="554919" y="1884264"/>
            <a:ext cx="9753600" cy="2710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2789B5E-E35B-1C1C-CDF3-BB80F7C8532A}"/>
              </a:ext>
            </a:extLst>
          </p:cNvPr>
          <p:cNvSpPr txBox="1"/>
          <p:nvPr/>
        </p:nvSpPr>
        <p:spPr>
          <a:xfrm>
            <a:off x="7680" y="1803777"/>
            <a:ext cx="11754052" cy="4431983"/>
          </a:xfrm>
          <a:prstGeom prst="rect">
            <a:avLst/>
          </a:prstGeom>
          <a:noFill/>
          <a:ln>
            <a:noFill/>
          </a:ln>
        </p:spPr>
        <p:txBody>
          <a:bodyPr wrap="square" rtlCol="0">
            <a:spAutoFit/>
          </a:bodyPr>
          <a:lstStyle/>
          <a:p>
            <a:pPr algn="l"/>
            <a:endParaRPr lang="en-US" dirty="0">
              <a:latin typeface="Titillium Web Light" panose="00000400000000000000" pitchFamily="2" charset="0"/>
            </a:endParaRPr>
          </a:p>
          <a:p>
            <a:pPr algn="l"/>
            <a:r>
              <a:rPr lang="en-US" b="1" i="0" dirty="0">
                <a:solidFill>
                  <a:srgbClr val="333333"/>
                </a:solidFill>
                <a:effectLst/>
                <a:latin typeface="Titillium Web Light" panose="00000400000000000000" pitchFamily="2" charset="0"/>
              </a:rPr>
              <a:t>Features of channels:</a:t>
            </a:r>
          </a:p>
          <a:p>
            <a:pPr marL="285750" indent="-285750" algn="l">
              <a:buFont typeface="Arial" panose="020B0604020202020204" pitchFamily="34" charset="0"/>
              <a:buChar char="•"/>
            </a:pPr>
            <a:r>
              <a:rPr lang="en-US" dirty="0">
                <a:latin typeface="Titillium Web Light" panose="00000400000000000000" pitchFamily="2" charset="0"/>
              </a:rPr>
              <a:t>P</a:t>
            </a:r>
            <a:r>
              <a:rPr lang="en-US" b="0" i="0" dirty="0">
                <a:effectLst/>
                <a:latin typeface="Titillium Web Light" panose="00000400000000000000" pitchFamily="2" charset="0"/>
              </a:rPr>
              <a:t>articipants can belong to one or more channels, each with its own ledger, smart contracts (</a:t>
            </a:r>
            <a:r>
              <a:rPr lang="en-US" b="0" i="0" dirty="0" err="1">
                <a:effectLst/>
                <a:latin typeface="Titillium Web Light" panose="00000400000000000000" pitchFamily="2" charset="0"/>
              </a:rPr>
              <a:t>chaincode</a:t>
            </a:r>
            <a:r>
              <a:rPr lang="en-US" b="0" i="0" dirty="0">
                <a:effectLst/>
                <a:latin typeface="Titillium Web Light" panose="00000400000000000000" pitchFamily="2" charset="0"/>
              </a:rPr>
              <a:t>), and configuration. Transactions executed within a channel are only visible to the participants who have been granted access to that specific channel, ensuring confidential interactions between relevant parties</a:t>
            </a:r>
            <a:endParaRPr lang="en-US" b="1" i="0" dirty="0">
              <a:solidFill>
                <a:srgbClr val="333333"/>
              </a:solidFill>
              <a:effectLst/>
              <a:latin typeface="Titillium Web Light" panose="00000400000000000000" pitchFamily="2" charset="0"/>
            </a:endParaRPr>
          </a:p>
          <a:p>
            <a:pPr marL="285750" indent="-285750" algn="l">
              <a:buFont typeface="Arial" panose="020B0604020202020204" pitchFamily="34" charset="0"/>
              <a:buChar char="•"/>
            </a:pPr>
            <a:r>
              <a:rPr lang="en-US" sz="1600" b="1" i="0" dirty="0">
                <a:solidFill>
                  <a:srgbClr val="333333"/>
                </a:solidFill>
                <a:effectLst/>
                <a:latin typeface="Open Sans" panose="020B0606030504020204" pitchFamily="34" charset="0"/>
              </a:rPr>
              <a:t>Isolation of Transactions</a:t>
            </a:r>
            <a:r>
              <a:rPr lang="en-US" sz="1600" b="0" i="0" dirty="0">
                <a:solidFill>
                  <a:srgbClr val="333333"/>
                </a:solidFill>
                <a:effectLst/>
                <a:latin typeface="Open Sans" panose="020B0606030504020204" pitchFamily="34" charset="0"/>
              </a:rPr>
              <a:t>: Transactions within a channel are only visible to the participating organizations in that channel. Other organizations in the network cannot see or access these transactions, ensuring data privacy.</a:t>
            </a:r>
          </a:p>
          <a:p>
            <a:pPr marL="285750" indent="-285750" algn="l">
              <a:buFont typeface="Arial" panose="020B0604020202020204" pitchFamily="34" charset="0"/>
              <a:buChar char="•"/>
            </a:pPr>
            <a:r>
              <a:rPr lang="en-US" sz="1600" b="1" i="0" dirty="0">
                <a:solidFill>
                  <a:srgbClr val="333333"/>
                </a:solidFill>
                <a:effectLst/>
                <a:latin typeface="Open Sans" panose="020B0606030504020204" pitchFamily="34" charset="0"/>
              </a:rPr>
              <a:t>Private Data Collections</a:t>
            </a:r>
            <a:r>
              <a:rPr lang="en-US" sz="1600" b="0" i="0" dirty="0">
                <a:solidFill>
                  <a:srgbClr val="333333"/>
                </a:solidFill>
                <a:effectLst/>
                <a:latin typeface="Open Sans" panose="020B0606030504020204" pitchFamily="34" charset="0"/>
              </a:rPr>
              <a:t>: Channel supports </a:t>
            </a:r>
            <a:r>
              <a:rPr lang="en-US" sz="1600" b="1" i="0" dirty="0">
                <a:solidFill>
                  <a:srgbClr val="333333"/>
                </a:solidFill>
                <a:effectLst/>
                <a:latin typeface="Open Sans" panose="020B0606030504020204" pitchFamily="34" charset="0"/>
              </a:rPr>
              <a:t>private data collections</a:t>
            </a:r>
            <a:r>
              <a:rPr lang="en-US" sz="1600" b="0" i="0" dirty="0">
                <a:solidFill>
                  <a:srgbClr val="333333"/>
                </a:solidFill>
                <a:effectLst/>
                <a:latin typeface="Open Sans" panose="020B0606030504020204" pitchFamily="34" charset="0"/>
              </a:rPr>
              <a:t>, enabling channel members to share specific data selectively. This proves useful for sensitive information that should not be visible to all participants.</a:t>
            </a:r>
          </a:p>
          <a:p>
            <a:pPr marL="285750" indent="-285750" algn="l">
              <a:buFont typeface="Arial" panose="020B0604020202020204" pitchFamily="34" charset="0"/>
              <a:buChar char="•"/>
            </a:pPr>
            <a:r>
              <a:rPr lang="en-US" sz="1600" b="1" i="0" dirty="0">
                <a:solidFill>
                  <a:srgbClr val="333333"/>
                </a:solidFill>
                <a:effectLst/>
                <a:latin typeface="Open Sans" panose="020B0606030504020204" pitchFamily="34" charset="0"/>
              </a:rPr>
              <a:t>Consensus Mechanism</a:t>
            </a:r>
            <a:r>
              <a:rPr lang="en-US" sz="1600" b="0" i="0" dirty="0">
                <a:solidFill>
                  <a:srgbClr val="333333"/>
                </a:solidFill>
                <a:effectLst/>
                <a:latin typeface="Open Sans" panose="020B0606030504020204" pitchFamily="34" charset="0"/>
              </a:rPr>
              <a:t>: The organizations within the channel limit consensus, meaning that only channel members validate and agree upon transactions, improving efficiency.</a:t>
            </a:r>
          </a:p>
          <a:p>
            <a:pPr marL="285750" indent="-285750" algn="l">
              <a:buFont typeface="Arial" panose="020B0604020202020204" pitchFamily="34" charset="0"/>
              <a:buChar char="•"/>
            </a:pPr>
            <a:r>
              <a:rPr lang="en-US" sz="1600" b="1" i="0" dirty="0">
                <a:solidFill>
                  <a:srgbClr val="333333"/>
                </a:solidFill>
                <a:effectLst/>
                <a:latin typeface="Open Sans" panose="020B0606030504020204" pitchFamily="34" charset="0"/>
              </a:rPr>
              <a:t>Channel Membership Service Providers (MSPs)</a:t>
            </a:r>
            <a:r>
              <a:rPr lang="en-US" sz="1600" b="0" i="0" dirty="0">
                <a:solidFill>
                  <a:srgbClr val="333333"/>
                </a:solidFill>
                <a:effectLst/>
                <a:latin typeface="Open Sans" panose="020B0606030504020204" pitchFamily="34" charset="0"/>
              </a:rPr>
              <a:t>: MSPs actively manage the identity and access control for participants within a channel, ensuring that only authorized entities can interact within the channel.</a:t>
            </a:r>
          </a:p>
          <a:p>
            <a:pPr marL="285750" indent="-285750" algn="l">
              <a:buFont typeface="Arial" panose="020B0604020202020204" pitchFamily="34" charset="0"/>
              <a:buChar char="•"/>
            </a:pPr>
            <a:r>
              <a:rPr lang="en-US" sz="1600" b="1" i="0" dirty="0">
                <a:solidFill>
                  <a:srgbClr val="333333"/>
                </a:solidFill>
                <a:effectLst/>
                <a:latin typeface="Open Sans" panose="020B0606030504020204" pitchFamily="34" charset="0"/>
              </a:rPr>
              <a:t>Anchor Peers</a:t>
            </a:r>
            <a:r>
              <a:rPr lang="en-US" sz="1600" b="0" i="0" dirty="0">
                <a:solidFill>
                  <a:srgbClr val="333333"/>
                </a:solidFill>
                <a:effectLst/>
                <a:latin typeface="Open Sans" panose="020B0606030504020204" pitchFamily="34" charset="0"/>
              </a:rPr>
              <a:t>: Each organization participating in a channel designates an anchor peer. These peers maintain the current state of the ledger and serve as the communication endpoint for the organization.</a:t>
            </a:r>
          </a:p>
          <a:p>
            <a:pPr marL="285750" indent="-285750" algn="l">
              <a:buFont typeface="Arial" panose="020B0604020202020204" pitchFamily="34" charset="0"/>
              <a:buChar char="•"/>
            </a:pPr>
            <a:r>
              <a:rPr lang="en-US" sz="1600" b="1" i="0" dirty="0">
                <a:solidFill>
                  <a:srgbClr val="333333"/>
                </a:solidFill>
                <a:effectLst/>
                <a:latin typeface="Open Sans" panose="020B0606030504020204" pitchFamily="34" charset="0"/>
              </a:rPr>
              <a:t>Channel Events</a:t>
            </a:r>
            <a:r>
              <a:rPr lang="en-US" sz="1600" b="0" i="0" dirty="0">
                <a:solidFill>
                  <a:srgbClr val="333333"/>
                </a:solidFill>
                <a:effectLst/>
                <a:latin typeface="Open Sans" panose="020B0606030504020204" pitchFamily="34" charset="0"/>
              </a:rPr>
              <a:t>: Channels facilitate the broadcasting of events to interested parties, allowing real-time notifications of important updates and transactions.</a:t>
            </a:r>
            <a:endParaRPr lang="en-US" dirty="0">
              <a:latin typeface="Titillium Web Light" panose="00000400000000000000" pitchFamily="2" charset="0"/>
            </a:endParaRPr>
          </a:p>
        </p:txBody>
      </p:sp>
      <p:pic>
        <p:nvPicPr>
          <p:cNvPr id="2" name="Picture 2" descr="Hyperledger –  Folder on desk with label beside diagrams. ">
            <a:extLst>
              <a:ext uri="{FF2B5EF4-FFF2-40B4-BE49-F238E27FC236}">
                <a16:creationId xmlns:a16="http://schemas.microsoft.com/office/drawing/2014/main" id="{C3449595-C1C3-ECF0-E1BF-D26CC2DB88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4380" y="1839100"/>
            <a:ext cx="1242543" cy="77858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49D39F6-810C-0009-55A6-CA86D0CA005B}"/>
              </a:ext>
            </a:extLst>
          </p:cNvPr>
          <p:cNvSpPr/>
          <p:nvPr/>
        </p:nvSpPr>
        <p:spPr>
          <a:xfrm>
            <a:off x="-8467" y="7179"/>
            <a:ext cx="12180896" cy="656492"/>
          </a:xfrm>
          <a:prstGeom prst="rect">
            <a:avLst/>
          </a:prstGeom>
          <a:solidFill>
            <a:srgbClr val="1560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Further….. The Value of  “Channels” in LFDT Technology for GHG Accounting and Tracking </a:t>
            </a:r>
          </a:p>
        </p:txBody>
      </p:sp>
      <p:sp>
        <p:nvSpPr>
          <p:cNvPr id="6" name="TextBox 5">
            <a:extLst>
              <a:ext uri="{FF2B5EF4-FFF2-40B4-BE49-F238E27FC236}">
                <a16:creationId xmlns:a16="http://schemas.microsoft.com/office/drawing/2014/main" id="{684A6894-DEC0-6CCD-4A23-3E81B315B043}"/>
              </a:ext>
            </a:extLst>
          </p:cNvPr>
          <p:cNvSpPr txBox="1"/>
          <p:nvPr/>
        </p:nvSpPr>
        <p:spPr>
          <a:xfrm>
            <a:off x="59925" y="834311"/>
            <a:ext cx="12044111" cy="923330"/>
          </a:xfrm>
          <a:prstGeom prst="rect">
            <a:avLst/>
          </a:prstGeom>
          <a:noFill/>
        </p:spPr>
        <p:txBody>
          <a:bodyPr wrap="square" rtlCol="0">
            <a:spAutoFit/>
          </a:bodyPr>
          <a:lstStyle/>
          <a:p>
            <a:pPr algn="l"/>
            <a:r>
              <a:rPr lang="en-US" b="0" i="0" dirty="0">
                <a:effectLst/>
                <a:latin typeface="Titillium Web Light" panose="00000400000000000000" pitchFamily="2" charset="0"/>
              </a:rPr>
              <a:t>In LFDT </a:t>
            </a:r>
            <a:r>
              <a:rPr lang="en-US" b="1" i="0" dirty="0">
                <a:solidFill>
                  <a:srgbClr val="008000"/>
                </a:solidFill>
                <a:effectLst/>
                <a:latin typeface="Titillium Web Light" panose="00000400000000000000" pitchFamily="2" charset="0"/>
              </a:rPr>
              <a:t>Fabric,</a:t>
            </a:r>
            <a:r>
              <a:rPr lang="en-US" b="0" i="0" dirty="0">
                <a:effectLst/>
                <a:latin typeface="Titillium Web Light" panose="00000400000000000000" pitchFamily="2" charset="0"/>
              </a:rPr>
              <a:t> channels are private and isolated communication pathways that enable specific participants within a permissioned blockchain network to selectively share data and transactions. They play a fundamental role in ensuring privacy, scalability, and segregation of data in a distributed ledger environment.</a:t>
            </a:r>
            <a:endParaRPr lang="en-US" dirty="0"/>
          </a:p>
        </p:txBody>
      </p:sp>
    </p:spTree>
    <p:extLst>
      <p:ext uri="{BB962C8B-B14F-4D97-AF65-F5344CB8AC3E}">
        <p14:creationId xmlns:p14="http://schemas.microsoft.com/office/powerpoint/2010/main" val="4179151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AC50D-16C4-FBD6-AA2C-3311B0A268B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622463F-8883-FC7C-5D0D-BFD58F912234}"/>
              </a:ext>
            </a:extLst>
          </p:cNvPr>
          <p:cNvSpPr/>
          <p:nvPr/>
        </p:nvSpPr>
        <p:spPr>
          <a:xfrm>
            <a:off x="-4608" y="8756"/>
            <a:ext cx="12180896" cy="656492"/>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t>The Competitive Advantage of LFDT Platforms Over Other Blockchain Solutions for a Supply Chain Digital Twin (1)</a:t>
            </a:r>
          </a:p>
        </p:txBody>
      </p:sp>
      <p:sp>
        <p:nvSpPr>
          <p:cNvPr id="65" name="AutoShape 2" descr="Cash Pictures, Cash Stock Photos &amp; Images | Depositphotos®">
            <a:extLst>
              <a:ext uri="{FF2B5EF4-FFF2-40B4-BE49-F238E27FC236}">
                <a16:creationId xmlns:a16="http://schemas.microsoft.com/office/drawing/2014/main" id="{EF73C94B-6524-CFF7-B347-91D073C46A0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32F0645D-27C1-A7D2-F18E-CB9E9E55378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TextBox 21">
            <a:extLst>
              <a:ext uri="{FF2B5EF4-FFF2-40B4-BE49-F238E27FC236}">
                <a16:creationId xmlns:a16="http://schemas.microsoft.com/office/drawing/2014/main" id="{A1013359-D741-CCB1-E0B1-BAF65116A5F1}"/>
              </a:ext>
            </a:extLst>
          </p:cNvPr>
          <p:cNvSpPr txBox="1"/>
          <p:nvPr/>
        </p:nvSpPr>
        <p:spPr>
          <a:xfrm>
            <a:off x="11041" y="1125197"/>
            <a:ext cx="12130557" cy="5355312"/>
          </a:xfrm>
          <a:prstGeom prst="rect">
            <a:avLst/>
          </a:prstGeom>
          <a:noFill/>
          <a:ln>
            <a:noFill/>
          </a:ln>
        </p:spPr>
        <p:txBody>
          <a:bodyPr wrap="square" rtlCol="0">
            <a:spAutoFit/>
          </a:bodyPr>
          <a:lstStyle/>
          <a:p>
            <a:pPr marL="342900" indent="-342900">
              <a:buAutoNum type="arabicPeriod"/>
            </a:pPr>
            <a:r>
              <a:rPr lang="en-US" b="1" dirty="0">
                <a:solidFill>
                  <a:schemeClr val="tx2">
                    <a:lumMod val="75000"/>
                    <a:lumOff val="25000"/>
                  </a:schemeClr>
                </a:solidFill>
              </a:rPr>
              <a:t>Customizability and Flexibility</a:t>
            </a:r>
          </a:p>
          <a:p>
            <a:r>
              <a:rPr lang="en-US" b="1" dirty="0">
                <a:solidFill>
                  <a:schemeClr val="tx2">
                    <a:lumMod val="75000"/>
                    <a:lumOff val="25000"/>
                  </a:schemeClr>
                </a:solidFill>
              </a:rPr>
              <a:t>       </a:t>
            </a:r>
            <a:r>
              <a:rPr lang="en-US" dirty="0"/>
              <a:t>LFDT platforms, such as Fabric, </a:t>
            </a:r>
            <a:r>
              <a:rPr lang="en-US" dirty="0" err="1"/>
              <a:t>Besu</a:t>
            </a:r>
            <a:r>
              <a:rPr lang="en-US" dirty="0"/>
              <a:t>, and Iroha offer unparalleled modularity and flexibility compared to other</a:t>
            </a:r>
          </a:p>
          <a:p>
            <a:r>
              <a:rPr lang="en-US" dirty="0"/>
              <a:t>       blockchain solutions. This allows enterprises to customize the network architecture, consensus protocols, and access</a:t>
            </a:r>
          </a:p>
          <a:p>
            <a:r>
              <a:rPr lang="en-US" dirty="0"/>
              <a:t>       permissions for their </a:t>
            </a:r>
            <a:r>
              <a:rPr lang="en-US" b="1" dirty="0"/>
              <a:t>supply chain digital twin </a:t>
            </a:r>
            <a:r>
              <a:rPr lang="en-US" dirty="0"/>
              <a:t>as global GHG emission regulations evolve. </a:t>
            </a:r>
            <a:endParaRPr lang="en-US" b="1" dirty="0">
              <a:solidFill>
                <a:schemeClr val="tx2">
                  <a:lumMod val="75000"/>
                  <a:lumOff val="25000"/>
                </a:schemeClr>
              </a:solidFill>
            </a:endParaRPr>
          </a:p>
          <a:p>
            <a:endParaRPr lang="en-US" dirty="0"/>
          </a:p>
          <a:p>
            <a:pPr marL="342900" indent="-342900">
              <a:buAutoNum type="arabicPeriod" startAt="2"/>
            </a:pPr>
            <a:r>
              <a:rPr lang="en-US" b="1" dirty="0">
                <a:solidFill>
                  <a:schemeClr val="tx2">
                    <a:lumMod val="75000"/>
                    <a:lumOff val="25000"/>
                  </a:schemeClr>
                </a:solidFill>
              </a:rPr>
              <a:t>Scalability for Enterprise Applications</a:t>
            </a:r>
            <a:br>
              <a:rPr lang="en-US" dirty="0"/>
            </a:br>
            <a:r>
              <a:rPr lang="en-US" dirty="0"/>
              <a:t>LFDT platforms are designed to handle the scale and complexity of modern supply chains. By enabling features such as </a:t>
            </a:r>
            <a:r>
              <a:rPr lang="en-US" b="1" dirty="0"/>
              <a:t>sharding and parallel processing, </a:t>
            </a:r>
            <a:r>
              <a:rPr lang="en-US" dirty="0"/>
              <a:t>LFDT platforms can accommodate high transaction volumes and diverse data flows, using </a:t>
            </a:r>
            <a:r>
              <a:rPr lang="en-US" b="1" dirty="0"/>
              <a:t>data channels</a:t>
            </a:r>
            <a:r>
              <a:rPr lang="en-US" dirty="0"/>
              <a:t>, critical for creating an accurate and </a:t>
            </a:r>
            <a:r>
              <a:rPr lang="en-US" b="1" dirty="0"/>
              <a:t>real-time digital twin of a global supply chain network.</a:t>
            </a:r>
          </a:p>
          <a:p>
            <a:pPr marL="342900" indent="-342900">
              <a:buAutoNum type="arabicPeriod" startAt="2"/>
            </a:pPr>
            <a:endParaRPr lang="en-US" b="1" dirty="0"/>
          </a:p>
          <a:p>
            <a:pPr marL="342900" indent="-342900">
              <a:buAutoNum type="arabicPeriod" startAt="2"/>
            </a:pPr>
            <a:r>
              <a:rPr lang="en-US" b="1" dirty="0">
                <a:solidFill>
                  <a:schemeClr val="tx2">
                    <a:lumMod val="75000"/>
                    <a:lumOff val="25000"/>
                  </a:schemeClr>
                </a:solidFill>
              </a:rPr>
              <a:t>Enhanced Data Privacy and Security</a:t>
            </a:r>
            <a:br>
              <a:rPr lang="en-US" dirty="0"/>
            </a:br>
            <a:r>
              <a:rPr lang="en-US" dirty="0"/>
              <a:t>Unlike public blockchain solutions, LFDT platforms provide robust privacy features through permissioned networks and private data collections. Supply chain digital twins often handle sensitive information, such as trade secrets, vendor agreements, </a:t>
            </a:r>
            <a:r>
              <a:rPr lang="en-US" b="1" dirty="0"/>
              <a:t>GHG emissions</a:t>
            </a:r>
            <a:r>
              <a:rPr lang="en-US" dirty="0"/>
              <a:t>, or shipment details. LFDT ensures that only authorized participants can access or modify this data, reducing the risk of leaks or cyberattacks. </a:t>
            </a:r>
            <a:r>
              <a:rPr lang="en-US" b="1" dirty="0"/>
              <a:t>   </a:t>
            </a:r>
          </a:p>
          <a:p>
            <a:pPr marL="342900" indent="-342900">
              <a:buAutoNum type="arabicPeriod" startAt="2"/>
            </a:pPr>
            <a:endParaRPr lang="en-US" b="1" dirty="0"/>
          </a:p>
          <a:p>
            <a:pPr marL="342900" indent="-342900">
              <a:buAutoNum type="arabicPeriod" startAt="2"/>
            </a:pPr>
            <a:r>
              <a:rPr lang="en-US" b="1" dirty="0">
                <a:solidFill>
                  <a:schemeClr val="tx2">
                    <a:lumMod val="75000"/>
                    <a:lumOff val="25000"/>
                  </a:schemeClr>
                </a:solidFill>
              </a:rPr>
              <a:t>Support for IoT and Sensor Data Integration</a:t>
            </a:r>
            <a:br>
              <a:rPr lang="en-US" dirty="0"/>
            </a:br>
            <a:r>
              <a:rPr lang="en-US" dirty="0"/>
              <a:t>Supply chain </a:t>
            </a:r>
            <a:r>
              <a:rPr lang="en-US" b="1" dirty="0"/>
              <a:t>digital twins rely on real-time data</a:t>
            </a:r>
            <a:r>
              <a:rPr lang="en-US" dirty="0"/>
              <a:t> from IoT devices, sensors, and GPS trackers. LFDT platforms, such as FABRIC channel architecture, excel in ingesting, processing, and securely storing large data streams. </a:t>
            </a:r>
            <a:r>
              <a:rPr lang="en-US" b="1" dirty="0"/>
              <a:t>    </a:t>
            </a:r>
            <a:endParaRPr lang="en-US" dirty="0"/>
          </a:p>
        </p:txBody>
      </p:sp>
      <p:sp>
        <p:nvSpPr>
          <p:cNvPr id="6" name="Rectangle 5">
            <a:extLst>
              <a:ext uri="{FF2B5EF4-FFF2-40B4-BE49-F238E27FC236}">
                <a16:creationId xmlns:a16="http://schemas.microsoft.com/office/drawing/2014/main" id="{EBAA4DF5-F6FF-61D0-5787-BA7483B05FA4}"/>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contents of this slide were collected from OpenAI responses to questions centered on the advantages of digital twins.</a:t>
            </a:r>
          </a:p>
        </p:txBody>
      </p:sp>
      <p:sp>
        <p:nvSpPr>
          <p:cNvPr id="2" name="TextBox 1">
            <a:extLst>
              <a:ext uri="{FF2B5EF4-FFF2-40B4-BE49-F238E27FC236}">
                <a16:creationId xmlns:a16="http://schemas.microsoft.com/office/drawing/2014/main" id="{837D604C-3101-34DB-47B5-A57A3A931FFD}"/>
              </a:ext>
            </a:extLst>
          </p:cNvPr>
          <p:cNvSpPr txBox="1"/>
          <p:nvPr/>
        </p:nvSpPr>
        <p:spPr>
          <a:xfrm>
            <a:off x="15288" y="668757"/>
            <a:ext cx="12144782" cy="400110"/>
          </a:xfrm>
          <a:prstGeom prst="rect">
            <a:avLst/>
          </a:prstGeom>
          <a:noFill/>
          <a:ln>
            <a:noFill/>
          </a:ln>
        </p:spPr>
        <p:txBody>
          <a:bodyPr wrap="square" rtlCol="0">
            <a:spAutoFit/>
          </a:bodyPr>
          <a:lstStyle/>
          <a:p>
            <a:r>
              <a:rPr lang="en-US" sz="2000" dirty="0"/>
              <a:t>                                                             Detailed Advantages</a:t>
            </a:r>
            <a:endParaRPr lang="en-US" sz="2000" u="sng" dirty="0">
              <a:solidFill>
                <a:srgbClr val="C00000"/>
              </a:solidFill>
            </a:endParaRPr>
          </a:p>
        </p:txBody>
      </p:sp>
      <p:pic>
        <p:nvPicPr>
          <p:cNvPr id="3" name="Picture 2">
            <a:extLst>
              <a:ext uri="{FF2B5EF4-FFF2-40B4-BE49-F238E27FC236}">
                <a16:creationId xmlns:a16="http://schemas.microsoft.com/office/drawing/2014/main" id="{199D8781-9C97-B9DA-8C25-05A3595FC165}"/>
              </a:ext>
            </a:extLst>
          </p:cNvPr>
          <p:cNvPicPr>
            <a:picLocks noChangeAspect="1"/>
          </p:cNvPicPr>
          <p:nvPr/>
        </p:nvPicPr>
        <p:blipFill>
          <a:blip r:embed="rId2"/>
          <a:stretch>
            <a:fillRect/>
          </a:stretch>
        </p:blipFill>
        <p:spPr>
          <a:xfrm>
            <a:off x="11041" y="704557"/>
            <a:ext cx="3488584" cy="328366"/>
          </a:xfrm>
          <a:prstGeom prst="rect">
            <a:avLst/>
          </a:prstGeom>
        </p:spPr>
      </p:pic>
      <p:cxnSp>
        <p:nvCxnSpPr>
          <p:cNvPr id="7" name="Straight Connector 6">
            <a:extLst>
              <a:ext uri="{FF2B5EF4-FFF2-40B4-BE49-F238E27FC236}">
                <a16:creationId xmlns:a16="http://schemas.microsoft.com/office/drawing/2014/main" id="{E8B301F3-E83F-41C8-29F9-502F58767AAC}"/>
              </a:ext>
            </a:extLst>
          </p:cNvPr>
          <p:cNvCxnSpPr>
            <a:cxnSpLocks/>
          </p:cNvCxnSpPr>
          <p:nvPr/>
        </p:nvCxnSpPr>
        <p:spPr>
          <a:xfrm flipV="1">
            <a:off x="109125" y="1125197"/>
            <a:ext cx="11526405" cy="284"/>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0" name="Picture 8" descr="net zero carbon footprint icon vector emissions free no ...">
            <a:extLst>
              <a:ext uri="{FF2B5EF4-FFF2-40B4-BE49-F238E27FC236}">
                <a16:creationId xmlns:a16="http://schemas.microsoft.com/office/drawing/2014/main" id="{E73AC2CA-414F-D71D-4A67-AD02A10219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85370" y="691047"/>
            <a:ext cx="496488" cy="467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808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9B5BD-E785-5D11-77EE-B4192B9EBE6C}"/>
            </a:ext>
          </a:extLst>
        </p:cNvPr>
        <p:cNvGrpSpPr/>
        <p:nvPr/>
      </p:nvGrpSpPr>
      <p:grpSpPr>
        <a:xfrm>
          <a:off x="0" y="0"/>
          <a:ext cx="0" cy="0"/>
          <a:chOff x="0" y="0"/>
          <a:chExt cx="0" cy="0"/>
        </a:xfrm>
      </p:grpSpPr>
      <p:sp>
        <p:nvSpPr>
          <p:cNvPr id="65" name="AutoShape 2" descr="Cash Pictures, Cash Stock Photos &amp; Images | Depositphotos®">
            <a:extLst>
              <a:ext uri="{FF2B5EF4-FFF2-40B4-BE49-F238E27FC236}">
                <a16:creationId xmlns:a16="http://schemas.microsoft.com/office/drawing/2014/main" id="{B673320F-6371-2ED6-BB06-3A5F79DFA50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3A9E8368-AB97-4A85-6FCA-7D9556924F78}"/>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TextBox 21">
            <a:extLst>
              <a:ext uri="{FF2B5EF4-FFF2-40B4-BE49-F238E27FC236}">
                <a16:creationId xmlns:a16="http://schemas.microsoft.com/office/drawing/2014/main" id="{A7F86F2C-402A-37C0-8383-9D913303D240}"/>
              </a:ext>
            </a:extLst>
          </p:cNvPr>
          <p:cNvSpPr txBox="1"/>
          <p:nvPr/>
        </p:nvSpPr>
        <p:spPr>
          <a:xfrm>
            <a:off x="11041" y="1128682"/>
            <a:ext cx="11865117" cy="5909310"/>
          </a:xfrm>
          <a:prstGeom prst="rect">
            <a:avLst/>
          </a:prstGeom>
          <a:noFill/>
          <a:ln>
            <a:noFill/>
          </a:ln>
        </p:spPr>
        <p:txBody>
          <a:bodyPr wrap="square" rtlCol="0">
            <a:spAutoFit/>
          </a:bodyPr>
          <a:lstStyle/>
          <a:p>
            <a:pPr marL="342900" indent="-342900">
              <a:buAutoNum type="arabicPeriod" startAt="4"/>
            </a:pPr>
            <a:r>
              <a:rPr lang="en-US" b="1" dirty="0">
                <a:solidFill>
                  <a:schemeClr val="tx2">
                    <a:lumMod val="75000"/>
                    <a:lumOff val="25000"/>
                  </a:schemeClr>
                </a:solidFill>
              </a:rPr>
              <a:t>Seamless Integration with Existing Systems</a:t>
            </a:r>
            <a:br>
              <a:rPr lang="en-US" dirty="0"/>
            </a:br>
            <a:r>
              <a:rPr lang="en-US" dirty="0"/>
              <a:t>LFDT platforms emphasize interoperability and integration, allowing seamless communication between legacy systems (e.g., ERP and WMS) and IoT devices. This is essential for building a </a:t>
            </a:r>
            <a:r>
              <a:rPr lang="en-US" b="1" dirty="0"/>
              <a:t>cohesive digital twin that incorporates physical, digital, and logistical elements of the supply chain.</a:t>
            </a:r>
          </a:p>
          <a:p>
            <a:pPr marL="342900" indent="-342900">
              <a:buAutoNum type="arabicPeriod" startAt="4"/>
            </a:pPr>
            <a:endParaRPr lang="en-US" b="1" dirty="0"/>
          </a:p>
          <a:p>
            <a:pPr marL="342900" indent="-342900">
              <a:buAutoNum type="arabicPeriod" startAt="4"/>
            </a:pPr>
            <a:r>
              <a:rPr lang="en-US" b="1" dirty="0">
                <a:solidFill>
                  <a:schemeClr val="tx2">
                    <a:lumMod val="75000"/>
                    <a:lumOff val="25000"/>
                  </a:schemeClr>
                </a:solidFill>
              </a:rPr>
              <a:t>No Cryptocurrency Dependency</a:t>
            </a:r>
            <a:br>
              <a:rPr lang="en-US" dirty="0"/>
            </a:br>
            <a:r>
              <a:rPr lang="en-US" dirty="0"/>
              <a:t>LFDT platforms do not rely on native cryptocurrencies to operate, avoiding the challenges of volatility, regulatory scrutiny, and unnecessary overhead costs. For supply chains, this ensures that blockchain technology can focus solely on improving transparency, traceability, and efficiency without distractions from token-based incentives.</a:t>
            </a:r>
            <a:endParaRPr lang="en-US" b="1" dirty="0"/>
          </a:p>
          <a:p>
            <a:pPr marL="342900" indent="-342900">
              <a:buAutoNum type="arabicPeriod" startAt="4"/>
            </a:pPr>
            <a:endParaRPr lang="en-US" dirty="0"/>
          </a:p>
          <a:p>
            <a:r>
              <a:rPr lang="en-US" b="1" dirty="0">
                <a:solidFill>
                  <a:schemeClr val="tx2">
                    <a:lumMod val="75000"/>
                    <a:lumOff val="25000"/>
                  </a:schemeClr>
                </a:solidFill>
              </a:rPr>
              <a:t>5.   Enterprise-Grade Features</a:t>
            </a:r>
          </a:p>
          <a:p>
            <a:r>
              <a:rPr lang="en-US" b="1" dirty="0"/>
              <a:t>       Advantage</a:t>
            </a:r>
            <a:r>
              <a:rPr lang="en-US" dirty="0"/>
              <a:t>: LFDT platforms and tools support features like:</a:t>
            </a:r>
          </a:p>
          <a:p>
            <a:pPr marL="742950" lvl="1" indent="-285750">
              <a:buFont typeface="Arial" panose="020B0604020202020204" pitchFamily="34" charset="0"/>
              <a:buChar char="•"/>
            </a:pPr>
            <a:r>
              <a:rPr lang="en-US" dirty="0"/>
              <a:t>High throughput and scalability (e.g., Fabric's channel system).</a:t>
            </a:r>
          </a:p>
          <a:p>
            <a:pPr marL="742950" lvl="1" indent="-285750">
              <a:buFont typeface="Arial" panose="020B0604020202020204" pitchFamily="34" charset="0"/>
              <a:buChar char="•"/>
            </a:pPr>
            <a:r>
              <a:rPr lang="en-US" dirty="0"/>
              <a:t>Advanced privacy controls (e.g., private data collections).</a:t>
            </a:r>
          </a:p>
          <a:p>
            <a:pPr marL="742950" lvl="1" indent="-285750">
              <a:buFont typeface="Arial" panose="020B0604020202020204" pitchFamily="34" charset="0"/>
              <a:buChar char="•"/>
            </a:pPr>
            <a:r>
              <a:rPr lang="en-US" dirty="0"/>
              <a:t>Rich querying capabilities (e.g., using CouchDB).</a:t>
            </a:r>
          </a:p>
          <a:p>
            <a:r>
              <a:rPr lang="en-US" b="1" dirty="0"/>
              <a:t>       Why It Matters</a:t>
            </a:r>
            <a:r>
              <a:rPr lang="en-US" dirty="0"/>
              <a:t>: These features make LFDT platforms ideal for enterprise applications like supply chain management and</a:t>
            </a:r>
          </a:p>
          <a:p>
            <a:r>
              <a:rPr lang="en-US" dirty="0"/>
              <a:t>       the deployment of a digital twin for simulation of GHG emissions.</a:t>
            </a:r>
          </a:p>
          <a:p>
            <a:endParaRPr lang="en-US" dirty="0"/>
          </a:p>
          <a:p>
            <a:endParaRPr lang="en-US" dirty="0"/>
          </a:p>
          <a:p>
            <a:endParaRPr lang="en-US" dirty="0"/>
          </a:p>
          <a:p>
            <a:pPr marL="342900" indent="-342900">
              <a:buAutoNum type="arabicPeriod"/>
            </a:pPr>
            <a:endParaRPr lang="en-US" dirty="0"/>
          </a:p>
        </p:txBody>
      </p:sp>
      <p:sp>
        <p:nvSpPr>
          <p:cNvPr id="6" name="Rectangle 5">
            <a:extLst>
              <a:ext uri="{FF2B5EF4-FFF2-40B4-BE49-F238E27FC236}">
                <a16:creationId xmlns:a16="http://schemas.microsoft.com/office/drawing/2014/main" id="{32646927-4860-5EFF-E814-1F588789F9FA}"/>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contents of this slide were collected from </a:t>
            </a:r>
            <a:r>
              <a:rPr lang="en-US" dirty="0" err="1">
                <a:solidFill>
                  <a:schemeClr val="tx1"/>
                </a:solidFill>
              </a:rPr>
              <a:t>openAI</a:t>
            </a:r>
            <a:r>
              <a:rPr lang="en-US" dirty="0">
                <a:solidFill>
                  <a:schemeClr val="tx1"/>
                </a:solidFill>
              </a:rPr>
              <a:t> responses to questions centered on the advantages of digital twins.</a:t>
            </a:r>
          </a:p>
        </p:txBody>
      </p:sp>
      <p:sp>
        <p:nvSpPr>
          <p:cNvPr id="2" name="Rectangle 1">
            <a:extLst>
              <a:ext uri="{FF2B5EF4-FFF2-40B4-BE49-F238E27FC236}">
                <a16:creationId xmlns:a16="http://schemas.microsoft.com/office/drawing/2014/main" id="{5F9259B9-97B8-DDF6-6138-D73B61822A12}"/>
              </a:ext>
            </a:extLst>
          </p:cNvPr>
          <p:cNvSpPr/>
          <p:nvPr/>
        </p:nvSpPr>
        <p:spPr>
          <a:xfrm>
            <a:off x="-4608" y="8756"/>
            <a:ext cx="12180896" cy="656492"/>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t>The Competitive Advantage of LFDT Platforms Over Other Blockchain Solutions for a Supply Chain Digital Twin (2)</a:t>
            </a:r>
          </a:p>
        </p:txBody>
      </p:sp>
      <p:pic>
        <p:nvPicPr>
          <p:cNvPr id="3" name="Picture 2">
            <a:extLst>
              <a:ext uri="{FF2B5EF4-FFF2-40B4-BE49-F238E27FC236}">
                <a16:creationId xmlns:a16="http://schemas.microsoft.com/office/drawing/2014/main" id="{9CCC7B0F-B971-8A74-A2FC-44E09E51495C}"/>
              </a:ext>
            </a:extLst>
          </p:cNvPr>
          <p:cNvPicPr>
            <a:picLocks noChangeAspect="1"/>
          </p:cNvPicPr>
          <p:nvPr/>
        </p:nvPicPr>
        <p:blipFill>
          <a:blip r:embed="rId2"/>
          <a:stretch>
            <a:fillRect/>
          </a:stretch>
        </p:blipFill>
        <p:spPr>
          <a:xfrm>
            <a:off x="11041" y="704557"/>
            <a:ext cx="3488584" cy="328366"/>
          </a:xfrm>
          <a:prstGeom prst="rect">
            <a:avLst/>
          </a:prstGeom>
        </p:spPr>
      </p:pic>
      <p:sp>
        <p:nvSpPr>
          <p:cNvPr id="5" name="TextBox 4">
            <a:extLst>
              <a:ext uri="{FF2B5EF4-FFF2-40B4-BE49-F238E27FC236}">
                <a16:creationId xmlns:a16="http://schemas.microsoft.com/office/drawing/2014/main" id="{445DE27A-4472-97BA-EF0B-E8B547A0E6AD}"/>
              </a:ext>
            </a:extLst>
          </p:cNvPr>
          <p:cNvSpPr txBox="1"/>
          <p:nvPr/>
        </p:nvSpPr>
        <p:spPr>
          <a:xfrm>
            <a:off x="15288" y="668757"/>
            <a:ext cx="12144782" cy="400110"/>
          </a:xfrm>
          <a:prstGeom prst="rect">
            <a:avLst/>
          </a:prstGeom>
          <a:noFill/>
          <a:ln>
            <a:noFill/>
          </a:ln>
        </p:spPr>
        <p:txBody>
          <a:bodyPr wrap="square" rtlCol="0">
            <a:spAutoFit/>
          </a:bodyPr>
          <a:lstStyle/>
          <a:p>
            <a:r>
              <a:rPr lang="en-US" sz="2000" dirty="0"/>
              <a:t>                                                             Detailed Advantages Continued………………………..</a:t>
            </a:r>
            <a:endParaRPr lang="en-US" sz="2000" u="sng" dirty="0">
              <a:solidFill>
                <a:srgbClr val="C00000"/>
              </a:solidFill>
            </a:endParaRPr>
          </a:p>
        </p:txBody>
      </p:sp>
      <p:pic>
        <p:nvPicPr>
          <p:cNvPr id="7" name="Picture 8" descr="net zero carbon footprint icon vector emissions free no ...">
            <a:extLst>
              <a:ext uri="{FF2B5EF4-FFF2-40B4-BE49-F238E27FC236}">
                <a16:creationId xmlns:a16="http://schemas.microsoft.com/office/drawing/2014/main" id="{A971B8CA-D048-4544-D3F4-F53C669520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85370" y="691047"/>
            <a:ext cx="496488" cy="467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2223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1D4FC-A50E-BD4A-A85B-7D6FAD05474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F65260B-A655-A6A3-A8CE-8B0917178301}"/>
              </a:ext>
            </a:extLst>
          </p:cNvPr>
          <p:cNvSpPr/>
          <p:nvPr/>
        </p:nvSpPr>
        <p:spPr>
          <a:xfrm rot="5400000">
            <a:off x="-381000" y="389389"/>
            <a:ext cx="6858000" cy="6096000"/>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80"/>
              </a:highlight>
            </a:endParaRPr>
          </a:p>
        </p:txBody>
      </p:sp>
      <p:sp>
        <p:nvSpPr>
          <p:cNvPr id="10" name="TextBox 9">
            <a:extLst>
              <a:ext uri="{FF2B5EF4-FFF2-40B4-BE49-F238E27FC236}">
                <a16:creationId xmlns:a16="http://schemas.microsoft.com/office/drawing/2014/main" id="{68FA8BD3-E4BC-5134-6129-0888D17F75D8}"/>
              </a:ext>
            </a:extLst>
          </p:cNvPr>
          <p:cNvSpPr txBox="1"/>
          <p:nvPr/>
        </p:nvSpPr>
        <p:spPr>
          <a:xfrm>
            <a:off x="0" y="515738"/>
            <a:ext cx="6096000" cy="5878532"/>
          </a:xfrm>
          <a:prstGeom prst="rect">
            <a:avLst/>
          </a:prstGeom>
          <a:solidFill>
            <a:schemeClr val="tx2">
              <a:lumMod val="75000"/>
              <a:lumOff val="25000"/>
            </a:schemeClr>
          </a:solidFill>
        </p:spPr>
        <p:txBody>
          <a:bodyPr wrap="square" rtlCol="0">
            <a:spAutoFit/>
          </a:bodyPr>
          <a:lstStyle/>
          <a:p>
            <a:pPr algn="ctr"/>
            <a:r>
              <a:rPr lang="en-US" sz="3600" b="1" dirty="0">
                <a:solidFill>
                  <a:srgbClr val="FF0000"/>
                </a:solidFill>
              </a:rPr>
              <a:t>  </a:t>
            </a:r>
            <a:r>
              <a:rPr lang="en-US" sz="3600" b="1" dirty="0">
                <a:solidFill>
                  <a:schemeClr val="bg1"/>
                </a:solidFill>
              </a:rPr>
              <a:t>A Use Case</a:t>
            </a:r>
          </a:p>
          <a:p>
            <a:pPr algn="ctr"/>
            <a:endParaRPr lang="en-US" sz="3600" b="1" dirty="0">
              <a:solidFill>
                <a:schemeClr val="bg1"/>
              </a:solidFill>
            </a:endParaRPr>
          </a:p>
          <a:p>
            <a:pPr algn="ctr"/>
            <a:r>
              <a:rPr lang="en-US" sz="3600" b="1" dirty="0">
                <a:solidFill>
                  <a:srgbClr val="FF0000"/>
                </a:solidFill>
              </a:rPr>
              <a:t>LFDT Reference Architecture</a:t>
            </a:r>
          </a:p>
          <a:p>
            <a:pPr algn="ctr"/>
            <a:r>
              <a:rPr lang="en-US" sz="3200" b="1" dirty="0">
                <a:solidFill>
                  <a:schemeClr val="bg1">
                    <a:lumMod val="95000"/>
                  </a:schemeClr>
                </a:solidFill>
              </a:rPr>
              <a:t>for a</a:t>
            </a:r>
          </a:p>
          <a:p>
            <a:pPr algn="ctr"/>
            <a:r>
              <a:rPr lang="en-US" sz="4000" b="1" dirty="0">
                <a:solidFill>
                  <a:schemeClr val="bg1">
                    <a:lumMod val="95000"/>
                  </a:schemeClr>
                </a:solidFill>
              </a:rPr>
              <a:t>Simulation Digital Twin</a:t>
            </a:r>
          </a:p>
          <a:p>
            <a:pPr algn="ctr"/>
            <a:r>
              <a:rPr lang="en-US" sz="3200" b="1" dirty="0">
                <a:solidFill>
                  <a:schemeClr val="bg1">
                    <a:lumMod val="95000"/>
                  </a:schemeClr>
                </a:solidFill>
              </a:rPr>
              <a:t>to</a:t>
            </a:r>
            <a:r>
              <a:rPr lang="en-US" sz="4000" b="1" dirty="0">
                <a:solidFill>
                  <a:schemeClr val="bg1">
                    <a:lumMod val="95000"/>
                  </a:schemeClr>
                </a:solidFill>
              </a:rPr>
              <a:t> </a:t>
            </a:r>
          </a:p>
          <a:p>
            <a:pPr algn="ctr"/>
            <a:r>
              <a:rPr lang="en-US" sz="4000" b="1" dirty="0">
                <a:solidFill>
                  <a:schemeClr val="bg1">
                    <a:lumMod val="95000"/>
                  </a:schemeClr>
                </a:solidFill>
              </a:rPr>
              <a:t>Model Supply Chain</a:t>
            </a:r>
          </a:p>
          <a:p>
            <a:pPr algn="ctr"/>
            <a:r>
              <a:rPr lang="en-US" sz="4000" b="1" dirty="0">
                <a:solidFill>
                  <a:schemeClr val="bg1">
                    <a:lumMod val="95000"/>
                  </a:schemeClr>
                </a:solidFill>
              </a:rPr>
              <a:t>GHG Emissions</a:t>
            </a:r>
          </a:p>
          <a:p>
            <a:pPr algn="ctr"/>
            <a:endParaRPr lang="en-US" sz="4000" b="1" dirty="0">
              <a:solidFill>
                <a:schemeClr val="bg1">
                  <a:lumMod val="95000"/>
                </a:schemeClr>
              </a:solidFill>
            </a:endParaRPr>
          </a:p>
          <a:p>
            <a:pPr algn="ctr"/>
            <a:r>
              <a:rPr lang="en-US" sz="3600" b="1" dirty="0">
                <a:solidFill>
                  <a:schemeClr val="bg1">
                    <a:lumMod val="95000"/>
                  </a:schemeClr>
                </a:solidFill>
              </a:rPr>
              <a:t>Solution and Business View</a:t>
            </a:r>
          </a:p>
        </p:txBody>
      </p:sp>
      <p:sp>
        <p:nvSpPr>
          <p:cNvPr id="65" name="AutoShape 2" descr="Cash Pictures, Cash Stock Photos &amp; Images | Depositphotos®">
            <a:extLst>
              <a:ext uri="{FF2B5EF4-FFF2-40B4-BE49-F238E27FC236}">
                <a16:creationId xmlns:a16="http://schemas.microsoft.com/office/drawing/2014/main" id="{397767DB-B2CD-8DEF-8D09-9F798731E72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9DAF3A91-E2D0-26D0-7390-B9CA73A4B5F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3AE1415A-8D9B-447F-B5B8-82AF5CDC4645}"/>
              </a:ext>
            </a:extLst>
          </p:cNvPr>
          <p:cNvPicPr>
            <a:picLocks noChangeAspect="1"/>
          </p:cNvPicPr>
          <p:nvPr/>
        </p:nvPicPr>
        <p:blipFill>
          <a:blip r:embed="rId2"/>
          <a:stretch>
            <a:fillRect/>
          </a:stretch>
        </p:blipFill>
        <p:spPr>
          <a:xfrm>
            <a:off x="-6475" y="17042"/>
            <a:ext cx="4638906" cy="436641"/>
          </a:xfrm>
          <a:prstGeom prst="rect">
            <a:avLst/>
          </a:prstGeom>
        </p:spPr>
      </p:pic>
      <p:pic>
        <p:nvPicPr>
          <p:cNvPr id="3078" name="Picture 6">
            <a:extLst>
              <a:ext uri="{FF2B5EF4-FFF2-40B4-BE49-F238E27FC236}">
                <a16:creationId xmlns:a16="http://schemas.microsoft.com/office/drawing/2014/main" id="{3219C75B-49DE-FACB-2312-147C3D6E9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2050" y="-21892"/>
            <a:ext cx="6089950" cy="366156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What is the Blockchain and Why is it So Important?">
            <a:extLst>
              <a:ext uri="{FF2B5EF4-FFF2-40B4-BE49-F238E27FC236}">
                <a16:creationId xmlns:a16="http://schemas.microsoft.com/office/drawing/2014/main" id="{04511A44-16B6-60DC-98EC-7B4FC3DED6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2474" y="3581400"/>
            <a:ext cx="6089525" cy="3295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2895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CCECFF">
            <a:alpha val="25000"/>
          </a:srgbClr>
        </a:solidFill>
        <a:effectLst/>
      </p:bgPr>
    </p:bg>
    <p:spTree>
      <p:nvGrpSpPr>
        <p:cNvPr id="1" name="">
          <a:extLst>
            <a:ext uri="{FF2B5EF4-FFF2-40B4-BE49-F238E27FC236}">
              <a16:creationId xmlns:a16="http://schemas.microsoft.com/office/drawing/2014/main" id="{F3176931-F8FD-2C47-F76F-CC9B9BC2C66F}"/>
            </a:ext>
          </a:extLst>
        </p:cNvPr>
        <p:cNvGrpSpPr/>
        <p:nvPr/>
      </p:nvGrpSpPr>
      <p:grpSpPr>
        <a:xfrm>
          <a:off x="0" y="0"/>
          <a:ext cx="0" cy="0"/>
          <a:chOff x="0" y="0"/>
          <a:chExt cx="0" cy="0"/>
        </a:xfrm>
      </p:grpSpPr>
      <p:pic>
        <p:nvPicPr>
          <p:cNvPr id="1048" name="Picture 24" descr="Spring on meadow Meadow near forest Grass Stock Photo">
            <a:extLst>
              <a:ext uri="{FF2B5EF4-FFF2-40B4-BE49-F238E27FC236}">
                <a16:creationId xmlns:a16="http://schemas.microsoft.com/office/drawing/2014/main" id="{BDDC9892-D995-EE36-BB8F-5CB29F2930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5" y="4200"/>
            <a:ext cx="12180025" cy="6502107"/>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Rounded Corners 34">
            <a:extLst>
              <a:ext uri="{FF2B5EF4-FFF2-40B4-BE49-F238E27FC236}">
                <a16:creationId xmlns:a16="http://schemas.microsoft.com/office/drawing/2014/main" id="{DD3B0D6B-3F1A-3AB9-88DD-974B65F4D87F}"/>
              </a:ext>
            </a:extLst>
          </p:cNvPr>
          <p:cNvSpPr/>
          <p:nvPr/>
        </p:nvSpPr>
        <p:spPr>
          <a:xfrm>
            <a:off x="9961187" y="1792190"/>
            <a:ext cx="2057400" cy="587829"/>
          </a:xfrm>
          <a:prstGeom prst="roundRect">
            <a:avLst/>
          </a:prstGeom>
          <a:solidFill>
            <a:srgbClr val="003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E0FE1092-1CCE-FEC0-749C-96D6E6EC033C}"/>
              </a:ext>
            </a:extLst>
          </p:cNvPr>
          <p:cNvSpPr/>
          <p:nvPr/>
        </p:nvSpPr>
        <p:spPr>
          <a:xfrm>
            <a:off x="7567793" y="1792190"/>
            <a:ext cx="2057400" cy="587829"/>
          </a:xfrm>
          <a:prstGeom prst="roundRect">
            <a:avLst/>
          </a:prstGeom>
          <a:solidFill>
            <a:srgbClr val="003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261B9503-5E4B-26D8-0B5E-1B9ECBA9F7DE}"/>
              </a:ext>
            </a:extLst>
          </p:cNvPr>
          <p:cNvSpPr/>
          <p:nvPr/>
        </p:nvSpPr>
        <p:spPr>
          <a:xfrm>
            <a:off x="5161241" y="1769272"/>
            <a:ext cx="2057400" cy="587829"/>
          </a:xfrm>
          <a:prstGeom prst="roundRect">
            <a:avLst/>
          </a:prstGeom>
          <a:solidFill>
            <a:srgbClr val="003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36CD2D44-FB47-49ED-F262-6878A7A2853D}"/>
              </a:ext>
            </a:extLst>
          </p:cNvPr>
          <p:cNvSpPr/>
          <p:nvPr/>
        </p:nvSpPr>
        <p:spPr>
          <a:xfrm>
            <a:off x="2714789" y="1774434"/>
            <a:ext cx="2057400" cy="587829"/>
          </a:xfrm>
          <a:prstGeom prst="roundRect">
            <a:avLst/>
          </a:prstGeom>
          <a:solidFill>
            <a:srgbClr val="003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3B55D7F5-DACF-BDC6-70E5-F209DA4B8968}"/>
              </a:ext>
            </a:extLst>
          </p:cNvPr>
          <p:cNvSpPr/>
          <p:nvPr/>
        </p:nvSpPr>
        <p:spPr>
          <a:xfrm>
            <a:off x="251593" y="1774434"/>
            <a:ext cx="2057400" cy="587829"/>
          </a:xfrm>
          <a:prstGeom prst="roundRect">
            <a:avLst/>
          </a:prstGeom>
          <a:solidFill>
            <a:srgbClr val="003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5FB68F8-207D-D103-99FB-9FF20A5C9CA7}"/>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LFDT – Linux Foundation Decentralized Trust</a:t>
            </a:r>
          </a:p>
        </p:txBody>
      </p:sp>
      <p:sp>
        <p:nvSpPr>
          <p:cNvPr id="11" name="AutoShape 4">
            <a:extLst>
              <a:ext uri="{FF2B5EF4-FFF2-40B4-BE49-F238E27FC236}">
                <a16:creationId xmlns:a16="http://schemas.microsoft.com/office/drawing/2014/main" id="{A5D46F9C-AFF9-C04D-4CBC-A12DA4A6820B}"/>
              </a:ext>
            </a:extLst>
          </p:cNvPr>
          <p:cNvSpPr>
            <a:spLocks noChangeAspect="1" noChangeArrowheads="1"/>
          </p:cNvSpPr>
          <p:nvPr/>
        </p:nvSpPr>
        <p:spPr bwMode="auto">
          <a:xfrm>
            <a:off x="5943600" y="3276600"/>
            <a:ext cx="1289483" cy="12894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2">
            <a:extLst>
              <a:ext uri="{FF2B5EF4-FFF2-40B4-BE49-F238E27FC236}">
                <a16:creationId xmlns:a16="http://schemas.microsoft.com/office/drawing/2014/main" id="{173F6DFB-569C-47A5-0446-F35CAD9B1543}"/>
              </a:ext>
            </a:extLst>
          </p:cNvPr>
          <p:cNvSpPr>
            <a:spLocks noChangeAspect="1" noChangeArrowheads="1"/>
          </p:cNvSpPr>
          <p:nvPr/>
        </p:nvSpPr>
        <p:spPr bwMode="auto">
          <a:xfrm>
            <a:off x="79375" y="-4476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3">
            <a:extLst>
              <a:ext uri="{FF2B5EF4-FFF2-40B4-BE49-F238E27FC236}">
                <a16:creationId xmlns:a16="http://schemas.microsoft.com/office/drawing/2014/main" id="{08302174-04CD-5F76-96B0-8D17F9861401}"/>
              </a:ext>
            </a:extLst>
          </p:cNvPr>
          <p:cNvSpPr>
            <a:spLocks noChangeAspect="1" noChangeArrowheads="1"/>
          </p:cNvSpPr>
          <p:nvPr/>
        </p:nvSpPr>
        <p:spPr bwMode="auto">
          <a:xfrm>
            <a:off x="79375" y="25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5">
            <a:extLst>
              <a:ext uri="{FF2B5EF4-FFF2-40B4-BE49-F238E27FC236}">
                <a16:creationId xmlns:a16="http://schemas.microsoft.com/office/drawing/2014/main" id="{20A1821E-CE2C-25B6-614F-412AE8FDF6E2}"/>
              </a:ext>
            </a:extLst>
          </p:cNvPr>
          <p:cNvSpPr>
            <a:spLocks noChangeAspect="1" noChangeArrowheads="1"/>
          </p:cNvSpPr>
          <p:nvPr/>
        </p:nvSpPr>
        <p:spPr bwMode="auto">
          <a:xfrm>
            <a:off x="231775" y="-2952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6">
            <a:extLst>
              <a:ext uri="{FF2B5EF4-FFF2-40B4-BE49-F238E27FC236}">
                <a16:creationId xmlns:a16="http://schemas.microsoft.com/office/drawing/2014/main" id="{5593F467-236F-0EA2-D919-95B0B4423D50}"/>
              </a:ext>
            </a:extLst>
          </p:cNvPr>
          <p:cNvSpPr>
            <a:spLocks noChangeAspect="1" noChangeArrowheads="1"/>
          </p:cNvSpPr>
          <p:nvPr/>
        </p:nvSpPr>
        <p:spPr bwMode="auto">
          <a:xfrm>
            <a:off x="231775" y="177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C1F4371B-71F2-6AD1-F4CA-C9FC45FF851D}"/>
              </a:ext>
            </a:extLst>
          </p:cNvPr>
          <p:cNvSpPr txBox="1"/>
          <p:nvPr/>
        </p:nvSpPr>
        <p:spPr>
          <a:xfrm>
            <a:off x="-385418" y="-109062"/>
            <a:ext cx="5157607" cy="518732"/>
          </a:xfrm>
          <a:prstGeom prst="rect">
            <a:avLst/>
          </a:prstGeom>
          <a:noFill/>
        </p:spPr>
        <p:txBody>
          <a:bodyPr wrap="square">
            <a:spAutoFit/>
          </a:bodyPr>
          <a:lstStyle/>
          <a:p>
            <a:pPr algn="ctr">
              <a:lnSpc>
                <a:spcPts val="3750"/>
              </a:lnSpc>
              <a:spcBef>
                <a:spcPts val="3000"/>
              </a:spcBef>
              <a:spcAft>
                <a:spcPts val="3900"/>
              </a:spcAft>
            </a:pPr>
            <a:r>
              <a:rPr lang="en-US" b="1" dirty="0">
                <a:solidFill>
                  <a:srgbClr val="000000"/>
                </a:solidFill>
                <a:latin typeface="OktaNeue"/>
              </a:rPr>
              <a:t>LFDT Supply Chain</a:t>
            </a:r>
            <a:r>
              <a:rPr lang="en-US" b="1" i="0" dirty="0">
                <a:solidFill>
                  <a:srgbClr val="000000"/>
                </a:solidFill>
                <a:effectLst/>
                <a:latin typeface="OktaNeue"/>
              </a:rPr>
              <a:t> Decarbonization </a:t>
            </a:r>
            <a:r>
              <a:rPr lang="en-US" b="1" dirty="0">
                <a:solidFill>
                  <a:srgbClr val="000000"/>
                </a:solidFill>
                <a:latin typeface="OktaNeue"/>
              </a:rPr>
              <a:t>Products</a:t>
            </a:r>
            <a:endParaRPr lang="en-US" b="1" i="0" dirty="0">
              <a:solidFill>
                <a:srgbClr val="000000"/>
              </a:solidFill>
              <a:effectLst/>
              <a:latin typeface="OktaNeue"/>
            </a:endParaRPr>
          </a:p>
        </p:txBody>
      </p:sp>
      <p:pic>
        <p:nvPicPr>
          <p:cNvPr id="1036" name="Picture 12" descr="Jungle leaves background Jungle leaves background forest vegetation stock pictures, royalty-free photos &amp; images">
            <a:extLst>
              <a:ext uri="{FF2B5EF4-FFF2-40B4-BE49-F238E27FC236}">
                <a16:creationId xmlns:a16="http://schemas.microsoft.com/office/drawing/2014/main" id="{EE675B69-28BC-E604-700E-75B7B566ED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782" y="2162691"/>
            <a:ext cx="2068302" cy="38862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Green foliage with leaves glistening with raindrops. Green foliage with small leaves glistening with raindrops. forest vegetation stock pictures, royalty-free photos &amp; images">
            <a:extLst>
              <a:ext uri="{FF2B5EF4-FFF2-40B4-BE49-F238E27FC236}">
                <a16:creationId xmlns:a16="http://schemas.microsoft.com/office/drawing/2014/main" id="{8FFCFDE2-A18C-B473-9080-EACE95FA89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8046" y="2178723"/>
            <a:ext cx="2054143" cy="3870168"/>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8957629A-EBE7-BDCC-746A-C9BB5468F36C}"/>
              </a:ext>
            </a:extLst>
          </p:cNvPr>
          <p:cNvSpPr txBox="1"/>
          <p:nvPr/>
        </p:nvSpPr>
        <p:spPr>
          <a:xfrm>
            <a:off x="2648419" y="2789157"/>
            <a:ext cx="2433539" cy="984885"/>
          </a:xfrm>
          <a:prstGeom prst="rect">
            <a:avLst/>
          </a:prstGeom>
          <a:noFill/>
        </p:spPr>
        <p:txBody>
          <a:bodyPr wrap="square">
            <a:spAutoFit/>
          </a:bodyPr>
          <a:lstStyle/>
          <a:p>
            <a:pPr algn="l"/>
            <a:r>
              <a:rPr lang="en-US" sz="1400" b="1" i="0" dirty="0">
                <a:solidFill>
                  <a:schemeClr val="bg1"/>
                </a:solidFill>
                <a:effectLst/>
                <a:latin typeface="Ibmplexsans"/>
              </a:rPr>
              <a:t>Automate GHG Inventories</a:t>
            </a:r>
          </a:p>
          <a:p>
            <a:pPr algn="l"/>
            <a:r>
              <a:rPr lang="en-US" sz="1400" b="1" dirty="0">
                <a:solidFill>
                  <a:schemeClr val="bg1"/>
                </a:solidFill>
                <a:latin typeface="Ibmplexsans"/>
              </a:rPr>
              <a:t>Flexible Data Collection</a:t>
            </a:r>
          </a:p>
          <a:p>
            <a:pPr algn="l"/>
            <a:r>
              <a:rPr lang="en-US" sz="1400" b="1" dirty="0">
                <a:solidFill>
                  <a:schemeClr val="bg1"/>
                </a:solidFill>
                <a:latin typeface="Ibmplexsans"/>
              </a:rPr>
              <a:t>Custom Emission Factors</a:t>
            </a:r>
            <a:endParaRPr lang="en-US" sz="1400" b="1" i="0" dirty="0">
              <a:solidFill>
                <a:schemeClr val="bg1"/>
              </a:solidFill>
              <a:effectLst/>
              <a:latin typeface="Ibmplexsans"/>
            </a:endParaRPr>
          </a:p>
          <a:p>
            <a:pPr algn="l"/>
            <a:r>
              <a:rPr lang="en-US" sz="1400" b="1" i="0" dirty="0">
                <a:solidFill>
                  <a:schemeClr val="bg1"/>
                </a:solidFill>
                <a:effectLst/>
                <a:latin typeface="Ibmplexsans"/>
              </a:rPr>
              <a:t>Supply Chain Engageme</a:t>
            </a:r>
            <a:r>
              <a:rPr lang="en-US" sz="1600" b="1" i="0" dirty="0">
                <a:solidFill>
                  <a:schemeClr val="bg1"/>
                </a:solidFill>
                <a:effectLst/>
                <a:latin typeface="Ibmplexsans"/>
              </a:rPr>
              <a:t>nt</a:t>
            </a:r>
          </a:p>
        </p:txBody>
      </p:sp>
      <p:pic>
        <p:nvPicPr>
          <p:cNvPr id="1040" name="Picture 16" descr="Dark magic forest Dark magic forest with big moss stones forest vegetation stock pictures, royalty-free photos &amp; images">
            <a:extLst>
              <a:ext uri="{FF2B5EF4-FFF2-40B4-BE49-F238E27FC236}">
                <a16:creationId xmlns:a16="http://schemas.microsoft.com/office/drawing/2014/main" id="{BA08A052-21D9-D923-7BD4-87DC7C78C6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3500" y="2167580"/>
            <a:ext cx="2068302" cy="3900714"/>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E3071135-5AA4-4DE8-41FB-62441DC479B6}"/>
              </a:ext>
            </a:extLst>
          </p:cNvPr>
          <p:cNvSpPr txBox="1"/>
          <p:nvPr/>
        </p:nvSpPr>
        <p:spPr>
          <a:xfrm>
            <a:off x="5151585" y="3185177"/>
            <a:ext cx="2433539" cy="984885"/>
          </a:xfrm>
          <a:prstGeom prst="rect">
            <a:avLst/>
          </a:prstGeom>
          <a:noFill/>
        </p:spPr>
        <p:txBody>
          <a:bodyPr wrap="square">
            <a:spAutoFit/>
          </a:bodyPr>
          <a:lstStyle/>
          <a:p>
            <a:pPr algn="l"/>
            <a:r>
              <a:rPr lang="en-US" sz="1400" b="1" i="0" dirty="0">
                <a:solidFill>
                  <a:schemeClr val="bg1"/>
                </a:solidFill>
                <a:effectLst/>
                <a:latin typeface="Ibmplexsans"/>
              </a:rPr>
              <a:t>Automate GHG Inventories</a:t>
            </a:r>
          </a:p>
          <a:p>
            <a:pPr algn="l"/>
            <a:r>
              <a:rPr lang="en-US" sz="1400" b="1" dirty="0">
                <a:solidFill>
                  <a:schemeClr val="bg1"/>
                </a:solidFill>
                <a:latin typeface="Ibmplexsans"/>
              </a:rPr>
              <a:t>Flexible Data Collection</a:t>
            </a:r>
          </a:p>
          <a:p>
            <a:pPr algn="l"/>
            <a:r>
              <a:rPr lang="en-US" sz="1400" b="1" dirty="0">
                <a:solidFill>
                  <a:schemeClr val="bg1"/>
                </a:solidFill>
                <a:latin typeface="Ibmplexsans"/>
              </a:rPr>
              <a:t>Custom Emission Factors</a:t>
            </a:r>
            <a:endParaRPr lang="en-US" sz="1400" b="1" i="0" dirty="0">
              <a:solidFill>
                <a:schemeClr val="bg1"/>
              </a:solidFill>
              <a:effectLst/>
              <a:latin typeface="Ibmplexsans"/>
            </a:endParaRPr>
          </a:p>
          <a:p>
            <a:pPr algn="l"/>
            <a:r>
              <a:rPr lang="en-US" sz="1400" b="1" i="0" dirty="0">
                <a:solidFill>
                  <a:schemeClr val="bg1"/>
                </a:solidFill>
                <a:effectLst/>
                <a:latin typeface="Ibmplexsans"/>
              </a:rPr>
              <a:t>Supply Chain Engageme</a:t>
            </a:r>
            <a:r>
              <a:rPr lang="en-US" sz="1600" b="1" i="0" dirty="0">
                <a:solidFill>
                  <a:schemeClr val="bg1"/>
                </a:solidFill>
                <a:effectLst/>
                <a:latin typeface="Ibmplexsans"/>
              </a:rPr>
              <a:t>nt</a:t>
            </a:r>
          </a:p>
        </p:txBody>
      </p:sp>
      <p:pic>
        <p:nvPicPr>
          <p:cNvPr id="1042" name="Picture 18" descr="closeup nature view of palms and monstera and fern leaf background. closeup nature view of palms and monstera and fern leaf background. Flat lay, dark nature concept, tropical leaf. forest vegetation stock pictures, royalty-free photos &amp; images">
            <a:extLst>
              <a:ext uri="{FF2B5EF4-FFF2-40B4-BE49-F238E27FC236}">
                <a16:creationId xmlns:a16="http://schemas.microsoft.com/office/drawing/2014/main" id="{C1943328-A835-03E7-956C-D684A61DC7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329" y="2170707"/>
            <a:ext cx="2070312" cy="38862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closeup nature view of green leaf background closeup nature view of green leaf and water drop, dark wallpaper concept, nature background, tropical leaf forest vegetation stock pictures, royalty-free photos &amp; images">
            <a:extLst>
              <a:ext uri="{FF2B5EF4-FFF2-40B4-BE49-F238E27FC236}">
                <a16:creationId xmlns:a16="http://schemas.microsoft.com/office/drawing/2014/main" id="{CF39CB63-4CB7-6329-6B6D-1D245E633C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4881" y="2162690"/>
            <a:ext cx="2070312" cy="388620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BBF7B358-5801-BC0C-BC21-FF936F233EC8}"/>
              </a:ext>
            </a:extLst>
          </p:cNvPr>
          <p:cNvSpPr txBox="1"/>
          <p:nvPr/>
        </p:nvSpPr>
        <p:spPr>
          <a:xfrm>
            <a:off x="7397238" y="2745997"/>
            <a:ext cx="2433539" cy="1569660"/>
          </a:xfrm>
          <a:prstGeom prst="rect">
            <a:avLst/>
          </a:prstGeom>
          <a:noFill/>
        </p:spPr>
        <p:txBody>
          <a:bodyPr wrap="square">
            <a:spAutoFit/>
          </a:bodyPr>
          <a:lstStyle/>
          <a:p>
            <a:pPr algn="ctr"/>
            <a:r>
              <a:rPr lang="en-US" sz="1600" b="1" dirty="0">
                <a:solidFill>
                  <a:schemeClr val="bg1"/>
                </a:solidFill>
                <a:latin typeface="Ibmplexsans"/>
              </a:rPr>
              <a:t>Robust Baseline Projections</a:t>
            </a:r>
          </a:p>
          <a:p>
            <a:pPr algn="ctr"/>
            <a:r>
              <a:rPr lang="en-US" sz="1600" b="1" dirty="0">
                <a:solidFill>
                  <a:schemeClr val="bg1"/>
                </a:solidFill>
                <a:latin typeface="Ibmplexsans"/>
              </a:rPr>
              <a:t>Mitigation Option Evaluation</a:t>
            </a:r>
            <a:endParaRPr lang="en-US" sz="1600" b="1" i="0" dirty="0">
              <a:solidFill>
                <a:schemeClr val="bg1"/>
              </a:solidFill>
              <a:effectLst/>
              <a:latin typeface="Ibmplexsans"/>
            </a:endParaRPr>
          </a:p>
          <a:p>
            <a:pPr algn="ctr"/>
            <a:endParaRPr lang="en-US" sz="1600" b="1" dirty="0">
              <a:solidFill>
                <a:schemeClr val="bg1"/>
              </a:solidFill>
              <a:latin typeface="Ibmplexsans"/>
            </a:endParaRPr>
          </a:p>
          <a:p>
            <a:pPr algn="l"/>
            <a:endParaRPr lang="en-US" sz="1600" b="1" i="0" dirty="0">
              <a:solidFill>
                <a:schemeClr val="bg1"/>
              </a:solidFill>
              <a:effectLst/>
              <a:latin typeface="Ibmplexsans"/>
            </a:endParaRPr>
          </a:p>
        </p:txBody>
      </p:sp>
      <p:sp>
        <p:nvSpPr>
          <p:cNvPr id="28" name="TextBox 27">
            <a:extLst>
              <a:ext uri="{FF2B5EF4-FFF2-40B4-BE49-F238E27FC236}">
                <a16:creationId xmlns:a16="http://schemas.microsoft.com/office/drawing/2014/main" id="{35DC4860-8757-1077-11FE-48C11F36B59F}"/>
              </a:ext>
            </a:extLst>
          </p:cNvPr>
          <p:cNvSpPr txBox="1"/>
          <p:nvPr/>
        </p:nvSpPr>
        <p:spPr>
          <a:xfrm>
            <a:off x="16741516" y="5061390"/>
            <a:ext cx="862927" cy="3354765"/>
          </a:xfrm>
          <a:prstGeom prst="rect">
            <a:avLst/>
          </a:prstGeom>
          <a:noFill/>
        </p:spPr>
        <p:txBody>
          <a:bodyPr wrap="square">
            <a:spAutoFit/>
          </a:bodyPr>
          <a:lstStyle/>
          <a:p>
            <a:pPr algn="l"/>
            <a:r>
              <a:rPr lang="en-US" sz="1400" b="1" i="0" dirty="0">
                <a:solidFill>
                  <a:schemeClr val="bg1"/>
                </a:solidFill>
                <a:effectLst/>
                <a:latin typeface="Ibmplexsans"/>
              </a:rPr>
              <a:t>Automate GHG Inventories</a:t>
            </a:r>
          </a:p>
          <a:p>
            <a:pPr algn="l"/>
            <a:r>
              <a:rPr lang="en-US" sz="1400" b="1" dirty="0">
                <a:solidFill>
                  <a:schemeClr val="bg1"/>
                </a:solidFill>
                <a:latin typeface="Ibmplexsans"/>
              </a:rPr>
              <a:t>Flexible Data Collection</a:t>
            </a:r>
          </a:p>
          <a:p>
            <a:pPr algn="l"/>
            <a:r>
              <a:rPr lang="en-US" sz="1400" b="1" dirty="0">
                <a:solidFill>
                  <a:schemeClr val="bg1"/>
                </a:solidFill>
                <a:latin typeface="Ibmplexsans"/>
              </a:rPr>
              <a:t>Custom Emission Factors</a:t>
            </a:r>
            <a:endParaRPr lang="en-US" sz="1400" b="1" i="0" dirty="0">
              <a:solidFill>
                <a:schemeClr val="bg1"/>
              </a:solidFill>
              <a:effectLst/>
              <a:latin typeface="Ibmplexsans"/>
            </a:endParaRPr>
          </a:p>
          <a:p>
            <a:pPr algn="l"/>
            <a:r>
              <a:rPr lang="en-US" sz="1400" b="1" i="0" dirty="0">
                <a:solidFill>
                  <a:schemeClr val="bg1"/>
                </a:solidFill>
                <a:effectLst/>
                <a:latin typeface="Ibmplexsans"/>
              </a:rPr>
              <a:t>Supply Chain Engageme</a:t>
            </a:r>
            <a:r>
              <a:rPr lang="en-US" sz="1600" b="1" i="0" dirty="0">
                <a:solidFill>
                  <a:schemeClr val="bg1"/>
                </a:solidFill>
                <a:effectLst/>
                <a:latin typeface="Ibmplexsans"/>
              </a:rPr>
              <a:t>nt</a:t>
            </a:r>
          </a:p>
        </p:txBody>
      </p:sp>
      <p:sp>
        <p:nvSpPr>
          <p:cNvPr id="30" name="TextBox 29">
            <a:extLst>
              <a:ext uri="{FF2B5EF4-FFF2-40B4-BE49-F238E27FC236}">
                <a16:creationId xmlns:a16="http://schemas.microsoft.com/office/drawing/2014/main" id="{100AD521-6FF3-5E06-52B3-7A446DFAB3B1}"/>
              </a:ext>
            </a:extLst>
          </p:cNvPr>
          <p:cNvSpPr txBox="1"/>
          <p:nvPr/>
        </p:nvSpPr>
        <p:spPr>
          <a:xfrm>
            <a:off x="308016" y="1823968"/>
            <a:ext cx="2433539" cy="307777"/>
          </a:xfrm>
          <a:prstGeom prst="rect">
            <a:avLst/>
          </a:prstGeom>
          <a:noFill/>
        </p:spPr>
        <p:txBody>
          <a:bodyPr wrap="square">
            <a:spAutoFit/>
          </a:bodyPr>
          <a:lstStyle/>
          <a:p>
            <a:pPr algn="l"/>
            <a:r>
              <a:rPr lang="en-US" sz="1400" b="1" dirty="0">
                <a:solidFill>
                  <a:schemeClr val="bg1"/>
                </a:solidFill>
                <a:latin typeface="Ibmplexsans"/>
              </a:rPr>
              <a:t>GHG</a:t>
            </a:r>
            <a:r>
              <a:rPr lang="en-US" sz="1400" b="1" i="0" dirty="0">
                <a:solidFill>
                  <a:schemeClr val="bg1"/>
                </a:solidFill>
                <a:effectLst/>
                <a:latin typeface="Ibmplexsans"/>
              </a:rPr>
              <a:t> Inventories - Calcs</a:t>
            </a:r>
          </a:p>
        </p:txBody>
      </p:sp>
      <p:sp>
        <p:nvSpPr>
          <p:cNvPr id="32" name="TextBox 31">
            <a:extLst>
              <a:ext uri="{FF2B5EF4-FFF2-40B4-BE49-F238E27FC236}">
                <a16:creationId xmlns:a16="http://schemas.microsoft.com/office/drawing/2014/main" id="{E9FDF854-6C48-E30D-8A58-E6B3556154E8}"/>
              </a:ext>
            </a:extLst>
          </p:cNvPr>
          <p:cNvSpPr txBox="1"/>
          <p:nvPr/>
        </p:nvSpPr>
        <p:spPr>
          <a:xfrm>
            <a:off x="2961057" y="1825990"/>
            <a:ext cx="1618378" cy="307777"/>
          </a:xfrm>
          <a:prstGeom prst="rect">
            <a:avLst/>
          </a:prstGeom>
          <a:noFill/>
        </p:spPr>
        <p:txBody>
          <a:bodyPr wrap="square">
            <a:spAutoFit/>
          </a:bodyPr>
          <a:lstStyle/>
          <a:p>
            <a:pPr algn="ctr"/>
            <a:r>
              <a:rPr lang="en-US" sz="1400" b="1" dirty="0">
                <a:solidFill>
                  <a:schemeClr val="bg1"/>
                </a:solidFill>
                <a:latin typeface="Ibmplexsans"/>
              </a:rPr>
              <a:t>Emission Tracking</a:t>
            </a:r>
            <a:endParaRPr lang="en-US" sz="1400" b="1" i="0" dirty="0">
              <a:solidFill>
                <a:schemeClr val="bg1"/>
              </a:solidFill>
              <a:effectLst/>
              <a:latin typeface="Ibmplexsans"/>
            </a:endParaRPr>
          </a:p>
        </p:txBody>
      </p:sp>
      <p:pic>
        <p:nvPicPr>
          <p:cNvPr id="1046" name="Picture 22" descr="Vertical garden with tropical green leaf, Dark tone Vertical garden with tropical green leaf, Dark tone forest vegetation stock pictures, royalty-free photos &amp; images">
            <a:extLst>
              <a:ext uri="{FF2B5EF4-FFF2-40B4-BE49-F238E27FC236}">
                <a16:creationId xmlns:a16="http://schemas.microsoft.com/office/drawing/2014/main" id="{8978F534-F941-4A7F-74B3-3D33091AA07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61433" y="2178723"/>
            <a:ext cx="2067056" cy="3878184"/>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D8CE3BD8-6D1A-D58A-0B4E-08AE64EA1FD5}"/>
              </a:ext>
            </a:extLst>
          </p:cNvPr>
          <p:cNvSpPr txBox="1"/>
          <p:nvPr/>
        </p:nvSpPr>
        <p:spPr>
          <a:xfrm>
            <a:off x="5453240" y="1807947"/>
            <a:ext cx="1946631" cy="307777"/>
          </a:xfrm>
          <a:prstGeom prst="rect">
            <a:avLst/>
          </a:prstGeom>
          <a:noFill/>
        </p:spPr>
        <p:txBody>
          <a:bodyPr wrap="square">
            <a:spAutoFit/>
          </a:bodyPr>
          <a:lstStyle/>
          <a:p>
            <a:pPr algn="l"/>
            <a:r>
              <a:rPr lang="en-US" sz="1400" b="1" dirty="0">
                <a:solidFill>
                  <a:schemeClr val="bg1"/>
                </a:solidFill>
                <a:latin typeface="Ibmplexsans"/>
              </a:rPr>
              <a:t>Model Emissions</a:t>
            </a:r>
            <a:endParaRPr lang="en-US" sz="1400" b="1" i="0" dirty="0">
              <a:solidFill>
                <a:schemeClr val="bg1"/>
              </a:solidFill>
              <a:effectLst/>
              <a:latin typeface="Ibmplexsans"/>
            </a:endParaRPr>
          </a:p>
        </p:txBody>
      </p:sp>
      <p:sp>
        <p:nvSpPr>
          <p:cNvPr id="37" name="TextBox 36">
            <a:extLst>
              <a:ext uri="{FF2B5EF4-FFF2-40B4-BE49-F238E27FC236}">
                <a16:creationId xmlns:a16="http://schemas.microsoft.com/office/drawing/2014/main" id="{04065001-C22D-F897-AFFC-546EC9334875}"/>
              </a:ext>
            </a:extLst>
          </p:cNvPr>
          <p:cNvSpPr txBox="1"/>
          <p:nvPr/>
        </p:nvSpPr>
        <p:spPr>
          <a:xfrm>
            <a:off x="7787367" y="1833816"/>
            <a:ext cx="1703776" cy="307777"/>
          </a:xfrm>
          <a:prstGeom prst="rect">
            <a:avLst/>
          </a:prstGeom>
          <a:noFill/>
        </p:spPr>
        <p:txBody>
          <a:bodyPr wrap="square">
            <a:spAutoFit/>
          </a:bodyPr>
          <a:lstStyle/>
          <a:p>
            <a:pPr algn="l"/>
            <a:r>
              <a:rPr lang="en-US" sz="1400" b="1" i="0" dirty="0">
                <a:solidFill>
                  <a:schemeClr val="bg1"/>
                </a:solidFill>
                <a:effectLst/>
                <a:latin typeface="Ibmplexsans"/>
              </a:rPr>
              <a:t>Predict Pathways</a:t>
            </a:r>
          </a:p>
        </p:txBody>
      </p:sp>
      <p:sp>
        <p:nvSpPr>
          <p:cNvPr id="39" name="TextBox 38">
            <a:extLst>
              <a:ext uri="{FF2B5EF4-FFF2-40B4-BE49-F238E27FC236}">
                <a16:creationId xmlns:a16="http://schemas.microsoft.com/office/drawing/2014/main" id="{CFBD0936-3301-E834-6D93-16913BCF6CE1}"/>
              </a:ext>
            </a:extLst>
          </p:cNvPr>
          <p:cNvSpPr txBox="1"/>
          <p:nvPr/>
        </p:nvSpPr>
        <p:spPr>
          <a:xfrm>
            <a:off x="10190190" y="1800134"/>
            <a:ext cx="1446840" cy="315590"/>
          </a:xfrm>
          <a:prstGeom prst="rect">
            <a:avLst/>
          </a:prstGeom>
          <a:noFill/>
        </p:spPr>
        <p:txBody>
          <a:bodyPr wrap="square">
            <a:spAutoFit/>
          </a:bodyPr>
          <a:lstStyle/>
          <a:p>
            <a:pPr algn="ctr"/>
            <a:r>
              <a:rPr lang="en-US" sz="1400" b="1" dirty="0">
                <a:solidFill>
                  <a:schemeClr val="bg1"/>
                </a:solidFill>
                <a:latin typeface="Ibmplexsans"/>
              </a:rPr>
              <a:t>Strategy</a:t>
            </a:r>
            <a:endParaRPr lang="en-US" sz="1400" b="1" i="0" dirty="0">
              <a:solidFill>
                <a:schemeClr val="bg1"/>
              </a:solidFill>
              <a:effectLst/>
              <a:latin typeface="Ibmplexsans"/>
            </a:endParaRPr>
          </a:p>
        </p:txBody>
      </p:sp>
      <p:sp>
        <p:nvSpPr>
          <p:cNvPr id="41" name="TextBox 40">
            <a:extLst>
              <a:ext uri="{FF2B5EF4-FFF2-40B4-BE49-F238E27FC236}">
                <a16:creationId xmlns:a16="http://schemas.microsoft.com/office/drawing/2014/main" id="{65D9C0C3-17C0-D087-EE73-C69D2B61686C}"/>
              </a:ext>
            </a:extLst>
          </p:cNvPr>
          <p:cNvSpPr txBox="1"/>
          <p:nvPr/>
        </p:nvSpPr>
        <p:spPr>
          <a:xfrm>
            <a:off x="2561625" y="3993014"/>
            <a:ext cx="2433539" cy="1046440"/>
          </a:xfrm>
          <a:prstGeom prst="rect">
            <a:avLst/>
          </a:prstGeom>
          <a:noFill/>
        </p:spPr>
        <p:txBody>
          <a:bodyPr wrap="square">
            <a:spAutoFit/>
          </a:bodyPr>
          <a:lstStyle/>
          <a:p>
            <a:pPr algn="ctr"/>
            <a:r>
              <a:rPr kumimoji="0" lang="en-US" altLang="en-US" sz="1600" b="1" i="0" u="none" strike="noStrike" cap="none" normalizeH="0" baseline="0" dirty="0">
                <a:ln>
                  <a:noFill/>
                </a:ln>
                <a:solidFill>
                  <a:schemeClr val="bg1"/>
                </a:solidFill>
                <a:effectLst/>
                <a:latin typeface="OktaNeue"/>
              </a:rPr>
              <a:t>Compare emissions </a:t>
            </a:r>
          </a:p>
          <a:p>
            <a:pPr algn="ctr"/>
            <a:r>
              <a:rPr kumimoji="0" lang="en-US" altLang="en-US" sz="1600" b="1" i="0" u="none" strike="noStrike" cap="none" normalizeH="0" baseline="0" dirty="0">
                <a:ln>
                  <a:noFill/>
                </a:ln>
                <a:solidFill>
                  <a:schemeClr val="bg1"/>
                </a:solidFill>
                <a:effectLst/>
                <a:latin typeface="OktaNeue"/>
              </a:rPr>
              <a:t>sources and resource consumption</a:t>
            </a:r>
            <a:endParaRPr kumimoji="0" lang="en-US" altLang="en-US" sz="1600" b="1" i="0" u="none" strike="noStrike" cap="none" normalizeH="0" baseline="0" dirty="0">
              <a:ln>
                <a:noFill/>
              </a:ln>
              <a:solidFill>
                <a:schemeClr val="bg1"/>
              </a:solidFill>
              <a:effectLst/>
            </a:endParaRPr>
          </a:p>
          <a:p>
            <a:pPr algn="l"/>
            <a:endParaRPr lang="en-US" sz="1400" b="1" i="0" dirty="0">
              <a:solidFill>
                <a:schemeClr val="bg1"/>
              </a:solidFill>
              <a:effectLst/>
              <a:latin typeface="Ibmplexsans"/>
            </a:endParaRPr>
          </a:p>
        </p:txBody>
      </p:sp>
      <p:sp>
        <p:nvSpPr>
          <p:cNvPr id="42" name="TextBox 41">
            <a:extLst>
              <a:ext uri="{FF2B5EF4-FFF2-40B4-BE49-F238E27FC236}">
                <a16:creationId xmlns:a16="http://schemas.microsoft.com/office/drawing/2014/main" id="{82C23771-84A2-012B-BDFD-FD27D6025AFF}"/>
              </a:ext>
            </a:extLst>
          </p:cNvPr>
          <p:cNvSpPr txBox="1"/>
          <p:nvPr/>
        </p:nvSpPr>
        <p:spPr>
          <a:xfrm>
            <a:off x="2570640" y="2438639"/>
            <a:ext cx="2433539" cy="1323439"/>
          </a:xfrm>
          <a:prstGeom prst="rect">
            <a:avLst/>
          </a:prstGeom>
          <a:noFill/>
        </p:spPr>
        <p:txBody>
          <a:bodyPr wrap="square">
            <a:spAutoFit/>
          </a:bodyPr>
          <a:lstStyle/>
          <a:p>
            <a:pPr algn="ctr"/>
            <a:r>
              <a:rPr lang="en-US" altLang="en-US" sz="1600" b="1" dirty="0">
                <a:solidFill>
                  <a:schemeClr val="bg1"/>
                </a:solidFill>
                <a:latin typeface="OktaNeue"/>
              </a:rPr>
              <a:t>Real Time Tracking </a:t>
            </a:r>
          </a:p>
          <a:p>
            <a:pPr algn="ctr"/>
            <a:r>
              <a:rPr kumimoji="0" lang="en-US" altLang="en-US" sz="1600" b="1" i="0" u="none" strike="noStrike" cap="none" normalizeH="0" baseline="0" dirty="0">
                <a:ln>
                  <a:noFill/>
                </a:ln>
                <a:solidFill>
                  <a:schemeClr val="bg1"/>
                </a:solidFill>
                <a:effectLst/>
                <a:latin typeface="OktaNeue"/>
              </a:rPr>
              <a:t>Of</a:t>
            </a:r>
          </a:p>
          <a:p>
            <a:pPr algn="ctr"/>
            <a:r>
              <a:rPr kumimoji="0" lang="en-US" altLang="en-US" sz="1600" b="1" i="0" u="none" strike="noStrike" cap="none" normalizeH="0" baseline="0" dirty="0">
                <a:ln>
                  <a:noFill/>
                </a:ln>
                <a:solidFill>
                  <a:schemeClr val="bg1"/>
                </a:solidFill>
                <a:effectLst/>
                <a:latin typeface="OktaNeue"/>
              </a:rPr>
              <a:t>Supply Chain Emissions </a:t>
            </a:r>
          </a:p>
          <a:p>
            <a:pPr algn="ctr"/>
            <a:r>
              <a:rPr lang="en-US" altLang="en-US" sz="1600" b="1" dirty="0">
                <a:solidFill>
                  <a:schemeClr val="bg1"/>
                </a:solidFill>
                <a:latin typeface="OktaNeue"/>
              </a:rPr>
              <a:t>By</a:t>
            </a:r>
          </a:p>
          <a:p>
            <a:pPr algn="ctr"/>
            <a:r>
              <a:rPr kumimoji="0" lang="en-US" altLang="en-US" sz="1600" b="1" i="0" u="none" strike="noStrike" cap="none" normalizeH="0" baseline="0" dirty="0">
                <a:ln>
                  <a:noFill/>
                </a:ln>
                <a:solidFill>
                  <a:schemeClr val="bg1"/>
                </a:solidFill>
                <a:effectLst/>
                <a:latin typeface="OktaNeue"/>
              </a:rPr>
              <a:t>Segment</a:t>
            </a:r>
            <a:endParaRPr lang="en-US" sz="1400" b="1" i="0" dirty="0">
              <a:solidFill>
                <a:schemeClr val="bg1"/>
              </a:solidFill>
              <a:effectLst/>
              <a:latin typeface="Ibmplexsans"/>
            </a:endParaRPr>
          </a:p>
        </p:txBody>
      </p:sp>
      <p:cxnSp>
        <p:nvCxnSpPr>
          <p:cNvPr id="44" name="Straight Connector 43">
            <a:extLst>
              <a:ext uri="{FF2B5EF4-FFF2-40B4-BE49-F238E27FC236}">
                <a16:creationId xmlns:a16="http://schemas.microsoft.com/office/drawing/2014/main" id="{8D422AF3-FBF5-9DC2-E2C3-9A847F9060F6}"/>
              </a:ext>
            </a:extLst>
          </p:cNvPr>
          <p:cNvCxnSpPr>
            <a:cxnSpLocks/>
          </p:cNvCxnSpPr>
          <p:nvPr/>
        </p:nvCxnSpPr>
        <p:spPr>
          <a:xfrm flipV="1">
            <a:off x="2713500" y="3867452"/>
            <a:ext cx="2043419" cy="10472"/>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AABDC6A4-D49C-350C-D484-14B9D2D75FFD}"/>
              </a:ext>
            </a:extLst>
          </p:cNvPr>
          <p:cNvSpPr txBox="1"/>
          <p:nvPr/>
        </p:nvSpPr>
        <p:spPr>
          <a:xfrm>
            <a:off x="4960443" y="2735776"/>
            <a:ext cx="2433539" cy="1015663"/>
          </a:xfrm>
          <a:prstGeom prst="rect">
            <a:avLst/>
          </a:prstGeom>
          <a:noFill/>
        </p:spPr>
        <p:txBody>
          <a:bodyPr wrap="square">
            <a:spAutoFit/>
          </a:bodyPr>
          <a:lstStyle/>
          <a:p>
            <a:pPr algn="ctr"/>
            <a:r>
              <a:rPr lang="en-US" altLang="en-US" sz="1600" b="1" dirty="0">
                <a:solidFill>
                  <a:schemeClr val="bg1"/>
                </a:solidFill>
                <a:latin typeface="Ibmplexsans"/>
              </a:rPr>
              <a:t>S</a:t>
            </a:r>
            <a:r>
              <a:rPr lang="en-US" sz="1600" b="1" dirty="0">
                <a:solidFill>
                  <a:schemeClr val="bg1"/>
                </a:solidFill>
                <a:latin typeface="Ibmplexsans"/>
              </a:rPr>
              <a:t>cenario and Sensitivity</a:t>
            </a:r>
          </a:p>
          <a:p>
            <a:pPr algn="ctr"/>
            <a:r>
              <a:rPr lang="en-US" sz="1600" b="1" dirty="0" err="1">
                <a:solidFill>
                  <a:schemeClr val="bg1"/>
                </a:solidFill>
                <a:latin typeface="Ibmplexsans"/>
              </a:rPr>
              <a:t>Analysis</a:t>
            </a:r>
            <a:r>
              <a:rPr kumimoji="0" lang="en-US" altLang="en-US" sz="1600" b="0" i="0" u="none" strike="noStrike" cap="none" normalizeH="0" baseline="0" dirty="0" err="1">
                <a:ln>
                  <a:noFill/>
                </a:ln>
                <a:solidFill>
                  <a:srgbClr val="000000"/>
                </a:solidFill>
                <a:effectLst/>
                <a:latin typeface="OktaNeue"/>
              </a:rPr>
              <a:t>I</a:t>
            </a:r>
            <a:r>
              <a:rPr kumimoji="0" lang="en-US" altLang="en-US" sz="1600" b="0" i="0" u="none" strike="noStrike" cap="none" normalizeH="0" baseline="0" dirty="0">
                <a:ln>
                  <a:noFill/>
                </a:ln>
                <a:solidFill>
                  <a:srgbClr val="000000"/>
                </a:solidFill>
                <a:effectLst/>
                <a:latin typeface="OktaNeue"/>
              </a:rPr>
              <a:t> </a:t>
            </a:r>
            <a:endParaRPr lang="en-US" sz="1600" b="1" dirty="0">
              <a:solidFill>
                <a:schemeClr val="bg1"/>
              </a:solidFill>
              <a:latin typeface="Ibmplexsans"/>
            </a:endParaRPr>
          </a:p>
          <a:p>
            <a:pPr algn="ctr"/>
            <a:endParaRPr kumimoji="0" lang="en-US" altLang="en-US" sz="1400" b="1" i="0" u="none" strike="noStrike" cap="none" normalizeH="0" baseline="0" dirty="0">
              <a:ln>
                <a:noFill/>
              </a:ln>
              <a:solidFill>
                <a:schemeClr val="bg1"/>
              </a:solidFill>
              <a:effectLst/>
            </a:endParaRPr>
          </a:p>
          <a:p>
            <a:pPr algn="l"/>
            <a:endParaRPr lang="en-US" sz="1400" b="1" i="0" dirty="0">
              <a:solidFill>
                <a:schemeClr val="bg1"/>
              </a:solidFill>
              <a:effectLst/>
              <a:latin typeface="Ibmplexsans"/>
            </a:endParaRPr>
          </a:p>
        </p:txBody>
      </p:sp>
      <p:sp>
        <p:nvSpPr>
          <p:cNvPr id="47" name="TextBox 46">
            <a:extLst>
              <a:ext uri="{FF2B5EF4-FFF2-40B4-BE49-F238E27FC236}">
                <a16:creationId xmlns:a16="http://schemas.microsoft.com/office/drawing/2014/main" id="{7F0A597F-9EEB-7435-6F74-9BA7319568F2}"/>
              </a:ext>
            </a:extLst>
          </p:cNvPr>
          <p:cNvSpPr txBox="1"/>
          <p:nvPr/>
        </p:nvSpPr>
        <p:spPr>
          <a:xfrm>
            <a:off x="4954850" y="3643142"/>
            <a:ext cx="2433539" cy="1046440"/>
          </a:xfrm>
          <a:prstGeom prst="rect">
            <a:avLst/>
          </a:prstGeom>
          <a:noFill/>
        </p:spPr>
        <p:txBody>
          <a:bodyPr wrap="square">
            <a:spAutoFit/>
          </a:bodyPr>
          <a:lstStyle/>
          <a:p>
            <a:pPr algn="ctr"/>
            <a:r>
              <a:rPr kumimoji="0" lang="en-US" altLang="en-US" sz="1600" b="1" i="0" u="none" strike="noStrike" cap="none" normalizeH="0" baseline="0" dirty="0">
                <a:ln>
                  <a:noFill/>
                </a:ln>
                <a:solidFill>
                  <a:schemeClr val="bg1"/>
                </a:solidFill>
                <a:effectLst/>
                <a:latin typeface="OktaNeue"/>
              </a:rPr>
              <a:t>Identify</a:t>
            </a:r>
          </a:p>
          <a:p>
            <a:pPr algn="ctr"/>
            <a:r>
              <a:rPr kumimoji="0" lang="en-US" altLang="en-US" sz="1600" b="1" i="0" u="none" strike="noStrike" cap="none" normalizeH="0" baseline="0" dirty="0">
                <a:ln>
                  <a:noFill/>
                </a:ln>
                <a:solidFill>
                  <a:schemeClr val="bg1"/>
                </a:solidFill>
                <a:effectLst/>
                <a:latin typeface="OktaNeue"/>
              </a:rPr>
              <a:t>Patterns and Emission</a:t>
            </a:r>
          </a:p>
          <a:p>
            <a:pPr algn="ctr"/>
            <a:r>
              <a:rPr lang="en-US" altLang="en-US" sz="1600" b="1" dirty="0">
                <a:solidFill>
                  <a:schemeClr val="bg1"/>
                </a:solidFill>
                <a:latin typeface="OktaNeue"/>
              </a:rPr>
              <a:t>Hotspots</a:t>
            </a:r>
            <a:endParaRPr kumimoji="0" lang="en-US" altLang="en-US" sz="1600" b="1" i="0" u="none" strike="noStrike" cap="none" normalizeH="0" baseline="0" dirty="0">
              <a:ln>
                <a:noFill/>
              </a:ln>
              <a:solidFill>
                <a:schemeClr val="bg1"/>
              </a:solidFill>
              <a:effectLst/>
            </a:endParaRPr>
          </a:p>
          <a:p>
            <a:pPr algn="l"/>
            <a:endParaRPr lang="en-US" sz="1400" b="1" i="0" dirty="0">
              <a:solidFill>
                <a:schemeClr val="bg1"/>
              </a:solidFill>
              <a:effectLst/>
              <a:latin typeface="Ibmplexsans"/>
            </a:endParaRPr>
          </a:p>
        </p:txBody>
      </p:sp>
      <p:cxnSp>
        <p:nvCxnSpPr>
          <p:cNvPr id="48" name="Straight Connector 47">
            <a:extLst>
              <a:ext uri="{FF2B5EF4-FFF2-40B4-BE49-F238E27FC236}">
                <a16:creationId xmlns:a16="http://schemas.microsoft.com/office/drawing/2014/main" id="{A8AE8798-718B-AFBB-281E-E6FD5AE38337}"/>
              </a:ext>
            </a:extLst>
          </p:cNvPr>
          <p:cNvCxnSpPr>
            <a:cxnSpLocks/>
          </p:cNvCxnSpPr>
          <p:nvPr/>
        </p:nvCxnSpPr>
        <p:spPr>
          <a:xfrm flipV="1">
            <a:off x="5163447" y="3487782"/>
            <a:ext cx="2043419" cy="10472"/>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DB76D84-5940-5ADB-30AF-1A2F5C1B3B37}"/>
              </a:ext>
            </a:extLst>
          </p:cNvPr>
          <p:cNvCxnSpPr>
            <a:cxnSpLocks/>
          </p:cNvCxnSpPr>
          <p:nvPr/>
        </p:nvCxnSpPr>
        <p:spPr>
          <a:xfrm flipV="1">
            <a:off x="5163447" y="4662504"/>
            <a:ext cx="2043419" cy="10472"/>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CF9B31AD-A8EB-17DE-9D28-B97D7D1FF956}"/>
              </a:ext>
            </a:extLst>
          </p:cNvPr>
          <p:cNvSpPr txBox="1"/>
          <p:nvPr/>
        </p:nvSpPr>
        <p:spPr>
          <a:xfrm>
            <a:off x="5022151" y="4880393"/>
            <a:ext cx="2433539" cy="800219"/>
          </a:xfrm>
          <a:prstGeom prst="rect">
            <a:avLst/>
          </a:prstGeom>
          <a:noFill/>
        </p:spPr>
        <p:txBody>
          <a:bodyPr wrap="square">
            <a:spAutoFit/>
          </a:bodyPr>
          <a:lstStyle/>
          <a:p>
            <a:pPr algn="ctr"/>
            <a:r>
              <a:rPr kumimoji="0" lang="en-US" altLang="en-US" sz="1600" b="1" i="0" u="none" strike="noStrike" cap="none" normalizeH="0" baseline="0" dirty="0">
                <a:ln>
                  <a:noFill/>
                </a:ln>
                <a:solidFill>
                  <a:schemeClr val="bg1"/>
                </a:solidFill>
                <a:effectLst/>
                <a:latin typeface="OktaNeue"/>
              </a:rPr>
              <a:t>Mitigation Option </a:t>
            </a:r>
          </a:p>
          <a:p>
            <a:pPr algn="ctr"/>
            <a:r>
              <a:rPr kumimoji="0" lang="en-US" altLang="en-US" sz="1600" b="1" i="0" u="none" strike="noStrike" cap="none" normalizeH="0" baseline="0" dirty="0">
                <a:ln>
                  <a:noFill/>
                </a:ln>
                <a:solidFill>
                  <a:schemeClr val="bg1"/>
                </a:solidFill>
                <a:effectLst/>
                <a:latin typeface="OktaNeue"/>
              </a:rPr>
              <a:t>Evaluation</a:t>
            </a:r>
            <a:endParaRPr kumimoji="0" lang="en-US" altLang="en-US" sz="1600" b="1" i="0" u="none" strike="noStrike" cap="none" normalizeH="0" baseline="0" dirty="0">
              <a:ln>
                <a:noFill/>
              </a:ln>
              <a:solidFill>
                <a:schemeClr val="bg1"/>
              </a:solidFill>
              <a:effectLst/>
            </a:endParaRPr>
          </a:p>
          <a:p>
            <a:pPr algn="l"/>
            <a:endParaRPr lang="en-US" sz="1400" b="1" i="0" dirty="0">
              <a:solidFill>
                <a:schemeClr val="bg1"/>
              </a:solidFill>
              <a:effectLst/>
              <a:latin typeface="Ibmplexsans"/>
            </a:endParaRPr>
          </a:p>
        </p:txBody>
      </p:sp>
      <p:sp>
        <p:nvSpPr>
          <p:cNvPr id="51" name="TextBox 50">
            <a:extLst>
              <a:ext uri="{FF2B5EF4-FFF2-40B4-BE49-F238E27FC236}">
                <a16:creationId xmlns:a16="http://schemas.microsoft.com/office/drawing/2014/main" id="{368CE24E-7F02-7270-59D4-415B3D8DFEE8}"/>
              </a:ext>
            </a:extLst>
          </p:cNvPr>
          <p:cNvSpPr txBox="1"/>
          <p:nvPr/>
        </p:nvSpPr>
        <p:spPr>
          <a:xfrm>
            <a:off x="7359774" y="4489347"/>
            <a:ext cx="2433539" cy="1046440"/>
          </a:xfrm>
          <a:prstGeom prst="rect">
            <a:avLst/>
          </a:prstGeom>
          <a:noFill/>
        </p:spPr>
        <p:txBody>
          <a:bodyPr wrap="square">
            <a:spAutoFit/>
          </a:bodyPr>
          <a:lstStyle/>
          <a:p>
            <a:pPr algn="ctr"/>
            <a:r>
              <a:rPr lang="en-US" altLang="en-US" sz="1600" b="1" dirty="0">
                <a:solidFill>
                  <a:schemeClr val="bg1"/>
                </a:solidFill>
                <a:latin typeface="OktaNeue"/>
              </a:rPr>
              <a:t>Low carbon</a:t>
            </a:r>
          </a:p>
          <a:p>
            <a:pPr algn="ctr"/>
            <a:r>
              <a:rPr kumimoji="0" lang="en-US" altLang="en-US" sz="1600" b="1" i="0" u="none" strike="noStrike" cap="none" normalizeH="0" baseline="0" dirty="0">
                <a:ln>
                  <a:noFill/>
                </a:ln>
                <a:solidFill>
                  <a:schemeClr val="bg1"/>
                </a:solidFill>
                <a:effectLst/>
                <a:latin typeface="OktaNeue"/>
              </a:rPr>
              <a:t>Scenario</a:t>
            </a:r>
          </a:p>
          <a:p>
            <a:pPr algn="ctr"/>
            <a:r>
              <a:rPr lang="en-US" altLang="en-US" sz="1600" b="1" dirty="0">
                <a:solidFill>
                  <a:schemeClr val="bg1"/>
                </a:solidFill>
                <a:latin typeface="OktaNeue"/>
              </a:rPr>
              <a:t>Building</a:t>
            </a:r>
            <a:endParaRPr kumimoji="0" lang="en-US" altLang="en-US" sz="1600" b="1" i="0" u="none" strike="noStrike" cap="none" normalizeH="0" baseline="0" dirty="0">
              <a:ln>
                <a:noFill/>
              </a:ln>
              <a:solidFill>
                <a:schemeClr val="bg1"/>
              </a:solidFill>
              <a:effectLst/>
            </a:endParaRPr>
          </a:p>
          <a:p>
            <a:pPr algn="l"/>
            <a:endParaRPr lang="en-US" sz="1400" b="1" i="0" dirty="0">
              <a:solidFill>
                <a:schemeClr val="bg1"/>
              </a:solidFill>
              <a:effectLst/>
              <a:latin typeface="Ibmplexsans"/>
            </a:endParaRPr>
          </a:p>
        </p:txBody>
      </p:sp>
      <p:cxnSp>
        <p:nvCxnSpPr>
          <p:cNvPr id="52" name="Straight Connector 51">
            <a:extLst>
              <a:ext uri="{FF2B5EF4-FFF2-40B4-BE49-F238E27FC236}">
                <a16:creationId xmlns:a16="http://schemas.microsoft.com/office/drawing/2014/main" id="{200D154A-019F-BD6B-2A41-7D524F226B36}"/>
              </a:ext>
            </a:extLst>
          </p:cNvPr>
          <p:cNvCxnSpPr>
            <a:cxnSpLocks/>
          </p:cNvCxnSpPr>
          <p:nvPr/>
        </p:nvCxnSpPr>
        <p:spPr>
          <a:xfrm flipV="1">
            <a:off x="7556509" y="4187848"/>
            <a:ext cx="2043419" cy="10472"/>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93865F2A-53BE-3A8D-4C1C-C5C61697EF6A}"/>
              </a:ext>
            </a:extLst>
          </p:cNvPr>
          <p:cNvSpPr txBox="1"/>
          <p:nvPr/>
        </p:nvSpPr>
        <p:spPr>
          <a:xfrm>
            <a:off x="9750781" y="2593711"/>
            <a:ext cx="2433539" cy="584775"/>
          </a:xfrm>
          <a:prstGeom prst="rect">
            <a:avLst/>
          </a:prstGeom>
          <a:noFill/>
        </p:spPr>
        <p:txBody>
          <a:bodyPr wrap="square">
            <a:spAutoFit/>
          </a:bodyPr>
          <a:lstStyle/>
          <a:p>
            <a:pPr algn="ctr"/>
            <a:r>
              <a:rPr lang="en-US" sz="1600" b="1" i="0" dirty="0">
                <a:solidFill>
                  <a:schemeClr val="bg1"/>
                </a:solidFill>
                <a:effectLst/>
                <a:latin typeface="Ibmplexsans"/>
              </a:rPr>
              <a:t>Supply Chain</a:t>
            </a:r>
          </a:p>
          <a:p>
            <a:pPr algn="ctr"/>
            <a:r>
              <a:rPr lang="en-US" sz="1600" b="1" dirty="0">
                <a:solidFill>
                  <a:schemeClr val="bg1"/>
                </a:solidFill>
                <a:latin typeface="Ibmplexsans"/>
              </a:rPr>
              <a:t>Engagement</a:t>
            </a:r>
            <a:endParaRPr lang="en-US" sz="1600" b="1" i="0" dirty="0">
              <a:solidFill>
                <a:schemeClr val="bg1"/>
              </a:solidFill>
              <a:effectLst/>
              <a:latin typeface="Ibmplexsans"/>
            </a:endParaRPr>
          </a:p>
        </p:txBody>
      </p:sp>
      <p:sp>
        <p:nvSpPr>
          <p:cNvPr id="54" name="TextBox 53">
            <a:extLst>
              <a:ext uri="{FF2B5EF4-FFF2-40B4-BE49-F238E27FC236}">
                <a16:creationId xmlns:a16="http://schemas.microsoft.com/office/drawing/2014/main" id="{D7B9396B-4794-E3FC-68AA-6A496BE34BD5}"/>
              </a:ext>
            </a:extLst>
          </p:cNvPr>
          <p:cNvSpPr txBox="1"/>
          <p:nvPr/>
        </p:nvSpPr>
        <p:spPr>
          <a:xfrm>
            <a:off x="9782836" y="3718968"/>
            <a:ext cx="2433539" cy="830997"/>
          </a:xfrm>
          <a:prstGeom prst="rect">
            <a:avLst/>
          </a:prstGeom>
          <a:noFill/>
        </p:spPr>
        <p:txBody>
          <a:bodyPr wrap="square">
            <a:spAutoFit/>
          </a:bodyPr>
          <a:lstStyle/>
          <a:p>
            <a:pPr algn="ctr"/>
            <a:r>
              <a:rPr lang="en-US" sz="1600" b="1" dirty="0">
                <a:solidFill>
                  <a:schemeClr val="bg1"/>
                </a:solidFill>
                <a:latin typeface="Ibmplexsans"/>
              </a:rPr>
              <a:t>Offsets / carbon credit forecasting</a:t>
            </a:r>
            <a:endParaRPr lang="en-US" sz="1600" b="1" i="0" dirty="0">
              <a:solidFill>
                <a:schemeClr val="bg1"/>
              </a:solidFill>
              <a:effectLst/>
              <a:latin typeface="Ibmplexsans"/>
            </a:endParaRPr>
          </a:p>
          <a:p>
            <a:pPr algn="ctr"/>
            <a:endParaRPr lang="en-US" sz="1600" b="1" i="0" dirty="0">
              <a:solidFill>
                <a:schemeClr val="bg1"/>
              </a:solidFill>
              <a:effectLst/>
              <a:latin typeface="Ibmplexsans"/>
            </a:endParaRPr>
          </a:p>
        </p:txBody>
      </p:sp>
      <p:sp>
        <p:nvSpPr>
          <p:cNvPr id="55" name="TextBox 54">
            <a:extLst>
              <a:ext uri="{FF2B5EF4-FFF2-40B4-BE49-F238E27FC236}">
                <a16:creationId xmlns:a16="http://schemas.microsoft.com/office/drawing/2014/main" id="{6D85C0F5-EC73-FA27-8EF1-1DF5F55C716E}"/>
              </a:ext>
            </a:extLst>
          </p:cNvPr>
          <p:cNvSpPr txBox="1"/>
          <p:nvPr/>
        </p:nvSpPr>
        <p:spPr>
          <a:xfrm>
            <a:off x="9763229" y="4850969"/>
            <a:ext cx="2433539" cy="584775"/>
          </a:xfrm>
          <a:prstGeom prst="rect">
            <a:avLst/>
          </a:prstGeom>
          <a:noFill/>
        </p:spPr>
        <p:txBody>
          <a:bodyPr wrap="square">
            <a:spAutoFit/>
          </a:bodyPr>
          <a:lstStyle/>
          <a:p>
            <a:pPr algn="ctr"/>
            <a:r>
              <a:rPr lang="en-US" sz="1600" b="1" i="0" dirty="0">
                <a:solidFill>
                  <a:schemeClr val="bg1"/>
                </a:solidFill>
                <a:effectLst/>
                <a:latin typeface="Ibmplexsans"/>
              </a:rPr>
              <a:t>Transition Risk Management</a:t>
            </a:r>
          </a:p>
        </p:txBody>
      </p:sp>
      <p:cxnSp>
        <p:nvCxnSpPr>
          <p:cNvPr id="56" name="Straight Connector 55">
            <a:extLst>
              <a:ext uri="{FF2B5EF4-FFF2-40B4-BE49-F238E27FC236}">
                <a16:creationId xmlns:a16="http://schemas.microsoft.com/office/drawing/2014/main" id="{7E3F5771-D3E1-51B7-2802-28DE04CEB6DF}"/>
              </a:ext>
            </a:extLst>
          </p:cNvPr>
          <p:cNvCxnSpPr>
            <a:cxnSpLocks/>
          </p:cNvCxnSpPr>
          <p:nvPr/>
        </p:nvCxnSpPr>
        <p:spPr>
          <a:xfrm flipV="1">
            <a:off x="9961187" y="3469018"/>
            <a:ext cx="2043419" cy="10472"/>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16CADE6-E7AD-509D-5BC6-7D06A67B7ED0}"/>
              </a:ext>
            </a:extLst>
          </p:cNvPr>
          <p:cNvCxnSpPr>
            <a:cxnSpLocks/>
          </p:cNvCxnSpPr>
          <p:nvPr/>
        </p:nvCxnSpPr>
        <p:spPr>
          <a:xfrm flipV="1">
            <a:off x="9934446" y="4684346"/>
            <a:ext cx="2043419" cy="10472"/>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2BDDD0A-62B7-2F54-8B1A-4B67F6C7018D}"/>
              </a:ext>
            </a:extLst>
          </p:cNvPr>
          <p:cNvSpPr txBox="1"/>
          <p:nvPr/>
        </p:nvSpPr>
        <p:spPr>
          <a:xfrm>
            <a:off x="401988" y="2478224"/>
            <a:ext cx="1797744" cy="584775"/>
          </a:xfrm>
          <a:prstGeom prst="rect">
            <a:avLst/>
          </a:prstGeom>
          <a:noFill/>
        </p:spPr>
        <p:txBody>
          <a:bodyPr wrap="square">
            <a:spAutoFit/>
          </a:bodyPr>
          <a:lstStyle/>
          <a:p>
            <a:pPr algn="ctr"/>
            <a:r>
              <a:rPr lang="en-US" sz="1600" b="1" i="0" dirty="0">
                <a:solidFill>
                  <a:schemeClr val="bg1"/>
                </a:solidFill>
                <a:effectLst/>
                <a:latin typeface="OktaNeue"/>
              </a:rPr>
              <a:t>Flexible Data</a:t>
            </a:r>
          </a:p>
          <a:p>
            <a:pPr algn="ctr"/>
            <a:r>
              <a:rPr lang="en-US" sz="1600" b="1" dirty="0">
                <a:solidFill>
                  <a:schemeClr val="bg1"/>
                </a:solidFill>
                <a:latin typeface="OktaNeue"/>
              </a:rPr>
              <a:t>Collection</a:t>
            </a:r>
            <a:endParaRPr lang="en-US" sz="1400" b="1" i="0" dirty="0">
              <a:solidFill>
                <a:schemeClr val="bg1"/>
              </a:solidFill>
              <a:effectLst/>
              <a:latin typeface="Ibmplexsans"/>
            </a:endParaRPr>
          </a:p>
        </p:txBody>
      </p:sp>
      <p:sp>
        <p:nvSpPr>
          <p:cNvPr id="59" name="TextBox 58">
            <a:extLst>
              <a:ext uri="{FF2B5EF4-FFF2-40B4-BE49-F238E27FC236}">
                <a16:creationId xmlns:a16="http://schemas.microsoft.com/office/drawing/2014/main" id="{5AF4AC2A-DFF0-CFE3-7017-4C7FE0DCF00B}"/>
              </a:ext>
            </a:extLst>
          </p:cNvPr>
          <p:cNvSpPr txBox="1"/>
          <p:nvPr/>
        </p:nvSpPr>
        <p:spPr>
          <a:xfrm>
            <a:off x="382820" y="3379224"/>
            <a:ext cx="1797744" cy="1077218"/>
          </a:xfrm>
          <a:prstGeom prst="rect">
            <a:avLst/>
          </a:prstGeom>
          <a:noFill/>
        </p:spPr>
        <p:txBody>
          <a:bodyPr wrap="square">
            <a:spAutoFit/>
          </a:bodyPr>
          <a:lstStyle/>
          <a:p>
            <a:pPr algn="ctr"/>
            <a:r>
              <a:rPr kumimoji="0" lang="en-US" altLang="en-US" sz="1600" b="1" i="0" u="none" strike="noStrike" cap="none" normalizeH="0" baseline="0" dirty="0">
                <a:ln>
                  <a:noFill/>
                </a:ln>
                <a:solidFill>
                  <a:schemeClr val="bg1"/>
                </a:solidFill>
                <a:effectLst/>
                <a:latin typeface="OktaNeue"/>
              </a:rPr>
              <a:t>Transparent and auditable calculations</a:t>
            </a:r>
            <a:endParaRPr kumimoji="0" lang="en-US" altLang="en-US" sz="1600" b="1" i="0" u="none" strike="noStrike" cap="none" normalizeH="0" baseline="0" dirty="0">
              <a:ln>
                <a:noFill/>
              </a:ln>
              <a:solidFill>
                <a:schemeClr val="bg1"/>
              </a:solidFill>
              <a:effectLst/>
              <a:latin typeface="Arial" panose="020B0604020202020204" pitchFamily="34" charset="0"/>
            </a:endParaRPr>
          </a:p>
          <a:p>
            <a:pPr algn="ctr"/>
            <a:endParaRPr lang="en-US" sz="1600" b="1" i="0" dirty="0">
              <a:solidFill>
                <a:schemeClr val="bg1"/>
              </a:solidFill>
              <a:effectLst/>
              <a:latin typeface="OktaNeue"/>
            </a:endParaRPr>
          </a:p>
        </p:txBody>
      </p:sp>
      <p:sp>
        <p:nvSpPr>
          <p:cNvPr id="61" name="TextBox 60">
            <a:extLst>
              <a:ext uri="{FF2B5EF4-FFF2-40B4-BE49-F238E27FC236}">
                <a16:creationId xmlns:a16="http://schemas.microsoft.com/office/drawing/2014/main" id="{3B2FD898-7023-1021-0607-22462B987437}"/>
              </a:ext>
            </a:extLst>
          </p:cNvPr>
          <p:cNvSpPr txBox="1"/>
          <p:nvPr/>
        </p:nvSpPr>
        <p:spPr>
          <a:xfrm>
            <a:off x="2556876" y="5057412"/>
            <a:ext cx="2433539" cy="584775"/>
          </a:xfrm>
          <a:prstGeom prst="rect">
            <a:avLst/>
          </a:prstGeom>
          <a:noFill/>
        </p:spPr>
        <p:txBody>
          <a:bodyPr wrap="square">
            <a:spAutoFit/>
          </a:bodyPr>
          <a:lstStyle/>
          <a:p>
            <a:pPr algn="ctr"/>
            <a:r>
              <a:rPr kumimoji="0" lang="en-US" altLang="en-US" sz="1600" b="1" i="0" u="none" strike="noStrike" cap="none" normalizeH="0" baseline="0" dirty="0">
                <a:ln>
                  <a:noFill/>
                </a:ln>
                <a:solidFill>
                  <a:schemeClr val="bg1"/>
                </a:solidFill>
                <a:effectLst/>
                <a:latin typeface="OktaNeue"/>
              </a:rPr>
              <a:t>Aggregate, sort, and </a:t>
            </a:r>
          </a:p>
          <a:p>
            <a:pPr algn="ctr"/>
            <a:r>
              <a:rPr kumimoji="0" lang="en-US" altLang="en-US" sz="1600" b="1" i="0" u="none" strike="noStrike" cap="none" normalizeH="0" baseline="0" dirty="0">
                <a:ln>
                  <a:noFill/>
                </a:ln>
                <a:solidFill>
                  <a:schemeClr val="bg1"/>
                </a:solidFill>
                <a:effectLst/>
                <a:latin typeface="OktaNeue"/>
              </a:rPr>
              <a:t>filter emissions data</a:t>
            </a:r>
            <a:endParaRPr lang="en-US" sz="1400" b="1" i="0" dirty="0">
              <a:solidFill>
                <a:schemeClr val="bg1"/>
              </a:solidFill>
              <a:effectLst/>
              <a:latin typeface="Ibmplexsans"/>
            </a:endParaRPr>
          </a:p>
        </p:txBody>
      </p:sp>
      <p:cxnSp>
        <p:nvCxnSpPr>
          <p:cNvPr id="62" name="Straight Connector 61">
            <a:extLst>
              <a:ext uri="{FF2B5EF4-FFF2-40B4-BE49-F238E27FC236}">
                <a16:creationId xmlns:a16="http://schemas.microsoft.com/office/drawing/2014/main" id="{BA2A2B5E-9416-989B-BC24-5F244824804A}"/>
              </a:ext>
            </a:extLst>
          </p:cNvPr>
          <p:cNvCxnSpPr>
            <a:cxnSpLocks/>
          </p:cNvCxnSpPr>
          <p:nvPr/>
        </p:nvCxnSpPr>
        <p:spPr>
          <a:xfrm flipV="1">
            <a:off x="2753659" y="4931917"/>
            <a:ext cx="2043419" cy="10472"/>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5828F04-1DB1-4856-89AF-559D7A3C7796}"/>
              </a:ext>
            </a:extLst>
          </p:cNvPr>
          <p:cNvCxnSpPr>
            <a:cxnSpLocks/>
          </p:cNvCxnSpPr>
          <p:nvPr/>
        </p:nvCxnSpPr>
        <p:spPr>
          <a:xfrm flipV="1">
            <a:off x="207364" y="3200146"/>
            <a:ext cx="2043419" cy="10472"/>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025" name="TextBox 1024">
            <a:extLst>
              <a:ext uri="{FF2B5EF4-FFF2-40B4-BE49-F238E27FC236}">
                <a16:creationId xmlns:a16="http://schemas.microsoft.com/office/drawing/2014/main" id="{F9C8B040-6FE4-9D8E-D5D0-E167644220DF}"/>
              </a:ext>
            </a:extLst>
          </p:cNvPr>
          <p:cNvSpPr txBox="1"/>
          <p:nvPr/>
        </p:nvSpPr>
        <p:spPr>
          <a:xfrm>
            <a:off x="373971" y="4607135"/>
            <a:ext cx="1797744" cy="1077218"/>
          </a:xfrm>
          <a:prstGeom prst="rect">
            <a:avLst/>
          </a:prstGeom>
          <a:noFill/>
        </p:spPr>
        <p:txBody>
          <a:bodyPr wrap="square">
            <a:spAutoFit/>
          </a:bodyPr>
          <a:lstStyle/>
          <a:p>
            <a:pPr algn="ctr"/>
            <a:r>
              <a:rPr kumimoji="0" lang="en-US" altLang="en-US" sz="1600" b="1" i="0" u="none" strike="noStrike" cap="none" normalizeH="0" baseline="0" dirty="0">
                <a:ln>
                  <a:noFill/>
                </a:ln>
                <a:solidFill>
                  <a:schemeClr val="bg1"/>
                </a:solidFill>
                <a:effectLst/>
                <a:latin typeface="OktaNeue"/>
              </a:rPr>
              <a:t>Emissions factor database including EPA, IPCC, GHG Protocol</a:t>
            </a:r>
            <a:endParaRPr lang="en-US" sz="1600" b="1" i="0" dirty="0">
              <a:solidFill>
                <a:schemeClr val="bg1"/>
              </a:solidFill>
              <a:effectLst/>
              <a:latin typeface="OktaNeue"/>
            </a:endParaRPr>
          </a:p>
        </p:txBody>
      </p:sp>
      <p:cxnSp>
        <p:nvCxnSpPr>
          <p:cNvPr id="1027" name="Straight Connector 1026">
            <a:extLst>
              <a:ext uri="{FF2B5EF4-FFF2-40B4-BE49-F238E27FC236}">
                <a16:creationId xmlns:a16="http://schemas.microsoft.com/office/drawing/2014/main" id="{0D160A7C-ECC9-C3F1-92D1-03416565A617}"/>
              </a:ext>
            </a:extLst>
          </p:cNvPr>
          <p:cNvCxnSpPr>
            <a:cxnSpLocks/>
          </p:cNvCxnSpPr>
          <p:nvPr/>
        </p:nvCxnSpPr>
        <p:spPr>
          <a:xfrm flipV="1">
            <a:off x="281157" y="4412221"/>
            <a:ext cx="2043419" cy="10472"/>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99D76762-9E3A-E766-24D5-FE21F49CA9F0}"/>
              </a:ext>
            </a:extLst>
          </p:cNvPr>
          <p:cNvSpPr txBox="1"/>
          <p:nvPr/>
        </p:nvSpPr>
        <p:spPr>
          <a:xfrm>
            <a:off x="0" y="441825"/>
            <a:ext cx="12153136" cy="677108"/>
          </a:xfrm>
          <a:prstGeom prst="rect">
            <a:avLst/>
          </a:prstGeom>
          <a:noFill/>
        </p:spPr>
        <p:txBody>
          <a:bodyPr wrap="square">
            <a:spAutoFit/>
          </a:bodyPr>
          <a:lstStyle/>
          <a:p>
            <a:pPr algn="ctr"/>
            <a:r>
              <a:rPr lang="en-US" sz="2000" b="1" i="0" dirty="0">
                <a:solidFill>
                  <a:schemeClr val="accent1">
                    <a:lumMod val="50000"/>
                  </a:schemeClr>
                </a:solidFill>
                <a:effectLst/>
                <a:latin typeface="OktaNeue"/>
              </a:rPr>
              <a:t>Build the foundation for a decarbonization pathway with the use of LFDT platforms and systems.</a:t>
            </a:r>
          </a:p>
          <a:p>
            <a:pPr algn="ctr"/>
            <a:r>
              <a:rPr lang="en-US" b="1" dirty="0">
                <a:solidFill>
                  <a:schemeClr val="accent1">
                    <a:lumMod val="50000"/>
                  </a:schemeClr>
                </a:solidFill>
                <a:latin typeface="OktaNeue"/>
              </a:rPr>
              <a:t>As one example, demonstrate how the functionality within a </a:t>
            </a:r>
            <a:r>
              <a:rPr lang="en-US" b="1" i="0" dirty="0">
                <a:solidFill>
                  <a:schemeClr val="accent1">
                    <a:lumMod val="50000"/>
                  </a:schemeClr>
                </a:solidFill>
                <a:effectLst/>
                <a:latin typeface="OktaNeue"/>
              </a:rPr>
              <a:t>Digital Twin enables supply chain actionable Insights: </a:t>
            </a:r>
            <a:endParaRPr lang="en-US" b="1" i="0" dirty="0">
              <a:effectLst/>
              <a:latin typeface="Ibmplexsans"/>
            </a:endParaRPr>
          </a:p>
        </p:txBody>
      </p:sp>
      <p:sp>
        <p:nvSpPr>
          <p:cNvPr id="1031" name="Rectangle 1030">
            <a:extLst>
              <a:ext uri="{FF2B5EF4-FFF2-40B4-BE49-F238E27FC236}">
                <a16:creationId xmlns:a16="http://schemas.microsoft.com/office/drawing/2014/main" id="{D5D421B8-4D6F-EFC9-9AA2-119EA653736C}"/>
              </a:ext>
            </a:extLst>
          </p:cNvPr>
          <p:cNvSpPr/>
          <p:nvPr/>
        </p:nvSpPr>
        <p:spPr>
          <a:xfrm>
            <a:off x="-27760" y="4439"/>
            <a:ext cx="12180896" cy="417150"/>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LFDT Platforms are a Reference Architecture for Supply Chain Decarbonization </a:t>
            </a:r>
          </a:p>
        </p:txBody>
      </p:sp>
      <p:sp>
        <p:nvSpPr>
          <p:cNvPr id="2" name="TextBox 1">
            <a:extLst>
              <a:ext uri="{FF2B5EF4-FFF2-40B4-BE49-F238E27FC236}">
                <a16:creationId xmlns:a16="http://schemas.microsoft.com/office/drawing/2014/main" id="{021F2B06-FBB2-B09B-2BD6-873430572F3A}"/>
              </a:ext>
            </a:extLst>
          </p:cNvPr>
          <p:cNvSpPr txBox="1"/>
          <p:nvPr/>
        </p:nvSpPr>
        <p:spPr>
          <a:xfrm>
            <a:off x="207364" y="1254914"/>
            <a:ext cx="10396083" cy="400110"/>
          </a:xfrm>
          <a:prstGeom prst="rect">
            <a:avLst/>
          </a:prstGeom>
          <a:noFill/>
        </p:spPr>
        <p:txBody>
          <a:bodyPr wrap="square" rtlCol="0">
            <a:spAutoFit/>
          </a:bodyPr>
          <a:lstStyle/>
          <a:p>
            <a:r>
              <a:rPr lang="en-US" sz="2000" b="1" dirty="0"/>
              <a:t>LFDT platforms/tools: </a:t>
            </a:r>
            <a:r>
              <a:rPr lang="en-US" sz="2000" b="1" dirty="0" err="1"/>
              <a:t>Besu</a:t>
            </a:r>
            <a:r>
              <a:rPr lang="en-US" sz="2000" b="1" dirty="0"/>
              <a:t>, Fabric, Iroha, Indy, Aries </a:t>
            </a:r>
          </a:p>
        </p:txBody>
      </p:sp>
    </p:spTree>
    <p:extLst>
      <p:ext uri="{BB962C8B-B14F-4D97-AF65-F5344CB8AC3E}">
        <p14:creationId xmlns:p14="http://schemas.microsoft.com/office/powerpoint/2010/main" val="3863088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60A26-B67F-3DDC-B15D-6F088FD618A0}"/>
            </a:ext>
          </a:extLst>
        </p:cNvPr>
        <p:cNvGrpSpPr/>
        <p:nvPr/>
      </p:nvGrpSpPr>
      <p:grpSpPr>
        <a:xfrm>
          <a:off x="0" y="0"/>
          <a:ext cx="0" cy="0"/>
          <a:chOff x="0" y="0"/>
          <a:chExt cx="0" cy="0"/>
        </a:xfrm>
      </p:grpSpPr>
      <p:pic>
        <p:nvPicPr>
          <p:cNvPr id="2" name="Picture 6" descr="concept of digital twin, internet of things (iot), machine learning. concept of digital twin, internet of things (iot), machine learning. digital twins stock illustrations">
            <a:extLst>
              <a:ext uri="{FF2B5EF4-FFF2-40B4-BE49-F238E27FC236}">
                <a16:creationId xmlns:a16="http://schemas.microsoft.com/office/drawing/2014/main" id="{04C412C7-613D-F93F-DDBA-39153388BA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6590" y="5276484"/>
            <a:ext cx="4115410" cy="1564176"/>
          </a:xfrm>
          <a:prstGeom prst="rect">
            <a:avLst/>
          </a:prstGeom>
          <a:noFill/>
          <a:extLst>
            <a:ext uri="{909E8E84-426E-40DD-AFC4-6F175D3DCCD1}">
              <a14:hiddenFill xmlns:a14="http://schemas.microsoft.com/office/drawing/2010/main">
                <a:solidFill>
                  <a:srgbClr val="FFFFFF"/>
                </a:solidFill>
              </a14:hiddenFill>
            </a:ext>
          </a:extLst>
        </p:spPr>
      </p:pic>
      <p:sp>
        <p:nvSpPr>
          <p:cNvPr id="65" name="AutoShape 2" descr="Cash Pictures, Cash Stock Photos &amp; Images | Depositphotos®">
            <a:extLst>
              <a:ext uri="{FF2B5EF4-FFF2-40B4-BE49-F238E27FC236}">
                <a16:creationId xmlns:a16="http://schemas.microsoft.com/office/drawing/2014/main" id="{89370A24-12EA-BCCD-CB18-031D919FC27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41A449C3-3CA0-2988-E7C5-E260BF30A12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3375CD19-B8A1-8A10-AA5B-E005ED77E60B}"/>
              </a:ext>
            </a:extLst>
          </p:cNvPr>
          <p:cNvSpPr txBox="1"/>
          <p:nvPr/>
        </p:nvSpPr>
        <p:spPr>
          <a:xfrm>
            <a:off x="-3184" y="668757"/>
            <a:ext cx="12144782" cy="1015663"/>
          </a:xfrm>
          <a:prstGeom prst="rect">
            <a:avLst/>
          </a:prstGeom>
          <a:noFill/>
          <a:ln>
            <a:noFill/>
          </a:ln>
        </p:spPr>
        <p:txBody>
          <a:bodyPr wrap="square" rtlCol="0">
            <a:spAutoFit/>
          </a:bodyPr>
          <a:lstStyle/>
          <a:p>
            <a:r>
              <a:rPr lang="en-US" sz="2000" dirty="0"/>
              <a:t>Deploying a </a:t>
            </a:r>
            <a:r>
              <a:rPr lang="en-US" sz="2000" b="1" dirty="0">
                <a:solidFill>
                  <a:srgbClr val="C00000"/>
                </a:solidFill>
              </a:rPr>
              <a:t>digital twin </a:t>
            </a:r>
            <a:r>
              <a:rPr lang="en-US" sz="2000" dirty="0"/>
              <a:t>for a supply chain involves developing a virtual supply chain to accurately reflect the physical assets responsible for GHG emissions. This digital representation enables the following emission measurement and planning processes.                  </a:t>
            </a:r>
            <a:endParaRPr lang="en-US" sz="2000" u="sng" dirty="0">
              <a:solidFill>
                <a:srgbClr val="C00000"/>
              </a:solidFill>
            </a:endParaRPr>
          </a:p>
        </p:txBody>
      </p:sp>
      <p:sp>
        <p:nvSpPr>
          <p:cNvPr id="12" name="Rectangle 11">
            <a:extLst>
              <a:ext uri="{FF2B5EF4-FFF2-40B4-BE49-F238E27FC236}">
                <a16:creationId xmlns:a16="http://schemas.microsoft.com/office/drawing/2014/main" id="{5101EE5B-FD8E-2D1D-CC56-3987798D93AB}"/>
              </a:ext>
            </a:extLst>
          </p:cNvPr>
          <p:cNvSpPr/>
          <p:nvPr/>
        </p:nvSpPr>
        <p:spPr>
          <a:xfrm>
            <a:off x="-3184" y="-32066"/>
            <a:ext cx="12180896" cy="656492"/>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LFDT Platforms are Best-in-Class to Serve as a Reference Architecture for Digital Twin Tracking</a:t>
            </a:r>
          </a:p>
        </p:txBody>
      </p:sp>
      <p:sp>
        <p:nvSpPr>
          <p:cNvPr id="6" name="Arrow: Right 5">
            <a:extLst>
              <a:ext uri="{FF2B5EF4-FFF2-40B4-BE49-F238E27FC236}">
                <a16:creationId xmlns:a16="http://schemas.microsoft.com/office/drawing/2014/main" id="{A2B542B1-461C-11AD-3F6D-51B8A778EC76}"/>
              </a:ext>
            </a:extLst>
          </p:cNvPr>
          <p:cNvSpPr/>
          <p:nvPr/>
        </p:nvSpPr>
        <p:spPr>
          <a:xfrm>
            <a:off x="41563" y="2040100"/>
            <a:ext cx="2136371" cy="443981"/>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Simulation</a:t>
            </a:r>
          </a:p>
        </p:txBody>
      </p:sp>
      <p:sp>
        <p:nvSpPr>
          <p:cNvPr id="7" name="Rectangle 6">
            <a:extLst>
              <a:ext uri="{FF2B5EF4-FFF2-40B4-BE49-F238E27FC236}">
                <a16:creationId xmlns:a16="http://schemas.microsoft.com/office/drawing/2014/main" id="{00EE98AB-6853-EBC5-EEE9-B9FCD1ADAB75}"/>
              </a:ext>
            </a:extLst>
          </p:cNvPr>
          <p:cNvSpPr/>
          <p:nvPr/>
        </p:nvSpPr>
        <p:spPr>
          <a:xfrm>
            <a:off x="2286000" y="1873731"/>
            <a:ext cx="9440487" cy="830997"/>
          </a:xfrm>
          <a:prstGeom prst="rect">
            <a:avLst/>
          </a:prstGeom>
          <a:noFill/>
        </p:spPr>
        <p:txBody>
          <a:bodyPr wrap="square" lIns="91440" tIns="45720" rIns="91440" bIns="45720">
            <a:spAutoFit/>
          </a:bodyPr>
          <a:lstStyle/>
          <a:p>
            <a:pPr marL="342900" indent="-342900">
              <a:buFont typeface="Courier New" panose="02070309020205020404" pitchFamily="49" charset="0"/>
              <a:buChar char="o"/>
            </a:pPr>
            <a:r>
              <a:rPr lang="en-US" sz="1600" dirty="0">
                <a:latin typeface="Titillium Web Light" panose="00000400000000000000" pitchFamily="2" charset="0"/>
              </a:rPr>
              <a:t>Provides a platform to develop and test supply chain GHG emissions scenarios and develop specific plans based on such scenarios to mitigate.</a:t>
            </a:r>
          </a:p>
          <a:p>
            <a:pPr marL="342900" indent="-342900">
              <a:buFont typeface="Courier New" panose="02070309020205020404" pitchFamily="49" charset="0"/>
              <a:buChar char="o"/>
            </a:pPr>
            <a:r>
              <a:rPr lang="en-US" sz="1600" dirty="0">
                <a:latin typeface="Titillium Web Light" panose="00000400000000000000" pitchFamily="2" charset="0"/>
              </a:rPr>
              <a:t>Data results from scenarios represent emission baselines.</a:t>
            </a:r>
            <a:endParaRPr lang="en-US" sz="1600" b="1" cap="none" spc="0" dirty="0">
              <a:ln w="0"/>
              <a:solidFill>
                <a:schemeClr val="bg1"/>
              </a:solidFill>
              <a:effectLst>
                <a:outerShdw blurRad="38100" dist="19050" dir="2700000" algn="tl" rotWithShape="0">
                  <a:schemeClr val="dk1">
                    <a:alpha val="40000"/>
                  </a:schemeClr>
                </a:outerShdw>
              </a:effectLst>
            </a:endParaRPr>
          </a:p>
        </p:txBody>
      </p:sp>
      <p:sp>
        <p:nvSpPr>
          <p:cNvPr id="9" name="Arrow: Right 8">
            <a:extLst>
              <a:ext uri="{FF2B5EF4-FFF2-40B4-BE49-F238E27FC236}">
                <a16:creationId xmlns:a16="http://schemas.microsoft.com/office/drawing/2014/main" id="{D427BC3D-F369-36C9-68FD-0B04D809D633}"/>
              </a:ext>
            </a:extLst>
          </p:cNvPr>
          <p:cNvSpPr/>
          <p:nvPr/>
        </p:nvSpPr>
        <p:spPr>
          <a:xfrm>
            <a:off x="41564" y="2970883"/>
            <a:ext cx="2136370" cy="443981"/>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Real Time Monitor</a:t>
            </a:r>
          </a:p>
        </p:txBody>
      </p:sp>
      <p:sp>
        <p:nvSpPr>
          <p:cNvPr id="10" name="Arrow: Right 9">
            <a:extLst>
              <a:ext uri="{FF2B5EF4-FFF2-40B4-BE49-F238E27FC236}">
                <a16:creationId xmlns:a16="http://schemas.microsoft.com/office/drawing/2014/main" id="{74393365-2795-3C08-7056-64F07E5AD23B}"/>
              </a:ext>
            </a:extLst>
          </p:cNvPr>
          <p:cNvSpPr/>
          <p:nvPr/>
        </p:nvSpPr>
        <p:spPr>
          <a:xfrm>
            <a:off x="41562" y="4477803"/>
            <a:ext cx="2202872" cy="443981"/>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Optimization</a:t>
            </a:r>
          </a:p>
        </p:txBody>
      </p:sp>
      <p:sp>
        <p:nvSpPr>
          <p:cNvPr id="11" name="Arrow: Right 10">
            <a:extLst>
              <a:ext uri="{FF2B5EF4-FFF2-40B4-BE49-F238E27FC236}">
                <a16:creationId xmlns:a16="http://schemas.microsoft.com/office/drawing/2014/main" id="{CDF8A595-EA11-B316-86A3-BD3E1B343430}"/>
              </a:ext>
            </a:extLst>
          </p:cNvPr>
          <p:cNvSpPr/>
          <p:nvPr/>
        </p:nvSpPr>
        <p:spPr>
          <a:xfrm>
            <a:off x="41562" y="3803793"/>
            <a:ext cx="2202871" cy="443981"/>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Granular Analysis</a:t>
            </a:r>
          </a:p>
        </p:txBody>
      </p:sp>
      <p:sp>
        <p:nvSpPr>
          <p:cNvPr id="14" name="Arrow: Right 13">
            <a:extLst>
              <a:ext uri="{FF2B5EF4-FFF2-40B4-BE49-F238E27FC236}">
                <a16:creationId xmlns:a16="http://schemas.microsoft.com/office/drawing/2014/main" id="{BB66E16A-BED1-53A8-4B9F-55BDFA12E951}"/>
              </a:ext>
            </a:extLst>
          </p:cNvPr>
          <p:cNvSpPr/>
          <p:nvPr/>
        </p:nvSpPr>
        <p:spPr>
          <a:xfrm>
            <a:off x="41560" y="6156686"/>
            <a:ext cx="2202872" cy="443981"/>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AI model integration</a:t>
            </a:r>
          </a:p>
        </p:txBody>
      </p:sp>
      <p:sp>
        <p:nvSpPr>
          <p:cNvPr id="16" name="Arrow: Right 15">
            <a:extLst>
              <a:ext uri="{FF2B5EF4-FFF2-40B4-BE49-F238E27FC236}">
                <a16:creationId xmlns:a16="http://schemas.microsoft.com/office/drawing/2014/main" id="{B9DEBDDB-0C66-EA35-8240-C6FA3C50E117}"/>
              </a:ext>
            </a:extLst>
          </p:cNvPr>
          <p:cNvSpPr/>
          <p:nvPr/>
        </p:nvSpPr>
        <p:spPr>
          <a:xfrm>
            <a:off x="41562" y="5271606"/>
            <a:ext cx="2202870" cy="443981"/>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Credit Markets </a:t>
            </a:r>
          </a:p>
        </p:txBody>
      </p:sp>
      <p:sp>
        <p:nvSpPr>
          <p:cNvPr id="17" name="Rectangle 16">
            <a:extLst>
              <a:ext uri="{FF2B5EF4-FFF2-40B4-BE49-F238E27FC236}">
                <a16:creationId xmlns:a16="http://schemas.microsoft.com/office/drawing/2014/main" id="{1DA93E67-3274-D26E-D1E7-92D91E63767F}"/>
              </a:ext>
            </a:extLst>
          </p:cNvPr>
          <p:cNvSpPr/>
          <p:nvPr/>
        </p:nvSpPr>
        <p:spPr>
          <a:xfrm>
            <a:off x="2297079" y="2741027"/>
            <a:ext cx="9440487" cy="1077218"/>
          </a:xfrm>
          <a:prstGeom prst="rect">
            <a:avLst/>
          </a:prstGeom>
          <a:noFill/>
        </p:spPr>
        <p:txBody>
          <a:bodyPr wrap="square" lIns="91440" tIns="45720" rIns="91440" bIns="45720">
            <a:spAutoFit/>
          </a:bodyPr>
          <a:lstStyle/>
          <a:p>
            <a:pPr marL="342900" indent="-342900">
              <a:buFont typeface="Courier New" panose="02070309020205020404" pitchFamily="49" charset="0"/>
              <a:buChar char="o"/>
            </a:pPr>
            <a:r>
              <a:rPr lang="en-US" sz="1600" dirty="0">
                <a:latin typeface="Titillium Web Light" panose="00000400000000000000" pitchFamily="2" charset="0"/>
              </a:rPr>
              <a:t>The digital twin is an interactive, AI and IoT enabled, real time tracking of GHG emissions in every single step of the supply chain. </a:t>
            </a:r>
          </a:p>
          <a:p>
            <a:pPr marL="342900" indent="-342900">
              <a:buFont typeface="Courier New" panose="02070309020205020404" pitchFamily="49" charset="0"/>
              <a:buChar char="o"/>
            </a:pPr>
            <a:r>
              <a:rPr lang="en-US" sz="1600" dirty="0">
                <a:latin typeface="Titillium Web Light" panose="00000400000000000000" pitchFamily="2" charset="0"/>
              </a:rPr>
              <a:t>Compares against the emissions baseline.</a:t>
            </a:r>
            <a:endParaRPr lang="en-US" sz="1600" b="1" dirty="0">
              <a:latin typeface="Titillium Web Light" panose="00000400000000000000" pitchFamily="2" charset="0"/>
            </a:endParaRPr>
          </a:p>
          <a:p>
            <a:endParaRPr lang="en-US" sz="1600" b="1" cap="none" spc="0" dirty="0">
              <a:ln w="0"/>
              <a:solidFill>
                <a:schemeClr val="bg1"/>
              </a:solidFill>
              <a:effectLst>
                <a:outerShdw blurRad="38100" dist="19050" dir="2700000" algn="tl" rotWithShape="0">
                  <a:schemeClr val="dk1">
                    <a:alpha val="40000"/>
                  </a:schemeClr>
                </a:outerShdw>
              </a:effectLst>
            </a:endParaRPr>
          </a:p>
        </p:txBody>
      </p:sp>
      <p:sp>
        <p:nvSpPr>
          <p:cNvPr id="18" name="Rectangle 17">
            <a:extLst>
              <a:ext uri="{FF2B5EF4-FFF2-40B4-BE49-F238E27FC236}">
                <a16:creationId xmlns:a16="http://schemas.microsoft.com/office/drawing/2014/main" id="{2A150DEA-7C10-A280-3B5F-98F7557EF13C}"/>
              </a:ext>
            </a:extLst>
          </p:cNvPr>
          <p:cNvSpPr/>
          <p:nvPr/>
        </p:nvSpPr>
        <p:spPr>
          <a:xfrm>
            <a:off x="2297079" y="3851505"/>
            <a:ext cx="9440487" cy="830997"/>
          </a:xfrm>
          <a:prstGeom prst="rect">
            <a:avLst/>
          </a:prstGeom>
          <a:noFill/>
        </p:spPr>
        <p:txBody>
          <a:bodyPr wrap="square" lIns="91440" tIns="45720" rIns="91440" bIns="45720">
            <a:spAutoFit/>
          </a:bodyPr>
          <a:lstStyle/>
          <a:p>
            <a:pPr marL="342900" indent="-342900">
              <a:buFont typeface="Courier New" panose="02070309020205020404" pitchFamily="49" charset="0"/>
              <a:buChar char="o"/>
            </a:pPr>
            <a:r>
              <a:rPr lang="en-US" sz="1600" dirty="0">
                <a:latin typeface="Titillium Web Light" panose="00000400000000000000" pitchFamily="2" charset="0"/>
              </a:rPr>
              <a:t>Provides granular insight into the highest emitter portion of a supply chain with a guide as to corrective action. Compares actual GHG emissions against a net-zero baseline to track emission goals.</a:t>
            </a:r>
          </a:p>
          <a:p>
            <a:pPr marL="342900" indent="-342900">
              <a:buFont typeface="Courier New" panose="02070309020205020404" pitchFamily="49" charset="0"/>
              <a:buChar char="o"/>
            </a:pPr>
            <a:endParaRPr lang="en-US" sz="1600" b="1" cap="none" spc="0" dirty="0">
              <a:ln w="0"/>
              <a:solidFill>
                <a:schemeClr val="bg1"/>
              </a:solidFill>
              <a:effectLst>
                <a:outerShdw blurRad="38100" dist="19050" dir="2700000" algn="tl" rotWithShape="0">
                  <a:schemeClr val="dk1">
                    <a:alpha val="40000"/>
                  </a:schemeClr>
                </a:outerShdw>
              </a:effectLst>
            </a:endParaRPr>
          </a:p>
        </p:txBody>
      </p:sp>
      <p:sp>
        <p:nvSpPr>
          <p:cNvPr id="19" name="Rectangle 18">
            <a:extLst>
              <a:ext uri="{FF2B5EF4-FFF2-40B4-BE49-F238E27FC236}">
                <a16:creationId xmlns:a16="http://schemas.microsoft.com/office/drawing/2014/main" id="{62FEEB2A-986D-8C7D-1232-8F0F28D8BDB9}"/>
              </a:ext>
            </a:extLst>
          </p:cNvPr>
          <p:cNvSpPr/>
          <p:nvPr/>
        </p:nvSpPr>
        <p:spPr>
          <a:xfrm>
            <a:off x="2297079" y="4542339"/>
            <a:ext cx="9440487" cy="584775"/>
          </a:xfrm>
          <a:prstGeom prst="rect">
            <a:avLst/>
          </a:prstGeom>
          <a:noFill/>
        </p:spPr>
        <p:txBody>
          <a:bodyPr wrap="square" lIns="91440" tIns="45720" rIns="91440" bIns="45720">
            <a:spAutoFit/>
          </a:bodyPr>
          <a:lstStyle/>
          <a:p>
            <a:pPr marL="342900" indent="-342900">
              <a:buFont typeface="Courier New" panose="02070309020205020404" pitchFamily="49" charset="0"/>
              <a:buChar char="o"/>
            </a:pPr>
            <a:r>
              <a:rPr lang="en-US" sz="1600" dirty="0">
                <a:latin typeface="Titillium Web Light" panose="00000400000000000000" pitchFamily="2" charset="0"/>
              </a:rPr>
              <a:t>Compares actual GHG emissions against a net-zero baseline to track emission goals.</a:t>
            </a:r>
          </a:p>
          <a:p>
            <a:pPr marL="342900" indent="-342900">
              <a:buFont typeface="Courier New" panose="02070309020205020404" pitchFamily="49" charset="0"/>
              <a:buChar char="o"/>
            </a:pPr>
            <a:endParaRPr lang="en-US" sz="1600" b="1" cap="none" spc="0" dirty="0">
              <a:ln w="0"/>
              <a:solidFill>
                <a:schemeClr val="bg1"/>
              </a:solidFill>
              <a:effectLst>
                <a:outerShdw blurRad="38100" dist="19050" dir="2700000" algn="tl" rotWithShape="0">
                  <a:schemeClr val="dk1">
                    <a:alpha val="40000"/>
                  </a:schemeClr>
                </a:outerShdw>
              </a:effectLst>
            </a:endParaRPr>
          </a:p>
        </p:txBody>
      </p:sp>
      <p:sp>
        <p:nvSpPr>
          <p:cNvPr id="21" name="Rectangle 20">
            <a:extLst>
              <a:ext uri="{FF2B5EF4-FFF2-40B4-BE49-F238E27FC236}">
                <a16:creationId xmlns:a16="http://schemas.microsoft.com/office/drawing/2014/main" id="{7FCBCF81-88A5-D417-CF6B-F2DCA12FDF71}"/>
              </a:ext>
            </a:extLst>
          </p:cNvPr>
          <p:cNvSpPr/>
          <p:nvPr/>
        </p:nvSpPr>
        <p:spPr>
          <a:xfrm>
            <a:off x="2299849" y="5268320"/>
            <a:ext cx="5627111" cy="830997"/>
          </a:xfrm>
          <a:prstGeom prst="rect">
            <a:avLst/>
          </a:prstGeom>
          <a:noFill/>
        </p:spPr>
        <p:txBody>
          <a:bodyPr wrap="square" lIns="91440" tIns="45720" rIns="91440" bIns="45720">
            <a:spAutoFit/>
          </a:bodyPr>
          <a:lstStyle/>
          <a:p>
            <a:pPr marL="342900" indent="-342900">
              <a:buFont typeface="Courier New" panose="02070309020205020404" pitchFamily="49" charset="0"/>
              <a:buChar char="o"/>
            </a:pPr>
            <a:r>
              <a:rPr lang="en-US" sz="1600" b="1" dirty="0">
                <a:latin typeface="Titillium Web Light" panose="00000400000000000000" pitchFamily="2" charset="0"/>
              </a:rPr>
              <a:t>Integration to carbon credit markets</a:t>
            </a:r>
            <a:r>
              <a:rPr lang="en-US" sz="1600" dirty="0">
                <a:latin typeface="Titillium Web Light" panose="00000400000000000000" pitchFamily="2" charset="0"/>
              </a:rPr>
              <a:t> enabling the purchase and sale of credits generated by supply chain </a:t>
            </a:r>
            <a:r>
              <a:rPr lang="en-US" sz="1600" dirty="0">
                <a:solidFill>
                  <a:srgbClr val="C00000"/>
                </a:solidFill>
                <a:latin typeface="Titillium Web Light" panose="00000400000000000000" pitchFamily="2" charset="0"/>
              </a:rPr>
              <a:t>activities in real time</a:t>
            </a:r>
            <a:r>
              <a:rPr lang="en-US" sz="1600" dirty="0">
                <a:latin typeface="Titillium Web Light" panose="00000400000000000000" pitchFamily="2" charset="0"/>
              </a:rPr>
              <a:t>!</a:t>
            </a:r>
            <a:endParaRPr lang="en-US" sz="1600" b="1" cap="none" spc="0" dirty="0">
              <a:ln w="0"/>
              <a:solidFill>
                <a:schemeClr val="bg1"/>
              </a:solidFill>
              <a:effectLst>
                <a:outerShdw blurRad="38100" dist="19050" dir="2700000" algn="tl" rotWithShape="0">
                  <a:schemeClr val="dk1">
                    <a:alpha val="40000"/>
                  </a:schemeClr>
                </a:outerShdw>
              </a:effectLst>
            </a:endParaRPr>
          </a:p>
        </p:txBody>
      </p:sp>
      <p:sp>
        <p:nvSpPr>
          <p:cNvPr id="22" name="Rectangle 21">
            <a:extLst>
              <a:ext uri="{FF2B5EF4-FFF2-40B4-BE49-F238E27FC236}">
                <a16:creationId xmlns:a16="http://schemas.microsoft.com/office/drawing/2014/main" id="{AA118A15-092B-4424-1F97-8F7A19E7822B}"/>
              </a:ext>
            </a:extLst>
          </p:cNvPr>
          <p:cNvSpPr/>
          <p:nvPr/>
        </p:nvSpPr>
        <p:spPr>
          <a:xfrm>
            <a:off x="2299849" y="6144767"/>
            <a:ext cx="5627111" cy="584775"/>
          </a:xfrm>
          <a:prstGeom prst="rect">
            <a:avLst/>
          </a:prstGeom>
          <a:noFill/>
        </p:spPr>
        <p:txBody>
          <a:bodyPr wrap="square" lIns="91440" tIns="45720" rIns="91440" bIns="45720">
            <a:spAutoFit/>
          </a:bodyPr>
          <a:lstStyle/>
          <a:p>
            <a:pPr marL="342900" indent="-342900">
              <a:buFont typeface="Courier New" panose="02070309020205020404" pitchFamily="49" charset="0"/>
              <a:buChar char="o"/>
            </a:pPr>
            <a:r>
              <a:rPr lang="en-US" sz="1600" dirty="0">
                <a:latin typeface="Titillium Web Light" panose="00000400000000000000" pitchFamily="2" charset="0"/>
              </a:rPr>
              <a:t>Can provide additional guidance on approaches for emission reduction.</a:t>
            </a:r>
            <a:endParaRPr lang="en-US" sz="1600" cap="none" spc="0" dirty="0">
              <a:ln w="0"/>
              <a:solidFill>
                <a:schemeClr val="bg1"/>
              </a:solidFill>
              <a:effectLst>
                <a:outerShdw blurRad="38100" dist="19050" dir="2700000" algn="tl" rotWithShape="0">
                  <a:schemeClr val="dk1">
                    <a:alpha val="40000"/>
                  </a:schemeClr>
                </a:outerShdw>
              </a:effectLst>
            </a:endParaRPr>
          </a:p>
        </p:txBody>
      </p:sp>
      <p:cxnSp>
        <p:nvCxnSpPr>
          <p:cNvPr id="23" name="Straight Connector 22">
            <a:extLst>
              <a:ext uri="{FF2B5EF4-FFF2-40B4-BE49-F238E27FC236}">
                <a16:creationId xmlns:a16="http://schemas.microsoft.com/office/drawing/2014/main" id="{58278590-9207-1B96-5267-58C8A43F6C2D}"/>
              </a:ext>
            </a:extLst>
          </p:cNvPr>
          <p:cNvCxnSpPr>
            <a:cxnSpLocks/>
          </p:cNvCxnSpPr>
          <p:nvPr/>
        </p:nvCxnSpPr>
        <p:spPr>
          <a:xfrm flipH="1">
            <a:off x="332509" y="1701967"/>
            <a:ext cx="11180618" cy="4340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Left Brace 35">
            <a:extLst>
              <a:ext uri="{FF2B5EF4-FFF2-40B4-BE49-F238E27FC236}">
                <a16:creationId xmlns:a16="http://schemas.microsoft.com/office/drawing/2014/main" id="{A66923FA-14FC-6077-D263-44EFB8F99D9D}"/>
              </a:ext>
            </a:extLst>
          </p:cNvPr>
          <p:cNvSpPr/>
          <p:nvPr/>
        </p:nvSpPr>
        <p:spPr>
          <a:xfrm>
            <a:off x="2224434" y="1873731"/>
            <a:ext cx="263187" cy="783994"/>
          </a:xfrm>
          <a:prstGeom prst="lef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Left Brace 36">
            <a:extLst>
              <a:ext uri="{FF2B5EF4-FFF2-40B4-BE49-F238E27FC236}">
                <a16:creationId xmlns:a16="http://schemas.microsoft.com/office/drawing/2014/main" id="{C2977CC0-B66C-C2BF-92C7-881CDB562516}"/>
              </a:ext>
            </a:extLst>
          </p:cNvPr>
          <p:cNvSpPr/>
          <p:nvPr/>
        </p:nvSpPr>
        <p:spPr>
          <a:xfrm>
            <a:off x="2229743" y="2809534"/>
            <a:ext cx="263187" cy="783994"/>
          </a:xfrm>
          <a:prstGeom prst="lef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Rectangle 37">
            <a:extLst>
              <a:ext uri="{FF2B5EF4-FFF2-40B4-BE49-F238E27FC236}">
                <a16:creationId xmlns:a16="http://schemas.microsoft.com/office/drawing/2014/main" id="{E0113069-1A48-F165-0B41-67B68AF9A1C7}"/>
              </a:ext>
            </a:extLst>
          </p:cNvPr>
          <p:cNvSpPr/>
          <p:nvPr/>
        </p:nvSpPr>
        <p:spPr>
          <a:xfrm>
            <a:off x="11833691" y="0"/>
            <a:ext cx="331556" cy="18329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4</a:t>
            </a:r>
          </a:p>
        </p:txBody>
      </p:sp>
    </p:spTree>
    <p:extLst>
      <p:ext uri="{BB962C8B-B14F-4D97-AF65-F5344CB8AC3E}">
        <p14:creationId xmlns:p14="http://schemas.microsoft.com/office/powerpoint/2010/main" val="15679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82D020-CC7F-949A-BC20-A91880AAD5BF}"/>
              </a:ext>
            </a:extLst>
          </p:cNvPr>
          <p:cNvSpPr/>
          <p:nvPr/>
        </p:nvSpPr>
        <p:spPr>
          <a:xfrm>
            <a:off x="-4608" y="8756"/>
            <a:ext cx="12180896" cy="656492"/>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ight Triangle 5">
            <a:extLst>
              <a:ext uri="{FF2B5EF4-FFF2-40B4-BE49-F238E27FC236}">
                <a16:creationId xmlns:a16="http://schemas.microsoft.com/office/drawing/2014/main" id="{FE0A878B-1DEF-1B95-C506-226503F8DF74}"/>
              </a:ext>
            </a:extLst>
          </p:cNvPr>
          <p:cNvSpPr/>
          <p:nvPr/>
        </p:nvSpPr>
        <p:spPr>
          <a:xfrm rot="16200000">
            <a:off x="6418488" y="743032"/>
            <a:ext cx="3985944" cy="7540606"/>
          </a:xfrm>
          <a:prstGeom prst="rtTriangl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94E4029F-A9A8-4262-BBED-3F8277B6F9A9}"/>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65" name="AutoShape 2" descr="Cash Pictures, Cash Stock Photos &amp; Images | Depositphotos®">
            <a:extLst>
              <a:ext uri="{FF2B5EF4-FFF2-40B4-BE49-F238E27FC236}">
                <a16:creationId xmlns:a16="http://schemas.microsoft.com/office/drawing/2014/main" id="{E0F87420-C907-404A-8355-4C22CA4E51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76324356-DFA6-4B51-9B4E-50BF6CBE2E3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6B9294C8-3FAB-8C9A-4F01-13D56F492EBE}"/>
              </a:ext>
            </a:extLst>
          </p:cNvPr>
          <p:cNvSpPr txBox="1"/>
          <p:nvPr/>
        </p:nvSpPr>
        <p:spPr>
          <a:xfrm>
            <a:off x="30116" y="727368"/>
            <a:ext cx="12151647" cy="5386090"/>
          </a:xfrm>
          <a:prstGeom prst="rect">
            <a:avLst/>
          </a:prstGeom>
          <a:noFill/>
        </p:spPr>
        <p:txBody>
          <a:bodyPr wrap="square" rtlCol="0">
            <a:spAutoFit/>
          </a:bodyPr>
          <a:lstStyle/>
          <a:p>
            <a:r>
              <a:rPr lang="en-US" sz="1800" b="1" i="0" u="sng" dirty="0">
                <a:solidFill>
                  <a:schemeClr val="accent1">
                    <a:lumMod val="75000"/>
                  </a:schemeClr>
                </a:solidFill>
                <a:effectLst/>
                <a:highlight>
                  <a:srgbClr val="FFFFFF"/>
                </a:highlight>
                <a:latin typeface="Titillium Web Light" panose="00000400000000000000" pitchFamily="2" charset="0"/>
              </a:rPr>
              <a:t>Real-Time Monitoring: </a:t>
            </a:r>
            <a:r>
              <a:rPr lang="en-US" sz="1800" b="1" i="1" dirty="0">
                <a:solidFill>
                  <a:schemeClr val="accent1">
                    <a:lumMod val="75000"/>
                  </a:schemeClr>
                </a:solidFill>
                <a:latin typeface="Titillium Web Light" panose="00000400000000000000" pitchFamily="2" charset="0"/>
              </a:rPr>
              <a:t>Monitor in real-time supply chain GHG emissions</a:t>
            </a:r>
            <a:endParaRPr lang="en-US" b="1" dirty="0">
              <a:latin typeface="Titillium Web Light" panose="00000400000000000000" pitchFamily="2" charset="0"/>
            </a:endParaRPr>
          </a:p>
          <a:p>
            <a:endParaRPr lang="en-US" sz="1600" dirty="0">
              <a:latin typeface="Titillium Web Light" panose="00000400000000000000" pitchFamily="2" charset="0"/>
            </a:endParaRPr>
          </a:p>
          <a:p>
            <a:pPr marL="342900" indent="-342900">
              <a:buFont typeface="Arial" panose="020B0604020202020204" pitchFamily="34" charset="0"/>
              <a:buChar char="•"/>
            </a:pPr>
            <a:r>
              <a:rPr lang="en-US" sz="1600" dirty="0">
                <a:latin typeface="Titillium Web Light" panose="00000400000000000000" pitchFamily="2" charset="0"/>
              </a:rPr>
              <a:t>The digital twin is an interactive, AI and IoT enabled, </a:t>
            </a:r>
            <a:r>
              <a:rPr lang="en-US" sz="1600" b="1" dirty="0">
                <a:latin typeface="Titillium Web Light" panose="00000400000000000000" pitchFamily="2" charset="0"/>
              </a:rPr>
              <a:t>real time tracking of GHG emissions in every single step of the supply chain</a:t>
            </a:r>
            <a:r>
              <a:rPr lang="en-US" sz="1600" dirty="0">
                <a:latin typeface="Titillium Web Light" panose="00000400000000000000" pitchFamily="2" charset="0"/>
              </a:rPr>
              <a:t>.</a:t>
            </a:r>
          </a:p>
          <a:p>
            <a:pPr marL="342900" indent="-342900">
              <a:buFont typeface="Arial" panose="020B0604020202020204" pitchFamily="34" charset="0"/>
              <a:buChar char="•"/>
            </a:pPr>
            <a:r>
              <a:rPr lang="en-US" sz="1600" b="1" dirty="0">
                <a:latin typeface="Titillium Web Light" panose="00000400000000000000" pitchFamily="2" charset="0"/>
              </a:rPr>
              <a:t>Compares</a:t>
            </a:r>
            <a:r>
              <a:rPr lang="en-US" sz="1600" dirty="0">
                <a:latin typeface="Titillium Web Light" panose="00000400000000000000" pitchFamily="2" charset="0"/>
              </a:rPr>
              <a:t> actual GHG emissions for the supply chain against a baseline to provide progress toward an organization’s emission goals.</a:t>
            </a:r>
          </a:p>
          <a:p>
            <a:pPr marL="342900" indent="-342900">
              <a:buFont typeface="Arial" panose="020B0604020202020204" pitchFamily="34" charset="0"/>
              <a:buChar char="•"/>
            </a:pPr>
            <a:r>
              <a:rPr lang="en-US" sz="1600" b="1" dirty="0">
                <a:latin typeface="Titillium Web Light" panose="00000400000000000000" pitchFamily="2" charset="0"/>
              </a:rPr>
              <a:t>Compares</a:t>
            </a:r>
            <a:r>
              <a:rPr lang="en-US" sz="1600" dirty="0">
                <a:latin typeface="Titillium Web Light" panose="00000400000000000000" pitchFamily="2" charset="0"/>
              </a:rPr>
              <a:t> actual GHG emissions against a </a:t>
            </a:r>
            <a:r>
              <a:rPr lang="en-US" sz="1600" b="1" dirty="0">
                <a:latin typeface="Titillium Web Light" panose="00000400000000000000" pitchFamily="2" charset="0"/>
              </a:rPr>
              <a:t>net-zero baseline </a:t>
            </a:r>
            <a:r>
              <a:rPr lang="en-US" sz="1600" dirty="0">
                <a:latin typeface="Titillium Web Light" panose="00000400000000000000" pitchFamily="2" charset="0"/>
              </a:rPr>
              <a:t>to provide progress toward an organization’s emission goals.</a:t>
            </a:r>
          </a:p>
          <a:p>
            <a:pPr marL="342900" indent="-342900">
              <a:buFont typeface="Arial" panose="020B0604020202020204" pitchFamily="34" charset="0"/>
              <a:buChar char="•"/>
            </a:pPr>
            <a:r>
              <a:rPr lang="en-US" sz="1600" dirty="0">
                <a:latin typeface="Titillium Web Light" panose="00000400000000000000" pitchFamily="2" charset="0"/>
              </a:rPr>
              <a:t>The digital twin receives real-time supply chain emissions data, enabling</a:t>
            </a:r>
            <a:r>
              <a:rPr lang="en-US" sz="1600" b="1" dirty="0">
                <a:latin typeface="Titillium Web Light" panose="00000400000000000000" pitchFamily="2" charset="0"/>
              </a:rPr>
              <a:t> immediate corrective action, </a:t>
            </a:r>
            <a:r>
              <a:rPr lang="en-US" sz="1600" dirty="0">
                <a:latin typeface="Titillium Web Light" panose="00000400000000000000" pitchFamily="2" charset="0"/>
              </a:rPr>
              <a:t>if necessary, with assistance from GHG emissions accounting experts and Artificial Intelligence.</a:t>
            </a:r>
          </a:p>
          <a:p>
            <a:pPr marL="342900" indent="-342900">
              <a:buFont typeface="Arial" panose="020B0604020202020204" pitchFamily="34" charset="0"/>
              <a:buChar char="•"/>
            </a:pPr>
            <a:r>
              <a:rPr lang="en-US" sz="1600" dirty="0">
                <a:latin typeface="Titillium Web Light" panose="00000400000000000000" pitchFamily="2" charset="0"/>
              </a:rPr>
              <a:t>Provides a granular insight into the highest emitter portion of a supply chain with a guide as to corrective action.</a:t>
            </a:r>
          </a:p>
          <a:p>
            <a:endParaRPr lang="en-US" sz="1600" b="1" u="sng" dirty="0">
              <a:latin typeface="Titillium Web Light" panose="00000400000000000000" pitchFamily="2" charset="0"/>
            </a:endParaRPr>
          </a:p>
          <a:p>
            <a:r>
              <a:rPr lang="en-US" b="1" u="sng" dirty="0">
                <a:latin typeface="Titillium Web Light" panose="00000400000000000000" pitchFamily="2" charset="0"/>
              </a:rPr>
              <a:t>LFDT Platform Digital Twin Functions:</a:t>
            </a:r>
          </a:p>
          <a:p>
            <a:endParaRPr lang="en-US" sz="1600" dirty="0">
              <a:latin typeface="Titillium Web Light" panose="00000400000000000000" pitchFamily="2" charset="0"/>
            </a:endParaRPr>
          </a:p>
          <a:p>
            <a:pPr marL="457200" indent="-457200">
              <a:buFont typeface="+mj-lt"/>
              <a:buAutoNum type="arabicPeriod"/>
            </a:pPr>
            <a:r>
              <a:rPr lang="en-US" sz="1600" dirty="0">
                <a:latin typeface="Titillium Web Light" panose="00000400000000000000" pitchFamily="2" charset="0"/>
              </a:rPr>
              <a:t>Provides a platform to simulate and </a:t>
            </a:r>
            <a:r>
              <a:rPr lang="en-US" sz="1600" b="1" dirty="0">
                <a:latin typeface="Titillium Web Light" panose="00000400000000000000" pitchFamily="2" charset="0"/>
              </a:rPr>
              <a:t>test supply chain GHG emission scenarios </a:t>
            </a:r>
            <a:r>
              <a:rPr lang="en-US" sz="1600" dirty="0">
                <a:latin typeface="Titillium Web Light" panose="00000400000000000000" pitchFamily="2" charset="0"/>
              </a:rPr>
              <a:t>and develop specific plans</a:t>
            </a:r>
          </a:p>
          <a:p>
            <a:r>
              <a:rPr lang="en-US" sz="1600" dirty="0">
                <a:latin typeface="Titillium Web Light" panose="00000400000000000000" pitchFamily="2" charset="0"/>
              </a:rPr>
              <a:t>           based on such scenarios to mitigate Scope 1,2,3 emissions.</a:t>
            </a:r>
          </a:p>
          <a:p>
            <a:pPr marL="457200" indent="-457200">
              <a:buFont typeface="+mj-lt"/>
              <a:buAutoNum type="arabicPeriod"/>
            </a:pPr>
            <a:r>
              <a:rPr lang="en-US" sz="1600" dirty="0">
                <a:latin typeface="Titillium Web Light" panose="00000400000000000000" pitchFamily="2" charset="0"/>
              </a:rPr>
              <a:t>Static model creation – create a GHG emissions baseline model of the existing supply chain.</a:t>
            </a:r>
          </a:p>
          <a:p>
            <a:pPr marL="457200" indent="-457200">
              <a:buFont typeface="+mj-lt"/>
              <a:buAutoNum type="arabicPeriod"/>
            </a:pPr>
            <a:r>
              <a:rPr lang="en-US" sz="1600" dirty="0">
                <a:latin typeface="Titillium Web Light" panose="00000400000000000000" pitchFamily="2" charset="0"/>
              </a:rPr>
              <a:t>Dynamic model creation – add dynamic elements such as real-time data feeds, emission</a:t>
            </a:r>
          </a:p>
          <a:p>
            <a:r>
              <a:rPr lang="en-US" sz="1600" dirty="0">
                <a:latin typeface="Titillium Web Light" panose="00000400000000000000" pitchFamily="2" charset="0"/>
              </a:rPr>
              <a:t>          sources, and constraints based upon interactive emission measures on the active supply</a:t>
            </a:r>
          </a:p>
          <a:p>
            <a:r>
              <a:rPr lang="en-US" sz="1600" dirty="0">
                <a:latin typeface="Titillium Web Light" panose="00000400000000000000" pitchFamily="2" charset="0"/>
              </a:rPr>
              <a:t>          chain.</a:t>
            </a:r>
          </a:p>
          <a:p>
            <a:pPr marL="342900" indent="-342900">
              <a:buFont typeface="+mj-lt"/>
              <a:buAutoNum type="arabicPeriod" startAt="4"/>
            </a:pPr>
            <a:r>
              <a:rPr lang="en-US" sz="1600" i="0" dirty="0">
                <a:solidFill>
                  <a:srgbClr val="222222"/>
                </a:solidFill>
                <a:effectLst/>
                <a:highlight>
                  <a:srgbClr val="FFFFFF"/>
                </a:highlight>
                <a:latin typeface="Titillium Web Light" panose="00000400000000000000" pitchFamily="2" charset="0"/>
              </a:rPr>
              <a:t>  </a:t>
            </a:r>
            <a:r>
              <a:rPr lang="en-US" sz="1600" dirty="0">
                <a:solidFill>
                  <a:srgbClr val="222222"/>
                </a:solidFill>
                <a:highlight>
                  <a:srgbClr val="FFFFFF"/>
                </a:highlight>
                <a:latin typeface="Titillium Web Light" panose="00000400000000000000" pitchFamily="2" charset="0"/>
              </a:rPr>
              <a:t>Contains a </a:t>
            </a:r>
            <a:r>
              <a:rPr lang="en-US" sz="1600" i="0" dirty="0">
                <a:solidFill>
                  <a:srgbClr val="222222"/>
                </a:solidFill>
                <a:effectLst/>
                <a:highlight>
                  <a:srgbClr val="FFFFFF"/>
                </a:highlight>
                <a:latin typeface="Titillium Web Light" panose="00000400000000000000" pitchFamily="2" charset="0"/>
              </a:rPr>
              <a:t>network structure, client applications, and </a:t>
            </a:r>
            <a:r>
              <a:rPr lang="en-US" sz="1600" i="0" dirty="0" err="1">
                <a:solidFill>
                  <a:srgbClr val="222222"/>
                </a:solidFill>
                <a:effectLst/>
                <a:highlight>
                  <a:srgbClr val="FFFFFF"/>
                </a:highlight>
                <a:latin typeface="Titillium Web Light" panose="00000400000000000000" pitchFamily="2" charset="0"/>
              </a:rPr>
              <a:t>chaincode</a:t>
            </a:r>
            <a:r>
              <a:rPr lang="en-US" sz="1600" i="0" dirty="0">
                <a:solidFill>
                  <a:srgbClr val="222222"/>
                </a:solidFill>
                <a:effectLst/>
                <a:highlight>
                  <a:srgbClr val="FFFFFF"/>
                </a:highlight>
                <a:latin typeface="Titillium Web Light" panose="00000400000000000000" pitchFamily="2" charset="0"/>
              </a:rPr>
              <a:t> functionality, </a:t>
            </a:r>
          </a:p>
          <a:p>
            <a:r>
              <a:rPr lang="en-US" sz="1600" dirty="0">
                <a:solidFill>
                  <a:srgbClr val="222222"/>
                </a:solidFill>
                <a:highlight>
                  <a:srgbClr val="FFFFFF"/>
                </a:highlight>
                <a:latin typeface="Titillium Web Light" panose="00000400000000000000" pitchFamily="2" charset="0"/>
              </a:rPr>
              <a:t>          providing data input flexibility(IoT, manual entries).</a:t>
            </a:r>
            <a:endParaRPr lang="en-US" sz="1600" i="0" dirty="0">
              <a:solidFill>
                <a:srgbClr val="222222"/>
              </a:solidFill>
              <a:effectLst/>
              <a:highlight>
                <a:srgbClr val="FFFFFF"/>
              </a:highlight>
              <a:latin typeface="Titillium Web Light" panose="00000400000000000000" pitchFamily="2" charset="0"/>
            </a:endParaRPr>
          </a:p>
          <a:p>
            <a:pPr marL="342900" indent="-342900">
              <a:buFont typeface="+mj-lt"/>
              <a:buAutoNum type="arabicPeriod" startAt="5"/>
            </a:pPr>
            <a:r>
              <a:rPr lang="en-US" sz="1600" dirty="0">
                <a:solidFill>
                  <a:srgbClr val="222222"/>
                </a:solidFill>
                <a:highlight>
                  <a:srgbClr val="FFFFFF"/>
                </a:highlight>
                <a:latin typeface="Titillium Web Light" panose="00000400000000000000" pitchFamily="2" charset="0"/>
              </a:rPr>
              <a:t>  Build an emissions baseline from published emission factors.</a:t>
            </a:r>
            <a:endParaRPr lang="en-US" sz="1600" dirty="0">
              <a:latin typeface="Titillium Web Light" panose="00000400000000000000" pitchFamily="2" charset="0"/>
            </a:endParaRPr>
          </a:p>
          <a:p>
            <a:endParaRPr lang="en-US" sz="2000" dirty="0">
              <a:latin typeface="Google Sans"/>
            </a:endParaRPr>
          </a:p>
        </p:txBody>
      </p:sp>
      <p:pic>
        <p:nvPicPr>
          <p:cNvPr id="2052" name="Picture 4" descr="digitalTwin concept of digital twin or aviation technology, graphic of microchip with airplane and futuristic element digital twins stock illustrations">
            <a:extLst>
              <a:ext uri="{FF2B5EF4-FFF2-40B4-BE49-F238E27FC236}">
                <a16:creationId xmlns:a16="http://schemas.microsoft.com/office/drawing/2014/main" id="{BD94E85F-AE68-101C-DDDA-A5E45DD55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1970" y="5594564"/>
            <a:ext cx="2008184" cy="86338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oncept of digital twin, internet of things (iot), machine learning. concept of digital twin, internet of things (iot), machine learning. digital twins stock illustrations">
            <a:extLst>
              <a:ext uri="{FF2B5EF4-FFF2-40B4-BE49-F238E27FC236}">
                <a16:creationId xmlns:a16="http://schemas.microsoft.com/office/drawing/2014/main" id="{CF0222F9-751A-DACD-297A-E928864CF5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7426" y="3848016"/>
            <a:ext cx="1857272" cy="88008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05C49FBF-6556-6A56-2C0B-473B43CE0DF7}"/>
              </a:ext>
            </a:extLst>
          </p:cNvPr>
          <p:cNvCxnSpPr>
            <a:cxnSpLocks/>
            <a:endCxn id="2054" idx="1"/>
          </p:cNvCxnSpPr>
          <p:nvPr/>
        </p:nvCxnSpPr>
        <p:spPr>
          <a:xfrm flipV="1">
            <a:off x="7260458" y="4288056"/>
            <a:ext cx="2956968" cy="1344789"/>
          </a:xfrm>
          <a:prstGeom prst="straightConnector1">
            <a:avLst/>
          </a:prstGeom>
          <a:ln w="25400">
            <a:headEnd type="none"/>
            <a:tailEnd type="triangle"/>
          </a:ln>
        </p:spPr>
        <p:style>
          <a:lnRef idx="1">
            <a:schemeClr val="accent1"/>
          </a:lnRef>
          <a:fillRef idx="0">
            <a:schemeClr val="accent1"/>
          </a:fillRef>
          <a:effectRef idx="0">
            <a:schemeClr val="accent1"/>
          </a:effectRef>
          <a:fontRef idx="minor">
            <a:schemeClr val="tx1"/>
          </a:fontRef>
        </p:style>
      </p:cxnSp>
      <p:pic>
        <p:nvPicPr>
          <p:cNvPr id="2056" name="Picture 8" descr="twinLogistics concept of digital twins in logistics, container truck with technology element digital twins stock illustrations">
            <a:extLst>
              <a:ext uri="{FF2B5EF4-FFF2-40B4-BE49-F238E27FC236}">
                <a16:creationId xmlns:a16="http://schemas.microsoft.com/office/drawing/2014/main" id="{E9D47F89-AFF4-1393-9A20-48ED053C74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5651875"/>
            <a:ext cx="1629189" cy="835402"/>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C38D1518-707C-83C8-CBBF-0B8B2B4CDF61}"/>
              </a:ext>
            </a:extLst>
          </p:cNvPr>
          <p:cNvCxnSpPr>
            <a:cxnSpLocks/>
            <a:stCxn id="2052" idx="0"/>
            <a:endCxn id="2054" idx="2"/>
          </p:cNvCxnSpPr>
          <p:nvPr/>
        </p:nvCxnSpPr>
        <p:spPr>
          <a:xfrm flipV="1">
            <a:off x="11146062" y="4728096"/>
            <a:ext cx="0" cy="866468"/>
          </a:xfrm>
          <a:prstGeom prst="straightConnector1">
            <a:avLst/>
          </a:prstGeom>
          <a:ln w="25400">
            <a:headEnd type="non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D35621D-73F9-5D1D-58A8-B4E9E17AC3EE}"/>
              </a:ext>
            </a:extLst>
          </p:cNvPr>
          <p:cNvSpPr txBox="1"/>
          <p:nvPr/>
        </p:nvSpPr>
        <p:spPr>
          <a:xfrm>
            <a:off x="9738998" y="3660836"/>
            <a:ext cx="2547105" cy="246221"/>
          </a:xfrm>
          <a:prstGeom prst="rect">
            <a:avLst/>
          </a:prstGeom>
          <a:noFill/>
        </p:spPr>
        <p:txBody>
          <a:bodyPr wrap="square" rtlCol="0">
            <a:spAutoFit/>
          </a:bodyPr>
          <a:lstStyle/>
          <a:p>
            <a:pPr algn="ctr"/>
            <a:r>
              <a:rPr lang="en-US" sz="1000" b="1" dirty="0"/>
              <a:t>Digital Twin Peer LFDT Blockchain Node</a:t>
            </a:r>
          </a:p>
        </p:txBody>
      </p:sp>
      <p:pic>
        <p:nvPicPr>
          <p:cNvPr id="17" name="Picture 2" descr="Carbon Trading Market Size, Growth ...">
            <a:extLst>
              <a:ext uri="{FF2B5EF4-FFF2-40B4-BE49-F238E27FC236}">
                <a16:creationId xmlns:a16="http://schemas.microsoft.com/office/drawing/2014/main" id="{11AE04DD-8F5E-D421-46A6-691F8061E3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84698" y="5664187"/>
            <a:ext cx="1469484" cy="83617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E78BA362-4C5C-4E3D-0CDF-AEDDFECC59F3}"/>
              </a:ext>
            </a:extLst>
          </p:cNvPr>
          <p:cNvSpPr txBox="1"/>
          <p:nvPr/>
        </p:nvSpPr>
        <p:spPr>
          <a:xfrm rot="20153260">
            <a:off x="7670979" y="4930664"/>
            <a:ext cx="1378349" cy="215444"/>
          </a:xfrm>
          <a:prstGeom prst="rect">
            <a:avLst/>
          </a:prstGeom>
          <a:noFill/>
        </p:spPr>
        <p:txBody>
          <a:bodyPr wrap="square" rtlCol="0">
            <a:spAutoFit/>
          </a:bodyPr>
          <a:lstStyle/>
          <a:p>
            <a:r>
              <a:rPr lang="en-US" sz="800" b="1" dirty="0"/>
              <a:t>data -&gt; transaction request</a:t>
            </a:r>
          </a:p>
        </p:txBody>
      </p:sp>
      <p:sp>
        <p:nvSpPr>
          <p:cNvPr id="20" name="TextBox 19">
            <a:extLst>
              <a:ext uri="{FF2B5EF4-FFF2-40B4-BE49-F238E27FC236}">
                <a16:creationId xmlns:a16="http://schemas.microsoft.com/office/drawing/2014/main" id="{365134E0-FAB8-AADE-94DA-42D32B8CA640}"/>
              </a:ext>
            </a:extLst>
          </p:cNvPr>
          <p:cNvSpPr txBox="1"/>
          <p:nvPr/>
        </p:nvSpPr>
        <p:spPr>
          <a:xfrm>
            <a:off x="9893558" y="5038387"/>
            <a:ext cx="1434842" cy="215444"/>
          </a:xfrm>
          <a:prstGeom prst="rect">
            <a:avLst/>
          </a:prstGeom>
          <a:noFill/>
        </p:spPr>
        <p:txBody>
          <a:bodyPr wrap="square" rtlCol="0">
            <a:spAutoFit/>
          </a:bodyPr>
          <a:lstStyle/>
          <a:p>
            <a:r>
              <a:rPr lang="en-US" sz="800" b="1" dirty="0"/>
              <a:t>data -&gt; transaction request</a:t>
            </a:r>
          </a:p>
        </p:txBody>
      </p:sp>
      <p:cxnSp>
        <p:nvCxnSpPr>
          <p:cNvPr id="3" name="Straight Connector 2">
            <a:extLst>
              <a:ext uri="{FF2B5EF4-FFF2-40B4-BE49-F238E27FC236}">
                <a16:creationId xmlns:a16="http://schemas.microsoft.com/office/drawing/2014/main" id="{5C189C6F-7ECC-9957-C19F-A72BC5D0C658}"/>
              </a:ext>
            </a:extLst>
          </p:cNvPr>
          <p:cNvCxnSpPr>
            <a:cxnSpLocks/>
          </p:cNvCxnSpPr>
          <p:nvPr/>
        </p:nvCxnSpPr>
        <p:spPr>
          <a:xfrm>
            <a:off x="471341" y="570493"/>
            <a:ext cx="10731283"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F44B510-377C-9B45-279D-1B7BAE1B763B}"/>
              </a:ext>
            </a:extLst>
          </p:cNvPr>
          <p:cNvSpPr txBox="1"/>
          <p:nvPr/>
        </p:nvSpPr>
        <p:spPr>
          <a:xfrm>
            <a:off x="32902" y="73745"/>
            <a:ext cx="12087484" cy="461665"/>
          </a:xfrm>
          <a:prstGeom prst="rect">
            <a:avLst/>
          </a:prstGeom>
          <a:noFill/>
        </p:spPr>
        <p:txBody>
          <a:bodyPr wrap="square" rtlCol="0">
            <a:spAutoFit/>
          </a:bodyPr>
          <a:lstStyle/>
          <a:p>
            <a:r>
              <a:rPr lang="en-US" sz="2400" b="1" dirty="0">
                <a:solidFill>
                  <a:schemeClr val="bg1">
                    <a:lumMod val="95000"/>
                  </a:schemeClr>
                </a:solidFill>
              </a:rPr>
              <a:t>Operation of a Blockchain Digital Twin for Supply Chain GHG Emission Tracking </a:t>
            </a:r>
            <a:r>
              <a:rPr lang="en-US" sz="2000" b="1" dirty="0">
                <a:solidFill>
                  <a:schemeClr val="bg1">
                    <a:lumMod val="95000"/>
                  </a:schemeClr>
                </a:solidFill>
              </a:rPr>
              <a:t>(1 of 3) </a:t>
            </a:r>
          </a:p>
        </p:txBody>
      </p:sp>
    </p:spTree>
    <p:extLst>
      <p:ext uri="{BB962C8B-B14F-4D97-AF65-F5344CB8AC3E}">
        <p14:creationId xmlns:p14="http://schemas.microsoft.com/office/powerpoint/2010/main" val="260501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5CD973-F0B2-52A9-BEA6-8AC4BE7C0B24}"/>
              </a:ext>
            </a:extLst>
          </p:cNvPr>
          <p:cNvSpPr/>
          <p:nvPr/>
        </p:nvSpPr>
        <p:spPr>
          <a:xfrm>
            <a:off x="-4608" y="8756"/>
            <a:ext cx="12180896" cy="656492"/>
          </a:xfrm>
          <a:prstGeom prst="rect">
            <a:avLst/>
          </a:prstGeom>
          <a:solidFill>
            <a:srgbClr val="0066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94E4029F-A9A8-4262-BBED-3F8277B6F9A9}"/>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0" name="TextBox 9">
            <a:extLst>
              <a:ext uri="{FF2B5EF4-FFF2-40B4-BE49-F238E27FC236}">
                <a16:creationId xmlns:a16="http://schemas.microsoft.com/office/drawing/2014/main" id="{61A37C87-2367-488E-911E-FB0247783232}"/>
              </a:ext>
            </a:extLst>
          </p:cNvPr>
          <p:cNvSpPr txBox="1"/>
          <p:nvPr/>
        </p:nvSpPr>
        <p:spPr>
          <a:xfrm>
            <a:off x="38645" y="91440"/>
            <a:ext cx="12087484" cy="523220"/>
          </a:xfrm>
          <a:prstGeom prst="rect">
            <a:avLst/>
          </a:prstGeom>
          <a:solidFill>
            <a:schemeClr val="tx2">
              <a:lumMod val="75000"/>
              <a:lumOff val="25000"/>
            </a:schemeClr>
          </a:solidFill>
        </p:spPr>
        <p:txBody>
          <a:bodyPr wrap="square" rtlCol="0">
            <a:spAutoFit/>
          </a:bodyPr>
          <a:lstStyle/>
          <a:p>
            <a:r>
              <a:rPr lang="en-US" sz="2800" b="1" dirty="0">
                <a:solidFill>
                  <a:schemeClr val="bg1"/>
                </a:solidFill>
              </a:rPr>
              <a:t> </a:t>
            </a:r>
          </a:p>
        </p:txBody>
      </p:sp>
      <p:sp>
        <p:nvSpPr>
          <p:cNvPr id="65" name="AutoShape 2" descr="Cash Pictures, Cash Stock Photos &amp; Images | Depositphotos®">
            <a:extLst>
              <a:ext uri="{FF2B5EF4-FFF2-40B4-BE49-F238E27FC236}">
                <a16:creationId xmlns:a16="http://schemas.microsoft.com/office/drawing/2014/main" id="{E0F87420-C907-404A-8355-4C22CA4E51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76324356-DFA6-4B51-9B4E-50BF6CBE2E3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34F28FE8-784A-A541-4894-FACF4B2684E3}"/>
              </a:ext>
            </a:extLst>
          </p:cNvPr>
          <p:cNvSpPr txBox="1"/>
          <p:nvPr/>
        </p:nvSpPr>
        <p:spPr>
          <a:xfrm>
            <a:off x="0" y="714453"/>
            <a:ext cx="11754052" cy="5509200"/>
          </a:xfrm>
          <a:prstGeom prst="rect">
            <a:avLst/>
          </a:prstGeom>
          <a:noFill/>
          <a:ln>
            <a:noFill/>
          </a:ln>
        </p:spPr>
        <p:txBody>
          <a:bodyPr wrap="square" rtlCol="0">
            <a:spAutoFit/>
          </a:bodyPr>
          <a:lstStyle/>
          <a:p>
            <a:r>
              <a:rPr lang="en-US" sz="1600" b="1" u="sng" dirty="0">
                <a:solidFill>
                  <a:schemeClr val="accent1">
                    <a:lumMod val="75000"/>
                  </a:schemeClr>
                </a:solidFill>
                <a:latin typeface="Titillium Web Light" panose="00000400000000000000" pitchFamily="2" charset="0"/>
              </a:rPr>
              <a:t>The Digital Twin Enables Developing Supply Chain Emission Scenarios </a:t>
            </a:r>
            <a:r>
              <a:rPr lang="en-US" sz="1600" b="1" dirty="0">
                <a:solidFill>
                  <a:schemeClr val="accent1">
                    <a:lumMod val="75000"/>
                  </a:schemeClr>
                </a:solidFill>
                <a:latin typeface="Titillium Web Light" panose="00000400000000000000" pitchFamily="2" charset="0"/>
              </a:rPr>
              <a:t>   </a:t>
            </a:r>
          </a:p>
          <a:p>
            <a:endParaRPr lang="en-US" sz="1600" b="1" dirty="0">
              <a:solidFill>
                <a:schemeClr val="accent1">
                  <a:lumMod val="75000"/>
                </a:schemeClr>
              </a:solidFill>
              <a:latin typeface="Titillium Web Light" panose="00000400000000000000" pitchFamily="2" charset="0"/>
            </a:endParaRPr>
          </a:p>
          <a:p>
            <a:pPr marL="285750" indent="-285750">
              <a:buFont typeface="Arial" panose="020B0604020202020204" pitchFamily="34" charset="0"/>
              <a:buChar char="•"/>
            </a:pPr>
            <a:r>
              <a:rPr lang="en-US" sz="1600" dirty="0">
                <a:latin typeface="Titillium Web Light" panose="00000400000000000000" pitchFamily="2" charset="0"/>
              </a:rPr>
              <a:t>In the digital twin, </a:t>
            </a:r>
            <a:r>
              <a:rPr lang="en-US" sz="1600" b="1" dirty="0">
                <a:latin typeface="Titillium Web Light" panose="00000400000000000000" pitchFamily="2" charset="0"/>
              </a:rPr>
              <a:t>develop a GHG emissions baseline of your supply chain </a:t>
            </a:r>
            <a:r>
              <a:rPr lang="en-US" sz="1600" dirty="0">
                <a:latin typeface="Titillium Web Light" panose="00000400000000000000" pitchFamily="2" charset="0"/>
              </a:rPr>
              <a:t>to provide a comparison of the expected vs actual emissions as the supply chain is in operation.</a:t>
            </a:r>
          </a:p>
          <a:p>
            <a:pPr marL="285750" indent="-285750">
              <a:buFont typeface="Arial" panose="020B0604020202020204" pitchFamily="34" charset="0"/>
              <a:buChar char="•"/>
            </a:pPr>
            <a:r>
              <a:rPr lang="en-US" sz="1600" b="1" dirty="0">
                <a:latin typeface="Titillium Web Light" panose="00000400000000000000" pitchFamily="2" charset="0"/>
              </a:rPr>
              <a:t>Create a “Best Case” GHG emission supply chain: </a:t>
            </a:r>
            <a:r>
              <a:rPr lang="en-US" sz="1600" dirty="0">
                <a:latin typeface="Titillium Web Light" panose="00000400000000000000" pitchFamily="2" charset="0"/>
              </a:rPr>
              <a:t>Compare the supply chain’s current GHG emissions against a net-zero emissions baseline(no net emissions). </a:t>
            </a:r>
          </a:p>
          <a:p>
            <a:pPr marL="285750" indent="-285750">
              <a:buFont typeface="Arial" panose="020B0604020202020204" pitchFamily="34" charset="0"/>
              <a:buChar char="•"/>
            </a:pPr>
            <a:r>
              <a:rPr lang="en-US" sz="1600" b="1" dirty="0">
                <a:latin typeface="Titillium Web Light" panose="00000400000000000000" pitchFamily="2" charset="0"/>
              </a:rPr>
              <a:t>Create a net-zero GHG emission representation of the supply chain. </a:t>
            </a:r>
            <a:r>
              <a:rPr lang="en-US" sz="1600" dirty="0">
                <a:latin typeface="Titillium Web Light" panose="00000400000000000000" pitchFamily="2" charset="0"/>
              </a:rPr>
              <a:t>This is an exercise in zeroing out the net emissions of the supply chain by examining the GHG emissions of each asset and determining how to eliminate or offset these emissions.</a:t>
            </a:r>
          </a:p>
          <a:p>
            <a:pPr marL="285750" indent="-285750">
              <a:buFont typeface="Arial" panose="020B0604020202020204" pitchFamily="34" charset="0"/>
              <a:buChar char="•"/>
            </a:pPr>
            <a:r>
              <a:rPr lang="en-US" sz="1600" b="1" dirty="0">
                <a:latin typeface="Titillium Web Light" panose="00000400000000000000" pitchFamily="2" charset="0"/>
              </a:rPr>
              <a:t>Associate the baseline climate change GHG emission amounts with each “asset” on the Fabric blockchain. </a:t>
            </a:r>
            <a:r>
              <a:rPr lang="en-US" sz="1600" dirty="0">
                <a:latin typeface="Titillium Web Light" panose="00000400000000000000" pitchFamily="2" charset="0"/>
              </a:rPr>
              <a:t>Baseline emissions are the existing expected level as measured or sourced from standard table emissions.</a:t>
            </a:r>
          </a:p>
          <a:p>
            <a:pPr marL="285750" indent="-285750">
              <a:buFont typeface="Arial" panose="020B0604020202020204" pitchFamily="34" charset="0"/>
              <a:buChar char="•"/>
            </a:pPr>
            <a:r>
              <a:rPr lang="en-US" sz="1600" b="1" dirty="0">
                <a:latin typeface="Titillium Web Light" panose="00000400000000000000" pitchFamily="2" charset="0"/>
              </a:rPr>
              <a:t>What-If Analysis</a:t>
            </a:r>
            <a:r>
              <a:rPr lang="en-US" sz="1600" dirty="0">
                <a:latin typeface="Titillium Web Light" panose="00000400000000000000" pitchFamily="2" charset="0"/>
              </a:rPr>
              <a:t>: Simulate different scenarios (e.g., component problems creating higher emissions, supply disruptions) to understand potential impacts and outcomes.</a:t>
            </a:r>
          </a:p>
          <a:p>
            <a:pPr marL="285750" indent="-285750">
              <a:buFont typeface="Arial" panose="020B0604020202020204" pitchFamily="34" charset="0"/>
              <a:buChar char="•"/>
            </a:pPr>
            <a:r>
              <a:rPr lang="en-US" sz="1600" b="1" dirty="0">
                <a:latin typeface="Titillium Web Light" panose="00000400000000000000" pitchFamily="2" charset="0"/>
              </a:rPr>
              <a:t>Optimization</a:t>
            </a:r>
            <a:r>
              <a:rPr lang="en-US" sz="1600" dirty="0">
                <a:latin typeface="Titillium Web Light" panose="00000400000000000000" pitchFamily="2" charset="0"/>
              </a:rPr>
              <a:t>: Use the digital twin to identify optimal inventory levels,  transportation routes, and production schedules.</a:t>
            </a:r>
          </a:p>
          <a:p>
            <a:pPr marL="285750" indent="-285750">
              <a:buFont typeface="Arial" panose="020B0604020202020204" pitchFamily="34" charset="0"/>
              <a:buChar char="•"/>
            </a:pPr>
            <a:r>
              <a:rPr lang="en-US" sz="1600" dirty="0">
                <a:latin typeface="Titillium Web Light" panose="00000400000000000000" pitchFamily="2" charset="0"/>
              </a:rPr>
              <a:t>Real-time tracking of GHG emissions from individual segments of the supply chain.</a:t>
            </a:r>
          </a:p>
          <a:p>
            <a:pPr marL="285750" indent="-285750">
              <a:buFont typeface="Arial" panose="020B0604020202020204" pitchFamily="34" charset="0"/>
              <a:buChar char="•"/>
            </a:pPr>
            <a:r>
              <a:rPr lang="en-US" sz="1600" dirty="0">
                <a:latin typeface="Titillium Web Light" panose="00000400000000000000" pitchFamily="2" charset="0"/>
              </a:rPr>
              <a:t>Enables granular analysis of emissions to investigate the major players accountable for deviation from planned emissions.</a:t>
            </a:r>
          </a:p>
          <a:p>
            <a:pPr marL="285750" indent="-285750">
              <a:buFont typeface="Arial" panose="020B0604020202020204" pitchFamily="34" charset="0"/>
              <a:buChar char="•"/>
            </a:pPr>
            <a:r>
              <a:rPr lang="en-US" sz="1600" dirty="0">
                <a:latin typeface="Titillium Web Light" panose="00000400000000000000" pitchFamily="2" charset="0"/>
              </a:rPr>
              <a:t>Can be used to determine an alternative supplier</a:t>
            </a:r>
          </a:p>
          <a:p>
            <a:r>
              <a:rPr lang="en-US" sz="1600" dirty="0">
                <a:latin typeface="Titillium Web Light" panose="00000400000000000000" pitchFamily="2" charset="0"/>
              </a:rPr>
              <a:t>       where their supply chain emissions are less than</a:t>
            </a:r>
          </a:p>
          <a:p>
            <a:r>
              <a:rPr lang="en-US" sz="1600" dirty="0">
                <a:latin typeface="Titillium Web Light" panose="00000400000000000000" pitchFamily="2" charset="0"/>
              </a:rPr>
              <a:t>       the current supplier. </a:t>
            </a:r>
          </a:p>
          <a:p>
            <a:pPr marL="285750" indent="-285750">
              <a:buFont typeface="Arial" panose="020B0604020202020204" pitchFamily="34" charset="0"/>
              <a:buChar char="•"/>
            </a:pPr>
            <a:r>
              <a:rPr lang="en-US" sz="1600" dirty="0">
                <a:latin typeface="Titillium Web Light" panose="00000400000000000000" pitchFamily="2" charset="0"/>
              </a:rPr>
              <a:t>Provides detail into </a:t>
            </a:r>
            <a:r>
              <a:rPr lang="en-US" sz="1600" b="1" dirty="0">
                <a:latin typeface="Titillium Web Light" panose="00000400000000000000" pitchFamily="2" charset="0"/>
              </a:rPr>
              <a:t>the renewable energy credit </a:t>
            </a:r>
          </a:p>
          <a:p>
            <a:r>
              <a:rPr lang="en-US" sz="1600" b="1" dirty="0">
                <a:latin typeface="Titillium Web Light" panose="00000400000000000000" pitchFamily="2" charset="0"/>
              </a:rPr>
              <a:t>       market(REC)</a:t>
            </a:r>
            <a:r>
              <a:rPr lang="en-US" sz="1600" dirty="0">
                <a:latin typeface="Titillium Web Light" panose="00000400000000000000" pitchFamily="2" charset="0"/>
              </a:rPr>
              <a:t> for purchases to arrive at a net-zero level</a:t>
            </a:r>
          </a:p>
          <a:p>
            <a:r>
              <a:rPr lang="en-US" sz="1600" dirty="0">
                <a:solidFill>
                  <a:srgbClr val="FF0000"/>
                </a:solidFill>
                <a:latin typeface="Titillium Web Light" panose="00000400000000000000" pitchFamily="2" charset="0"/>
              </a:rPr>
              <a:t>       </a:t>
            </a:r>
            <a:r>
              <a:rPr lang="en-US" sz="1600" dirty="0">
                <a:latin typeface="Titillium Web Light" panose="00000400000000000000" pitchFamily="2" charset="0"/>
              </a:rPr>
              <a:t>of GHG emissions. Can also be used to determine if</a:t>
            </a:r>
          </a:p>
          <a:p>
            <a:r>
              <a:rPr lang="en-US" sz="1600" dirty="0">
                <a:solidFill>
                  <a:srgbClr val="FF0000"/>
                </a:solidFill>
                <a:latin typeface="Titillium Web Light" panose="00000400000000000000" pitchFamily="2" charset="0"/>
              </a:rPr>
              <a:t>       </a:t>
            </a:r>
            <a:r>
              <a:rPr lang="en-US" sz="1600" dirty="0">
                <a:latin typeface="Titillium Web Light" panose="00000400000000000000" pitchFamily="2" charset="0"/>
              </a:rPr>
              <a:t>if the supply chain has generated </a:t>
            </a:r>
            <a:r>
              <a:rPr lang="en-US" sz="1600" dirty="0" err="1">
                <a:latin typeface="Titillium Web Light" panose="00000400000000000000" pitchFamily="2" charset="0"/>
              </a:rPr>
              <a:t>RECs.</a:t>
            </a:r>
            <a:endParaRPr lang="en-US" sz="1600" dirty="0">
              <a:solidFill>
                <a:srgbClr val="FF0000"/>
              </a:solidFill>
              <a:latin typeface="Titillium Web Light" panose="00000400000000000000" pitchFamily="2" charset="0"/>
            </a:endParaRPr>
          </a:p>
        </p:txBody>
      </p:sp>
      <p:cxnSp>
        <p:nvCxnSpPr>
          <p:cNvPr id="2" name="Straight Connector 1">
            <a:extLst>
              <a:ext uri="{FF2B5EF4-FFF2-40B4-BE49-F238E27FC236}">
                <a16:creationId xmlns:a16="http://schemas.microsoft.com/office/drawing/2014/main" id="{419DD6C0-0C3E-0F19-FAE4-3D658E5F36D3}"/>
              </a:ext>
            </a:extLst>
          </p:cNvPr>
          <p:cNvCxnSpPr>
            <a:cxnSpLocks/>
          </p:cNvCxnSpPr>
          <p:nvPr/>
        </p:nvCxnSpPr>
        <p:spPr>
          <a:xfrm>
            <a:off x="410416" y="616806"/>
            <a:ext cx="10887437"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0C30ABB3-615D-94D6-C812-476F683C44E0}"/>
              </a:ext>
            </a:extLst>
          </p:cNvPr>
          <p:cNvPicPr>
            <a:picLocks noChangeAspect="1"/>
          </p:cNvPicPr>
          <p:nvPr/>
        </p:nvPicPr>
        <p:blipFill>
          <a:blip r:embed="rId2"/>
          <a:stretch>
            <a:fillRect/>
          </a:stretch>
        </p:blipFill>
        <p:spPr>
          <a:xfrm>
            <a:off x="4993009" y="4840985"/>
            <a:ext cx="7182998" cy="1992813"/>
          </a:xfrm>
          <a:prstGeom prst="rect">
            <a:avLst/>
          </a:prstGeom>
        </p:spPr>
      </p:pic>
      <p:sp>
        <p:nvSpPr>
          <p:cNvPr id="5" name="TextBox 4">
            <a:extLst>
              <a:ext uri="{FF2B5EF4-FFF2-40B4-BE49-F238E27FC236}">
                <a16:creationId xmlns:a16="http://schemas.microsoft.com/office/drawing/2014/main" id="{1BA2A719-192B-4B3F-EBDD-A3E095A27FEC}"/>
              </a:ext>
            </a:extLst>
          </p:cNvPr>
          <p:cNvSpPr txBox="1"/>
          <p:nvPr/>
        </p:nvSpPr>
        <p:spPr>
          <a:xfrm>
            <a:off x="32902" y="82134"/>
            <a:ext cx="12087484" cy="769441"/>
          </a:xfrm>
          <a:prstGeom prst="rect">
            <a:avLst/>
          </a:prstGeom>
          <a:noFill/>
        </p:spPr>
        <p:txBody>
          <a:bodyPr wrap="square" rtlCol="0">
            <a:spAutoFit/>
          </a:bodyPr>
          <a:lstStyle/>
          <a:p>
            <a:r>
              <a:rPr lang="en-US" sz="2400" b="1" dirty="0">
                <a:solidFill>
                  <a:schemeClr val="bg1">
                    <a:lumMod val="95000"/>
                  </a:schemeClr>
                </a:solidFill>
              </a:rPr>
              <a:t>Operation of a Blockchain Digital Twin for Supply Chain GHG Emission Tracking </a:t>
            </a:r>
            <a:r>
              <a:rPr lang="en-US" sz="2000" b="1" dirty="0">
                <a:solidFill>
                  <a:schemeClr val="bg1">
                    <a:lumMod val="95000"/>
                  </a:schemeClr>
                </a:solidFill>
              </a:rPr>
              <a:t>(2 of 3) </a:t>
            </a:r>
          </a:p>
          <a:p>
            <a:r>
              <a:rPr lang="en-US" sz="2000" b="1" dirty="0">
                <a:solidFill>
                  <a:schemeClr val="bg1">
                    <a:lumMod val="95000"/>
                  </a:schemeClr>
                </a:solidFill>
              </a:rPr>
              <a:t> </a:t>
            </a:r>
          </a:p>
        </p:txBody>
      </p:sp>
    </p:spTree>
    <p:extLst>
      <p:ext uri="{BB962C8B-B14F-4D97-AF65-F5344CB8AC3E}">
        <p14:creationId xmlns:p14="http://schemas.microsoft.com/office/powerpoint/2010/main" val="2893574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720D51E-5B10-9855-2DAA-E95BD8FA6E2E}"/>
              </a:ext>
            </a:extLst>
          </p:cNvPr>
          <p:cNvSpPr/>
          <p:nvPr/>
        </p:nvSpPr>
        <p:spPr>
          <a:xfrm>
            <a:off x="-4608" y="8756"/>
            <a:ext cx="12180896" cy="656492"/>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ight Triangle 5">
            <a:extLst>
              <a:ext uri="{FF2B5EF4-FFF2-40B4-BE49-F238E27FC236}">
                <a16:creationId xmlns:a16="http://schemas.microsoft.com/office/drawing/2014/main" id="{FE0A878B-1DEF-1B95-C506-226503F8DF74}"/>
              </a:ext>
            </a:extLst>
          </p:cNvPr>
          <p:cNvSpPr/>
          <p:nvPr/>
        </p:nvSpPr>
        <p:spPr>
          <a:xfrm rot="16200000" flipV="1">
            <a:off x="540880" y="2764238"/>
            <a:ext cx="3207673" cy="4270104"/>
          </a:xfrm>
          <a:prstGeom prst="rtTriangle">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94E4029F-A9A8-4262-BBED-3F8277B6F9A9}"/>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65" name="AutoShape 2" descr="Cash Pictures, Cash Stock Photos &amp; Images | Depositphotos®">
            <a:extLst>
              <a:ext uri="{FF2B5EF4-FFF2-40B4-BE49-F238E27FC236}">
                <a16:creationId xmlns:a16="http://schemas.microsoft.com/office/drawing/2014/main" id="{E0F87420-C907-404A-8355-4C22CA4E51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76324356-DFA6-4B51-9B4E-50BF6CBE2E3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6B9294C8-3FAB-8C9A-4F01-13D56F492EBE}"/>
              </a:ext>
            </a:extLst>
          </p:cNvPr>
          <p:cNvSpPr txBox="1"/>
          <p:nvPr/>
        </p:nvSpPr>
        <p:spPr>
          <a:xfrm>
            <a:off x="902927" y="2935318"/>
            <a:ext cx="10750647" cy="1384995"/>
          </a:xfrm>
          <a:prstGeom prst="rect">
            <a:avLst/>
          </a:prstGeom>
          <a:noFill/>
        </p:spPr>
        <p:txBody>
          <a:bodyPr wrap="square" rtlCol="0">
            <a:spAutoFit/>
          </a:bodyPr>
          <a:lstStyle/>
          <a:p>
            <a:endParaRPr lang="en-US" b="1" dirty="0">
              <a:latin typeface="Titillium Web Light" panose="00000400000000000000" pitchFamily="2" charset="0"/>
            </a:endParaRPr>
          </a:p>
          <a:p>
            <a:r>
              <a:rPr lang="en-US" b="1" dirty="0">
                <a:solidFill>
                  <a:schemeClr val="accent1">
                    <a:lumMod val="75000"/>
                  </a:schemeClr>
                </a:solidFill>
                <a:latin typeface="Titillium Web Light" panose="00000400000000000000" pitchFamily="2" charset="0"/>
              </a:rPr>
              <a:t>                                                                                </a:t>
            </a:r>
            <a:r>
              <a:rPr lang="en-US" b="1" u="sng" dirty="0">
                <a:solidFill>
                  <a:schemeClr val="accent1">
                    <a:lumMod val="75000"/>
                  </a:schemeClr>
                </a:solidFill>
                <a:latin typeface="Titillium Web Light" panose="00000400000000000000" pitchFamily="2" charset="0"/>
              </a:rPr>
              <a:t>Data Analytics</a:t>
            </a:r>
          </a:p>
          <a:p>
            <a:pPr marL="800100" lvl="1" indent="-342900">
              <a:buFont typeface="Arial" panose="020B0604020202020204" pitchFamily="34" charset="0"/>
              <a:buChar char="•"/>
            </a:pPr>
            <a:r>
              <a:rPr lang="en-US" sz="1600" b="1" dirty="0">
                <a:latin typeface="Titillium Web Light" panose="00000400000000000000" pitchFamily="2" charset="0"/>
              </a:rPr>
              <a:t>Real-Time Analytics</a:t>
            </a:r>
            <a:r>
              <a:rPr lang="en-US" sz="1600" dirty="0">
                <a:latin typeface="Titillium Web Light" panose="00000400000000000000" pitchFamily="2" charset="0"/>
              </a:rPr>
              <a:t>: Use streaming analytics tools to process and analyze emission data as it arrives.</a:t>
            </a:r>
          </a:p>
          <a:p>
            <a:pPr marL="800100" lvl="1" indent="-342900">
              <a:buFont typeface="Arial" panose="020B0604020202020204" pitchFamily="34" charset="0"/>
              <a:buChar char="•"/>
            </a:pPr>
            <a:r>
              <a:rPr lang="en-US" sz="1600" b="1" dirty="0">
                <a:latin typeface="Titillium Web Light" panose="00000400000000000000" pitchFamily="2" charset="0"/>
              </a:rPr>
              <a:t>Machine  Learning</a:t>
            </a:r>
            <a:r>
              <a:rPr lang="en-US" sz="1600" dirty="0">
                <a:latin typeface="Titillium Web Light" panose="00000400000000000000" pitchFamily="2" charset="0"/>
              </a:rPr>
              <a:t>: Implement machine learning models to predict trends, detect anomalies, and optimize processes(</a:t>
            </a:r>
            <a:r>
              <a:rPr lang="en-US" sz="1600" b="1" dirty="0">
                <a:latin typeface="Titillium Web Light" panose="00000400000000000000" pitchFamily="2" charset="0"/>
              </a:rPr>
              <a:t>in need of a detailed example</a:t>
            </a:r>
            <a:r>
              <a:rPr lang="en-US" sz="1600" dirty="0">
                <a:latin typeface="Titillium Web Light" panose="00000400000000000000" pitchFamily="2" charset="0"/>
              </a:rPr>
              <a:t>).</a:t>
            </a:r>
            <a:endParaRPr lang="en-US" sz="2000" dirty="0">
              <a:latin typeface="Google Sans"/>
            </a:endParaRPr>
          </a:p>
        </p:txBody>
      </p:sp>
      <p:cxnSp>
        <p:nvCxnSpPr>
          <p:cNvPr id="3" name="Straight Connector 2">
            <a:extLst>
              <a:ext uri="{FF2B5EF4-FFF2-40B4-BE49-F238E27FC236}">
                <a16:creationId xmlns:a16="http://schemas.microsoft.com/office/drawing/2014/main" id="{5C189C6F-7ECC-9957-C19F-A72BC5D0C658}"/>
              </a:ext>
            </a:extLst>
          </p:cNvPr>
          <p:cNvCxnSpPr>
            <a:cxnSpLocks/>
          </p:cNvCxnSpPr>
          <p:nvPr/>
        </p:nvCxnSpPr>
        <p:spPr>
          <a:xfrm>
            <a:off x="646777" y="570493"/>
            <a:ext cx="97536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F44B510-377C-9B45-279D-1B7BAE1B763B}"/>
              </a:ext>
            </a:extLst>
          </p:cNvPr>
          <p:cNvSpPr txBox="1"/>
          <p:nvPr/>
        </p:nvSpPr>
        <p:spPr>
          <a:xfrm>
            <a:off x="96836" y="6633"/>
            <a:ext cx="12087484" cy="523220"/>
          </a:xfrm>
          <a:prstGeom prst="rect">
            <a:avLst/>
          </a:prstGeom>
          <a:noFill/>
        </p:spPr>
        <p:txBody>
          <a:bodyPr wrap="square" rtlCol="0">
            <a:spAutoFit/>
          </a:bodyPr>
          <a:lstStyle/>
          <a:p>
            <a:r>
              <a:rPr lang="en-US" sz="2800" b="1" dirty="0">
                <a:solidFill>
                  <a:schemeClr val="tx2">
                    <a:lumMod val="90000"/>
                    <a:lumOff val="10000"/>
                  </a:schemeClr>
                </a:solidFill>
              </a:rPr>
              <a:t>     </a:t>
            </a:r>
            <a:r>
              <a:rPr lang="en-US" sz="2800" b="1" dirty="0">
                <a:solidFill>
                  <a:schemeClr val="bg1"/>
                </a:solidFill>
              </a:rPr>
              <a:t> </a:t>
            </a:r>
          </a:p>
        </p:txBody>
      </p:sp>
      <p:sp>
        <p:nvSpPr>
          <p:cNvPr id="12" name="TextBox 11">
            <a:extLst>
              <a:ext uri="{FF2B5EF4-FFF2-40B4-BE49-F238E27FC236}">
                <a16:creationId xmlns:a16="http://schemas.microsoft.com/office/drawing/2014/main" id="{5FD35E2C-EBAE-51D4-81DC-090EEC00BB30}"/>
              </a:ext>
            </a:extLst>
          </p:cNvPr>
          <p:cNvSpPr txBox="1"/>
          <p:nvPr/>
        </p:nvSpPr>
        <p:spPr>
          <a:xfrm>
            <a:off x="64754" y="765257"/>
            <a:ext cx="12151647" cy="3170099"/>
          </a:xfrm>
          <a:prstGeom prst="rect">
            <a:avLst/>
          </a:prstGeom>
          <a:noFill/>
        </p:spPr>
        <p:txBody>
          <a:bodyPr wrap="square" rtlCol="0">
            <a:spAutoFit/>
          </a:bodyPr>
          <a:lstStyle/>
          <a:p>
            <a:r>
              <a:rPr lang="en-US" sz="1600" b="1" u="sng" dirty="0">
                <a:solidFill>
                  <a:schemeClr val="accent1">
                    <a:lumMod val="75000"/>
                  </a:schemeClr>
                </a:solidFill>
                <a:highlight>
                  <a:srgbClr val="FFFFFF"/>
                </a:highlight>
                <a:latin typeface="Titillium Web Light" panose="00000400000000000000" pitchFamily="2" charset="0"/>
              </a:rPr>
              <a:t>Interactive </a:t>
            </a:r>
            <a:r>
              <a:rPr lang="en-US" sz="1600" b="1" u="sng" dirty="0">
                <a:solidFill>
                  <a:schemeClr val="accent1">
                    <a:lumMod val="75000"/>
                  </a:schemeClr>
                </a:solidFill>
                <a:latin typeface="Titillium Web Light" panose="00000400000000000000" pitchFamily="2" charset="0"/>
              </a:rPr>
              <a:t>Dashboards and Reports</a:t>
            </a:r>
          </a:p>
          <a:p>
            <a:endParaRPr lang="en-US" sz="1600" dirty="0">
              <a:latin typeface="Titillium Web Light" panose="00000400000000000000" pitchFamily="2" charset="0"/>
            </a:endParaRPr>
          </a:p>
          <a:p>
            <a:pPr marL="342900" indent="-342900">
              <a:buFont typeface="Arial" panose="020B0604020202020204" pitchFamily="34" charset="0"/>
              <a:buChar char="•"/>
            </a:pPr>
            <a:r>
              <a:rPr lang="en-US" sz="1600" b="1" dirty="0">
                <a:latin typeface="Titillium Web Light" panose="00000400000000000000" pitchFamily="2" charset="0"/>
              </a:rPr>
              <a:t>Real-Time Dashboards</a:t>
            </a:r>
            <a:r>
              <a:rPr lang="en-US" sz="1600" dirty="0">
                <a:latin typeface="Titillium Web Light" panose="00000400000000000000" pitchFamily="2" charset="0"/>
              </a:rPr>
              <a:t>: Create dashboards that provide real-time visibility into key performance indicators (KPIs) like supply chain component GHG emission rates, carbon offset bank total, and in-flight total emissions.</a:t>
            </a:r>
          </a:p>
          <a:p>
            <a:pPr marL="342900" indent="-342900">
              <a:buFont typeface="Arial" panose="020B0604020202020204" pitchFamily="34" charset="0"/>
              <a:buChar char="•"/>
            </a:pPr>
            <a:r>
              <a:rPr lang="en-US" sz="1600" b="1" i="0" dirty="0">
                <a:solidFill>
                  <a:srgbClr val="222222"/>
                </a:solidFill>
                <a:effectLst/>
                <a:highlight>
                  <a:srgbClr val="FFFFFF"/>
                </a:highlight>
                <a:latin typeface="Titillium Web Light" panose="00000400000000000000" pitchFamily="2" charset="0"/>
              </a:rPr>
              <a:t>Performance Dashboards</a:t>
            </a:r>
            <a:r>
              <a:rPr lang="en-US" sz="1600" b="0" i="0" dirty="0">
                <a:solidFill>
                  <a:srgbClr val="222222"/>
                </a:solidFill>
                <a:effectLst/>
                <a:highlight>
                  <a:srgbClr val="FFFFFF"/>
                </a:highlight>
                <a:latin typeface="Titillium Web Light" panose="00000400000000000000" pitchFamily="2" charset="0"/>
              </a:rPr>
              <a:t>: Implement dashboards to track progress towards net-zero goals and identify supply chain segments</a:t>
            </a:r>
          </a:p>
          <a:p>
            <a:r>
              <a:rPr lang="en-US" sz="1600" dirty="0">
                <a:solidFill>
                  <a:srgbClr val="222222"/>
                </a:solidFill>
                <a:highlight>
                  <a:srgbClr val="FFFFFF"/>
                </a:highlight>
                <a:latin typeface="Titillium Web Light" panose="00000400000000000000" pitchFamily="2" charset="0"/>
              </a:rPr>
              <a:t>        responsible for the majority of emissions.</a:t>
            </a:r>
            <a:endParaRPr lang="en-US" sz="1600" dirty="0">
              <a:latin typeface="Titillium Web Light" panose="00000400000000000000" pitchFamily="2" charset="0"/>
            </a:endParaRPr>
          </a:p>
          <a:p>
            <a:pPr marL="342900" indent="-342900">
              <a:buFont typeface="Arial" panose="020B0604020202020204" pitchFamily="34" charset="0"/>
              <a:buChar char="•"/>
            </a:pPr>
            <a:r>
              <a:rPr lang="en-US" sz="1600" b="1" dirty="0">
                <a:latin typeface="Titillium Web Light" panose="00000400000000000000" pitchFamily="2" charset="0"/>
              </a:rPr>
              <a:t>Create dashboards that provide real-time visibility </a:t>
            </a:r>
            <a:r>
              <a:rPr lang="en-US" sz="1600" dirty="0">
                <a:latin typeface="Titillium Web Light" panose="00000400000000000000" pitchFamily="2" charset="0"/>
              </a:rPr>
              <a:t>into key performance indicators (KPIs) like supply chain component GHG emission rates, carbon offset bank total, and in-flight total emissions.. </a:t>
            </a:r>
            <a:r>
              <a:rPr lang="en-US" sz="1600" b="1" dirty="0">
                <a:solidFill>
                  <a:schemeClr val="accent1"/>
                </a:solidFill>
                <a:latin typeface="Titillium Web Light" panose="00000400000000000000" pitchFamily="2" charset="0"/>
              </a:rPr>
              <a:t>Solved by the Open Global Climate Accounting System???? </a:t>
            </a:r>
          </a:p>
          <a:p>
            <a:pPr marL="342900" indent="-342900">
              <a:buFont typeface="Arial" panose="020B0604020202020204" pitchFamily="34" charset="0"/>
              <a:buChar char="•"/>
            </a:pPr>
            <a:r>
              <a:rPr lang="en-US" sz="1600" b="1" i="0" dirty="0">
                <a:solidFill>
                  <a:srgbClr val="222222"/>
                </a:solidFill>
                <a:effectLst/>
                <a:highlight>
                  <a:srgbClr val="FFFFFF"/>
                </a:highlight>
                <a:latin typeface="Titillium Web Light" panose="00000400000000000000" pitchFamily="2" charset="0"/>
              </a:rPr>
              <a:t>Route Planning</a:t>
            </a:r>
            <a:r>
              <a:rPr lang="en-US" sz="1600" b="0" i="0" dirty="0">
                <a:solidFill>
                  <a:srgbClr val="222222"/>
                </a:solidFill>
                <a:effectLst/>
                <a:highlight>
                  <a:srgbClr val="FFFFFF"/>
                </a:highlight>
                <a:latin typeface="Titillium Web Light" panose="00000400000000000000" pitchFamily="2" charset="0"/>
              </a:rPr>
              <a:t>: Use advanced logistics software to plan the most efficient routes, reducing fuel consumption and emissions</a:t>
            </a:r>
            <a:endParaRPr lang="en-US" sz="1600" dirty="0">
              <a:latin typeface="Titillium Web Light" panose="00000400000000000000" pitchFamily="2" charset="0"/>
            </a:endParaRPr>
          </a:p>
          <a:p>
            <a:pPr marL="342900" indent="-342900">
              <a:buFont typeface="Arial" panose="020B0604020202020204" pitchFamily="34" charset="0"/>
              <a:buChar char="•"/>
            </a:pPr>
            <a:endParaRPr lang="en-US" sz="1600" dirty="0">
              <a:latin typeface="Titillium Web Light" panose="00000400000000000000" pitchFamily="2" charset="0"/>
            </a:endParaRPr>
          </a:p>
          <a:p>
            <a:r>
              <a:rPr lang="en-US" sz="2000" dirty="0">
                <a:latin typeface="Google Sans"/>
              </a:rPr>
              <a:t>                                   </a:t>
            </a:r>
          </a:p>
          <a:p>
            <a:endParaRPr lang="en-US" sz="2000" dirty="0">
              <a:latin typeface="Google Sans"/>
            </a:endParaRPr>
          </a:p>
        </p:txBody>
      </p:sp>
      <p:sp>
        <p:nvSpPr>
          <p:cNvPr id="13" name="TextBox 12">
            <a:extLst>
              <a:ext uri="{FF2B5EF4-FFF2-40B4-BE49-F238E27FC236}">
                <a16:creationId xmlns:a16="http://schemas.microsoft.com/office/drawing/2014/main" id="{B29FECA1-EDC6-1445-782A-E0A46AE8E696}"/>
              </a:ext>
            </a:extLst>
          </p:cNvPr>
          <p:cNvSpPr txBox="1"/>
          <p:nvPr/>
        </p:nvSpPr>
        <p:spPr>
          <a:xfrm>
            <a:off x="2822721" y="4320313"/>
            <a:ext cx="8581233" cy="2185214"/>
          </a:xfrm>
          <a:prstGeom prst="rect">
            <a:avLst/>
          </a:prstGeom>
          <a:noFill/>
        </p:spPr>
        <p:txBody>
          <a:bodyPr wrap="square" rtlCol="0">
            <a:spAutoFit/>
          </a:bodyPr>
          <a:lstStyle/>
          <a:p>
            <a:endParaRPr lang="en-US" b="1" dirty="0">
              <a:latin typeface="Titillium Web Light" panose="00000400000000000000" pitchFamily="2" charset="0"/>
            </a:endParaRPr>
          </a:p>
          <a:p>
            <a:pPr lvl="1"/>
            <a:r>
              <a:rPr lang="en-US" b="1" dirty="0">
                <a:solidFill>
                  <a:schemeClr val="accent1">
                    <a:lumMod val="75000"/>
                  </a:schemeClr>
                </a:solidFill>
                <a:latin typeface="Titillium Web Light" panose="00000400000000000000" pitchFamily="2" charset="0"/>
              </a:rPr>
              <a:t>                              </a:t>
            </a:r>
            <a:r>
              <a:rPr lang="en-US" b="1" u="sng" dirty="0">
                <a:solidFill>
                  <a:schemeClr val="accent1">
                    <a:lumMod val="75000"/>
                  </a:schemeClr>
                </a:solidFill>
                <a:latin typeface="Titillium Web Light" panose="00000400000000000000" pitchFamily="2" charset="0"/>
              </a:rPr>
              <a:t>Visualization Tools</a:t>
            </a:r>
          </a:p>
          <a:p>
            <a:pPr marL="800100" lvl="1" indent="-342900">
              <a:buFont typeface="Arial" panose="020B0604020202020204" pitchFamily="34" charset="0"/>
              <a:buChar char="•"/>
            </a:pPr>
            <a:r>
              <a:rPr lang="en-US" sz="1600" b="1" dirty="0">
                <a:latin typeface="Titillium Web Light" panose="00000400000000000000" pitchFamily="2" charset="0"/>
              </a:rPr>
              <a:t>3D Visualization</a:t>
            </a:r>
            <a:r>
              <a:rPr lang="en-US" sz="1600" dirty="0">
                <a:latin typeface="Titillium Web Light" panose="00000400000000000000" pitchFamily="2" charset="0"/>
              </a:rPr>
              <a:t>: Use 3D modeling tools to create a visual representation of the supply chain.</a:t>
            </a:r>
          </a:p>
          <a:p>
            <a:pPr marL="800100" lvl="1" indent="-342900">
              <a:buFont typeface="Arial" panose="020B0604020202020204" pitchFamily="34" charset="0"/>
              <a:buChar char="•"/>
            </a:pPr>
            <a:r>
              <a:rPr lang="en-US" sz="1600" b="1" dirty="0">
                <a:latin typeface="Titillium Web Light" panose="00000400000000000000" pitchFamily="2" charset="0"/>
              </a:rPr>
              <a:t>GIS Mapping</a:t>
            </a:r>
            <a:r>
              <a:rPr lang="en-US" sz="1600" dirty="0">
                <a:latin typeface="Titillium Web Light" panose="00000400000000000000" pitchFamily="2" charset="0"/>
              </a:rPr>
              <a:t>: Integrate Geographic Information Systems for spatial analysis and visualization of supply chain routes and locations.</a:t>
            </a:r>
          </a:p>
          <a:p>
            <a:pPr marL="342900" indent="-342900">
              <a:buFont typeface="Arial" panose="020B0604020202020204" pitchFamily="34" charset="0"/>
              <a:buChar char="•"/>
            </a:pPr>
            <a:endParaRPr lang="en-US" sz="1600" b="1" dirty="0">
              <a:latin typeface="Titillium Web Light" panose="00000400000000000000" pitchFamily="2" charset="0"/>
            </a:endParaRPr>
          </a:p>
          <a:p>
            <a:endParaRPr lang="en-US" sz="2000" dirty="0">
              <a:latin typeface="Google Sans"/>
            </a:endParaRPr>
          </a:p>
        </p:txBody>
      </p:sp>
      <p:pic>
        <p:nvPicPr>
          <p:cNvPr id="1026" name="Picture 2" descr="Dashboard For Our Successful Digital Twin Model Digital Twin ...">
            <a:extLst>
              <a:ext uri="{FF2B5EF4-FFF2-40B4-BE49-F238E27FC236}">
                <a16:creationId xmlns:a16="http://schemas.microsoft.com/office/drawing/2014/main" id="{9BF86BAE-EFA9-C894-B880-7D813CFA06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72" y="4498748"/>
            <a:ext cx="1445895" cy="81331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01D59206-0861-7E4C-725F-95C6329D53C8}"/>
              </a:ext>
            </a:extLst>
          </p:cNvPr>
          <p:cNvPicPr>
            <a:picLocks noChangeAspect="1"/>
          </p:cNvPicPr>
          <p:nvPr/>
        </p:nvPicPr>
        <p:blipFill>
          <a:blip r:embed="rId3"/>
          <a:stretch>
            <a:fillRect/>
          </a:stretch>
        </p:blipFill>
        <p:spPr>
          <a:xfrm>
            <a:off x="23072" y="5334099"/>
            <a:ext cx="2491061" cy="1154837"/>
          </a:xfrm>
          <a:prstGeom prst="rect">
            <a:avLst/>
          </a:prstGeom>
        </p:spPr>
      </p:pic>
      <p:cxnSp>
        <p:nvCxnSpPr>
          <p:cNvPr id="25" name="Connector: Elbow 24">
            <a:extLst>
              <a:ext uri="{FF2B5EF4-FFF2-40B4-BE49-F238E27FC236}">
                <a16:creationId xmlns:a16="http://schemas.microsoft.com/office/drawing/2014/main" id="{54B85EC7-5E88-7D70-EB09-2F42B44F6D4F}"/>
              </a:ext>
            </a:extLst>
          </p:cNvPr>
          <p:cNvCxnSpPr>
            <a:cxnSpLocks/>
            <a:stCxn id="1026" idx="3"/>
          </p:cNvCxnSpPr>
          <p:nvPr/>
        </p:nvCxnSpPr>
        <p:spPr>
          <a:xfrm>
            <a:off x="1468967" y="4905406"/>
            <a:ext cx="630899" cy="324082"/>
          </a:xfrm>
          <a:prstGeom prst="bent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6682B27-E038-9927-040B-E240712D9EB8}"/>
              </a:ext>
            </a:extLst>
          </p:cNvPr>
          <p:cNvSpPr txBox="1"/>
          <p:nvPr/>
        </p:nvSpPr>
        <p:spPr>
          <a:xfrm>
            <a:off x="32902" y="73745"/>
            <a:ext cx="12087484" cy="461665"/>
          </a:xfrm>
          <a:prstGeom prst="rect">
            <a:avLst/>
          </a:prstGeom>
          <a:noFill/>
        </p:spPr>
        <p:txBody>
          <a:bodyPr wrap="square" rtlCol="0">
            <a:spAutoFit/>
          </a:bodyPr>
          <a:lstStyle/>
          <a:p>
            <a:r>
              <a:rPr lang="en-US" sz="2400" b="1" dirty="0">
                <a:solidFill>
                  <a:schemeClr val="bg1">
                    <a:lumMod val="95000"/>
                  </a:schemeClr>
                </a:solidFill>
              </a:rPr>
              <a:t>Operation of a Blockchain Digital Twin for Supply Chain GHG Emission Tracking </a:t>
            </a:r>
            <a:r>
              <a:rPr lang="en-US" sz="2000" b="1" dirty="0">
                <a:solidFill>
                  <a:schemeClr val="bg1">
                    <a:lumMod val="95000"/>
                  </a:schemeClr>
                </a:solidFill>
              </a:rPr>
              <a:t>(3 of 3) </a:t>
            </a:r>
          </a:p>
        </p:txBody>
      </p:sp>
    </p:spTree>
    <p:extLst>
      <p:ext uri="{BB962C8B-B14F-4D97-AF65-F5344CB8AC3E}">
        <p14:creationId xmlns:p14="http://schemas.microsoft.com/office/powerpoint/2010/main" val="453216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CF6392-90C9-4ECE-941A-84CA8666738A}"/>
              </a:ext>
            </a:extLst>
          </p:cNvPr>
          <p:cNvSpPr/>
          <p:nvPr/>
        </p:nvSpPr>
        <p:spPr>
          <a:xfrm rot="5400000">
            <a:off x="-381000" y="381000"/>
            <a:ext cx="6858000" cy="6096000"/>
          </a:xfrm>
          <a:prstGeom prst="rect">
            <a:avLst/>
          </a:prstGeom>
          <a:solidFill>
            <a:srgbClr val="008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8080"/>
              </a:highlight>
            </a:endParaRPr>
          </a:p>
        </p:txBody>
      </p:sp>
      <p:sp>
        <p:nvSpPr>
          <p:cNvPr id="10" name="TextBox 9">
            <a:extLst>
              <a:ext uri="{FF2B5EF4-FFF2-40B4-BE49-F238E27FC236}">
                <a16:creationId xmlns:a16="http://schemas.microsoft.com/office/drawing/2014/main" id="{61A37C87-2367-488E-911E-FB0247783232}"/>
              </a:ext>
            </a:extLst>
          </p:cNvPr>
          <p:cNvSpPr txBox="1"/>
          <p:nvPr/>
        </p:nvSpPr>
        <p:spPr>
          <a:xfrm>
            <a:off x="0" y="527894"/>
            <a:ext cx="5943600" cy="5447645"/>
          </a:xfrm>
          <a:prstGeom prst="rect">
            <a:avLst/>
          </a:prstGeom>
          <a:solidFill>
            <a:srgbClr val="008080"/>
          </a:solidFill>
        </p:spPr>
        <p:txBody>
          <a:bodyPr wrap="square" rtlCol="0">
            <a:spAutoFit/>
          </a:bodyPr>
          <a:lstStyle/>
          <a:p>
            <a:pPr algn="ctr"/>
            <a:r>
              <a:rPr lang="en-US" sz="4000" b="1" dirty="0">
                <a:solidFill>
                  <a:schemeClr val="bg1">
                    <a:lumMod val="95000"/>
                  </a:schemeClr>
                </a:solidFill>
              </a:rPr>
              <a:t> LFDT Blockchain </a:t>
            </a:r>
          </a:p>
          <a:p>
            <a:pPr algn="ctr"/>
            <a:r>
              <a:rPr lang="en-US" sz="4000" b="1" dirty="0">
                <a:solidFill>
                  <a:srgbClr val="FFFF00"/>
                </a:solidFill>
              </a:rPr>
              <a:t>Pictorial Demonstration</a:t>
            </a:r>
          </a:p>
          <a:p>
            <a:pPr algn="ctr"/>
            <a:endParaRPr lang="en-US" sz="4000" b="1" dirty="0">
              <a:solidFill>
                <a:srgbClr val="FFFF00"/>
              </a:solidFill>
            </a:endParaRPr>
          </a:p>
          <a:p>
            <a:pPr algn="ctr"/>
            <a:r>
              <a:rPr lang="en-US" sz="4000" b="1" dirty="0">
                <a:solidFill>
                  <a:schemeClr val="bg1">
                    <a:lumMod val="95000"/>
                  </a:schemeClr>
                </a:solidFill>
              </a:rPr>
              <a:t>Digital Twin</a:t>
            </a:r>
          </a:p>
          <a:p>
            <a:pPr algn="ctr"/>
            <a:r>
              <a:rPr lang="en-US" sz="4000" b="1" dirty="0">
                <a:solidFill>
                  <a:schemeClr val="bg1">
                    <a:lumMod val="95000"/>
                  </a:schemeClr>
                </a:solidFill>
              </a:rPr>
              <a:t>to</a:t>
            </a:r>
          </a:p>
          <a:p>
            <a:pPr algn="ctr"/>
            <a:r>
              <a:rPr lang="en-US" sz="4000" b="1" dirty="0">
                <a:solidFill>
                  <a:schemeClr val="bg1">
                    <a:lumMod val="95000"/>
                  </a:schemeClr>
                </a:solidFill>
              </a:rPr>
              <a:t>Track and Model</a:t>
            </a:r>
          </a:p>
          <a:p>
            <a:pPr algn="ctr"/>
            <a:r>
              <a:rPr lang="en-US" sz="4000" b="1" dirty="0">
                <a:solidFill>
                  <a:schemeClr val="bg1">
                    <a:lumMod val="95000"/>
                  </a:schemeClr>
                </a:solidFill>
              </a:rPr>
              <a:t>GHG Emissions</a:t>
            </a:r>
          </a:p>
          <a:p>
            <a:pPr algn="ctr"/>
            <a:endParaRPr lang="en-US" sz="4000" b="1" dirty="0">
              <a:solidFill>
                <a:schemeClr val="bg1">
                  <a:lumMod val="95000"/>
                </a:schemeClr>
              </a:solidFill>
            </a:endParaRPr>
          </a:p>
          <a:p>
            <a:r>
              <a:rPr lang="en-US" sz="2800" b="1" dirty="0">
                <a:solidFill>
                  <a:schemeClr val="bg1">
                    <a:lumMod val="95000"/>
                  </a:schemeClr>
                </a:solidFill>
              </a:rPr>
              <a:t>Demonstrate Value</a:t>
            </a:r>
            <a:endParaRPr lang="en-US" sz="4000" b="1" dirty="0">
              <a:solidFill>
                <a:schemeClr val="bg1">
                  <a:lumMod val="95000"/>
                </a:schemeClr>
              </a:solidFill>
            </a:endParaRPr>
          </a:p>
        </p:txBody>
      </p:sp>
      <p:sp>
        <p:nvSpPr>
          <p:cNvPr id="65" name="AutoShape 2" descr="Cash Pictures, Cash Stock Photos &amp; Images | Depositphotos®">
            <a:extLst>
              <a:ext uri="{FF2B5EF4-FFF2-40B4-BE49-F238E27FC236}">
                <a16:creationId xmlns:a16="http://schemas.microsoft.com/office/drawing/2014/main" id="{E0F87420-C907-404A-8355-4C22CA4E51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76324356-DFA6-4B51-9B4E-50BF6CBE2E3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5C3BAADB-1BDC-E6D8-F6EC-EDB593F5C41A}"/>
              </a:ext>
            </a:extLst>
          </p:cNvPr>
          <p:cNvPicPr>
            <a:picLocks noChangeAspect="1"/>
          </p:cNvPicPr>
          <p:nvPr/>
        </p:nvPicPr>
        <p:blipFill>
          <a:blip r:embed="rId2"/>
          <a:stretch>
            <a:fillRect/>
          </a:stretch>
        </p:blipFill>
        <p:spPr>
          <a:xfrm>
            <a:off x="0" y="0"/>
            <a:ext cx="4638906" cy="436641"/>
          </a:xfrm>
          <a:prstGeom prst="rect">
            <a:avLst/>
          </a:prstGeom>
        </p:spPr>
      </p:pic>
      <p:pic>
        <p:nvPicPr>
          <p:cNvPr id="4" name="Picture 6">
            <a:extLst>
              <a:ext uri="{FF2B5EF4-FFF2-40B4-BE49-F238E27FC236}">
                <a16:creationId xmlns:a16="http://schemas.microsoft.com/office/drawing/2014/main" id="{A254B318-C6F4-4A90-2608-F5795AB42C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2050" y="-21892"/>
            <a:ext cx="6089950" cy="366156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What is the Blockchain and Why is it So Important?">
            <a:extLst>
              <a:ext uri="{FF2B5EF4-FFF2-40B4-BE49-F238E27FC236}">
                <a16:creationId xmlns:a16="http://schemas.microsoft.com/office/drawing/2014/main" id="{3B408822-57B9-3D77-0BA3-A7FE502DD2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2474" y="3581400"/>
            <a:ext cx="6089525" cy="3295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4663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CF6392-90C9-4ECE-941A-84CA8666738A}"/>
              </a:ext>
            </a:extLst>
          </p:cNvPr>
          <p:cNvSpPr/>
          <p:nvPr/>
        </p:nvSpPr>
        <p:spPr>
          <a:xfrm>
            <a:off x="-4608" y="8756"/>
            <a:ext cx="12180896" cy="656492"/>
          </a:xfrm>
          <a:prstGeom prst="rect">
            <a:avLst/>
          </a:prstGeom>
          <a:solidFill>
            <a:srgbClr val="008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6B9294C8-3FAB-8C9A-4F01-13D56F492EBE}"/>
              </a:ext>
            </a:extLst>
          </p:cNvPr>
          <p:cNvSpPr txBox="1"/>
          <p:nvPr/>
        </p:nvSpPr>
        <p:spPr>
          <a:xfrm>
            <a:off x="5762" y="675536"/>
            <a:ext cx="12172010" cy="1015663"/>
          </a:xfrm>
          <a:prstGeom prst="rect">
            <a:avLst/>
          </a:prstGeom>
          <a:noFill/>
        </p:spPr>
        <p:txBody>
          <a:bodyPr wrap="square" rtlCol="0">
            <a:spAutoFit/>
          </a:bodyPr>
          <a:lstStyle/>
          <a:p>
            <a:r>
              <a:rPr lang="en-US" sz="2000" dirty="0"/>
              <a:t>A global solution architecture for digital twins covering the entire supply chain. While not all firms within the supply chain are required to implement digital twins, real-time or batch entry of GHG emissions data is mandatory across the entire supply chain to track and measure overall carbon emissions</a:t>
            </a:r>
          </a:p>
        </p:txBody>
      </p:sp>
      <p:sp>
        <p:nvSpPr>
          <p:cNvPr id="45" name="TextBox 44">
            <a:extLst>
              <a:ext uri="{FF2B5EF4-FFF2-40B4-BE49-F238E27FC236}">
                <a16:creationId xmlns:a16="http://schemas.microsoft.com/office/drawing/2014/main" id="{DCA73251-CFEE-BD6A-1A09-1B1BACF98EAF}"/>
              </a:ext>
            </a:extLst>
          </p:cNvPr>
          <p:cNvSpPr txBox="1"/>
          <p:nvPr/>
        </p:nvSpPr>
        <p:spPr>
          <a:xfrm>
            <a:off x="59552" y="91228"/>
            <a:ext cx="11600568" cy="523220"/>
          </a:xfrm>
          <a:prstGeom prst="rect">
            <a:avLst/>
          </a:prstGeom>
          <a:noFill/>
        </p:spPr>
        <p:txBody>
          <a:bodyPr wrap="square" rtlCol="0">
            <a:spAutoFit/>
          </a:bodyPr>
          <a:lstStyle/>
          <a:p>
            <a:r>
              <a:rPr lang="en-US" sz="2800" b="1" dirty="0">
                <a:solidFill>
                  <a:schemeClr val="bg1">
                    <a:lumMod val="95000"/>
                  </a:schemeClr>
                </a:solidFill>
              </a:rPr>
              <a:t> Solution Architecture for the Entire Supply Chain Digital Twin</a:t>
            </a:r>
          </a:p>
        </p:txBody>
      </p:sp>
      <p:sp>
        <p:nvSpPr>
          <p:cNvPr id="26" name="Rectangle 25">
            <a:extLst>
              <a:ext uri="{FF2B5EF4-FFF2-40B4-BE49-F238E27FC236}">
                <a16:creationId xmlns:a16="http://schemas.microsoft.com/office/drawing/2014/main" id="{93B868B6-F8A9-CCE6-2FF6-A7D8D246A3AD}"/>
              </a:ext>
            </a:extLst>
          </p:cNvPr>
          <p:cNvSpPr/>
          <p:nvPr/>
        </p:nvSpPr>
        <p:spPr>
          <a:xfrm>
            <a:off x="9361233" y="2239922"/>
            <a:ext cx="2298887" cy="46166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There is no single blockchain. Each node stores its own copy. All nodes do their best to stay in sync</a:t>
            </a:r>
            <a:r>
              <a:rPr lang="en-US" sz="800" dirty="0">
                <a:solidFill>
                  <a:schemeClr val="tx1"/>
                </a:solidFill>
              </a:rPr>
              <a:t>.</a:t>
            </a:r>
          </a:p>
        </p:txBody>
      </p:sp>
      <p:grpSp>
        <p:nvGrpSpPr>
          <p:cNvPr id="1029" name="Group 1028">
            <a:extLst>
              <a:ext uri="{FF2B5EF4-FFF2-40B4-BE49-F238E27FC236}">
                <a16:creationId xmlns:a16="http://schemas.microsoft.com/office/drawing/2014/main" id="{ADF8A4DC-6E8A-172E-41D3-5F806E880E74}"/>
              </a:ext>
            </a:extLst>
          </p:cNvPr>
          <p:cNvGrpSpPr/>
          <p:nvPr/>
        </p:nvGrpSpPr>
        <p:grpSpPr>
          <a:xfrm>
            <a:off x="3204595" y="1758578"/>
            <a:ext cx="5987795" cy="4032188"/>
            <a:chOff x="2273416" y="2127694"/>
            <a:chExt cx="5987795" cy="4032188"/>
          </a:xfrm>
        </p:grpSpPr>
        <p:grpSp>
          <p:nvGrpSpPr>
            <p:cNvPr id="21" name="Group 20">
              <a:extLst>
                <a:ext uri="{FF2B5EF4-FFF2-40B4-BE49-F238E27FC236}">
                  <a16:creationId xmlns:a16="http://schemas.microsoft.com/office/drawing/2014/main" id="{15D384D2-3527-BE5F-6F8D-C64A1F3F5797}"/>
                </a:ext>
              </a:extLst>
            </p:cNvPr>
            <p:cNvGrpSpPr/>
            <p:nvPr/>
          </p:nvGrpSpPr>
          <p:grpSpPr>
            <a:xfrm>
              <a:off x="4197104" y="2920274"/>
              <a:ext cx="751840" cy="894080"/>
              <a:chOff x="1158240" y="3291232"/>
              <a:chExt cx="751840" cy="894080"/>
            </a:xfrm>
          </p:grpSpPr>
          <p:sp>
            <p:nvSpPr>
              <p:cNvPr id="3" name="Rectangle 2">
                <a:extLst>
                  <a:ext uri="{FF2B5EF4-FFF2-40B4-BE49-F238E27FC236}">
                    <a16:creationId xmlns:a16="http://schemas.microsoft.com/office/drawing/2014/main" id="{88C9DB85-EFC7-3B76-3C03-A2A60E392294}"/>
                  </a:ext>
                </a:extLst>
              </p:cNvPr>
              <p:cNvSpPr/>
              <p:nvPr/>
            </p:nvSpPr>
            <p:spPr>
              <a:xfrm>
                <a:off x="1158240" y="3291232"/>
                <a:ext cx="751840" cy="89408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4E5A7A-3C11-E0A0-BE5C-768DA23847A9}"/>
                  </a:ext>
                </a:extLst>
              </p:cNvPr>
              <p:cNvSpPr/>
              <p:nvPr/>
            </p:nvSpPr>
            <p:spPr>
              <a:xfrm>
                <a:off x="1221892" y="3704771"/>
                <a:ext cx="630155" cy="42271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The Blockchain</a:t>
                </a:r>
              </a:p>
            </p:txBody>
          </p:sp>
          <p:sp>
            <p:nvSpPr>
              <p:cNvPr id="17" name="TextBox 16">
                <a:extLst>
                  <a:ext uri="{FF2B5EF4-FFF2-40B4-BE49-F238E27FC236}">
                    <a16:creationId xmlns:a16="http://schemas.microsoft.com/office/drawing/2014/main" id="{86A33872-53B2-7755-43E6-3E05C3758ADA}"/>
                  </a:ext>
                </a:extLst>
              </p:cNvPr>
              <p:cNvSpPr txBox="1"/>
              <p:nvPr/>
            </p:nvSpPr>
            <p:spPr>
              <a:xfrm>
                <a:off x="1217327" y="3338191"/>
                <a:ext cx="633666" cy="338554"/>
              </a:xfrm>
              <a:prstGeom prst="rect">
                <a:avLst/>
              </a:prstGeom>
              <a:noFill/>
            </p:spPr>
            <p:txBody>
              <a:bodyPr wrap="square" rtlCol="0">
                <a:spAutoFit/>
              </a:bodyPr>
              <a:lstStyle/>
              <a:p>
                <a:pPr algn="ctr"/>
                <a:r>
                  <a:rPr lang="en-US" sz="800" dirty="0"/>
                  <a:t>Digital Twin Node</a:t>
                </a:r>
              </a:p>
            </p:txBody>
          </p:sp>
        </p:grpSp>
        <p:sp>
          <p:nvSpPr>
            <p:cNvPr id="22" name="Rectangle 21">
              <a:extLst>
                <a:ext uri="{FF2B5EF4-FFF2-40B4-BE49-F238E27FC236}">
                  <a16:creationId xmlns:a16="http://schemas.microsoft.com/office/drawing/2014/main" id="{49A6A39D-DA1E-2AA4-469E-2B2EBF3DC855}"/>
                </a:ext>
              </a:extLst>
            </p:cNvPr>
            <p:cNvSpPr/>
            <p:nvPr/>
          </p:nvSpPr>
          <p:spPr>
            <a:xfrm>
              <a:off x="5151413" y="4202309"/>
              <a:ext cx="944587" cy="58018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Nodes share new blocks and transactions with each other.</a:t>
              </a:r>
            </a:p>
          </p:txBody>
        </p:sp>
        <p:sp>
          <p:nvSpPr>
            <p:cNvPr id="27" name="TextBox 26">
              <a:extLst>
                <a:ext uri="{FF2B5EF4-FFF2-40B4-BE49-F238E27FC236}">
                  <a16:creationId xmlns:a16="http://schemas.microsoft.com/office/drawing/2014/main" id="{A71FC1A0-813F-EEAD-B57D-B306DC1D50ED}"/>
                </a:ext>
              </a:extLst>
            </p:cNvPr>
            <p:cNvSpPr txBox="1"/>
            <p:nvPr/>
          </p:nvSpPr>
          <p:spPr>
            <a:xfrm>
              <a:off x="2273416" y="2127694"/>
              <a:ext cx="5987795" cy="461665"/>
            </a:xfrm>
            <a:prstGeom prst="rect">
              <a:avLst/>
            </a:prstGeom>
            <a:noFill/>
          </p:spPr>
          <p:txBody>
            <a:bodyPr wrap="square" rtlCol="0">
              <a:spAutoFit/>
            </a:bodyPr>
            <a:lstStyle/>
            <a:p>
              <a:pPr algn="ctr"/>
              <a:r>
                <a:rPr lang="en-US" sz="2400" b="1" dirty="0"/>
                <a:t>Blockchain Digital Twin Network Interactions</a:t>
              </a:r>
            </a:p>
          </p:txBody>
        </p:sp>
        <p:grpSp>
          <p:nvGrpSpPr>
            <p:cNvPr id="44" name="Group 43">
              <a:extLst>
                <a:ext uri="{FF2B5EF4-FFF2-40B4-BE49-F238E27FC236}">
                  <a16:creationId xmlns:a16="http://schemas.microsoft.com/office/drawing/2014/main" id="{01395A20-7DAB-9351-D67F-2DF62D9D2B55}"/>
                </a:ext>
              </a:extLst>
            </p:cNvPr>
            <p:cNvGrpSpPr/>
            <p:nvPr/>
          </p:nvGrpSpPr>
          <p:grpSpPr>
            <a:xfrm>
              <a:off x="3662462" y="4083653"/>
              <a:ext cx="751840" cy="894080"/>
              <a:chOff x="1158240" y="3291232"/>
              <a:chExt cx="751840" cy="894080"/>
            </a:xfrm>
          </p:grpSpPr>
          <p:sp>
            <p:nvSpPr>
              <p:cNvPr id="58" name="Rectangle 57">
                <a:extLst>
                  <a:ext uri="{FF2B5EF4-FFF2-40B4-BE49-F238E27FC236}">
                    <a16:creationId xmlns:a16="http://schemas.microsoft.com/office/drawing/2014/main" id="{F15CAC29-D552-4604-ED10-A408D99DBA63}"/>
                  </a:ext>
                </a:extLst>
              </p:cNvPr>
              <p:cNvSpPr/>
              <p:nvPr/>
            </p:nvSpPr>
            <p:spPr>
              <a:xfrm>
                <a:off x="1158240" y="3291232"/>
                <a:ext cx="751840" cy="89408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6EB11995-6827-7838-2536-618FB5018077}"/>
                  </a:ext>
                </a:extLst>
              </p:cNvPr>
              <p:cNvSpPr/>
              <p:nvPr/>
            </p:nvSpPr>
            <p:spPr>
              <a:xfrm>
                <a:off x="1221892" y="3704771"/>
                <a:ext cx="630155" cy="42271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The Blockchain</a:t>
                </a:r>
              </a:p>
            </p:txBody>
          </p:sp>
          <p:sp>
            <p:nvSpPr>
              <p:cNvPr id="60" name="TextBox 59">
                <a:extLst>
                  <a:ext uri="{FF2B5EF4-FFF2-40B4-BE49-F238E27FC236}">
                    <a16:creationId xmlns:a16="http://schemas.microsoft.com/office/drawing/2014/main" id="{4BACA3FD-1CBE-9D66-A897-75F77F9DD72B}"/>
                  </a:ext>
                </a:extLst>
              </p:cNvPr>
              <p:cNvSpPr txBox="1"/>
              <p:nvPr/>
            </p:nvSpPr>
            <p:spPr>
              <a:xfrm>
                <a:off x="1217327" y="3338191"/>
                <a:ext cx="633666" cy="338554"/>
              </a:xfrm>
              <a:prstGeom prst="rect">
                <a:avLst/>
              </a:prstGeom>
              <a:noFill/>
            </p:spPr>
            <p:txBody>
              <a:bodyPr wrap="square" rtlCol="0">
                <a:spAutoFit/>
              </a:bodyPr>
              <a:lstStyle/>
              <a:p>
                <a:pPr algn="ctr"/>
                <a:r>
                  <a:rPr lang="en-US" sz="800" dirty="0"/>
                  <a:t>Digital Twin Node</a:t>
                </a:r>
              </a:p>
            </p:txBody>
          </p:sp>
        </p:grpSp>
        <p:grpSp>
          <p:nvGrpSpPr>
            <p:cNvPr id="63" name="Group 62">
              <a:extLst>
                <a:ext uri="{FF2B5EF4-FFF2-40B4-BE49-F238E27FC236}">
                  <a16:creationId xmlns:a16="http://schemas.microsoft.com/office/drawing/2014/main" id="{110B26EF-CA9E-354E-6A8F-BBAE1C665375}"/>
                </a:ext>
              </a:extLst>
            </p:cNvPr>
            <p:cNvGrpSpPr/>
            <p:nvPr/>
          </p:nvGrpSpPr>
          <p:grpSpPr>
            <a:xfrm>
              <a:off x="6270155" y="5265802"/>
              <a:ext cx="751840" cy="894080"/>
              <a:chOff x="1158240" y="3291232"/>
              <a:chExt cx="751840" cy="894080"/>
            </a:xfrm>
          </p:grpSpPr>
          <p:sp>
            <p:nvSpPr>
              <p:cNvPr id="64" name="Rectangle 63">
                <a:extLst>
                  <a:ext uri="{FF2B5EF4-FFF2-40B4-BE49-F238E27FC236}">
                    <a16:creationId xmlns:a16="http://schemas.microsoft.com/office/drawing/2014/main" id="{CF28B9D6-F651-005A-644F-F9F72107141F}"/>
                  </a:ext>
                </a:extLst>
              </p:cNvPr>
              <p:cNvSpPr/>
              <p:nvPr/>
            </p:nvSpPr>
            <p:spPr>
              <a:xfrm>
                <a:off x="1158240" y="3291232"/>
                <a:ext cx="751840" cy="89408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E8172AF2-A375-C153-EC50-1B23B996ED86}"/>
                  </a:ext>
                </a:extLst>
              </p:cNvPr>
              <p:cNvSpPr/>
              <p:nvPr/>
            </p:nvSpPr>
            <p:spPr>
              <a:xfrm>
                <a:off x="1221892" y="3704771"/>
                <a:ext cx="630155" cy="42271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The Blockchain</a:t>
                </a:r>
              </a:p>
            </p:txBody>
          </p:sp>
          <p:sp>
            <p:nvSpPr>
              <p:cNvPr id="69" name="TextBox 68">
                <a:extLst>
                  <a:ext uri="{FF2B5EF4-FFF2-40B4-BE49-F238E27FC236}">
                    <a16:creationId xmlns:a16="http://schemas.microsoft.com/office/drawing/2014/main" id="{2FE0528E-799C-B4C7-C78D-843CA862DAAA}"/>
                  </a:ext>
                </a:extLst>
              </p:cNvPr>
              <p:cNvSpPr txBox="1"/>
              <p:nvPr/>
            </p:nvSpPr>
            <p:spPr>
              <a:xfrm>
                <a:off x="1217327" y="3338191"/>
                <a:ext cx="633666" cy="338554"/>
              </a:xfrm>
              <a:prstGeom prst="rect">
                <a:avLst/>
              </a:prstGeom>
              <a:noFill/>
            </p:spPr>
            <p:txBody>
              <a:bodyPr wrap="square" rtlCol="0">
                <a:spAutoFit/>
              </a:bodyPr>
              <a:lstStyle/>
              <a:p>
                <a:pPr algn="ctr"/>
                <a:r>
                  <a:rPr lang="en-US" sz="800" dirty="0"/>
                  <a:t>Digital Twin Node</a:t>
                </a:r>
              </a:p>
            </p:txBody>
          </p:sp>
        </p:grpSp>
        <p:grpSp>
          <p:nvGrpSpPr>
            <p:cNvPr id="71" name="Group 70">
              <a:extLst>
                <a:ext uri="{FF2B5EF4-FFF2-40B4-BE49-F238E27FC236}">
                  <a16:creationId xmlns:a16="http://schemas.microsoft.com/office/drawing/2014/main" id="{DA948177-3AC5-5D01-7B3A-E39B1951DB5B}"/>
                </a:ext>
              </a:extLst>
            </p:cNvPr>
            <p:cNvGrpSpPr/>
            <p:nvPr/>
          </p:nvGrpSpPr>
          <p:grpSpPr>
            <a:xfrm>
              <a:off x="4204692" y="5251490"/>
              <a:ext cx="751840" cy="894080"/>
              <a:chOff x="1158240" y="3291232"/>
              <a:chExt cx="751840" cy="894080"/>
            </a:xfrm>
          </p:grpSpPr>
          <p:sp>
            <p:nvSpPr>
              <p:cNvPr id="72" name="Rectangle 71">
                <a:extLst>
                  <a:ext uri="{FF2B5EF4-FFF2-40B4-BE49-F238E27FC236}">
                    <a16:creationId xmlns:a16="http://schemas.microsoft.com/office/drawing/2014/main" id="{C2FD46D5-EDB8-33C4-8813-0F9C71132955}"/>
                  </a:ext>
                </a:extLst>
              </p:cNvPr>
              <p:cNvSpPr/>
              <p:nvPr/>
            </p:nvSpPr>
            <p:spPr>
              <a:xfrm>
                <a:off x="1158240" y="3291232"/>
                <a:ext cx="751840" cy="89408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1033D9D-4B19-E24F-E627-D64C83A25EB4}"/>
                  </a:ext>
                </a:extLst>
              </p:cNvPr>
              <p:cNvSpPr/>
              <p:nvPr/>
            </p:nvSpPr>
            <p:spPr>
              <a:xfrm>
                <a:off x="1221892" y="3704771"/>
                <a:ext cx="630155" cy="42271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The Blockchain</a:t>
                </a:r>
              </a:p>
            </p:txBody>
          </p:sp>
          <p:sp>
            <p:nvSpPr>
              <p:cNvPr id="76" name="TextBox 75">
                <a:extLst>
                  <a:ext uri="{FF2B5EF4-FFF2-40B4-BE49-F238E27FC236}">
                    <a16:creationId xmlns:a16="http://schemas.microsoft.com/office/drawing/2014/main" id="{FF56CC58-BC13-2380-B82D-E41D28875F60}"/>
                  </a:ext>
                </a:extLst>
              </p:cNvPr>
              <p:cNvSpPr txBox="1"/>
              <p:nvPr/>
            </p:nvSpPr>
            <p:spPr>
              <a:xfrm>
                <a:off x="1217327" y="3338191"/>
                <a:ext cx="633666" cy="338554"/>
              </a:xfrm>
              <a:prstGeom prst="rect">
                <a:avLst/>
              </a:prstGeom>
              <a:noFill/>
            </p:spPr>
            <p:txBody>
              <a:bodyPr wrap="square" rtlCol="0">
                <a:spAutoFit/>
              </a:bodyPr>
              <a:lstStyle/>
              <a:p>
                <a:pPr algn="ctr"/>
                <a:r>
                  <a:rPr lang="en-US" sz="800" dirty="0"/>
                  <a:t>Digital Twin Node</a:t>
                </a:r>
              </a:p>
            </p:txBody>
          </p:sp>
        </p:grpSp>
        <p:grpSp>
          <p:nvGrpSpPr>
            <p:cNvPr id="78" name="Group 77">
              <a:extLst>
                <a:ext uri="{FF2B5EF4-FFF2-40B4-BE49-F238E27FC236}">
                  <a16:creationId xmlns:a16="http://schemas.microsoft.com/office/drawing/2014/main" id="{5D74D468-E653-4264-9C59-8EA19E0EB8C4}"/>
                </a:ext>
              </a:extLst>
            </p:cNvPr>
            <p:cNvGrpSpPr/>
            <p:nvPr/>
          </p:nvGrpSpPr>
          <p:grpSpPr>
            <a:xfrm>
              <a:off x="6801004" y="4117336"/>
              <a:ext cx="751840" cy="894080"/>
              <a:chOff x="1150288" y="3291232"/>
              <a:chExt cx="751840" cy="894080"/>
            </a:xfrm>
          </p:grpSpPr>
          <p:sp>
            <p:nvSpPr>
              <p:cNvPr id="79" name="Rectangle 78">
                <a:extLst>
                  <a:ext uri="{FF2B5EF4-FFF2-40B4-BE49-F238E27FC236}">
                    <a16:creationId xmlns:a16="http://schemas.microsoft.com/office/drawing/2014/main" id="{DEC493EE-4E70-9331-0546-1E013CEFC0EF}"/>
                  </a:ext>
                </a:extLst>
              </p:cNvPr>
              <p:cNvSpPr/>
              <p:nvPr/>
            </p:nvSpPr>
            <p:spPr>
              <a:xfrm>
                <a:off x="1150288" y="3291232"/>
                <a:ext cx="751840" cy="89408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5EA5A5E9-B0E9-EB1B-0F80-963E374D2AB0}"/>
                  </a:ext>
                </a:extLst>
              </p:cNvPr>
              <p:cNvSpPr/>
              <p:nvPr/>
            </p:nvSpPr>
            <p:spPr>
              <a:xfrm>
                <a:off x="1221892" y="3704771"/>
                <a:ext cx="630155" cy="42271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The Blockchain</a:t>
                </a:r>
              </a:p>
            </p:txBody>
          </p:sp>
          <p:sp>
            <p:nvSpPr>
              <p:cNvPr id="83" name="TextBox 82">
                <a:extLst>
                  <a:ext uri="{FF2B5EF4-FFF2-40B4-BE49-F238E27FC236}">
                    <a16:creationId xmlns:a16="http://schemas.microsoft.com/office/drawing/2014/main" id="{F9EE673F-7EFA-9514-1983-1F8B8B52234D}"/>
                  </a:ext>
                </a:extLst>
              </p:cNvPr>
              <p:cNvSpPr txBox="1"/>
              <p:nvPr/>
            </p:nvSpPr>
            <p:spPr>
              <a:xfrm>
                <a:off x="1217327" y="3338191"/>
                <a:ext cx="633666" cy="338554"/>
              </a:xfrm>
              <a:prstGeom prst="rect">
                <a:avLst/>
              </a:prstGeom>
              <a:noFill/>
            </p:spPr>
            <p:txBody>
              <a:bodyPr wrap="square" rtlCol="0">
                <a:spAutoFit/>
              </a:bodyPr>
              <a:lstStyle/>
              <a:p>
                <a:pPr algn="ctr"/>
                <a:r>
                  <a:rPr lang="en-US" sz="800" dirty="0"/>
                  <a:t>Digital Twin Node</a:t>
                </a:r>
              </a:p>
            </p:txBody>
          </p:sp>
        </p:grpSp>
        <p:grpSp>
          <p:nvGrpSpPr>
            <p:cNvPr id="97" name="Group 96">
              <a:extLst>
                <a:ext uri="{FF2B5EF4-FFF2-40B4-BE49-F238E27FC236}">
                  <a16:creationId xmlns:a16="http://schemas.microsoft.com/office/drawing/2014/main" id="{18FB0FDD-CA0E-501A-FBF3-95C9470A856A}"/>
                </a:ext>
              </a:extLst>
            </p:cNvPr>
            <p:cNvGrpSpPr/>
            <p:nvPr/>
          </p:nvGrpSpPr>
          <p:grpSpPr>
            <a:xfrm>
              <a:off x="6270155" y="2901374"/>
              <a:ext cx="751840" cy="894080"/>
              <a:chOff x="1158240" y="3291232"/>
              <a:chExt cx="751840" cy="894080"/>
            </a:xfrm>
          </p:grpSpPr>
          <p:sp>
            <p:nvSpPr>
              <p:cNvPr id="99" name="Rectangle 98">
                <a:extLst>
                  <a:ext uri="{FF2B5EF4-FFF2-40B4-BE49-F238E27FC236}">
                    <a16:creationId xmlns:a16="http://schemas.microsoft.com/office/drawing/2014/main" id="{86305D2E-E2BE-643D-3E9F-A1AF24EEEED7}"/>
                  </a:ext>
                </a:extLst>
              </p:cNvPr>
              <p:cNvSpPr/>
              <p:nvPr/>
            </p:nvSpPr>
            <p:spPr>
              <a:xfrm>
                <a:off x="1158240" y="3291232"/>
                <a:ext cx="751840" cy="89408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D5B0F760-4259-4C31-D480-72A693D904F8}"/>
                  </a:ext>
                </a:extLst>
              </p:cNvPr>
              <p:cNvSpPr/>
              <p:nvPr/>
            </p:nvSpPr>
            <p:spPr>
              <a:xfrm>
                <a:off x="1221892" y="3704771"/>
                <a:ext cx="630155" cy="42271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The Blockchain</a:t>
                </a:r>
              </a:p>
            </p:txBody>
          </p:sp>
          <p:sp>
            <p:nvSpPr>
              <p:cNvPr id="101" name="TextBox 100">
                <a:extLst>
                  <a:ext uri="{FF2B5EF4-FFF2-40B4-BE49-F238E27FC236}">
                    <a16:creationId xmlns:a16="http://schemas.microsoft.com/office/drawing/2014/main" id="{A897495B-33F8-012B-BDD1-07A583D118C1}"/>
                  </a:ext>
                </a:extLst>
              </p:cNvPr>
              <p:cNvSpPr txBox="1"/>
              <p:nvPr/>
            </p:nvSpPr>
            <p:spPr>
              <a:xfrm>
                <a:off x="1217327" y="3338191"/>
                <a:ext cx="633666" cy="338554"/>
              </a:xfrm>
              <a:prstGeom prst="rect">
                <a:avLst/>
              </a:prstGeom>
              <a:noFill/>
            </p:spPr>
            <p:txBody>
              <a:bodyPr wrap="square" rtlCol="0">
                <a:spAutoFit/>
              </a:bodyPr>
              <a:lstStyle/>
              <a:p>
                <a:pPr algn="ctr"/>
                <a:r>
                  <a:rPr lang="en-US" sz="800" dirty="0"/>
                  <a:t>Digital Twin Node</a:t>
                </a:r>
              </a:p>
            </p:txBody>
          </p:sp>
        </p:grpSp>
        <p:cxnSp>
          <p:nvCxnSpPr>
            <p:cNvPr id="103" name="Straight Arrow Connector 102">
              <a:extLst>
                <a:ext uri="{FF2B5EF4-FFF2-40B4-BE49-F238E27FC236}">
                  <a16:creationId xmlns:a16="http://schemas.microsoft.com/office/drawing/2014/main" id="{ED345907-F34F-0B82-BC89-3B55B21F99F2}"/>
                </a:ext>
              </a:extLst>
            </p:cNvPr>
            <p:cNvCxnSpPr>
              <a:cxnSpLocks/>
            </p:cNvCxnSpPr>
            <p:nvPr/>
          </p:nvCxnSpPr>
          <p:spPr>
            <a:xfrm flipH="1">
              <a:off x="4422522" y="4496082"/>
              <a:ext cx="722300" cy="0"/>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409BA882-8D4B-12A9-AD27-52F3C296D95F}"/>
                </a:ext>
              </a:extLst>
            </p:cNvPr>
            <p:cNvCxnSpPr>
              <a:cxnSpLocks/>
            </p:cNvCxnSpPr>
            <p:nvPr/>
          </p:nvCxnSpPr>
          <p:spPr>
            <a:xfrm flipH="1">
              <a:off x="6086656" y="4479896"/>
              <a:ext cx="722300" cy="0"/>
            </a:xfrm>
            <a:prstGeom prst="straightConnector1">
              <a:avLst/>
            </a:prstGeom>
            <a:ln w="38100">
              <a:solidFill>
                <a:schemeClr val="bg1">
                  <a:lumMod val="65000"/>
                </a:schemeClr>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F3097421-8F5A-ED0C-744C-9BF2C0511FCB}"/>
                </a:ext>
              </a:extLst>
            </p:cNvPr>
            <p:cNvCxnSpPr>
              <a:cxnSpLocks/>
              <a:stCxn id="22" idx="0"/>
            </p:cNvCxnSpPr>
            <p:nvPr/>
          </p:nvCxnSpPr>
          <p:spPr>
            <a:xfrm flipH="1" flipV="1">
              <a:off x="4945151" y="3814354"/>
              <a:ext cx="678556" cy="387955"/>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5FE02F76-63E6-2C97-07DB-AD83AD548895}"/>
                </a:ext>
              </a:extLst>
            </p:cNvPr>
            <p:cNvCxnSpPr>
              <a:cxnSpLocks/>
              <a:stCxn id="22" idx="0"/>
            </p:cNvCxnSpPr>
            <p:nvPr/>
          </p:nvCxnSpPr>
          <p:spPr>
            <a:xfrm flipV="1">
              <a:off x="5623707" y="3784428"/>
              <a:ext cx="660605" cy="417881"/>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7C8F8FAA-EB1A-E0D2-E5FE-6516BD6836F5}"/>
                </a:ext>
              </a:extLst>
            </p:cNvPr>
            <p:cNvCxnSpPr>
              <a:cxnSpLocks/>
              <a:stCxn id="22" idx="2"/>
            </p:cNvCxnSpPr>
            <p:nvPr/>
          </p:nvCxnSpPr>
          <p:spPr>
            <a:xfrm flipH="1">
              <a:off x="4945151" y="4782495"/>
              <a:ext cx="678556" cy="480377"/>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19948336-0E42-B5C6-6FC9-85FF60B8C5EC}"/>
                </a:ext>
              </a:extLst>
            </p:cNvPr>
            <p:cNvCxnSpPr>
              <a:cxnSpLocks/>
              <a:stCxn id="22" idx="2"/>
            </p:cNvCxnSpPr>
            <p:nvPr/>
          </p:nvCxnSpPr>
          <p:spPr>
            <a:xfrm>
              <a:off x="5623707" y="4782495"/>
              <a:ext cx="674762" cy="480377"/>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32" name="TextBox 1031">
            <a:extLst>
              <a:ext uri="{FF2B5EF4-FFF2-40B4-BE49-F238E27FC236}">
                <a16:creationId xmlns:a16="http://schemas.microsoft.com/office/drawing/2014/main" id="{1C1683A5-C200-2B1F-6D8D-255056E826C9}"/>
              </a:ext>
            </a:extLst>
          </p:cNvPr>
          <p:cNvSpPr txBox="1"/>
          <p:nvPr/>
        </p:nvSpPr>
        <p:spPr>
          <a:xfrm>
            <a:off x="8857492" y="2927101"/>
            <a:ext cx="2611530" cy="600164"/>
          </a:xfrm>
          <a:prstGeom prst="rect">
            <a:avLst/>
          </a:prstGeom>
          <a:noFill/>
          <a:ln>
            <a:solidFill>
              <a:schemeClr val="bg1">
                <a:lumMod val="65000"/>
              </a:schemeClr>
            </a:solidFill>
          </a:ln>
        </p:spPr>
        <p:txBody>
          <a:bodyPr wrap="square" rtlCol="0">
            <a:spAutoFit/>
          </a:bodyPr>
          <a:lstStyle/>
          <a:p>
            <a:pPr algn="ctr"/>
            <a:r>
              <a:rPr lang="en-US" sz="1100" b="1" dirty="0"/>
              <a:t>Company n+2</a:t>
            </a:r>
          </a:p>
          <a:p>
            <a:pPr algn="ctr"/>
            <a:r>
              <a:rPr lang="en-US" sz="1100" b="1" dirty="0">
                <a:solidFill>
                  <a:srgbClr val="FF0000"/>
                </a:solidFill>
              </a:rPr>
              <a:t>No Blockchain node</a:t>
            </a:r>
          </a:p>
          <a:p>
            <a:pPr algn="ctr"/>
            <a:r>
              <a:rPr lang="en-US" sz="1100" b="1" dirty="0">
                <a:solidFill>
                  <a:schemeClr val="tx2">
                    <a:lumMod val="75000"/>
                    <a:lumOff val="25000"/>
                  </a:schemeClr>
                </a:solidFill>
              </a:rPr>
              <a:t>Send emission data to Company n+1 </a:t>
            </a:r>
          </a:p>
        </p:txBody>
      </p:sp>
      <p:sp>
        <p:nvSpPr>
          <p:cNvPr id="1034" name="TextBox 1033">
            <a:extLst>
              <a:ext uri="{FF2B5EF4-FFF2-40B4-BE49-F238E27FC236}">
                <a16:creationId xmlns:a16="http://schemas.microsoft.com/office/drawing/2014/main" id="{6D4DF0A2-6EEC-10B5-81FD-11202CF2DA69}"/>
              </a:ext>
            </a:extLst>
          </p:cNvPr>
          <p:cNvSpPr txBox="1"/>
          <p:nvPr/>
        </p:nvSpPr>
        <p:spPr>
          <a:xfrm>
            <a:off x="7103472" y="4689585"/>
            <a:ext cx="1004454" cy="261610"/>
          </a:xfrm>
          <a:prstGeom prst="rect">
            <a:avLst/>
          </a:prstGeom>
          <a:noFill/>
        </p:spPr>
        <p:txBody>
          <a:bodyPr wrap="square" rtlCol="0">
            <a:spAutoFit/>
          </a:bodyPr>
          <a:lstStyle/>
          <a:p>
            <a:pPr algn="ctr"/>
            <a:r>
              <a:rPr lang="en-US" sz="1100" b="1" dirty="0"/>
              <a:t>Company n+3</a:t>
            </a:r>
          </a:p>
        </p:txBody>
      </p:sp>
      <p:sp>
        <p:nvSpPr>
          <p:cNvPr id="1036" name="TextBox 1035">
            <a:extLst>
              <a:ext uri="{FF2B5EF4-FFF2-40B4-BE49-F238E27FC236}">
                <a16:creationId xmlns:a16="http://schemas.microsoft.com/office/drawing/2014/main" id="{43B34574-1B57-5393-E646-721630E6645C}"/>
              </a:ext>
            </a:extLst>
          </p:cNvPr>
          <p:cNvSpPr txBox="1"/>
          <p:nvPr/>
        </p:nvSpPr>
        <p:spPr>
          <a:xfrm>
            <a:off x="7577254" y="3525458"/>
            <a:ext cx="1004454" cy="261610"/>
          </a:xfrm>
          <a:prstGeom prst="rect">
            <a:avLst/>
          </a:prstGeom>
          <a:noFill/>
        </p:spPr>
        <p:txBody>
          <a:bodyPr wrap="square" rtlCol="0">
            <a:spAutoFit/>
          </a:bodyPr>
          <a:lstStyle/>
          <a:p>
            <a:pPr algn="ctr"/>
            <a:r>
              <a:rPr lang="en-US" sz="1100" b="1" dirty="0"/>
              <a:t>Company n+1</a:t>
            </a:r>
          </a:p>
        </p:txBody>
      </p:sp>
      <p:cxnSp>
        <p:nvCxnSpPr>
          <p:cNvPr id="1040" name="Connector: Elbow 1039">
            <a:extLst>
              <a:ext uri="{FF2B5EF4-FFF2-40B4-BE49-F238E27FC236}">
                <a16:creationId xmlns:a16="http://schemas.microsoft.com/office/drawing/2014/main" id="{56448267-AF2B-9785-B09A-EE43761ED113}"/>
              </a:ext>
            </a:extLst>
          </p:cNvPr>
          <p:cNvCxnSpPr>
            <a:cxnSpLocks/>
            <a:stCxn id="1032" idx="2"/>
          </p:cNvCxnSpPr>
          <p:nvPr/>
        </p:nvCxnSpPr>
        <p:spPr>
          <a:xfrm rot="5400000">
            <a:off x="8993838" y="3025840"/>
            <a:ext cx="667995" cy="1670845"/>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44" name="TextBox 1043">
            <a:extLst>
              <a:ext uri="{FF2B5EF4-FFF2-40B4-BE49-F238E27FC236}">
                <a16:creationId xmlns:a16="http://schemas.microsoft.com/office/drawing/2014/main" id="{BB138D02-C272-4969-ADE7-95220DFC43FC}"/>
              </a:ext>
            </a:extLst>
          </p:cNvPr>
          <p:cNvSpPr txBox="1"/>
          <p:nvPr/>
        </p:nvSpPr>
        <p:spPr>
          <a:xfrm>
            <a:off x="8559451" y="3973048"/>
            <a:ext cx="1615289" cy="261610"/>
          </a:xfrm>
          <a:prstGeom prst="rect">
            <a:avLst/>
          </a:prstGeom>
          <a:noFill/>
        </p:spPr>
        <p:txBody>
          <a:bodyPr wrap="square" rtlCol="0">
            <a:spAutoFit/>
          </a:bodyPr>
          <a:lstStyle/>
          <a:p>
            <a:pPr algn="ctr"/>
            <a:r>
              <a:rPr lang="en-US" sz="1100" b="1" dirty="0"/>
              <a:t>real-time or batch data</a:t>
            </a:r>
          </a:p>
        </p:txBody>
      </p:sp>
      <p:sp>
        <p:nvSpPr>
          <p:cNvPr id="1045" name="TextBox 1044">
            <a:extLst>
              <a:ext uri="{FF2B5EF4-FFF2-40B4-BE49-F238E27FC236}">
                <a16:creationId xmlns:a16="http://schemas.microsoft.com/office/drawing/2014/main" id="{C553A0F8-D443-7229-19B9-43ED143FBBF4}"/>
              </a:ext>
            </a:extLst>
          </p:cNvPr>
          <p:cNvSpPr txBox="1"/>
          <p:nvPr/>
        </p:nvSpPr>
        <p:spPr>
          <a:xfrm>
            <a:off x="976745" y="4274886"/>
            <a:ext cx="2985066" cy="600164"/>
          </a:xfrm>
          <a:prstGeom prst="rect">
            <a:avLst/>
          </a:prstGeom>
          <a:noFill/>
          <a:ln>
            <a:solidFill>
              <a:schemeClr val="bg1">
                <a:lumMod val="65000"/>
              </a:schemeClr>
            </a:solidFill>
          </a:ln>
        </p:spPr>
        <p:txBody>
          <a:bodyPr wrap="square" rtlCol="0">
            <a:spAutoFit/>
          </a:bodyPr>
          <a:lstStyle/>
          <a:p>
            <a:pPr algn="ctr"/>
            <a:r>
              <a:rPr lang="en-US" sz="1100" b="1" dirty="0"/>
              <a:t>FROM OTHER CARBON ACCOUNTING SYSTEM</a:t>
            </a:r>
          </a:p>
          <a:p>
            <a:pPr algn="ctr"/>
            <a:r>
              <a:rPr lang="en-US" sz="1100" b="1" dirty="0">
                <a:solidFill>
                  <a:srgbClr val="FF0000"/>
                </a:solidFill>
              </a:rPr>
              <a:t>Feed from other carbon accounting platform</a:t>
            </a:r>
          </a:p>
          <a:p>
            <a:pPr algn="ctr"/>
            <a:r>
              <a:rPr lang="en-US" sz="1100" b="1" dirty="0">
                <a:solidFill>
                  <a:schemeClr val="tx2">
                    <a:lumMod val="75000"/>
                    <a:lumOff val="25000"/>
                  </a:schemeClr>
                </a:solidFill>
              </a:rPr>
              <a:t>Receive audited emissions (example) </a:t>
            </a:r>
          </a:p>
        </p:txBody>
      </p:sp>
      <p:sp>
        <p:nvSpPr>
          <p:cNvPr id="1046" name="TextBox 1045">
            <a:extLst>
              <a:ext uri="{FF2B5EF4-FFF2-40B4-BE49-F238E27FC236}">
                <a16:creationId xmlns:a16="http://schemas.microsoft.com/office/drawing/2014/main" id="{E1B6855A-2272-9C1D-1BD4-6F7DC8FD13C5}"/>
              </a:ext>
            </a:extLst>
          </p:cNvPr>
          <p:cNvSpPr txBox="1"/>
          <p:nvPr/>
        </p:nvSpPr>
        <p:spPr>
          <a:xfrm>
            <a:off x="4899204" y="4642522"/>
            <a:ext cx="1004454" cy="261610"/>
          </a:xfrm>
          <a:prstGeom prst="rect">
            <a:avLst/>
          </a:prstGeom>
          <a:noFill/>
        </p:spPr>
        <p:txBody>
          <a:bodyPr wrap="square" rtlCol="0">
            <a:spAutoFit/>
          </a:bodyPr>
          <a:lstStyle/>
          <a:p>
            <a:pPr algn="ctr"/>
            <a:r>
              <a:rPr lang="en-US" sz="1100" b="1" dirty="0"/>
              <a:t>Company n+4</a:t>
            </a:r>
          </a:p>
        </p:txBody>
      </p:sp>
      <p:cxnSp>
        <p:nvCxnSpPr>
          <p:cNvPr id="1048" name="Connector: Elbow 1047">
            <a:extLst>
              <a:ext uri="{FF2B5EF4-FFF2-40B4-BE49-F238E27FC236}">
                <a16:creationId xmlns:a16="http://schemas.microsoft.com/office/drawing/2014/main" id="{05E5F9F1-8D8F-AEC7-CED5-54F667C22F07}"/>
              </a:ext>
            </a:extLst>
          </p:cNvPr>
          <p:cNvCxnSpPr>
            <a:cxnSpLocks/>
            <a:stCxn id="1045" idx="2"/>
            <a:endCxn id="72" idx="1"/>
          </p:cNvCxnSpPr>
          <p:nvPr/>
        </p:nvCxnSpPr>
        <p:spPr>
          <a:xfrm rot="16200000" flipH="1">
            <a:off x="3575392" y="3768935"/>
            <a:ext cx="454364" cy="2666593"/>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49" name="TextBox 1048">
            <a:extLst>
              <a:ext uri="{FF2B5EF4-FFF2-40B4-BE49-F238E27FC236}">
                <a16:creationId xmlns:a16="http://schemas.microsoft.com/office/drawing/2014/main" id="{8C73565A-3E6D-DBBE-093C-35C59BF9B504}"/>
              </a:ext>
            </a:extLst>
          </p:cNvPr>
          <p:cNvSpPr txBox="1"/>
          <p:nvPr/>
        </p:nvSpPr>
        <p:spPr>
          <a:xfrm>
            <a:off x="2940417" y="5091453"/>
            <a:ext cx="1615289" cy="261610"/>
          </a:xfrm>
          <a:prstGeom prst="rect">
            <a:avLst/>
          </a:prstGeom>
          <a:noFill/>
        </p:spPr>
        <p:txBody>
          <a:bodyPr wrap="square" rtlCol="0">
            <a:spAutoFit/>
          </a:bodyPr>
          <a:lstStyle/>
          <a:p>
            <a:pPr algn="ctr"/>
            <a:r>
              <a:rPr lang="en-US" sz="1100" b="1" dirty="0"/>
              <a:t>real-time or batch data</a:t>
            </a:r>
          </a:p>
        </p:txBody>
      </p:sp>
      <p:sp>
        <p:nvSpPr>
          <p:cNvPr id="1050" name="TextBox 1049">
            <a:extLst>
              <a:ext uri="{FF2B5EF4-FFF2-40B4-BE49-F238E27FC236}">
                <a16:creationId xmlns:a16="http://schemas.microsoft.com/office/drawing/2014/main" id="{09C8CF24-B87A-A3E4-3ADB-2679FB590543}"/>
              </a:ext>
            </a:extLst>
          </p:cNvPr>
          <p:cNvSpPr txBox="1"/>
          <p:nvPr/>
        </p:nvSpPr>
        <p:spPr>
          <a:xfrm>
            <a:off x="4437553" y="3476991"/>
            <a:ext cx="1004454" cy="261610"/>
          </a:xfrm>
          <a:prstGeom prst="rect">
            <a:avLst/>
          </a:prstGeom>
          <a:noFill/>
        </p:spPr>
        <p:txBody>
          <a:bodyPr wrap="square" rtlCol="0">
            <a:spAutoFit/>
          </a:bodyPr>
          <a:lstStyle/>
          <a:p>
            <a:pPr algn="ctr"/>
            <a:r>
              <a:rPr lang="en-US" sz="1100" b="1" dirty="0"/>
              <a:t>Company n+6</a:t>
            </a:r>
          </a:p>
        </p:txBody>
      </p:sp>
      <p:sp>
        <p:nvSpPr>
          <p:cNvPr id="1051" name="TextBox 1050">
            <a:extLst>
              <a:ext uri="{FF2B5EF4-FFF2-40B4-BE49-F238E27FC236}">
                <a16:creationId xmlns:a16="http://schemas.microsoft.com/office/drawing/2014/main" id="{893F414C-D2B5-C180-26E0-9E46A63F7F06}"/>
              </a:ext>
            </a:extLst>
          </p:cNvPr>
          <p:cNvSpPr txBox="1"/>
          <p:nvPr/>
        </p:nvSpPr>
        <p:spPr>
          <a:xfrm>
            <a:off x="4966724" y="2321400"/>
            <a:ext cx="1004454" cy="261610"/>
          </a:xfrm>
          <a:prstGeom prst="rect">
            <a:avLst/>
          </a:prstGeom>
          <a:noFill/>
        </p:spPr>
        <p:txBody>
          <a:bodyPr wrap="square" rtlCol="0">
            <a:spAutoFit/>
          </a:bodyPr>
          <a:lstStyle/>
          <a:p>
            <a:pPr algn="ctr"/>
            <a:r>
              <a:rPr lang="en-US" sz="1100" b="1" dirty="0"/>
              <a:t>Company n+7</a:t>
            </a:r>
          </a:p>
        </p:txBody>
      </p:sp>
      <p:sp>
        <p:nvSpPr>
          <p:cNvPr id="1052" name="TextBox 1051">
            <a:extLst>
              <a:ext uri="{FF2B5EF4-FFF2-40B4-BE49-F238E27FC236}">
                <a16:creationId xmlns:a16="http://schemas.microsoft.com/office/drawing/2014/main" id="{6E469DBD-8BB7-5F87-A494-812A298176AB}"/>
              </a:ext>
            </a:extLst>
          </p:cNvPr>
          <p:cNvSpPr txBox="1"/>
          <p:nvPr/>
        </p:nvSpPr>
        <p:spPr>
          <a:xfrm>
            <a:off x="7017835" y="2306390"/>
            <a:ext cx="1004454" cy="261610"/>
          </a:xfrm>
          <a:prstGeom prst="rect">
            <a:avLst/>
          </a:prstGeom>
          <a:noFill/>
        </p:spPr>
        <p:txBody>
          <a:bodyPr wrap="square" rtlCol="0">
            <a:spAutoFit/>
          </a:bodyPr>
          <a:lstStyle/>
          <a:p>
            <a:pPr algn="ctr"/>
            <a:r>
              <a:rPr lang="en-US" sz="1100" b="1" dirty="0"/>
              <a:t>Company n</a:t>
            </a:r>
          </a:p>
        </p:txBody>
      </p:sp>
      <p:sp>
        <p:nvSpPr>
          <p:cNvPr id="1054" name="Rectangle 1053">
            <a:extLst>
              <a:ext uri="{FF2B5EF4-FFF2-40B4-BE49-F238E27FC236}">
                <a16:creationId xmlns:a16="http://schemas.microsoft.com/office/drawing/2014/main" id="{BEE485F5-6A0C-73CB-37C9-C9A90DE043A1}"/>
              </a:ext>
            </a:extLst>
          </p:cNvPr>
          <p:cNvSpPr/>
          <p:nvPr/>
        </p:nvSpPr>
        <p:spPr>
          <a:xfrm>
            <a:off x="74593" y="6249902"/>
            <a:ext cx="11997165" cy="542775"/>
          </a:xfrm>
          <a:prstGeom prst="rect">
            <a:avLst/>
          </a:prstGeom>
          <a:solidFill>
            <a:srgbClr val="FFC000">
              <a:alpha val="66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From any blockchain node in the network, the GHG emissions generated in the entire supply chain can be observed in real-time. </a:t>
            </a:r>
          </a:p>
        </p:txBody>
      </p:sp>
      <p:sp>
        <p:nvSpPr>
          <p:cNvPr id="1055" name="Rectangle 1054">
            <a:extLst>
              <a:ext uri="{FF2B5EF4-FFF2-40B4-BE49-F238E27FC236}">
                <a16:creationId xmlns:a16="http://schemas.microsoft.com/office/drawing/2014/main" id="{06506D57-2083-BD9A-8898-7156795222CF}"/>
              </a:ext>
            </a:extLst>
          </p:cNvPr>
          <p:cNvSpPr/>
          <p:nvPr/>
        </p:nvSpPr>
        <p:spPr>
          <a:xfrm>
            <a:off x="8367537" y="5009568"/>
            <a:ext cx="3602352" cy="1094930"/>
          </a:xfrm>
          <a:prstGeom prst="rect">
            <a:avLst/>
          </a:prstGeom>
          <a:solidFill>
            <a:schemeClr val="accent1">
              <a:lumMod val="60000"/>
              <a:lumOff val="40000"/>
              <a:alpha val="4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2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2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100" b="1" i="0" u="none" strike="noStrike" cap="none" normalizeH="0" baseline="0" dirty="0">
                <a:ln>
                  <a:noFill/>
                </a:ln>
                <a:solidFill>
                  <a:schemeClr val="tx1"/>
                </a:solidFill>
                <a:effectLst/>
                <a:latin typeface="Arial" panose="020B0604020202020204" pitchFamily="34" charset="0"/>
              </a:rPr>
              <a:t>Creator Transaction Field - </a:t>
            </a:r>
            <a:r>
              <a:rPr kumimoji="0" lang="en-US" altLang="en-US" sz="1100" b="0" i="0" u="none" strike="noStrike" cap="none" normalizeH="0" baseline="0" dirty="0">
                <a:ln>
                  <a:noFill/>
                </a:ln>
                <a:solidFill>
                  <a:schemeClr val="tx1"/>
                </a:solidFill>
                <a:effectLst/>
                <a:latin typeface="Arial" panose="020B0604020202020204" pitchFamily="34" charset="0"/>
              </a:rPr>
              <a:t>The identity of the entity (user or client application) that submitted the transaction.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It is used to authenticate and authorize the transaction using digital certificates tied to the submitter's identity. </a:t>
            </a:r>
          </a:p>
          <a:p>
            <a:pPr marL="0" marR="0" lvl="0" indent="0" algn="l" defTabSz="914400" rtl="0" eaLnBrk="0" fontAlgn="base" latinLnBrk="0" hangingPunct="0">
              <a:lnSpc>
                <a:spcPct val="100000"/>
              </a:lnSpc>
              <a:spcBef>
                <a:spcPct val="0"/>
              </a:spcBef>
              <a:spcAft>
                <a:spcPct val="0"/>
              </a:spcAft>
              <a:buClrTx/>
              <a:buSzTx/>
              <a:tabLst/>
            </a:pPr>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dirty="0">
              <a:solidFill>
                <a:schemeClr val="tx1"/>
              </a:solidFill>
            </a:endParaRPr>
          </a:p>
        </p:txBody>
      </p:sp>
      <p:sp>
        <p:nvSpPr>
          <p:cNvPr id="4" name="TextBox 3">
            <a:extLst>
              <a:ext uri="{FF2B5EF4-FFF2-40B4-BE49-F238E27FC236}">
                <a16:creationId xmlns:a16="http://schemas.microsoft.com/office/drawing/2014/main" id="{FDFFF58D-D392-0481-C6C2-8C153E7021CB}"/>
              </a:ext>
            </a:extLst>
          </p:cNvPr>
          <p:cNvSpPr txBox="1"/>
          <p:nvPr/>
        </p:nvSpPr>
        <p:spPr>
          <a:xfrm>
            <a:off x="3788707" y="2770740"/>
            <a:ext cx="870515" cy="261610"/>
          </a:xfrm>
          <a:prstGeom prst="rect">
            <a:avLst/>
          </a:prstGeom>
          <a:noFill/>
          <a:ln>
            <a:solidFill>
              <a:schemeClr val="accent1"/>
            </a:solidFill>
          </a:ln>
        </p:spPr>
        <p:txBody>
          <a:bodyPr wrap="square" rtlCol="0">
            <a:spAutoFit/>
          </a:bodyPr>
          <a:lstStyle/>
          <a:p>
            <a:pPr algn="ctr"/>
            <a:r>
              <a:rPr lang="en-US" sz="1100" b="1" dirty="0">
                <a:solidFill>
                  <a:srgbClr val="FF0000"/>
                </a:solidFill>
              </a:rPr>
              <a:t>IoT stream</a:t>
            </a:r>
          </a:p>
        </p:txBody>
      </p:sp>
      <p:cxnSp>
        <p:nvCxnSpPr>
          <p:cNvPr id="6" name="Straight Arrow Connector 5">
            <a:extLst>
              <a:ext uri="{FF2B5EF4-FFF2-40B4-BE49-F238E27FC236}">
                <a16:creationId xmlns:a16="http://schemas.microsoft.com/office/drawing/2014/main" id="{78B0ECDD-8102-2BC7-B00B-F41553545473}"/>
              </a:ext>
            </a:extLst>
          </p:cNvPr>
          <p:cNvCxnSpPr>
            <a:stCxn id="4" idx="3"/>
          </p:cNvCxnSpPr>
          <p:nvPr/>
        </p:nvCxnSpPr>
        <p:spPr>
          <a:xfrm>
            <a:off x="4659222" y="2901545"/>
            <a:ext cx="4690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4ECD0D2-4805-E3BE-1A78-00A8E55150FC}"/>
              </a:ext>
            </a:extLst>
          </p:cNvPr>
          <p:cNvSpPr txBox="1"/>
          <p:nvPr/>
        </p:nvSpPr>
        <p:spPr>
          <a:xfrm>
            <a:off x="3407211" y="3798017"/>
            <a:ext cx="870515" cy="261610"/>
          </a:xfrm>
          <a:prstGeom prst="rect">
            <a:avLst/>
          </a:prstGeom>
          <a:noFill/>
          <a:ln>
            <a:solidFill>
              <a:schemeClr val="accent1"/>
            </a:solidFill>
          </a:ln>
        </p:spPr>
        <p:txBody>
          <a:bodyPr wrap="square" rtlCol="0">
            <a:spAutoFit/>
          </a:bodyPr>
          <a:lstStyle/>
          <a:p>
            <a:pPr algn="ctr"/>
            <a:r>
              <a:rPr lang="en-US" sz="1100" b="1" dirty="0">
                <a:solidFill>
                  <a:srgbClr val="FF0000"/>
                </a:solidFill>
              </a:rPr>
              <a:t>IoT stream</a:t>
            </a:r>
          </a:p>
        </p:txBody>
      </p:sp>
      <p:cxnSp>
        <p:nvCxnSpPr>
          <p:cNvPr id="9" name="Straight Arrow Connector 8">
            <a:extLst>
              <a:ext uri="{FF2B5EF4-FFF2-40B4-BE49-F238E27FC236}">
                <a16:creationId xmlns:a16="http://schemas.microsoft.com/office/drawing/2014/main" id="{28EEDC49-B186-EE80-0883-8642C964E272}"/>
              </a:ext>
            </a:extLst>
          </p:cNvPr>
          <p:cNvCxnSpPr>
            <a:cxnSpLocks/>
            <a:stCxn id="8" idx="3"/>
          </p:cNvCxnSpPr>
          <p:nvPr/>
        </p:nvCxnSpPr>
        <p:spPr>
          <a:xfrm>
            <a:off x="4277726" y="3928822"/>
            <a:ext cx="309167" cy="1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B36F366-6D9D-1252-963A-7A38B0DC1910}"/>
              </a:ext>
            </a:extLst>
          </p:cNvPr>
          <p:cNvSpPr txBox="1"/>
          <p:nvPr/>
        </p:nvSpPr>
        <p:spPr>
          <a:xfrm>
            <a:off x="8146450" y="2417769"/>
            <a:ext cx="870515" cy="261610"/>
          </a:xfrm>
          <a:prstGeom prst="rect">
            <a:avLst/>
          </a:prstGeom>
          <a:noFill/>
          <a:ln>
            <a:solidFill>
              <a:schemeClr val="accent1"/>
            </a:solidFill>
          </a:ln>
        </p:spPr>
        <p:txBody>
          <a:bodyPr wrap="square" rtlCol="0">
            <a:spAutoFit/>
          </a:bodyPr>
          <a:lstStyle/>
          <a:p>
            <a:pPr algn="ctr"/>
            <a:r>
              <a:rPr lang="en-US" sz="1100" b="1" dirty="0">
                <a:solidFill>
                  <a:srgbClr val="FF0000"/>
                </a:solidFill>
              </a:rPr>
              <a:t>IoT stream</a:t>
            </a:r>
          </a:p>
        </p:txBody>
      </p:sp>
      <p:cxnSp>
        <p:nvCxnSpPr>
          <p:cNvPr id="16" name="Connector: Elbow 15">
            <a:extLst>
              <a:ext uri="{FF2B5EF4-FFF2-40B4-BE49-F238E27FC236}">
                <a16:creationId xmlns:a16="http://schemas.microsoft.com/office/drawing/2014/main" id="{971EDF34-C64C-CBB7-E03A-AC8ED8E62417}"/>
              </a:ext>
            </a:extLst>
          </p:cNvPr>
          <p:cNvCxnSpPr>
            <a:stCxn id="13" idx="2"/>
            <a:endCxn id="99" idx="3"/>
          </p:cNvCxnSpPr>
          <p:nvPr/>
        </p:nvCxnSpPr>
        <p:spPr>
          <a:xfrm rot="5400000">
            <a:off x="8117482" y="2515071"/>
            <a:ext cx="299919" cy="62853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CCD97C2-FC8E-1374-2BF5-28244F7B8A9E}"/>
              </a:ext>
            </a:extLst>
          </p:cNvPr>
          <p:cNvSpPr txBox="1"/>
          <p:nvPr/>
        </p:nvSpPr>
        <p:spPr>
          <a:xfrm>
            <a:off x="6232957" y="5882373"/>
            <a:ext cx="870515" cy="261610"/>
          </a:xfrm>
          <a:prstGeom prst="rect">
            <a:avLst/>
          </a:prstGeom>
          <a:noFill/>
          <a:ln>
            <a:solidFill>
              <a:schemeClr val="accent1"/>
            </a:solidFill>
          </a:ln>
        </p:spPr>
        <p:txBody>
          <a:bodyPr wrap="square" rtlCol="0">
            <a:spAutoFit/>
          </a:bodyPr>
          <a:lstStyle/>
          <a:p>
            <a:pPr algn="ctr"/>
            <a:r>
              <a:rPr lang="en-US" sz="1100" b="1" dirty="0">
                <a:solidFill>
                  <a:srgbClr val="FF0000"/>
                </a:solidFill>
              </a:rPr>
              <a:t>IoT stream</a:t>
            </a:r>
          </a:p>
        </p:txBody>
      </p:sp>
      <p:cxnSp>
        <p:nvCxnSpPr>
          <p:cNvPr id="23" name="Connector: Elbow 22">
            <a:extLst>
              <a:ext uri="{FF2B5EF4-FFF2-40B4-BE49-F238E27FC236}">
                <a16:creationId xmlns:a16="http://schemas.microsoft.com/office/drawing/2014/main" id="{C063CCAD-744A-B109-BA60-D10EDE09F441}"/>
              </a:ext>
            </a:extLst>
          </p:cNvPr>
          <p:cNvCxnSpPr>
            <a:stCxn id="18" idx="0"/>
            <a:endCxn id="64" idx="1"/>
          </p:cNvCxnSpPr>
          <p:nvPr/>
        </p:nvCxnSpPr>
        <p:spPr>
          <a:xfrm rot="5400000" flipH="1" flipV="1">
            <a:off x="6665451" y="5346491"/>
            <a:ext cx="538647" cy="5331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AB43324-7402-79FA-6B45-40E7D988D585}"/>
              </a:ext>
            </a:extLst>
          </p:cNvPr>
          <p:cNvSpPr txBox="1"/>
          <p:nvPr/>
        </p:nvSpPr>
        <p:spPr>
          <a:xfrm>
            <a:off x="9000715" y="4308535"/>
            <a:ext cx="2985066" cy="600164"/>
          </a:xfrm>
          <a:prstGeom prst="rect">
            <a:avLst/>
          </a:prstGeom>
          <a:noFill/>
          <a:ln>
            <a:solidFill>
              <a:schemeClr val="bg1">
                <a:lumMod val="65000"/>
              </a:schemeClr>
            </a:solidFill>
          </a:ln>
        </p:spPr>
        <p:txBody>
          <a:bodyPr wrap="square" rtlCol="0">
            <a:spAutoFit/>
          </a:bodyPr>
          <a:lstStyle/>
          <a:p>
            <a:pPr algn="ctr"/>
            <a:r>
              <a:rPr lang="en-US" sz="1100" b="1" dirty="0"/>
              <a:t>TO OTHER CARBON ACCOUNTING SYSTEM</a:t>
            </a:r>
          </a:p>
          <a:p>
            <a:pPr algn="ctr"/>
            <a:r>
              <a:rPr lang="en-US" sz="1100" b="1" dirty="0">
                <a:solidFill>
                  <a:srgbClr val="FF0000"/>
                </a:solidFill>
              </a:rPr>
              <a:t>Feed TO other carbon accounting platform</a:t>
            </a:r>
          </a:p>
          <a:p>
            <a:pPr algn="ctr"/>
            <a:r>
              <a:rPr lang="en-US" sz="1100" b="1" dirty="0">
                <a:solidFill>
                  <a:schemeClr val="tx2">
                    <a:lumMod val="75000"/>
                    <a:lumOff val="25000"/>
                  </a:schemeClr>
                </a:solidFill>
              </a:rPr>
              <a:t>Send data for auditing or reporting</a:t>
            </a:r>
          </a:p>
        </p:txBody>
      </p:sp>
      <p:cxnSp>
        <p:nvCxnSpPr>
          <p:cNvPr id="19" name="Connector: Elbow 18">
            <a:extLst>
              <a:ext uri="{FF2B5EF4-FFF2-40B4-BE49-F238E27FC236}">
                <a16:creationId xmlns:a16="http://schemas.microsoft.com/office/drawing/2014/main" id="{04B4874A-A3CB-DD5B-27B7-B35BD8F78572}"/>
              </a:ext>
            </a:extLst>
          </p:cNvPr>
          <p:cNvCxnSpPr>
            <a:stCxn id="11" idx="1"/>
          </p:cNvCxnSpPr>
          <p:nvPr/>
        </p:nvCxnSpPr>
        <p:spPr>
          <a:xfrm rot="10800000">
            <a:off x="8484023" y="4413379"/>
            <a:ext cx="516692" cy="195238"/>
          </a:xfrm>
          <a:prstGeom prst="bentConnector3">
            <a:avLst/>
          </a:prstGeom>
          <a:ln w="22225">
            <a:headEnd type="triangle"/>
            <a:tailEnd type="non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ED8596BE-F351-CF0A-82EC-F5A69B8B91A5}"/>
              </a:ext>
            </a:extLst>
          </p:cNvPr>
          <p:cNvSpPr/>
          <p:nvPr/>
        </p:nvSpPr>
        <p:spPr>
          <a:xfrm>
            <a:off x="74594" y="1941254"/>
            <a:ext cx="3180103" cy="2254005"/>
          </a:xfrm>
          <a:prstGeom prst="rect">
            <a:avLst/>
          </a:prstGeom>
          <a:solidFill>
            <a:srgbClr val="FFC000">
              <a:alpha val="43000"/>
            </a:srgb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r>
              <a:rPr lang="en-US" sz="1200" dirty="0">
                <a:solidFill>
                  <a:schemeClr val="tx1"/>
                </a:solidFill>
              </a:rPr>
              <a:t>Each member in the supply chain provides emission data to their </a:t>
            </a:r>
            <a:r>
              <a:rPr lang="en-US" sz="1200" b="1" dirty="0">
                <a:solidFill>
                  <a:schemeClr val="tx1"/>
                </a:solidFill>
              </a:rPr>
              <a:t>blockchain node</a:t>
            </a:r>
            <a:r>
              <a:rPr lang="en-US" sz="1200" dirty="0">
                <a:solidFill>
                  <a:schemeClr val="tx1"/>
                </a:solidFill>
              </a:rPr>
              <a:t> or to a partner’s blockchain instance.</a:t>
            </a:r>
          </a:p>
          <a:p>
            <a:endParaRPr lang="en-US" sz="1200" dirty="0">
              <a:solidFill>
                <a:schemeClr val="tx1"/>
              </a:solidFill>
            </a:endParaRPr>
          </a:p>
          <a:p>
            <a:r>
              <a:rPr lang="en-US" sz="1200" dirty="0">
                <a:solidFill>
                  <a:schemeClr val="tx1"/>
                </a:solidFill>
              </a:rPr>
              <a:t>GHG emission data are entered as transactions in the blockchain. As each transaction is entered, it is broadcast to all other nodes in this supply chain digital twin.</a:t>
            </a:r>
          </a:p>
          <a:p>
            <a:endParaRPr lang="en-US" sz="1200" dirty="0">
              <a:solidFill>
                <a:schemeClr val="tx1"/>
              </a:solidFill>
            </a:endParaRPr>
          </a:p>
          <a:p>
            <a:r>
              <a:rPr lang="en-US" sz="1200" dirty="0">
                <a:solidFill>
                  <a:schemeClr val="tx1"/>
                </a:solidFill>
              </a:rPr>
              <a:t>A member without a node can provide APIs for integration to their internal systems.</a:t>
            </a: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p:txBody>
      </p:sp>
      <p:sp>
        <p:nvSpPr>
          <p:cNvPr id="5" name="Rectangle 4">
            <a:extLst>
              <a:ext uri="{FF2B5EF4-FFF2-40B4-BE49-F238E27FC236}">
                <a16:creationId xmlns:a16="http://schemas.microsoft.com/office/drawing/2014/main" id="{EE1705F1-AB46-EC78-A8C7-434EA257798C}"/>
              </a:ext>
            </a:extLst>
          </p:cNvPr>
          <p:cNvSpPr/>
          <p:nvPr/>
        </p:nvSpPr>
        <p:spPr>
          <a:xfrm>
            <a:off x="79521" y="1764138"/>
            <a:ext cx="11992237" cy="4418326"/>
          </a:xfrm>
          <a:prstGeom prst="rect">
            <a:avLst/>
          </a:prstGeom>
          <a:noFill/>
          <a:ln>
            <a:solidFill>
              <a:schemeClr val="tx1">
                <a:alpha val="99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578650A-514B-E29C-4A73-4BE2AA628397}"/>
              </a:ext>
            </a:extLst>
          </p:cNvPr>
          <p:cNvSpPr txBox="1"/>
          <p:nvPr/>
        </p:nvSpPr>
        <p:spPr>
          <a:xfrm>
            <a:off x="2002421" y="1376560"/>
            <a:ext cx="8701414" cy="523220"/>
          </a:xfrm>
          <a:prstGeom prst="rect">
            <a:avLst/>
          </a:prstGeom>
          <a:noFill/>
        </p:spPr>
        <p:txBody>
          <a:bodyPr wrap="square" rtlCol="0">
            <a:spAutoFit/>
          </a:bodyPr>
          <a:lstStyle/>
          <a:p>
            <a:r>
              <a:rPr lang="en-US" sz="2800" b="1" dirty="0">
                <a:solidFill>
                  <a:srgbClr val="FF0000"/>
                </a:solidFill>
              </a:rPr>
              <a:t>Need New CHANNEL focus (</a:t>
            </a:r>
            <a:r>
              <a:rPr lang="en-US" sz="2800" b="1" dirty="0" err="1">
                <a:solidFill>
                  <a:srgbClr val="FF0000"/>
                </a:solidFill>
              </a:rPr>
              <a:t>orderers</a:t>
            </a:r>
            <a:r>
              <a:rPr lang="en-US" sz="2800" b="1" dirty="0">
                <a:solidFill>
                  <a:srgbClr val="FF0000"/>
                </a:solidFill>
              </a:rPr>
              <a:t>, peers, clients</a:t>
            </a:r>
          </a:p>
        </p:txBody>
      </p:sp>
    </p:spTree>
    <p:extLst>
      <p:ext uri="{BB962C8B-B14F-4D97-AF65-F5344CB8AC3E}">
        <p14:creationId xmlns:p14="http://schemas.microsoft.com/office/powerpoint/2010/main" val="35920208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8,438 Blockchain Technology Light Blue Royalty-Free Images ...">
            <a:extLst>
              <a:ext uri="{FF2B5EF4-FFF2-40B4-BE49-F238E27FC236}">
                <a16:creationId xmlns:a16="http://schemas.microsoft.com/office/drawing/2014/main" id="{880FE5DA-1CEC-CF63-B96A-CD4092B16A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90407"/>
            <a:ext cx="12176288" cy="2365590"/>
          </a:xfrm>
          <a:prstGeom prst="rect">
            <a:avLst/>
          </a:prstGeom>
          <a:noFill/>
          <a:extLst>
            <a:ext uri="{909E8E84-426E-40DD-AFC4-6F175D3DCCD1}">
              <a14:hiddenFill xmlns:a14="http://schemas.microsoft.com/office/drawing/2010/main">
                <a:solidFill>
                  <a:srgbClr val="FFFFFF"/>
                </a:solidFill>
              </a14:hiddenFill>
            </a:ext>
          </a:extLst>
        </p:spPr>
      </p:pic>
      <p:sp>
        <p:nvSpPr>
          <p:cNvPr id="3146" name="Rectangle 3145">
            <a:extLst>
              <a:ext uri="{FF2B5EF4-FFF2-40B4-BE49-F238E27FC236}">
                <a16:creationId xmlns:a16="http://schemas.microsoft.com/office/drawing/2014/main" id="{1A95E8CB-07AE-7FE4-B5D7-B7D6E9AD8929}"/>
              </a:ext>
            </a:extLst>
          </p:cNvPr>
          <p:cNvSpPr/>
          <p:nvPr/>
        </p:nvSpPr>
        <p:spPr>
          <a:xfrm>
            <a:off x="2426073" y="3095262"/>
            <a:ext cx="2283475" cy="3610644"/>
          </a:xfrm>
          <a:prstGeom prst="rect">
            <a:avLst/>
          </a:prstGeom>
          <a:solidFill>
            <a:srgbClr val="CC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9CF6392-90C9-4ECE-941A-84CA8666738A}"/>
              </a:ext>
            </a:extLst>
          </p:cNvPr>
          <p:cNvSpPr/>
          <p:nvPr/>
        </p:nvSpPr>
        <p:spPr>
          <a:xfrm>
            <a:off x="-4608" y="8756"/>
            <a:ext cx="12180896" cy="656492"/>
          </a:xfrm>
          <a:prstGeom prst="rect">
            <a:avLst/>
          </a:prstGeom>
          <a:solidFill>
            <a:srgbClr val="0066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6B9294C8-3FAB-8C9A-4F01-13D56F492EBE}"/>
              </a:ext>
            </a:extLst>
          </p:cNvPr>
          <p:cNvSpPr txBox="1"/>
          <p:nvPr/>
        </p:nvSpPr>
        <p:spPr>
          <a:xfrm>
            <a:off x="-4608" y="685872"/>
            <a:ext cx="12172010" cy="584775"/>
          </a:xfrm>
          <a:prstGeom prst="rect">
            <a:avLst/>
          </a:prstGeom>
          <a:solidFill>
            <a:schemeClr val="bg1"/>
          </a:solidFill>
        </p:spPr>
        <p:txBody>
          <a:bodyPr wrap="square" rtlCol="0">
            <a:spAutoFit/>
          </a:bodyPr>
          <a:lstStyle/>
          <a:p>
            <a:r>
              <a:rPr lang="en-US" sz="1600" dirty="0"/>
              <a:t>A global exporter of African grown coffee has a supply chain covering a large geographic area. The suppliers of coffee and coffee bags transmit their GHG emissions associated with their operations to this exporter to include in the total emissions for this supply chain.</a:t>
            </a:r>
          </a:p>
        </p:txBody>
      </p:sp>
      <p:sp>
        <p:nvSpPr>
          <p:cNvPr id="45" name="TextBox 44">
            <a:extLst>
              <a:ext uri="{FF2B5EF4-FFF2-40B4-BE49-F238E27FC236}">
                <a16:creationId xmlns:a16="http://schemas.microsoft.com/office/drawing/2014/main" id="{DCA73251-CFEE-BD6A-1A09-1B1BACF98EAF}"/>
              </a:ext>
            </a:extLst>
          </p:cNvPr>
          <p:cNvSpPr txBox="1"/>
          <p:nvPr/>
        </p:nvSpPr>
        <p:spPr>
          <a:xfrm>
            <a:off x="59552" y="91228"/>
            <a:ext cx="10661981" cy="523220"/>
          </a:xfrm>
          <a:prstGeom prst="rect">
            <a:avLst/>
          </a:prstGeom>
          <a:noFill/>
        </p:spPr>
        <p:txBody>
          <a:bodyPr wrap="square" rtlCol="0">
            <a:spAutoFit/>
          </a:bodyPr>
          <a:lstStyle/>
          <a:p>
            <a:r>
              <a:rPr lang="en-US" sz="2800" b="1" dirty="0">
                <a:solidFill>
                  <a:schemeClr val="bg1">
                    <a:lumMod val="95000"/>
                  </a:schemeClr>
                </a:solidFill>
              </a:rPr>
              <a:t> Example: Historical and Real Time Tracking of Supply Chain Emissions </a:t>
            </a:r>
          </a:p>
        </p:txBody>
      </p:sp>
      <p:sp>
        <p:nvSpPr>
          <p:cNvPr id="109" name="TextBox 108">
            <a:extLst>
              <a:ext uri="{FF2B5EF4-FFF2-40B4-BE49-F238E27FC236}">
                <a16:creationId xmlns:a16="http://schemas.microsoft.com/office/drawing/2014/main" id="{98046CB7-7A0A-FD78-746D-6F2581973B18}"/>
              </a:ext>
            </a:extLst>
          </p:cNvPr>
          <p:cNvSpPr txBox="1"/>
          <p:nvPr/>
        </p:nvSpPr>
        <p:spPr>
          <a:xfrm>
            <a:off x="1766004" y="1317650"/>
            <a:ext cx="9877429" cy="1661993"/>
          </a:xfrm>
          <a:prstGeom prst="rect">
            <a:avLst/>
          </a:prstGeom>
          <a:solidFill>
            <a:schemeClr val="bg1"/>
          </a:solidFill>
        </p:spPr>
        <p:txBody>
          <a:bodyPr wrap="square" rtlCol="0">
            <a:spAutoFit/>
          </a:bodyPr>
          <a:lstStyle/>
          <a:p>
            <a:pPr marL="342900" indent="-342900">
              <a:buAutoNum type="arabicParenR"/>
            </a:pPr>
            <a:r>
              <a:rPr lang="en-US" sz="1600" b="1" dirty="0"/>
              <a:t>Collect Current Emission Baseline for our supply chain segment.</a:t>
            </a:r>
          </a:p>
          <a:p>
            <a:endParaRPr lang="en-US" sz="1600" b="1" dirty="0"/>
          </a:p>
          <a:p>
            <a:r>
              <a:rPr lang="en-US" sz="1400" b="1" dirty="0"/>
              <a:t>           In the leftmost(yellow) box are the expected GHG emissions derived from emission modeling. The granularity of the different</a:t>
            </a:r>
          </a:p>
          <a:p>
            <a:r>
              <a:rPr lang="en-US" sz="1400" b="1" dirty="0"/>
              <a:t>           activities in this supply chain are displayed along with their expected individual emission contributing to the total for the</a:t>
            </a:r>
          </a:p>
          <a:p>
            <a:r>
              <a:rPr lang="en-US" sz="1400" b="1" dirty="0"/>
              <a:t>           supply chain. These are considered the baseline-expected values. </a:t>
            </a:r>
          </a:p>
          <a:p>
            <a:r>
              <a:rPr lang="en-US" sz="1400" b="1" dirty="0"/>
              <a:t>           Note: The details on how these emission values were determined is not in scope. </a:t>
            </a:r>
            <a:endParaRPr lang="en-US" sz="1600" b="1" dirty="0"/>
          </a:p>
          <a:p>
            <a:r>
              <a:rPr lang="en-US" sz="1400" b="1" dirty="0"/>
              <a:t>    </a:t>
            </a:r>
          </a:p>
        </p:txBody>
      </p:sp>
      <p:grpSp>
        <p:nvGrpSpPr>
          <p:cNvPr id="1072" name="Group 1071">
            <a:extLst>
              <a:ext uri="{FF2B5EF4-FFF2-40B4-BE49-F238E27FC236}">
                <a16:creationId xmlns:a16="http://schemas.microsoft.com/office/drawing/2014/main" id="{50139B3A-1E92-F78F-EE1F-7F3BCF77F2AC}"/>
              </a:ext>
            </a:extLst>
          </p:cNvPr>
          <p:cNvGrpSpPr/>
          <p:nvPr/>
        </p:nvGrpSpPr>
        <p:grpSpPr>
          <a:xfrm>
            <a:off x="4126222" y="3365667"/>
            <a:ext cx="617048" cy="3219411"/>
            <a:chOff x="2196170" y="2860188"/>
            <a:chExt cx="893354" cy="3219411"/>
          </a:xfrm>
        </p:grpSpPr>
        <p:sp>
          <p:nvSpPr>
            <p:cNvPr id="1073" name="TextBox 1072">
              <a:extLst>
                <a:ext uri="{FF2B5EF4-FFF2-40B4-BE49-F238E27FC236}">
                  <a16:creationId xmlns:a16="http://schemas.microsoft.com/office/drawing/2014/main" id="{2FD903F7-3F58-8696-760E-D95066BDBE8A}"/>
                </a:ext>
              </a:extLst>
            </p:cNvPr>
            <p:cNvSpPr txBox="1"/>
            <p:nvPr/>
          </p:nvSpPr>
          <p:spPr>
            <a:xfrm>
              <a:off x="2316049" y="2860188"/>
              <a:ext cx="758828" cy="276999"/>
            </a:xfrm>
            <a:prstGeom prst="rect">
              <a:avLst/>
            </a:prstGeom>
            <a:noFill/>
          </p:spPr>
          <p:txBody>
            <a:bodyPr wrap="square" rtlCol="0">
              <a:spAutoFit/>
            </a:bodyPr>
            <a:lstStyle/>
            <a:p>
              <a:pPr algn="r"/>
              <a:r>
                <a:rPr lang="en-US" sz="1200" b="1" dirty="0">
                  <a:solidFill>
                    <a:srgbClr val="FF0000"/>
                  </a:solidFill>
                </a:rPr>
                <a:t>.55</a:t>
              </a:r>
            </a:p>
          </p:txBody>
        </p:sp>
        <p:sp>
          <p:nvSpPr>
            <p:cNvPr id="1074" name="TextBox 1073">
              <a:extLst>
                <a:ext uri="{FF2B5EF4-FFF2-40B4-BE49-F238E27FC236}">
                  <a16:creationId xmlns:a16="http://schemas.microsoft.com/office/drawing/2014/main" id="{52CFABB5-23FE-9D3A-1B87-D9576497EAB5}"/>
                </a:ext>
              </a:extLst>
            </p:cNvPr>
            <p:cNvSpPr txBox="1"/>
            <p:nvPr/>
          </p:nvSpPr>
          <p:spPr>
            <a:xfrm>
              <a:off x="2314503" y="3110790"/>
              <a:ext cx="758829" cy="276999"/>
            </a:xfrm>
            <a:prstGeom prst="rect">
              <a:avLst/>
            </a:prstGeom>
            <a:noFill/>
          </p:spPr>
          <p:txBody>
            <a:bodyPr wrap="square" rtlCol="0">
              <a:spAutoFit/>
            </a:bodyPr>
            <a:lstStyle/>
            <a:p>
              <a:pPr algn="r"/>
              <a:r>
                <a:rPr lang="en-US" sz="1200" b="1" dirty="0"/>
                <a:t>304</a:t>
              </a:r>
            </a:p>
          </p:txBody>
        </p:sp>
        <p:sp>
          <p:nvSpPr>
            <p:cNvPr id="1075" name="TextBox 1074">
              <a:extLst>
                <a:ext uri="{FF2B5EF4-FFF2-40B4-BE49-F238E27FC236}">
                  <a16:creationId xmlns:a16="http://schemas.microsoft.com/office/drawing/2014/main" id="{1F21CEA3-444A-14FE-7E8E-317132878968}"/>
                </a:ext>
              </a:extLst>
            </p:cNvPr>
            <p:cNvSpPr txBox="1"/>
            <p:nvPr/>
          </p:nvSpPr>
          <p:spPr>
            <a:xfrm>
              <a:off x="2316555" y="3604084"/>
              <a:ext cx="758829" cy="276999"/>
            </a:xfrm>
            <a:prstGeom prst="rect">
              <a:avLst/>
            </a:prstGeom>
            <a:noFill/>
          </p:spPr>
          <p:txBody>
            <a:bodyPr wrap="square" rtlCol="0">
              <a:spAutoFit/>
            </a:bodyPr>
            <a:lstStyle/>
            <a:p>
              <a:pPr algn="r"/>
              <a:r>
                <a:rPr lang="en-US" sz="1200" b="1" dirty="0">
                  <a:solidFill>
                    <a:srgbClr val="FF0000"/>
                  </a:solidFill>
                </a:rPr>
                <a:t>3.4</a:t>
              </a:r>
            </a:p>
          </p:txBody>
        </p:sp>
        <p:sp>
          <p:nvSpPr>
            <p:cNvPr id="1076" name="TextBox 1075">
              <a:extLst>
                <a:ext uri="{FF2B5EF4-FFF2-40B4-BE49-F238E27FC236}">
                  <a16:creationId xmlns:a16="http://schemas.microsoft.com/office/drawing/2014/main" id="{3C2B4A91-2395-3E8E-E0D6-42DECFCC339F}"/>
                </a:ext>
              </a:extLst>
            </p:cNvPr>
            <p:cNvSpPr txBox="1"/>
            <p:nvPr/>
          </p:nvSpPr>
          <p:spPr>
            <a:xfrm>
              <a:off x="2316049" y="3810967"/>
              <a:ext cx="758829" cy="276999"/>
            </a:xfrm>
            <a:prstGeom prst="rect">
              <a:avLst/>
            </a:prstGeom>
            <a:noFill/>
          </p:spPr>
          <p:txBody>
            <a:bodyPr wrap="square" rtlCol="0">
              <a:spAutoFit/>
            </a:bodyPr>
            <a:lstStyle/>
            <a:p>
              <a:pPr algn="r"/>
              <a:r>
                <a:rPr lang="en-US" sz="1200" b="1" dirty="0"/>
                <a:t>1.1</a:t>
              </a:r>
            </a:p>
          </p:txBody>
        </p:sp>
        <p:sp>
          <p:nvSpPr>
            <p:cNvPr id="1077" name="TextBox 1076">
              <a:extLst>
                <a:ext uri="{FF2B5EF4-FFF2-40B4-BE49-F238E27FC236}">
                  <a16:creationId xmlns:a16="http://schemas.microsoft.com/office/drawing/2014/main" id="{BD2A400C-57D1-6443-F35A-35DCD4766733}"/>
                </a:ext>
              </a:extLst>
            </p:cNvPr>
            <p:cNvSpPr txBox="1"/>
            <p:nvPr/>
          </p:nvSpPr>
          <p:spPr>
            <a:xfrm>
              <a:off x="2310062" y="4248014"/>
              <a:ext cx="758829" cy="276999"/>
            </a:xfrm>
            <a:prstGeom prst="rect">
              <a:avLst/>
            </a:prstGeom>
            <a:noFill/>
          </p:spPr>
          <p:txBody>
            <a:bodyPr wrap="square" rtlCol="0">
              <a:spAutoFit/>
            </a:bodyPr>
            <a:lstStyle/>
            <a:p>
              <a:pPr algn="r"/>
              <a:r>
                <a:rPr lang="en-US" sz="1200" b="1" dirty="0">
                  <a:solidFill>
                    <a:srgbClr val="FF0000"/>
                  </a:solidFill>
                </a:rPr>
                <a:t>51.1</a:t>
              </a:r>
            </a:p>
          </p:txBody>
        </p:sp>
        <p:sp>
          <p:nvSpPr>
            <p:cNvPr id="1078" name="TextBox 1077">
              <a:extLst>
                <a:ext uri="{FF2B5EF4-FFF2-40B4-BE49-F238E27FC236}">
                  <a16:creationId xmlns:a16="http://schemas.microsoft.com/office/drawing/2014/main" id="{3FA41872-856D-F86F-BE62-3BF3BC478F42}"/>
                </a:ext>
              </a:extLst>
            </p:cNvPr>
            <p:cNvSpPr txBox="1"/>
            <p:nvPr/>
          </p:nvSpPr>
          <p:spPr>
            <a:xfrm>
              <a:off x="2322507" y="4871701"/>
              <a:ext cx="758829" cy="276999"/>
            </a:xfrm>
            <a:prstGeom prst="rect">
              <a:avLst/>
            </a:prstGeom>
            <a:noFill/>
          </p:spPr>
          <p:txBody>
            <a:bodyPr wrap="square" rtlCol="0">
              <a:spAutoFit/>
            </a:bodyPr>
            <a:lstStyle/>
            <a:p>
              <a:pPr algn="r"/>
              <a:r>
                <a:rPr lang="en-US" sz="1200" b="1" dirty="0"/>
                <a:t>4.6</a:t>
              </a:r>
            </a:p>
          </p:txBody>
        </p:sp>
        <p:sp>
          <p:nvSpPr>
            <p:cNvPr id="1079" name="TextBox 1078">
              <a:extLst>
                <a:ext uri="{FF2B5EF4-FFF2-40B4-BE49-F238E27FC236}">
                  <a16:creationId xmlns:a16="http://schemas.microsoft.com/office/drawing/2014/main" id="{A500EB7A-6605-75A3-E589-24EC69C72E79}"/>
                </a:ext>
              </a:extLst>
            </p:cNvPr>
            <p:cNvSpPr txBox="1"/>
            <p:nvPr/>
          </p:nvSpPr>
          <p:spPr>
            <a:xfrm>
              <a:off x="2320719" y="4735171"/>
              <a:ext cx="758828" cy="276999"/>
            </a:xfrm>
            <a:prstGeom prst="rect">
              <a:avLst/>
            </a:prstGeom>
            <a:noFill/>
          </p:spPr>
          <p:txBody>
            <a:bodyPr wrap="square" rtlCol="0">
              <a:spAutoFit/>
            </a:bodyPr>
            <a:lstStyle/>
            <a:p>
              <a:pPr algn="r"/>
              <a:r>
                <a:rPr lang="en-US" sz="1200" b="1" dirty="0"/>
                <a:t>2.4</a:t>
              </a:r>
            </a:p>
          </p:txBody>
        </p:sp>
        <p:sp>
          <p:nvSpPr>
            <p:cNvPr id="1080" name="TextBox 1079">
              <a:extLst>
                <a:ext uri="{FF2B5EF4-FFF2-40B4-BE49-F238E27FC236}">
                  <a16:creationId xmlns:a16="http://schemas.microsoft.com/office/drawing/2014/main" id="{188A78CB-9039-D0AE-D00E-7AD3FA49B482}"/>
                </a:ext>
              </a:extLst>
            </p:cNvPr>
            <p:cNvSpPr txBox="1"/>
            <p:nvPr/>
          </p:nvSpPr>
          <p:spPr>
            <a:xfrm>
              <a:off x="2314504" y="5443599"/>
              <a:ext cx="758828" cy="276999"/>
            </a:xfrm>
            <a:prstGeom prst="rect">
              <a:avLst/>
            </a:prstGeom>
            <a:noFill/>
          </p:spPr>
          <p:txBody>
            <a:bodyPr wrap="square" rtlCol="0">
              <a:spAutoFit/>
            </a:bodyPr>
            <a:lstStyle/>
            <a:p>
              <a:pPr algn="r"/>
              <a:r>
                <a:rPr lang="en-US" sz="1200" b="1" dirty="0"/>
                <a:t>0.0</a:t>
              </a:r>
            </a:p>
          </p:txBody>
        </p:sp>
        <p:sp>
          <p:nvSpPr>
            <p:cNvPr id="1081" name="TextBox 1080">
              <a:extLst>
                <a:ext uri="{FF2B5EF4-FFF2-40B4-BE49-F238E27FC236}">
                  <a16:creationId xmlns:a16="http://schemas.microsoft.com/office/drawing/2014/main" id="{5CEC7F58-79C9-BA76-DB5B-F9C64E416E36}"/>
                </a:ext>
              </a:extLst>
            </p:cNvPr>
            <p:cNvSpPr txBox="1"/>
            <p:nvPr/>
          </p:nvSpPr>
          <p:spPr>
            <a:xfrm>
              <a:off x="2303524" y="5159000"/>
              <a:ext cx="786000" cy="276999"/>
            </a:xfrm>
            <a:prstGeom prst="rect">
              <a:avLst/>
            </a:prstGeom>
            <a:noFill/>
          </p:spPr>
          <p:txBody>
            <a:bodyPr wrap="square" rtlCol="0">
              <a:spAutoFit/>
            </a:bodyPr>
            <a:lstStyle/>
            <a:p>
              <a:pPr algn="r"/>
              <a:r>
                <a:rPr lang="en-US" sz="1200" b="1" dirty="0">
                  <a:solidFill>
                    <a:srgbClr val="FF0000"/>
                  </a:solidFill>
                </a:rPr>
                <a:t>2.0</a:t>
              </a:r>
            </a:p>
          </p:txBody>
        </p:sp>
        <p:sp>
          <p:nvSpPr>
            <p:cNvPr id="1082" name="TextBox 1081">
              <a:extLst>
                <a:ext uri="{FF2B5EF4-FFF2-40B4-BE49-F238E27FC236}">
                  <a16:creationId xmlns:a16="http://schemas.microsoft.com/office/drawing/2014/main" id="{EF55487F-1291-3A2F-D90C-628EEE42B009}"/>
                </a:ext>
              </a:extLst>
            </p:cNvPr>
            <p:cNvSpPr txBox="1"/>
            <p:nvPr/>
          </p:nvSpPr>
          <p:spPr>
            <a:xfrm>
              <a:off x="2196170" y="5802600"/>
              <a:ext cx="846917" cy="276999"/>
            </a:xfrm>
            <a:prstGeom prst="rect">
              <a:avLst/>
            </a:prstGeom>
            <a:noFill/>
          </p:spPr>
          <p:txBody>
            <a:bodyPr wrap="square" rtlCol="0">
              <a:spAutoFit/>
            </a:bodyPr>
            <a:lstStyle/>
            <a:p>
              <a:pPr algn="r"/>
              <a:r>
                <a:rPr lang="en-US" sz="1200" b="1" dirty="0">
                  <a:solidFill>
                    <a:srgbClr val="FF0000"/>
                  </a:solidFill>
                </a:rPr>
                <a:t>369.1</a:t>
              </a:r>
            </a:p>
          </p:txBody>
        </p:sp>
      </p:grpSp>
      <p:grpSp>
        <p:nvGrpSpPr>
          <p:cNvPr id="1083" name="Group 1082">
            <a:extLst>
              <a:ext uri="{FF2B5EF4-FFF2-40B4-BE49-F238E27FC236}">
                <a16:creationId xmlns:a16="http://schemas.microsoft.com/office/drawing/2014/main" id="{B5880188-6927-13BF-5237-9416B98E98B9}"/>
              </a:ext>
            </a:extLst>
          </p:cNvPr>
          <p:cNvGrpSpPr/>
          <p:nvPr/>
        </p:nvGrpSpPr>
        <p:grpSpPr>
          <a:xfrm>
            <a:off x="2389088" y="3371988"/>
            <a:ext cx="2127437" cy="2852795"/>
            <a:chOff x="116435" y="3163661"/>
            <a:chExt cx="2715022" cy="2852795"/>
          </a:xfrm>
        </p:grpSpPr>
        <p:grpSp>
          <p:nvGrpSpPr>
            <p:cNvPr id="1084" name="Group 1083">
              <a:extLst>
                <a:ext uri="{FF2B5EF4-FFF2-40B4-BE49-F238E27FC236}">
                  <a16:creationId xmlns:a16="http://schemas.microsoft.com/office/drawing/2014/main" id="{377997EF-E6EB-E5A2-F66C-D0BB4B6EDB21}"/>
                </a:ext>
              </a:extLst>
            </p:cNvPr>
            <p:cNvGrpSpPr/>
            <p:nvPr/>
          </p:nvGrpSpPr>
          <p:grpSpPr>
            <a:xfrm>
              <a:off x="116435" y="3163661"/>
              <a:ext cx="2715022" cy="2573082"/>
              <a:chOff x="51410" y="2261711"/>
              <a:chExt cx="2715022" cy="2573082"/>
            </a:xfrm>
          </p:grpSpPr>
          <p:sp>
            <p:nvSpPr>
              <p:cNvPr id="1086" name="TextBox 1085">
                <a:extLst>
                  <a:ext uri="{FF2B5EF4-FFF2-40B4-BE49-F238E27FC236}">
                    <a16:creationId xmlns:a16="http://schemas.microsoft.com/office/drawing/2014/main" id="{D03B92DF-7301-E1AC-AD54-A8347BA1BBFA}"/>
                  </a:ext>
                </a:extLst>
              </p:cNvPr>
              <p:cNvSpPr txBox="1"/>
              <p:nvPr/>
            </p:nvSpPr>
            <p:spPr>
              <a:xfrm>
                <a:off x="51410" y="2517420"/>
                <a:ext cx="2332582" cy="276999"/>
              </a:xfrm>
              <a:prstGeom prst="rect">
                <a:avLst/>
              </a:prstGeom>
              <a:noFill/>
            </p:spPr>
            <p:txBody>
              <a:bodyPr wrap="square" rtlCol="0">
                <a:spAutoFit/>
              </a:bodyPr>
              <a:lstStyle/>
              <a:p>
                <a:r>
                  <a:rPr lang="en-US" sz="1200" dirty="0"/>
                  <a:t>Coffee supplier</a:t>
                </a:r>
              </a:p>
            </p:txBody>
          </p:sp>
          <p:sp>
            <p:nvSpPr>
              <p:cNvPr id="1087" name="TextBox 1086">
                <a:extLst>
                  <a:ext uri="{FF2B5EF4-FFF2-40B4-BE49-F238E27FC236}">
                    <a16:creationId xmlns:a16="http://schemas.microsoft.com/office/drawing/2014/main" id="{13D1B5F3-FB51-68DC-DB5D-D2612733EFB8}"/>
                  </a:ext>
                </a:extLst>
              </p:cNvPr>
              <p:cNvSpPr txBox="1"/>
              <p:nvPr/>
            </p:nvSpPr>
            <p:spPr>
              <a:xfrm>
                <a:off x="79041" y="3468397"/>
                <a:ext cx="2231897" cy="276999"/>
              </a:xfrm>
              <a:prstGeom prst="rect">
                <a:avLst/>
              </a:prstGeom>
              <a:noFill/>
            </p:spPr>
            <p:txBody>
              <a:bodyPr wrap="square" rtlCol="0">
                <a:spAutoFit/>
              </a:bodyPr>
              <a:lstStyle/>
              <a:p>
                <a:r>
                  <a:rPr lang="en-US" sz="1200" dirty="0"/>
                  <a:t>Warehouse ops (year) </a:t>
                </a:r>
              </a:p>
            </p:txBody>
          </p:sp>
          <p:sp>
            <p:nvSpPr>
              <p:cNvPr id="3072" name="TextBox 3071">
                <a:extLst>
                  <a:ext uri="{FF2B5EF4-FFF2-40B4-BE49-F238E27FC236}">
                    <a16:creationId xmlns:a16="http://schemas.microsoft.com/office/drawing/2014/main" id="{B2F16CD3-1A94-A3A0-AFD8-3CEEB0E07EE8}"/>
                  </a:ext>
                </a:extLst>
              </p:cNvPr>
              <p:cNvSpPr txBox="1"/>
              <p:nvPr/>
            </p:nvSpPr>
            <p:spPr>
              <a:xfrm>
                <a:off x="54461" y="2261711"/>
                <a:ext cx="2437293" cy="276999"/>
              </a:xfrm>
              <a:prstGeom prst="rect">
                <a:avLst/>
              </a:prstGeom>
              <a:noFill/>
            </p:spPr>
            <p:txBody>
              <a:bodyPr wrap="square" rtlCol="0">
                <a:spAutoFit/>
              </a:bodyPr>
              <a:lstStyle/>
              <a:p>
                <a:r>
                  <a:rPr lang="en-US" sz="1200" dirty="0">
                    <a:solidFill>
                      <a:srgbClr val="FF0000"/>
                    </a:solidFill>
                  </a:rPr>
                  <a:t>Manuf. of coffee bags</a:t>
                </a:r>
              </a:p>
            </p:txBody>
          </p:sp>
          <p:sp>
            <p:nvSpPr>
              <p:cNvPr id="3073" name="TextBox 3072">
                <a:extLst>
                  <a:ext uri="{FF2B5EF4-FFF2-40B4-BE49-F238E27FC236}">
                    <a16:creationId xmlns:a16="http://schemas.microsoft.com/office/drawing/2014/main" id="{24884BFD-40AA-7DD5-DE39-8EDA04FFA856}"/>
                  </a:ext>
                </a:extLst>
              </p:cNvPr>
              <p:cNvSpPr txBox="1"/>
              <p:nvPr/>
            </p:nvSpPr>
            <p:spPr>
              <a:xfrm>
                <a:off x="75940" y="4557794"/>
                <a:ext cx="1860178" cy="276999"/>
              </a:xfrm>
              <a:prstGeom prst="rect">
                <a:avLst/>
              </a:prstGeom>
              <a:noFill/>
            </p:spPr>
            <p:txBody>
              <a:bodyPr wrap="square" rtlCol="0">
                <a:spAutoFit/>
              </a:bodyPr>
              <a:lstStyle/>
              <a:p>
                <a:r>
                  <a:rPr lang="en-US" sz="1200" dirty="0">
                    <a:solidFill>
                      <a:srgbClr val="FF0000"/>
                    </a:solidFill>
                  </a:rPr>
                  <a:t>Ship to N.Y. harbor</a:t>
                </a:r>
                <a:endParaRPr lang="en-US" sz="1200" b="1" dirty="0">
                  <a:solidFill>
                    <a:srgbClr val="FF0000"/>
                  </a:solidFill>
                </a:endParaRPr>
              </a:p>
            </p:txBody>
          </p:sp>
          <p:sp>
            <p:nvSpPr>
              <p:cNvPr id="3075" name="TextBox 3074">
                <a:extLst>
                  <a:ext uri="{FF2B5EF4-FFF2-40B4-BE49-F238E27FC236}">
                    <a16:creationId xmlns:a16="http://schemas.microsoft.com/office/drawing/2014/main" id="{64B95AC8-A7A2-5C36-3F21-01D3FF2B0D2D}"/>
                  </a:ext>
                </a:extLst>
              </p:cNvPr>
              <p:cNvSpPr txBox="1"/>
              <p:nvPr/>
            </p:nvSpPr>
            <p:spPr>
              <a:xfrm>
                <a:off x="77138" y="3966114"/>
                <a:ext cx="2332582" cy="276999"/>
              </a:xfrm>
              <a:prstGeom prst="rect">
                <a:avLst/>
              </a:prstGeom>
              <a:noFill/>
            </p:spPr>
            <p:txBody>
              <a:bodyPr wrap="square" rtlCol="0">
                <a:spAutoFit/>
              </a:bodyPr>
              <a:lstStyle/>
              <a:p>
                <a:r>
                  <a:rPr lang="en-US" sz="1200" dirty="0"/>
                  <a:t>Coffee bag loading on ship</a:t>
                </a:r>
              </a:p>
            </p:txBody>
          </p:sp>
          <p:sp>
            <p:nvSpPr>
              <p:cNvPr id="3077" name="TextBox 3076">
                <a:extLst>
                  <a:ext uri="{FF2B5EF4-FFF2-40B4-BE49-F238E27FC236}">
                    <a16:creationId xmlns:a16="http://schemas.microsoft.com/office/drawing/2014/main" id="{BDE4A78B-470A-6D19-3740-B65B45E646AF}"/>
                  </a:ext>
                </a:extLst>
              </p:cNvPr>
              <p:cNvSpPr txBox="1"/>
              <p:nvPr/>
            </p:nvSpPr>
            <p:spPr>
              <a:xfrm>
                <a:off x="67299" y="2803688"/>
                <a:ext cx="2699133" cy="646331"/>
              </a:xfrm>
              <a:prstGeom prst="rect">
                <a:avLst/>
              </a:prstGeom>
              <a:noFill/>
            </p:spPr>
            <p:txBody>
              <a:bodyPr wrap="square" rtlCol="0">
                <a:spAutoFit/>
              </a:bodyPr>
              <a:lstStyle/>
              <a:p>
                <a:r>
                  <a:rPr lang="en-US" sz="1200" dirty="0"/>
                  <a:t>Trucking to Warehouse</a:t>
                </a:r>
              </a:p>
              <a:p>
                <a:r>
                  <a:rPr lang="en-US" sz="1200" dirty="0"/>
                  <a:t>    </a:t>
                </a:r>
                <a:r>
                  <a:rPr lang="en-US" sz="1200" dirty="0">
                    <a:solidFill>
                      <a:srgbClr val="FF0000"/>
                    </a:solidFill>
                  </a:rPr>
                  <a:t>- Freight Co. #2</a:t>
                </a:r>
              </a:p>
              <a:p>
                <a:r>
                  <a:rPr lang="en-US" sz="1200" dirty="0"/>
                  <a:t>    - unloading</a:t>
                </a:r>
              </a:p>
            </p:txBody>
          </p:sp>
          <p:sp>
            <p:nvSpPr>
              <p:cNvPr id="3079" name="TextBox 3078">
                <a:extLst>
                  <a:ext uri="{FF2B5EF4-FFF2-40B4-BE49-F238E27FC236}">
                    <a16:creationId xmlns:a16="http://schemas.microsoft.com/office/drawing/2014/main" id="{EA544205-29A4-4A66-06E8-F991A87EC4A6}"/>
                  </a:ext>
                </a:extLst>
              </p:cNvPr>
              <p:cNvSpPr txBox="1"/>
              <p:nvPr/>
            </p:nvSpPr>
            <p:spPr>
              <a:xfrm>
                <a:off x="229459" y="3648372"/>
                <a:ext cx="1747534" cy="276999"/>
              </a:xfrm>
              <a:prstGeom prst="rect">
                <a:avLst/>
              </a:prstGeom>
              <a:noFill/>
            </p:spPr>
            <p:txBody>
              <a:bodyPr wrap="square" rtlCol="0">
                <a:spAutoFit/>
              </a:bodyPr>
              <a:lstStyle/>
              <a:p>
                <a:r>
                  <a:rPr lang="en-US" sz="1200" dirty="0">
                    <a:solidFill>
                      <a:srgbClr val="FF0000"/>
                    </a:solidFill>
                  </a:rPr>
                  <a:t>- Heating / cooling </a:t>
                </a:r>
              </a:p>
            </p:txBody>
          </p:sp>
          <p:sp>
            <p:nvSpPr>
              <p:cNvPr id="3081" name="TextBox 3080">
                <a:extLst>
                  <a:ext uri="{FF2B5EF4-FFF2-40B4-BE49-F238E27FC236}">
                    <a16:creationId xmlns:a16="http://schemas.microsoft.com/office/drawing/2014/main" id="{588849EC-CC7C-BD83-3C1A-8CEE5D7AF138}"/>
                  </a:ext>
                </a:extLst>
              </p:cNvPr>
              <p:cNvSpPr txBox="1"/>
              <p:nvPr/>
            </p:nvSpPr>
            <p:spPr>
              <a:xfrm>
                <a:off x="238386" y="4133238"/>
                <a:ext cx="1672536" cy="276999"/>
              </a:xfrm>
              <a:prstGeom prst="rect">
                <a:avLst/>
              </a:prstGeom>
              <a:noFill/>
            </p:spPr>
            <p:txBody>
              <a:bodyPr wrap="square" rtlCol="0">
                <a:spAutoFit/>
              </a:bodyPr>
              <a:lstStyle/>
              <a:p>
                <a:r>
                  <a:rPr lang="en-US" sz="1200" dirty="0"/>
                  <a:t>- forklift ops </a:t>
                </a:r>
              </a:p>
            </p:txBody>
          </p:sp>
          <p:sp>
            <p:nvSpPr>
              <p:cNvPr id="3083" name="TextBox 3082">
                <a:extLst>
                  <a:ext uri="{FF2B5EF4-FFF2-40B4-BE49-F238E27FC236}">
                    <a16:creationId xmlns:a16="http://schemas.microsoft.com/office/drawing/2014/main" id="{6DF812A2-9D8E-4B88-74F8-B9E28AB21F7E}"/>
                  </a:ext>
                </a:extLst>
              </p:cNvPr>
              <p:cNvSpPr txBox="1"/>
              <p:nvPr/>
            </p:nvSpPr>
            <p:spPr>
              <a:xfrm>
                <a:off x="237330" y="4246060"/>
                <a:ext cx="1990949" cy="307777"/>
              </a:xfrm>
              <a:prstGeom prst="rect">
                <a:avLst/>
              </a:prstGeom>
              <a:noFill/>
            </p:spPr>
            <p:txBody>
              <a:bodyPr wrap="square" rtlCol="0">
                <a:spAutoFit/>
              </a:bodyPr>
              <a:lstStyle/>
              <a:p>
                <a:r>
                  <a:rPr lang="en-US" sz="1400" dirty="0"/>
                  <a:t>- </a:t>
                </a:r>
                <a:r>
                  <a:rPr lang="en-US" sz="1200" dirty="0"/>
                  <a:t>cranes for loading </a:t>
                </a:r>
              </a:p>
            </p:txBody>
          </p:sp>
        </p:grpSp>
        <p:sp>
          <p:nvSpPr>
            <p:cNvPr id="1085" name="TextBox 1084">
              <a:extLst>
                <a:ext uri="{FF2B5EF4-FFF2-40B4-BE49-F238E27FC236}">
                  <a16:creationId xmlns:a16="http://schemas.microsoft.com/office/drawing/2014/main" id="{8522A05F-5948-C80B-444A-BDD48DFC59E9}"/>
                </a:ext>
              </a:extLst>
            </p:cNvPr>
            <p:cNvSpPr txBox="1"/>
            <p:nvPr/>
          </p:nvSpPr>
          <p:spPr>
            <a:xfrm>
              <a:off x="128893" y="5739457"/>
              <a:ext cx="2161122" cy="276999"/>
            </a:xfrm>
            <a:prstGeom prst="rect">
              <a:avLst/>
            </a:prstGeom>
            <a:noFill/>
          </p:spPr>
          <p:txBody>
            <a:bodyPr wrap="square" rtlCol="0">
              <a:spAutoFit/>
            </a:bodyPr>
            <a:lstStyle/>
            <a:p>
              <a:r>
                <a:rPr lang="en-US" sz="1200" b="1" dirty="0"/>
                <a:t>Purchase GHG credits</a:t>
              </a:r>
            </a:p>
          </p:txBody>
        </p:sp>
      </p:grpSp>
      <p:grpSp>
        <p:nvGrpSpPr>
          <p:cNvPr id="3094" name="Group 3093">
            <a:extLst>
              <a:ext uri="{FF2B5EF4-FFF2-40B4-BE49-F238E27FC236}">
                <a16:creationId xmlns:a16="http://schemas.microsoft.com/office/drawing/2014/main" id="{C1AA7B6B-D4DF-99A4-4784-0D504628A475}"/>
              </a:ext>
            </a:extLst>
          </p:cNvPr>
          <p:cNvGrpSpPr/>
          <p:nvPr/>
        </p:nvGrpSpPr>
        <p:grpSpPr>
          <a:xfrm>
            <a:off x="2413214" y="3627697"/>
            <a:ext cx="2290621" cy="2620783"/>
            <a:chOff x="135733" y="3147241"/>
            <a:chExt cx="2290621" cy="2620783"/>
          </a:xfrm>
        </p:grpSpPr>
        <p:cxnSp>
          <p:nvCxnSpPr>
            <p:cNvPr id="3095" name="Straight Connector 3094">
              <a:extLst>
                <a:ext uri="{FF2B5EF4-FFF2-40B4-BE49-F238E27FC236}">
                  <a16:creationId xmlns:a16="http://schemas.microsoft.com/office/drawing/2014/main" id="{7EAD6E27-F6C8-3B2C-F25B-ADA3A2F9DDFD}"/>
                </a:ext>
              </a:extLst>
            </p:cNvPr>
            <p:cNvCxnSpPr>
              <a:cxnSpLocks/>
            </p:cNvCxnSpPr>
            <p:nvPr/>
          </p:nvCxnSpPr>
          <p:spPr>
            <a:xfrm flipV="1">
              <a:off x="135733" y="3147241"/>
              <a:ext cx="2290621" cy="11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96" name="Straight Connector 3095">
              <a:extLst>
                <a:ext uri="{FF2B5EF4-FFF2-40B4-BE49-F238E27FC236}">
                  <a16:creationId xmlns:a16="http://schemas.microsoft.com/office/drawing/2014/main" id="{6920AEC0-BD04-79D5-B135-EAD810EEE888}"/>
                </a:ext>
              </a:extLst>
            </p:cNvPr>
            <p:cNvCxnSpPr>
              <a:cxnSpLocks/>
            </p:cNvCxnSpPr>
            <p:nvPr/>
          </p:nvCxnSpPr>
          <p:spPr>
            <a:xfrm flipV="1">
              <a:off x="151212" y="3424240"/>
              <a:ext cx="2275142" cy="68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97" name="Straight Connector 3096">
              <a:extLst>
                <a:ext uri="{FF2B5EF4-FFF2-40B4-BE49-F238E27FC236}">
                  <a16:creationId xmlns:a16="http://schemas.microsoft.com/office/drawing/2014/main" id="{049F65F9-E624-44EE-C55C-1806FE8040AF}"/>
                </a:ext>
              </a:extLst>
            </p:cNvPr>
            <p:cNvCxnSpPr>
              <a:cxnSpLocks/>
            </p:cNvCxnSpPr>
            <p:nvPr/>
          </p:nvCxnSpPr>
          <p:spPr>
            <a:xfrm flipV="1">
              <a:off x="151212" y="4088710"/>
              <a:ext cx="2268755" cy="9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98" name="Straight Connector 3097">
              <a:extLst>
                <a:ext uri="{FF2B5EF4-FFF2-40B4-BE49-F238E27FC236}">
                  <a16:creationId xmlns:a16="http://schemas.microsoft.com/office/drawing/2014/main" id="{61C3192F-FC93-904F-469D-537C01D0F7E1}"/>
                </a:ext>
              </a:extLst>
            </p:cNvPr>
            <p:cNvCxnSpPr>
              <a:cxnSpLocks/>
            </p:cNvCxnSpPr>
            <p:nvPr/>
          </p:nvCxnSpPr>
          <p:spPr>
            <a:xfrm flipV="1">
              <a:off x="151212" y="4566184"/>
              <a:ext cx="2275142" cy="9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99" name="Straight Connector 3098">
              <a:extLst>
                <a:ext uri="{FF2B5EF4-FFF2-40B4-BE49-F238E27FC236}">
                  <a16:creationId xmlns:a16="http://schemas.microsoft.com/office/drawing/2014/main" id="{1C02DF51-C2E5-3685-550B-EF1DE3E2A839}"/>
                </a:ext>
              </a:extLst>
            </p:cNvPr>
            <p:cNvCxnSpPr>
              <a:cxnSpLocks/>
            </p:cNvCxnSpPr>
            <p:nvPr/>
          </p:nvCxnSpPr>
          <p:spPr>
            <a:xfrm flipV="1">
              <a:off x="163316" y="5165963"/>
              <a:ext cx="2256651" cy="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00" name="Straight Connector 3099">
              <a:extLst>
                <a:ext uri="{FF2B5EF4-FFF2-40B4-BE49-F238E27FC236}">
                  <a16:creationId xmlns:a16="http://schemas.microsoft.com/office/drawing/2014/main" id="{2288234F-A7B1-C2B3-87C9-74BFAC9E3578}"/>
                </a:ext>
              </a:extLst>
            </p:cNvPr>
            <p:cNvCxnSpPr>
              <a:cxnSpLocks/>
            </p:cNvCxnSpPr>
            <p:nvPr/>
          </p:nvCxnSpPr>
          <p:spPr>
            <a:xfrm flipV="1">
              <a:off x="142867" y="5457333"/>
              <a:ext cx="2277100" cy="87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01" name="Straight Connector 3100">
              <a:extLst>
                <a:ext uri="{FF2B5EF4-FFF2-40B4-BE49-F238E27FC236}">
                  <a16:creationId xmlns:a16="http://schemas.microsoft.com/office/drawing/2014/main" id="{51DBA3AE-B74E-8F47-CE10-A1208FBAB02E}"/>
                </a:ext>
              </a:extLst>
            </p:cNvPr>
            <p:cNvCxnSpPr>
              <a:cxnSpLocks/>
            </p:cNvCxnSpPr>
            <p:nvPr/>
          </p:nvCxnSpPr>
          <p:spPr>
            <a:xfrm flipV="1">
              <a:off x="163316" y="5760439"/>
              <a:ext cx="2256651" cy="7585"/>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103" name="Straight Arrow Connector 3102">
            <a:extLst>
              <a:ext uri="{FF2B5EF4-FFF2-40B4-BE49-F238E27FC236}">
                <a16:creationId xmlns:a16="http://schemas.microsoft.com/office/drawing/2014/main" id="{FD88D06A-A010-50F7-31A3-1C0C3D128B14}"/>
              </a:ext>
            </a:extLst>
          </p:cNvPr>
          <p:cNvCxnSpPr>
            <a:cxnSpLocks/>
          </p:cNvCxnSpPr>
          <p:nvPr/>
        </p:nvCxnSpPr>
        <p:spPr>
          <a:xfrm>
            <a:off x="844264" y="2133278"/>
            <a:ext cx="131528" cy="925206"/>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106" name="TextBox 3105">
            <a:extLst>
              <a:ext uri="{FF2B5EF4-FFF2-40B4-BE49-F238E27FC236}">
                <a16:creationId xmlns:a16="http://schemas.microsoft.com/office/drawing/2014/main" id="{8359B04C-6825-A6D3-B128-B51665516BDB}"/>
              </a:ext>
            </a:extLst>
          </p:cNvPr>
          <p:cNvSpPr txBox="1"/>
          <p:nvPr/>
        </p:nvSpPr>
        <p:spPr>
          <a:xfrm>
            <a:off x="2423610" y="3109739"/>
            <a:ext cx="2455072" cy="276999"/>
          </a:xfrm>
          <a:prstGeom prst="rect">
            <a:avLst/>
          </a:prstGeom>
          <a:noFill/>
        </p:spPr>
        <p:txBody>
          <a:bodyPr wrap="square" rtlCol="0">
            <a:spAutoFit/>
          </a:bodyPr>
          <a:lstStyle/>
          <a:p>
            <a:r>
              <a:rPr lang="en-US" sz="1200" b="1" dirty="0"/>
              <a:t>SC run 10.03.24 </a:t>
            </a:r>
            <a:r>
              <a:rPr lang="en-US" sz="1200" dirty="0">
                <a:solidFill>
                  <a:srgbClr val="FF0000"/>
                </a:solidFill>
              </a:rPr>
              <a:t>(</a:t>
            </a:r>
            <a:r>
              <a:rPr lang="en-US" sz="1200" dirty="0" err="1">
                <a:solidFill>
                  <a:srgbClr val="FF0000"/>
                </a:solidFill>
              </a:rPr>
              <a:t>mtons</a:t>
            </a:r>
            <a:r>
              <a:rPr lang="en-US" sz="1200" dirty="0">
                <a:solidFill>
                  <a:srgbClr val="FF0000"/>
                </a:solidFill>
              </a:rPr>
              <a:t> of CO2e) </a:t>
            </a:r>
          </a:p>
        </p:txBody>
      </p:sp>
      <p:cxnSp>
        <p:nvCxnSpPr>
          <p:cNvPr id="3108" name="Straight Connector 3107">
            <a:extLst>
              <a:ext uri="{FF2B5EF4-FFF2-40B4-BE49-F238E27FC236}">
                <a16:creationId xmlns:a16="http://schemas.microsoft.com/office/drawing/2014/main" id="{9AB9104C-C0E4-185F-D3DD-400416EB26E4}"/>
              </a:ext>
            </a:extLst>
          </p:cNvPr>
          <p:cNvCxnSpPr>
            <a:cxnSpLocks/>
          </p:cNvCxnSpPr>
          <p:nvPr/>
        </p:nvCxnSpPr>
        <p:spPr>
          <a:xfrm>
            <a:off x="2436471" y="3361548"/>
            <a:ext cx="2279564"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3149" name="TextBox 3148">
            <a:extLst>
              <a:ext uri="{FF2B5EF4-FFF2-40B4-BE49-F238E27FC236}">
                <a16:creationId xmlns:a16="http://schemas.microsoft.com/office/drawing/2014/main" id="{967FE438-3E84-2EAE-1C78-8F1934F8A329}"/>
              </a:ext>
            </a:extLst>
          </p:cNvPr>
          <p:cNvSpPr txBox="1"/>
          <p:nvPr/>
        </p:nvSpPr>
        <p:spPr>
          <a:xfrm>
            <a:off x="2503621" y="6309927"/>
            <a:ext cx="668822" cy="307777"/>
          </a:xfrm>
          <a:prstGeom prst="rect">
            <a:avLst/>
          </a:prstGeom>
          <a:noFill/>
        </p:spPr>
        <p:txBody>
          <a:bodyPr wrap="square" rtlCol="0">
            <a:spAutoFit/>
          </a:bodyPr>
          <a:lstStyle/>
          <a:p>
            <a:r>
              <a:rPr lang="en-US" sz="1400" b="1" dirty="0"/>
              <a:t>Total</a:t>
            </a:r>
          </a:p>
        </p:txBody>
      </p:sp>
      <p:sp>
        <p:nvSpPr>
          <p:cNvPr id="3193" name="Rectangle 3192">
            <a:extLst>
              <a:ext uri="{FF2B5EF4-FFF2-40B4-BE49-F238E27FC236}">
                <a16:creationId xmlns:a16="http://schemas.microsoft.com/office/drawing/2014/main" id="{4FEA912C-15CE-FF62-5DB6-54FB798FD625}"/>
              </a:ext>
            </a:extLst>
          </p:cNvPr>
          <p:cNvSpPr/>
          <p:nvPr/>
        </p:nvSpPr>
        <p:spPr>
          <a:xfrm>
            <a:off x="4873447" y="3102764"/>
            <a:ext cx="2283475" cy="3610644"/>
          </a:xfrm>
          <a:prstGeom prst="rect">
            <a:avLst/>
          </a:prstGeom>
          <a:solidFill>
            <a:srgbClr val="CC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94" name="Group 3193">
            <a:extLst>
              <a:ext uri="{FF2B5EF4-FFF2-40B4-BE49-F238E27FC236}">
                <a16:creationId xmlns:a16="http://schemas.microsoft.com/office/drawing/2014/main" id="{FD4AF27F-112C-A2D1-C6D9-D6B618B01BEF}"/>
              </a:ext>
            </a:extLst>
          </p:cNvPr>
          <p:cNvGrpSpPr/>
          <p:nvPr/>
        </p:nvGrpSpPr>
        <p:grpSpPr>
          <a:xfrm>
            <a:off x="6554138" y="3373169"/>
            <a:ext cx="617048" cy="3219411"/>
            <a:chOff x="2196170" y="2860188"/>
            <a:chExt cx="893355" cy="3219411"/>
          </a:xfrm>
        </p:grpSpPr>
        <p:sp>
          <p:nvSpPr>
            <p:cNvPr id="3195" name="TextBox 3194">
              <a:extLst>
                <a:ext uri="{FF2B5EF4-FFF2-40B4-BE49-F238E27FC236}">
                  <a16:creationId xmlns:a16="http://schemas.microsoft.com/office/drawing/2014/main" id="{4D55CD9F-F0D7-AE90-183F-D5ED9D36CB84}"/>
                </a:ext>
              </a:extLst>
            </p:cNvPr>
            <p:cNvSpPr txBox="1"/>
            <p:nvPr/>
          </p:nvSpPr>
          <p:spPr>
            <a:xfrm>
              <a:off x="2316049" y="2860188"/>
              <a:ext cx="758828" cy="276999"/>
            </a:xfrm>
            <a:prstGeom prst="rect">
              <a:avLst/>
            </a:prstGeom>
            <a:noFill/>
          </p:spPr>
          <p:txBody>
            <a:bodyPr wrap="square" rtlCol="0">
              <a:spAutoFit/>
            </a:bodyPr>
            <a:lstStyle/>
            <a:p>
              <a:pPr algn="r"/>
              <a:r>
                <a:rPr lang="en-US" sz="1200" b="1" dirty="0">
                  <a:solidFill>
                    <a:srgbClr val="FF0000"/>
                  </a:solidFill>
                </a:rPr>
                <a:t>.45</a:t>
              </a:r>
            </a:p>
          </p:txBody>
        </p:sp>
        <p:sp>
          <p:nvSpPr>
            <p:cNvPr id="3196" name="TextBox 3195">
              <a:extLst>
                <a:ext uri="{FF2B5EF4-FFF2-40B4-BE49-F238E27FC236}">
                  <a16:creationId xmlns:a16="http://schemas.microsoft.com/office/drawing/2014/main" id="{FCAB743F-C324-3F84-2B82-8C8511B0B313}"/>
                </a:ext>
              </a:extLst>
            </p:cNvPr>
            <p:cNvSpPr txBox="1"/>
            <p:nvPr/>
          </p:nvSpPr>
          <p:spPr>
            <a:xfrm>
              <a:off x="2314503" y="3110790"/>
              <a:ext cx="758829" cy="276999"/>
            </a:xfrm>
            <a:prstGeom prst="rect">
              <a:avLst/>
            </a:prstGeom>
            <a:noFill/>
          </p:spPr>
          <p:txBody>
            <a:bodyPr wrap="square" rtlCol="0">
              <a:spAutoFit/>
            </a:bodyPr>
            <a:lstStyle/>
            <a:p>
              <a:pPr algn="r"/>
              <a:r>
                <a:rPr lang="en-US" sz="1200" b="1" dirty="0"/>
                <a:t>304</a:t>
              </a:r>
            </a:p>
          </p:txBody>
        </p:sp>
        <p:sp>
          <p:nvSpPr>
            <p:cNvPr id="3197" name="TextBox 3196">
              <a:extLst>
                <a:ext uri="{FF2B5EF4-FFF2-40B4-BE49-F238E27FC236}">
                  <a16:creationId xmlns:a16="http://schemas.microsoft.com/office/drawing/2014/main" id="{8E6EC31F-6D23-ADC1-77A5-50A52DD28456}"/>
                </a:ext>
              </a:extLst>
            </p:cNvPr>
            <p:cNvSpPr txBox="1"/>
            <p:nvPr/>
          </p:nvSpPr>
          <p:spPr>
            <a:xfrm>
              <a:off x="2316555" y="3604084"/>
              <a:ext cx="758829" cy="276999"/>
            </a:xfrm>
            <a:prstGeom prst="rect">
              <a:avLst/>
            </a:prstGeom>
            <a:noFill/>
          </p:spPr>
          <p:txBody>
            <a:bodyPr wrap="square" rtlCol="0">
              <a:spAutoFit/>
            </a:bodyPr>
            <a:lstStyle/>
            <a:p>
              <a:pPr algn="r"/>
              <a:r>
                <a:rPr lang="en-US" sz="1200" b="1" dirty="0">
                  <a:solidFill>
                    <a:srgbClr val="FF0000"/>
                  </a:solidFill>
                </a:rPr>
                <a:t>3.3</a:t>
              </a:r>
            </a:p>
          </p:txBody>
        </p:sp>
        <p:sp>
          <p:nvSpPr>
            <p:cNvPr id="3198" name="TextBox 3197">
              <a:extLst>
                <a:ext uri="{FF2B5EF4-FFF2-40B4-BE49-F238E27FC236}">
                  <a16:creationId xmlns:a16="http://schemas.microsoft.com/office/drawing/2014/main" id="{B4C49612-1D14-C6CE-B1FB-710A1C27BADC}"/>
                </a:ext>
              </a:extLst>
            </p:cNvPr>
            <p:cNvSpPr txBox="1"/>
            <p:nvPr/>
          </p:nvSpPr>
          <p:spPr>
            <a:xfrm>
              <a:off x="2316049" y="3810967"/>
              <a:ext cx="758829" cy="276999"/>
            </a:xfrm>
            <a:prstGeom prst="rect">
              <a:avLst/>
            </a:prstGeom>
            <a:noFill/>
          </p:spPr>
          <p:txBody>
            <a:bodyPr wrap="square" rtlCol="0">
              <a:spAutoFit/>
            </a:bodyPr>
            <a:lstStyle/>
            <a:p>
              <a:pPr algn="r"/>
              <a:r>
                <a:rPr lang="en-US" sz="1200" b="1" dirty="0"/>
                <a:t>.91</a:t>
              </a:r>
            </a:p>
          </p:txBody>
        </p:sp>
        <p:sp>
          <p:nvSpPr>
            <p:cNvPr id="3199" name="TextBox 3198">
              <a:extLst>
                <a:ext uri="{FF2B5EF4-FFF2-40B4-BE49-F238E27FC236}">
                  <a16:creationId xmlns:a16="http://schemas.microsoft.com/office/drawing/2014/main" id="{875E017F-9AC7-C36C-6B72-37F216A49502}"/>
                </a:ext>
              </a:extLst>
            </p:cNvPr>
            <p:cNvSpPr txBox="1"/>
            <p:nvPr/>
          </p:nvSpPr>
          <p:spPr>
            <a:xfrm>
              <a:off x="2310062" y="4248014"/>
              <a:ext cx="758829" cy="276999"/>
            </a:xfrm>
            <a:prstGeom prst="rect">
              <a:avLst/>
            </a:prstGeom>
            <a:noFill/>
          </p:spPr>
          <p:txBody>
            <a:bodyPr wrap="square" rtlCol="0">
              <a:spAutoFit/>
            </a:bodyPr>
            <a:lstStyle/>
            <a:p>
              <a:pPr algn="r"/>
              <a:r>
                <a:rPr lang="en-US" sz="1200" b="1" dirty="0">
                  <a:solidFill>
                    <a:srgbClr val="FF0000"/>
                  </a:solidFill>
                </a:rPr>
                <a:t>49.9</a:t>
              </a:r>
            </a:p>
          </p:txBody>
        </p:sp>
        <p:sp>
          <p:nvSpPr>
            <p:cNvPr id="3200" name="TextBox 3199">
              <a:extLst>
                <a:ext uri="{FF2B5EF4-FFF2-40B4-BE49-F238E27FC236}">
                  <a16:creationId xmlns:a16="http://schemas.microsoft.com/office/drawing/2014/main" id="{FF8A65BA-5F7A-971D-9120-B50AF4936554}"/>
                </a:ext>
              </a:extLst>
            </p:cNvPr>
            <p:cNvSpPr txBox="1"/>
            <p:nvPr/>
          </p:nvSpPr>
          <p:spPr>
            <a:xfrm>
              <a:off x="2322507" y="4871701"/>
              <a:ext cx="758828" cy="276999"/>
            </a:xfrm>
            <a:prstGeom prst="rect">
              <a:avLst/>
            </a:prstGeom>
            <a:noFill/>
          </p:spPr>
          <p:txBody>
            <a:bodyPr wrap="square" rtlCol="0">
              <a:spAutoFit/>
            </a:bodyPr>
            <a:lstStyle/>
            <a:p>
              <a:pPr algn="r"/>
              <a:r>
                <a:rPr lang="en-US" sz="1200" b="1" dirty="0"/>
                <a:t>4.4</a:t>
              </a:r>
            </a:p>
          </p:txBody>
        </p:sp>
        <p:sp>
          <p:nvSpPr>
            <p:cNvPr id="3201" name="TextBox 3200">
              <a:extLst>
                <a:ext uri="{FF2B5EF4-FFF2-40B4-BE49-F238E27FC236}">
                  <a16:creationId xmlns:a16="http://schemas.microsoft.com/office/drawing/2014/main" id="{01B3E7F6-6013-721E-01AB-2D3AC8A8771C}"/>
                </a:ext>
              </a:extLst>
            </p:cNvPr>
            <p:cNvSpPr txBox="1"/>
            <p:nvPr/>
          </p:nvSpPr>
          <p:spPr>
            <a:xfrm>
              <a:off x="2314504" y="4735171"/>
              <a:ext cx="758829" cy="276999"/>
            </a:xfrm>
            <a:prstGeom prst="rect">
              <a:avLst/>
            </a:prstGeom>
            <a:noFill/>
          </p:spPr>
          <p:txBody>
            <a:bodyPr wrap="square" rtlCol="0">
              <a:spAutoFit/>
            </a:bodyPr>
            <a:lstStyle/>
            <a:p>
              <a:pPr algn="r"/>
              <a:r>
                <a:rPr lang="en-US" sz="1200" b="1" dirty="0"/>
                <a:t>2.6</a:t>
              </a:r>
            </a:p>
          </p:txBody>
        </p:sp>
        <p:sp>
          <p:nvSpPr>
            <p:cNvPr id="3202" name="TextBox 3201">
              <a:extLst>
                <a:ext uri="{FF2B5EF4-FFF2-40B4-BE49-F238E27FC236}">
                  <a16:creationId xmlns:a16="http://schemas.microsoft.com/office/drawing/2014/main" id="{BE1C9D00-D3C9-B6A6-FEC0-477D05399176}"/>
                </a:ext>
              </a:extLst>
            </p:cNvPr>
            <p:cNvSpPr txBox="1"/>
            <p:nvPr/>
          </p:nvSpPr>
          <p:spPr>
            <a:xfrm>
              <a:off x="2314504" y="5443599"/>
              <a:ext cx="758828" cy="276999"/>
            </a:xfrm>
            <a:prstGeom prst="rect">
              <a:avLst/>
            </a:prstGeom>
            <a:noFill/>
          </p:spPr>
          <p:txBody>
            <a:bodyPr wrap="square" rtlCol="0">
              <a:spAutoFit/>
            </a:bodyPr>
            <a:lstStyle/>
            <a:p>
              <a:pPr algn="r"/>
              <a:r>
                <a:rPr lang="en-US" sz="1200" b="1" dirty="0"/>
                <a:t>0.0</a:t>
              </a:r>
            </a:p>
          </p:txBody>
        </p:sp>
        <p:sp>
          <p:nvSpPr>
            <p:cNvPr id="3203" name="TextBox 3202">
              <a:extLst>
                <a:ext uri="{FF2B5EF4-FFF2-40B4-BE49-F238E27FC236}">
                  <a16:creationId xmlns:a16="http://schemas.microsoft.com/office/drawing/2014/main" id="{48B1E095-EB98-7ACF-FFF6-6AAA0EFCF218}"/>
                </a:ext>
              </a:extLst>
            </p:cNvPr>
            <p:cNvSpPr txBox="1"/>
            <p:nvPr/>
          </p:nvSpPr>
          <p:spPr>
            <a:xfrm>
              <a:off x="2303524" y="5159000"/>
              <a:ext cx="786001" cy="276999"/>
            </a:xfrm>
            <a:prstGeom prst="rect">
              <a:avLst/>
            </a:prstGeom>
            <a:noFill/>
          </p:spPr>
          <p:txBody>
            <a:bodyPr wrap="square" rtlCol="0">
              <a:spAutoFit/>
            </a:bodyPr>
            <a:lstStyle/>
            <a:p>
              <a:pPr algn="r"/>
              <a:r>
                <a:rPr lang="en-US" sz="1200" b="1" dirty="0">
                  <a:solidFill>
                    <a:srgbClr val="FF0000"/>
                  </a:solidFill>
                </a:rPr>
                <a:t>1.7</a:t>
              </a:r>
            </a:p>
          </p:txBody>
        </p:sp>
        <p:sp>
          <p:nvSpPr>
            <p:cNvPr id="3204" name="TextBox 3203">
              <a:extLst>
                <a:ext uri="{FF2B5EF4-FFF2-40B4-BE49-F238E27FC236}">
                  <a16:creationId xmlns:a16="http://schemas.microsoft.com/office/drawing/2014/main" id="{E8647326-59EB-2674-681C-F949FBE3ECAC}"/>
                </a:ext>
              </a:extLst>
            </p:cNvPr>
            <p:cNvSpPr txBox="1"/>
            <p:nvPr/>
          </p:nvSpPr>
          <p:spPr>
            <a:xfrm>
              <a:off x="2196170" y="5802600"/>
              <a:ext cx="846917" cy="276999"/>
            </a:xfrm>
            <a:prstGeom prst="rect">
              <a:avLst/>
            </a:prstGeom>
            <a:noFill/>
          </p:spPr>
          <p:txBody>
            <a:bodyPr wrap="square" rtlCol="0">
              <a:spAutoFit/>
            </a:bodyPr>
            <a:lstStyle/>
            <a:p>
              <a:pPr algn="r"/>
              <a:r>
                <a:rPr lang="en-US" sz="1200" b="1" dirty="0">
                  <a:solidFill>
                    <a:srgbClr val="FF0000"/>
                  </a:solidFill>
                </a:rPr>
                <a:t>367.3</a:t>
              </a:r>
            </a:p>
          </p:txBody>
        </p:sp>
      </p:grpSp>
      <p:grpSp>
        <p:nvGrpSpPr>
          <p:cNvPr id="3205" name="Group 3204">
            <a:extLst>
              <a:ext uri="{FF2B5EF4-FFF2-40B4-BE49-F238E27FC236}">
                <a16:creationId xmlns:a16="http://schemas.microsoft.com/office/drawing/2014/main" id="{B442BF9F-B55F-5CA6-AD4E-472934AEA722}"/>
              </a:ext>
            </a:extLst>
          </p:cNvPr>
          <p:cNvGrpSpPr/>
          <p:nvPr/>
        </p:nvGrpSpPr>
        <p:grpSpPr>
          <a:xfrm>
            <a:off x="4849432" y="3379490"/>
            <a:ext cx="2127437" cy="2852795"/>
            <a:chOff x="116435" y="3163661"/>
            <a:chExt cx="2715022" cy="2852795"/>
          </a:xfrm>
        </p:grpSpPr>
        <p:grpSp>
          <p:nvGrpSpPr>
            <p:cNvPr id="3206" name="Group 3205">
              <a:extLst>
                <a:ext uri="{FF2B5EF4-FFF2-40B4-BE49-F238E27FC236}">
                  <a16:creationId xmlns:a16="http://schemas.microsoft.com/office/drawing/2014/main" id="{FCECA7BC-EA7C-0B60-CE3D-0F11A383CB60}"/>
                </a:ext>
              </a:extLst>
            </p:cNvPr>
            <p:cNvGrpSpPr/>
            <p:nvPr/>
          </p:nvGrpSpPr>
          <p:grpSpPr>
            <a:xfrm>
              <a:off x="116435" y="3163661"/>
              <a:ext cx="2715022" cy="2573082"/>
              <a:chOff x="51410" y="2261711"/>
              <a:chExt cx="2715022" cy="2573082"/>
            </a:xfrm>
          </p:grpSpPr>
          <p:sp>
            <p:nvSpPr>
              <p:cNvPr id="3208" name="TextBox 3207">
                <a:extLst>
                  <a:ext uri="{FF2B5EF4-FFF2-40B4-BE49-F238E27FC236}">
                    <a16:creationId xmlns:a16="http://schemas.microsoft.com/office/drawing/2014/main" id="{C57C0B02-2A71-EB8A-0B4D-1DB5DB5994EE}"/>
                  </a:ext>
                </a:extLst>
              </p:cNvPr>
              <p:cNvSpPr txBox="1"/>
              <p:nvPr/>
            </p:nvSpPr>
            <p:spPr>
              <a:xfrm>
                <a:off x="51410" y="2517420"/>
                <a:ext cx="2332582" cy="276999"/>
              </a:xfrm>
              <a:prstGeom prst="rect">
                <a:avLst/>
              </a:prstGeom>
              <a:noFill/>
            </p:spPr>
            <p:txBody>
              <a:bodyPr wrap="square" rtlCol="0">
                <a:spAutoFit/>
              </a:bodyPr>
              <a:lstStyle/>
              <a:p>
                <a:r>
                  <a:rPr lang="en-US" sz="1200" dirty="0"/>
                  <a:t>Coffee supplier</a:t>
                </a:r>
              </a:p>
            </p:txBody>
          </p:sp>
          <p:sp>
            <p:nvSpPr>
              <p:cNvPr id="3209" name="TextBox 3208">
                <a:extLst>
                  <a:ext uri="{FF2B5EF4-FFF2-40B4-BE49-F238E27FC236}">
                    <a16:creationId xmlns:a16="http://schemas.microsoft.com/office/drawing/2014/main" id="{A08331AE-560D-4CE2-041A-2594A589F5F6}"/>
                  </a:ext>
                </a:extLst>
              </p:cNvPr>
              <p:cNvSpPr txBox="1"/>
              <p:nvPr/>
            </p:nvSpPr>
            <p:spPr>
              <a:xfrm>
                <a:off x="79040" y="3468397"/>
                <a:ext cx="1969763" cy="276999"/>
              </a:xfrm>
              <a:prstGeom prst="rect">
                <a:avLst/>
              </a:prstGeom>
              <a:noFill/>
            </p:spPr>
            <p:txBody>
              <a:bodyPr wrap="square" rtlCol="0">
                <a:spAutoFit/>
              </a:bodyPr>
              <a:lstStyle/>
              <a:p>
                <a:r>
                  <a:rPr lang="en-US" sz="1200" dirty="0"/>
                  <a:t>Warehouse ops (year) </a:t>
                </a:r>
              </a:p>
            </p:txBody>
          </p:sp>
          <p:sp>
            <p:nvSpPr>
              <p:cNvPr id="3210" name="TextBox 3209">
                <a:extLst>
                  <a:ext uri="{FF2B5EF4-FFF2-40B4-BE49-F238E27FC236}">
                    <a16:creationId xmlns:a16="http://schemas.microsoft.com/office/drawing/2014/main" id="{31B1FF4A-49CF-0E45-602A-92971977B575}"/>
                  </a:ext>
                </a:extLst>
              </p:cNvPr>
              <p:cNvSpPr txBox="1"/>
              <p:nvPr/>
            </p:nvSpPr>
            <p:spPr>
              <a:xfrm>
                <a:off x="54461" y="2261711"/>
                <a:ext cx="2437293" cy="276999"/>
              </a:xfrm>
              <a:prstGeom prst="rect">
                <a:avLst/>
              </a:prstGeom>
              <a:noFill/>
            </p:spPr>
            <p:txBody>
              <a:bodyPr wrap="square" rtlCol="0">
                <a:spAutoFit/>
              </a:bodyPr>
              <a:lstStyle/>
              <a:p>
                <a:r>
                  <a:rPr lang="en-US" sz="1200" dirty="0">
                    <a:solidFill>
                      <a:srgbClr val="FF0000"/>
                    </a:solidFill>
                  </a:rPr>
                  <a:t>Manuf. of coffee bags</a:t>
                </a:r>
              </a:p>
            </p:txBody>
          </p:sp>
          <p:sp>
            <p:nvSpPr>
              <p:cNvPr id="3211" name="TextBox 3210">
                <a:extLst>
                  <a:ext uri="{FF2B5EF4-FFF2-40B4-BE49-F238E27FC236}">
                    <a16:creationId xmlns:a16="http://schemas.microsoft.com/office/drawing/2014/main" id="{96245A2B-CD00-A95B-BFBA-FDD4E514F069}"/>
                  </a:ext>
                </a:extLst>
              </p:cNvPr>
              <p:cNvSpPr txBox="1"/>
              <p:nvPr/>
            </p:nvSpPr>
            <p:spPr>
              <a:xfrm>
                <a:off x="75940" y="4557794"/>
                <a:ext cx="1860178" cy="276999"/>
              </a:xfrm>
              <a:prstGeom prst="rect">
                <a:avLst/>
              </a:prstGeom>
              <a:noFill/>
            </p:spPr>
            <p:txBody>
              <a:bodyPr wrap="square" rtlCol="0">
                <a:spAutoFit/>
              </a:bodyPr>
              <a:lstStyle/>
              <a:p>
                <a:r>
                  <a:rPr lang="en-US" sz="1200" dirty="0">
                    <a:solidFill>
                      <a:srgbClr val="FF0000"/>
                    </a:solidFill>
                  </a:rPr>
                  <a:t>Ship to N.Y. harbor</a:t>
                </a:r>
                <a:endParaRPr lang="en-US" sz="1200" b="1" dirty="0">
                  <a:solidFill>
                    <a:srgbClr val="FF0000"/>
                  </a:solidFill>
                </a:endParaRPr>
              </a:p>
            </p:txBody>
          </p:sp>
          <p:sp>
            <p:nvSpPr>
              <p:cNvPr id="3212" name="TextBox 3211">
                <a:extLst>
                  <a:ext uri="{FF2B5EF4-FFF2-40B4-BE49-F238E27FC236}">
                    <a16:creationId xmlns:a16="http://schemas.microsoft.com/office/drawing/2014/main" id="{7F61592B-1E87-ABE3-F6F7-512ACDCBDD7B}"/>
                  </a:ext>
                </a:extLst>
              </p:cNvPr>
              <p:cNvSpPr txBox="1"/>
              <p:nvPr/>
            </p:nvSpPr>
            <p:spPr>
              <a:xfrm>
                <a:off x="77138" y="3966114"/>
                <a:ext cx="2332582" cy="276999"/>
              </a:xfrm>
              <a:prstGeom prst="rect">
                <a:avLst/>
              </a:prstGeom>
              <a:noFill/>
            </p:spPr>
            <p:txBody>
              <a:bodyPr wrap="square" rtlCol="0">
                <a:spAutoFit/>
              </a:bodyPr>
              <a:lstStyle/>
              <a:p>
                <a:r>
                  <a:rPr lang="en-US" sz="1200" dirty="0"/>
                  <a:t>Coffee bag loading on ship</a:t>
                </a:r>
              </a:p>
            </p:txBody>
          </p:sp>
          <p:sp>
            <p:nvSpPr>
              <p:cNvPr id="3213" name="TextBox 3212">
                <a:extLst>
                  <a:ext uri="{FF2B5EF4-FFF2-40B4-BE49-F238E27FC236}">
                    <a16:creationId xmlns:a16="http://schemas.microsoft.com/office/drawing/2014/main" id="{BD5AD7D5-72FF-FD01-FEA3-9C6059EFC022}"/>
                  </a:ext>
                </a:extLst>
              </p:cNvPr>
              <p:cNvSpPr txBox="1"/>
              <p:nvPr/>
            </p:nvSpPr>
            <p:spPr>
              <a:xfrm>
                <a:off x="67299" y="2803688"/>
                <a:ext cx="2699133" cy="646331"/>
              </a:xfrm>
              <a:prstGeom prst="rect">
                <a:avLst/>
              </a:prstGeom>
              <a:noFill/>
            </p:spPr>
            <p:txBody>
              <a:bodyPr wrap="square" rtlCol="0">
                <a:spAutoFit/>
              </a:bodyPr>
              <a:lstStyle/>
              <a:p>
                <a:r>
                  <a:rPr lang="en-US" sz="1200" dirty="0"/>
                  <a:t>Trucking to Warehouse</a:t>
                </a:r>
              </a:p>
              <a:p>
                <a:r>
                  <a:rPr lang="en-US" sz="1200" dirty="0">
                    <a:solidFill>
                      <a:srgbClr val="FF0000"/>
                    </a:solidFill>
                  </a:rPr>
                  <a:t>    - Freight Co. #2</a:t>
                </a:r>
              </a:p>
              <a:p>
                <a:r>
                  <a:rPr lang="en-US" sz="1200" dirty="0"/>
                  <a:t>    - unloading</a:t>
                </a:r>
              </a:p>
            </p:txBody>
          </p:sp>
          <p:sp>
            <p:nvSpPr>
              <p:cNvPr id="3214" name="TextBox 3213">
                <a:extLst>
                  <a:ext uri="{FF2B5EF4-FFF2-40B4-BE49-F238E27FC236}">
                    <a16:creationId xmlns:a16="http://schemas.microsoft.com/office/drawing/2014/main" id="{364099F8-3CC3-99D1-5991-613EB711B583}"/>
                  </a:ext>
                </a:extLst>
              </p:cNvPr>
              <p:cNvSpPr txBox="1"/>
              <p:nvPr/>
            </p:nvSpPr>
            <p:spPr>
              <a:xfrm>
                <a:off x="229459" y="3648372"/>
                <a:ext cx="1747534" cy="276999"/>
              </a:xfrm>
              <a:prstGeom prst="rect">
                <a:avLst/>
              </a:prstGeom>
              <a:noFill/>
            </p:spPr>
            <p:txBody>
              <a:bodyPr wrap="square" rtlCol="0">
                <a:spAutoFit/>
              </a:bodyPr>
              <a:lstStyle/>
              <a:p>
                <a:r>
                  <a:rPr lang="en-US" sz="1200" dirty="0">
                    <a:solidFill>
                      <a:srgbClr val="FF0000"/>
                    </a:solidFill>
                  </a:rPr>
                  <a:t>- Heating / cooling </a:t>
                </a:r>
              </a:p>
            </p:txBody>
          </p:sp>
          <p:sp>
            <p:nvSpPr>
              <p:cNvPr id="3215" name="TextBox 3214">
                <a:extLst>
                  <a:ext uri="{FF2B5EF4-FFF2-40B4-BE49-F238E27FC236}">
                    <a16:creationId xmlns:a16="http://schemas.microsoft.com/office/drawing/2014/main" id="{086A7E38-6B24-F409-0736-A9573C813A9D}"/>
                  </a:ext>
                </a:extLst>
              </p:cNvPr>
              <p:cNvSpPr txBox="1"/>
              <p:nvPr/>
            </p:nvSpPr>
            <p:spPr>
              <a:xfrm>
                <a:off x="238386" y="4133238"/>
                <a:ext cx="1672536" cy="276999"/>
              </a:xfrm>
              <a:prstGeom prst="rect">
                <a:avLst/>
              </a:prstGeom>
              <a:noFill/>
            </p:spPr>
            <p:txBody>
              <a:bodyPr wrap="square" rtlCol="0">
                <a:spAutoFit/>
              </a:bodyPr>
              <a:lstStyle/>
              <a:p>
                <a:r>
                  <a:rPr lang="en-US" sz="1200" dirty="0"/>
                  <a:t>- forklift ops </a:t>
                </a:r>
              </a:p>
            </p:txBody>
          </p:sp>
          <p:sp>
            <p:nvSpPr>
              <p:cNvPr id="3216" name="TextBox 3215">
                <a:extLst>
                  <a:ext uri="{FF2B5EF4-FFF2-40B4-BE49-F238E27FC236}">
                    <a16:creationId xmlns:a16="http://schemas.microsoft.com/office/drawing/2014/main" id="{CC7028BA-7AF9-FB2D-1EF8-1CF41E366B01}"/>
                  </a:ext>
                </a:extLst>
              </p:cNvPr>
              <p:cNvSpPr txBox="1"/>
              <p:nvPr/>
            </p:nvSpPr>
            <p:spPr>
              <a:xfrm>
                <a:off x="237330" y="4246060"/>
                <a:ext cx="1990949" cy="307777"/>
              </a:xfrm>
              <a:prstGeom prst="rect">
                <a:avLst/>
              </a:prstGeom>
              <a:noFill/>
            </p:spPr>
            <p:txBody>
              <a:bodyPr wrap="square" rtlCol="0">
                <a:spAutoFit/>
              </a:bodyPr>
              <a:lstStyle/>
              <a:p>
                <a:r>
                  <a:rPr lang="en-US" sz="1400" dirty="0"/>
                  <a:t>- </a:t>
                </a:r>
                <a:r>
                  <a:rPr lang="en-US" sz="1200" dirty="0"/>
                  <a:t>cranes for loading </a:t>
                </a:r>
              </a:p>
            </p:txBody>
          </p:sp>
        </p:grpSp>
        <p:sp>
          <p:nvSpPr>
            <p:cNvPr id="3207" name="TextBox 3206">
              <a:extLst>
                <a:ext uri="{FF2B5EF4-FFF2-40B4-BE49-F238E27FC236}">
                  <a16:creationId xmlns:a16="http://schemas.microsoft.com/office/drawing/2014/main" id="{F601EFBC-2871-4953-4409-D3E54B58385D}"/>
                </a:ext>
              </a:extLst>
            </p:cNvPr>
            <p:cNvSpPr txBox="1"/>
            <p:nvPr/>
          </p:nvSpPr>
          <p:spPr>
            <a:xfrm>
              <a:off x="128893" y="5739457"/>
              <a:ext cx="2161122" cy="276999"/>
            </a:xfrm>
            <a:prstGeom prst="rect">
              <a:avLst/>
            </a:prstGeom>
            <a:noFill/>
          </p:spPr>
          <p:txBody>
            <a:bodyPr wrap="square" rtlCol="0">
              <a:spAutoFit/>
            </a:bodyPr>
            <a:lstStyle/>
            <a:p>
              <a:r>
                <a:rPr lang="en-US" sz="1200" dirty="0"/>
                <a:t>Purchase GHG credits</a:t>
              </a:r>
            </a:p>
          </p:txBody>
        </p:sp>
      </p:grpSp>
      <p:grpSp>
        <p:nvGrpSpPr>
          <p:cNvPr id="3217" name="Group 3216">
            <a:extLst>
              <a:ext uri="{FF2B5EF4-FFF2-40B4-BE49-F238E27FC236}">
                <a16:creationId xmlns:a16="http://schemas.microsoft.com/office/drawing/2014/main" id="{C06CB454-8278-3C1A-C81F-40EC8A00EE71}"/>
              </a:ext>
            </a:extLst>
          </p:cNvPr>
          <p:cNvGrpSpPr/>
          <p:nvPr/>
        </p:nvGrpSpPr>
        <p:grpSpPr>
          <a:xfrm>
            <a:off x="4866301" y="3635199"/>
            <a:ext cx="2290621" cy="2620783"/>
            <a:chOff x="135733" y="3147241"/>
            <a:chExt cx="2290621" cy="2620783"/>
          </a:xfrm>
        </p:grpSpPr>
        <p:cxnSp>
          <p:nvCxnSpPr>
            <p:cNvPr id="3218" name="Straight Connector 3217">
              <a:extLst>
                <a:ext uri="{FF2B5EF4-FFF2-40B4-BE49-F238E27FC236}">
                  <a16:creationId xmlns:a16="http://schemas.microsoft.com/office/drawing/2014/main" id="{C946D613-860E-B41A-BD4A-95BF8AEC670F}"/>
                </a:ext>
              </a:extLst>
            </p:cNvPr>
            <p:cNvCxnSpPr>
              <a:cxnSpLocks/>
            </p:cNvCxnSpPr>
            <p:nvPr/>
          </p:nvCxnSpPr>
          <p:spPr>
            <a:xfrm flipV="1">
              <a:off x="135733" y="3147241"/>
              <a:ext cx="2290621" cy="11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19" name="Straight Connector 3218">
              <a:extLst>
                <a:ext uri="{FF2B5EF4-FFF2-40B4-BE49-F238E27FC236}">
                  <a16:creationId xmlns:a16="http://schemas.microsoft.com/office/drawing/2014/main" id="{2605902F-85B7-5F61-ED13-C0834B634D06}"/>
                </a:ext>
              </a:extLst>
            </p:cNvPr>
            <p:cNvCxnSpPr>
              <a:cxnSpLocks/>
            </p:cNvCxnSpPr>
            <p:nvPr/>
          </p:nvCxnSpPr>
          <p:spPr>
            <a:xfrm flipV="1">
              <a:off x="151212" y="3424240"/>
              <a:ext cx="2275142" cy="68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20" name="Straight Connector 3219">
              <a:extLst>
                <a:ext uri="{FF2B5EF4-FFF2-40B4-BE49-F238E27FC236}">
                  <a16:creationId xmlns:a16="http://schemas.microsoft.com/office/drawing/2014/main" id="{13E82E30-BD2E-0608-C874-F48030D6CFF1}"/>
                </a:ext>
              </a:extLst>
            </p:cNvPr>
            <p:cNvCxnSpPr>
              <a:cxnSpLocks/>
            </p:cNvCxnSpPr>
            <p:nvPr/>
          </p:nvCxnSpPr>
          <p:spPr>
            <a:xfrm flipV="1">
              <a:off x="151212" y="4088710"/>
              <a:ext cx="2268755" cy="9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21" name="Straight Connector 3220">
              <a:extLst>
                <a:ext uri="{FF2B5EF4-FFF2-40B4-BE49-F238E27FC236}">
                  <a16:creationId xmlns:a16="http://schemas.microsoft.com/office/drawing/2014/main" id="{701F1870-985F-2A4D-6D0C-0BD223888F0F}"/>
                </a:ext>
              </a:extLst>
            </p:cNvPr>
            <p:cNvCxnSpPr>
              <a:cxnSpLocks/>
            </p:cNvCxnSpPr>
            <p:nvPr/>
          </p:nvCxnSpPr>
          <p:spPr>
            <a:xfrm flipV="1">
              <a:off x="151212" y="4566184"/>
              <a:ext cx="2275142" cy="9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22" name="Straight Connector 3221">
              <a:extLst>
                <a:ext uri="{FF2B5EF4-FFF2-40B4-BE49-F238E27FC236}">
                  <a16:creationId xmlns:a16="http://schemas.microsoft.com/office/drawing/2014/main" id="{267A0DA7-9268-C6AD-B859-B4EC5BD80C5C}"/>
                </a:ext>
              </a:extLst>
            </p:cNvPr>
            <p:cNvCxnSpPr>
              <a:cxnSpLocks/>
            </p:cNvCxnSpPr>
            <p:nvPr/>
          </p:nvCxnSpPr>
          <p:spPr>
            <a:xfrm flipV="1">
              <a:off x="163316" y="5165963"/>
              <a:ext cx="2256651" cy="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223" name="Straight Connector 3222">
              <a:extLst>
                <a:ext uri="{FF2B5EF4-FFF2-40B4-BE49-F238E27FC236}">
                  <a16:creationId xmlns:a16="http://schemas.microsoft.com/office/drawing/2014/main" id="{26B08142-3CAA-C6A5-0E5B-22D477B87A58}"/>
                </a:ext>
              </a:extLst>
            </p:cNvPr>
            <p:cNvCxnSpPr>
              <a:cxnSpLocks/>
            </p:cNvCxnSpPr>
            <p:nvPr/>
          </p:nvCxnSpPr>
          <p:spPr>
            <a:xfrm flipV="1">
              <a:off x="142867" y="5457333"/>
              <a:ext cx="2277100" cy="87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24" name="Straight Connector 3223">
              <a:extLst>
                <a:ext uri="{FF2B5EF4-FFF2-40B4-BE49-F238E27FC236}">
                  <a16:creationId xmlns:a16="http://schemas.microsoft.com/office/drawing/2014/main" id="{C9AB242E-37FD-067B-6466-F3B59691B2C8}"/>
                </a:ext>
              </a:extLst>
            </p:cNvPr>
            <p:cNvCxnSpPr>
              <a:cxnSpLocks/>
            </p:cNvCxnSpPr>
            <p:nvPr/>
          </p:nvCxnSpPr>
          <p:spPr>
            <a:xfrm flipV="1">
              <a:off x="163316" y="5760439"/>
              <a:ext cx="2256651" cy="7585"/>
            </a:xfrm>
            <a:prstGeom prst="line">
              <a:avLst/>
            </a:prstGeom>
          </p:spPr>
          <p:style>
            <a:lnRef idx="1">
              <a:schemeClr val="accent1"/>
            </a:lnRef>
            <a:fillRef idx="0">
              <a:schemeClr val="accent1"/>
            </a:fillRef>
            <a:effectRef idx="0">
              <a:schemeClr val="accent1"/>
            </a:effectRef>
            <a:fontRef idx="minor">
              <a:schemeClr val="tx1"/>
            </a:fontRef>
          </p:style>
        </p:cxnSp>
      </p:grpSp>
      <p:sp>
        <p:nvSpPr>
          <p:cNvPr id="3225" name="TextBox 3224">
            <a:extLst>
              <a:ext uri="{FF2B5EF4-FFF2-40B4-BE49-F238E27FC236}">
                <a16:creationId xmlns:a16="http://schemas.microsoft.com/office/drawing/2014/main" id="{04197064-B69E-D840-ADBA-85661189D9EA}"/>
              </a:ext>
            </a:extLst>
          </p:cNvPr>
          <p:cNvSpPr txBox="1"/>
          <p:nvPr/>
        </p:nvSpPr>
        <p:spPr>
          <a:xfrm>
            <a:off x="4841154" y="3117241"/>
            <a:ext cx="3185676" cy="276999"/>
          </a:xfrm>
          <a:prstGeom prst="rect">
            <a:avLst/>
          </a:prstGeom>
          <a:noFill/>
        </p:spPr>
        <p:txBody>
          <a:bodyPr wrap="square" rtlCol="0">
            <a:spAutoFit/>
          </a:bodyPr>
          <a:lstStyle/>
          <a:p>
            <a:r>
              <a:rPr lang="en-US" sz="1200" b="1" dirty="0"/>
              <a:t>SC run 10.15.24 </a:t>
            </a:r>
            <a:r>
              <a:rPr lang="en-US" sz="1200" dirty="0">
                <a:solidFill>
                  <a:srgbClr val="FF0000"/>
                </a:solidFill>
              </a:rPr>
              <a:t>(</a:t>
            </a:r>
            <a:r>
              <a:rPr lang="en-US" sz="1200" dirty="0" err="1">
                <a:solidFill>
                  <a:srgbClr val="FF0000"/>
                </a:solidFill>
              </a:rPr>
              <a:t>mtons</a:t>
            </a:r>
            <a:r>
              <a:rPr lang="en-US" sz="1200" dirty="0">
                <a:solidFill>
                  <a:srgbClr val="FF0000"/>
                </a:solidFill>
              </a:rPr>
              <a:t> of CO2e) </a:t>
            </a:r>
          </a:p>
        </p:txBody>
      </p:sp>
      <p:sp>
        <p:nvSpPr>
          <p:cNvPr id="3226" name="TextBox 3225">
            <a:extLst>
              <a:ext uri="{FF2B5EF4-FFF2-40B4-BE49-F238E27FC236}">
                <a16:creationId xmlns:a16="http://schemas.microsoft.com/office/drawing/2014/main" id="{3B53DF84-BE3D-48D1-369B-DE07FEF1F1E3}"/>
              </a:ext>
            </a:extLst>
          </p:cNvPr>
          <p:cNvSpPr txBox="1"/>
          <p:nvPr/>
        </p:nvSpPr>
        <p:spPr>
          <a:xfrm>
            <a:off x="4835838" y="6350767"/>
            <a:ext cx="668822" cy="307777"/>
          </a:xfrm>
          <a:prstGeom prst="rect">
            <a:avLst/>
          </a:prstGeom>
          <a:noFill/>
        </p:spPr>
        <p:txBody>
          <a:bodyPr wrap="square" rtlCol="0">
            <a:spAutoFit/>
          </a:bodyPr>
          <a:lstStyle/>
          <a:p>
            <a:r>
              <a:rPr lang="en-US" sz="1400" b="1" dirty="0"/>
              <a:t>Total</a:t>
            </a:r>
          </a:p>
        </p:txBody>
      </p:sp>
      <p:cxnSp>
        <p:nvCxnSpPr>
          <p:cNvPr id="3228" name="Straight Connector 3227">
            <a:extLst>
              <a:ext uri="{FF2B5EF4-FFF2-40B4-BE49-F238E27FC236}">
                <a16:creationId xmlns:a16="http://schemas.microsoft.com/office/drawing/2014/main" id="{6FCEC14B-76B8-BF1E-F00F-1A4BA438C9BE}"/>
              </a:ext>
            </a:extLst>
          </p:cNvPr>
          <p:cNvCxnSpPr>
            <a:cxnSpLocks/>
          </p:cNvCxnSpPr>
          <p:nvPr/>
        </p:nvCxnSpPr>
        <p:spPr>
          <a:xfrm>
            <a:off x="4878682" y="3361548"/>
            <a:ext cx="2279564"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3230" name="Rectangle 3229">
            <a:extLst>
              <a:ext uri="{FF2B5EF4-FFF2-40B4-BE49-F238E27FC236}">
                <a16:creationId xmlns:a16="http://schemas.microsoft.com/office/drawing/2014/main" id="{124B1104-6E62-AD4F-0563-614648C79E31}"/>
              </a:ext>
            </a:extLst>
          </p:cNvPr>
          <p:cNvSpPr/>
          <p:nvPr/>
        </p:nvSpPr>
        <p:spPr>
          <a:xfrm>
            <a:off x="17161" y="3095262"/>
            <a:ext cx="2283475" cy="3610644"/>
          </a:xfrm>
          <a:prstGeom prst="rect">
            <a:avLst/>
          </a:prstGeom>
          <a:solidFill>
            <a:srgbClr val="FFFF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31" name="Group 3230">
            <a:extLst>
              <a:ext uri="{FF2B5EF4-FFF2-40B4-BE49-F238E27FC236}">
                <a16:creationId xmlns:a16="http://schemas.microsoft.com/office/drawing/2014/main" id="{E1D9A87B-F08D-3133-E056-ABFA1401391C}"/>
              </a:ext>
            </a:extLst>
          </p:cNvPr>
          <p:cNvGrpSpPr/>
          <p:nvPr/>
        </p:nvGrpSpPr>
        <p:grpSpPr>
          <a:xfrm>
            <a:off x="1697853" y="3351967"/>
            <a:ext cx="617047" cy="3233111"/>
            <a:chOff x="2196170" y="2846488"/>
            <a:chExt cx="893354" cy="3233111"/>
          </a:xfrm>
        </p:grpSpPr>
        <p:sp>
          <p:nvSpPr>
            <p:cNvPr id="3254" name="TextBox 3253">
              <a:extLst>
                <a:ext uri="{FF2B5EF4-FFF2-40B4-BE49-F238E27FC236}">
                  <a16:creationId xmlns:a16="http://schemas.microsoft.com/office/drawing/2014/main" id="{3EEDEA30-21B1-A717-7BCA-82CACB9E1533}"/>
                </a:ext>
              </a:extLst>
            </p:cNvPr>
            <p:cNvSpPr txBox="1"/>
            <p:nvPr/>
          </p:nvSpPr>
          <p:spPr>
            <a:xfrm>
              <a:off x="2285019" y="2860188"/>
              <a:ext cx="758828" cy="276999"/>
            </a:xfrm>
            <a:prstGeom prst="rect">
              <a:avLst/>
            </a:prstGeom>
            <a:solidFill>
              <a:srgbClr val="FFFF99"/>
            </a:solidFill>
          </p:spPr>
          <p:txBody>
            <a:bodyPr wrap="square" rtlCol="0">
              <a:spAutoFit/>
            </a:bodyPr>
            <a:lstStyle/>
            <a:p>
              <a:pPr algn="r"/>
              <a:r>
                <a:rPr lang="en-US" sz="1200" b="1" dirty="0"/>
                <a:t>.34</a:t>
              </a:r>
            </a:p>
          </p:txBody>
        </p:sp>
        <p:sp>
          <p:nvSpPr>
            <p:cNvPr id="3255" name="TextBox 3254">
              <a:extLst>
                <a:ext uri="{FF2B5EF4-FFF2-40B4-BE49-F238E27FC236}">
                  <a16:creationId xmlns:a16="http://schemas.microsoft.com/office/drawing/2014/main" id="{842F8268-9B9E-56C4-1DF6-CA1703D6449E}"/>
                </a:ext>
              </a:extLst>
            </p:cNvPr>
            <p:cNvSpPr txBox="1"/>
            <p:nvPr/>
          </p:nvSpPr>
          <p:spPr>
            <a:xfrm>
              <a:off x="2314504" y="3110790"/>
              <a:ext cx="758828" cy="276999"/>
            </a:xfrm>
            <a:prstGeom prst="rect">
              <a:avLst/>
            </a:prstGeom>
            <a:noFill/>
          </p:spPr>
          <p:txBody>
            <a:bodyPr wrap="square" rtlCol="0">
              <a:spAutoFit/>
            </a:bodyPr>
            <a:lstStyle/>
            <a:p>
              <a:pPr algn="r"/>
              <a:r>
                <a:rPr lang="en-US" sz="1200" b="1" dirty="0"/>
                <a:t>293.</a:t>
              </a:r>
            </a:p>
          </p:txBody>
        </p:sp>
        <p:sp>
          <p:nvSpPr>
            <p:cNvPr id="3256" name="TextBox 3255">
              <a:extLst>
                <a:ext uri="{FF2B5EF4-FFF2-40B4-BE49-F238E27FC236}">
                  <a16:creationId xmlns:a16="http://schemas.microsoft.com/office/drawing/2014/main" id="{C7FD039E-F8C0-5D36-60DA-3F2C22BD105E}"/>
                </a:ext>
              </a:extLst>
            </p:cNvPr>
            <p:cNvSpPr txBox="1"/>
            <p:nvPr/>
          </p:nvSpPr>
          <p:spPr>
            <a:xfrm>
              <a:off x="2316555" y="3604084"/>
              <a:ext cx="758829" cy="276999"/>
            </a:xfrm>
            <a:prstGeom prst="rect">
              <a:avLst/>
            </a:prstGeom>
            <a:noFill/>
          </p:spPr>
          <p:txBody>
            <a:bodyPr wrap="square" rtlCol="0">
              <a:spAutoFit/>
            </a:bodyPr>
            <a:lstStyle/>
            <a:p>
              <a:pPr algn="r"/>
              <a:r>
                <a:rPr lang="en-US" sz="1200" b="1" dirty="0"/>
                <a:t>2.9</a:t>
              </a:r>
            </a:p>
          </p:txBody>
        </p:sp>
        <p:sp>
          <p:nvSpPr>
            <p:cNvPr id="3257" name="TextBox 3256">
              <a:extLst>
                <a:ext uri="{FF2B5EF4-FFF2-40B4-BE49-F238E27FC236}">
                  <a16:creationId xmlns:a16="http://schemas.microsoft.com/office/drawing/2014/main" id="{4CC717DD-45D2-2916-FB70-9F03AA351580}"/>
                </a:ext>
              </a:extLst>
            </p:cNvPr>
            <p:cNvSpPr txBox="1"/>
            <p:nvPr/>
          </p:nvSpPr>
          <p:spPr>
            <a:xfrm>
              <a:off x="2316049" y="3810967"/>
              <a:ext cx="758829" cy="276999"/>
            </a:xfrm>
            <a:prstGeom prst="rect">
              <a:avLst/>
            </a:prstGeom>
            <a:noFill/>
          </p:spPr>
          <p:txBody>
            <a:bodyPr wrap="square" rtlCol="0">
              <a:spAutoFit/>
            </a:bodyPr>
            <a:lstStyle/>
            <a:p>
              <a:pPr algn="r"/>
              <a:r>
                <a:rPr lang="en-US" sz="1200" b="1" dirty="0"/>
                <a:t>.94</a:t>
              </a:r>
            </a:p>
          </p:txBody>
        </p:sp>
        <p:sp>
          <p:nvSpPr>
            <p:cNvPr id="3258" name="TextBox 3257">
              <a:extLst>
                <a:ext uri="{FF2B5EF4-FFF2-40B4-BE49-F238E27FC236}">
                  <a16:creationId xmlns:a16="http://schemas.microsoft.com/office/drawing/2014/main" id="{690FADDC-D466-74D7-7C6C-F10EB27D7B32}"/>
                </a:ext>
              </a:extLst>
            </p:cNvPr>
            <p:cNvSpPr txBox="1"/>
            <p:nvPr/>
          </p:nvSpPr>
          <p:spPr>
            <a:xfrm>
              <a:off x="2310062" y="4248014"/>
              <a:ext cx="758828" cy="276999"/>
            </a:xfrm>
            <a:prstGeom prst="rect">
              <a:avLst/>
            </a:prstGeom>
            <a:noFill/>
          </p:spPr>
          <p:txBody>
            <a:bodyPr wrap="square" rtlCol="0">
              <a:spAutoFit/>
            </a:bodyPr>
            <a:lstStyle/>
            <a:p>
              <a:pPr algn="r"/>
              <a:r>
                <a:rPr lang="en-US" sz="1200" b="1" dirty="0"/>
                <a:t>45.4</a:t>
              </a:r>
            </a:p>
          </p:txBody>
        </p:sp>
        <p:sp>
          <p:nvSpPr>
            <p:cNvPr id="3259" name="TextBox 3258">
              <a:extLst>
                <a:ext uri="{FF2B5EF4-FFF2-40B4-BE49-F238E27FC236}">
                  <a16:creationId xmlns:a16="http://schemas.microsoft.com/office/drawing/2014/main" id="{B34883E5-CB85-8EA6-BDA4-B48A2D994829}"/>
                </a:ext>
              </a:extLst>
            </p:cNvPr>
            <p:cNvSpPr txBox="1"/>
            <p:nvPr/>
          </p:nvSpPr>
          <p:spPr>
            <a:xfrm>
              <a:off x="2310136" y="4871701"/>
              <a:ext cx="758828" cy="276999"/>
            </a:xfrm>
            <a:prstGeom prst="rect">
              <a:avLst/>
            </a:prstGeom>
            <a:noFill/>
          </p:spPr>
          <p:txBody>
            <a:bodyPr wrap="square" rtlCol="0">
              <a:spAutoFit/>
            </a:bodyPr>
            <a:lstStyle/>
            <a:p>
              <a:pPr algn="r"/>
              <a:r>
                <a:rPr lang="en-US" sz="1200" b="1" dirty="0"/>
                <a:t>4.4</a:t>
              </a:r>
            </a:p>
          </p:txBody>
        </p:sp>
        <p:sp>
          <p:nvSpPr>
            <p:cNvPr id="3260" name="TextBox 3259">
              <a:extLst>
                <a:ext uri="{FF2B5EF4-FFF2-40B4-BE49-F238E27FC236}">
                  <a16:creationId xmlns:a16="http://schemas.microsoft.com/office/drawing/2014/main" id="{B8FE06EE-FFFB-37A0-7D99-592263044732}"/>
                </a:ext>
              </a:extLst>
            </p:cNvPr>
            <p:cNvSpPr txBox="1"/>
            <p:nvPr/>
          </p:nvSpPr>
          <p:spPr>
            <a:xfrm>
              <a:off x="2314504" y="4735171"/>
              <a:ext cx="758829" cy="276999"/>
            </a:xfrm>
            <a:prstGeom prst="rect">
              <a:avLst/>
            </a:prstGeom>
            <a:noFill/>
          </p:spPr>
          <p:txBody>
            <a:bodyPr wrap="square" rtlCol="0">
              <a:spAutoFit/>
            </a:bodyPr>
            <a:lstStyle/>
            <a:p>
              <a:pPr algn="r"/>
              <a:r>
                <a:rPr lang="en-US" sz="1200" b="1" dirty="0"/>
                <a:t>2.4</a:t>
              </a:r>
            </a:p>
          </p:txBody>
        </p:sp>
        <p:sp>
          <p:nvSpPr>
            <p:cNvPr id="3261" name="TextBox 3260">
              <a:extLst>
                <a:ext uri="{FF2B5EF4-FFF2-40B4-BE49-F238E27FC236}">
                  <a16:creationId xmlns:a16="http://schemas.microsoft.com/office/drawing/2014/main" id="{D35FE8B3-6C1D-ACFF-2C13-6C2D60AB3870}"/>
                </a:ext>
              </a:extLst>
            </p:cNvPr>
            <p:cNvSpPr txBox="1"/>
            <p:nvPr/>
          </p:nvSpPr>
          <p:spPr>
            <a:xfrm>
              <a:off x="2314504" y="5443599"/>
              <a:ext cx="758828" cy="276999"/>
            </a:xfrm>
            <a:prstGeom prst="rect">
              <a:avLst/>
            </a:prstGeom>
            <a:noFill/>
          </p:spPr>
          <p:txBody>
            <a:bodyPr wrap="square" rtlCol="0">
              <a:spAutoFit/>
            </a:bodyPr>
            <a:lstStyle/>
            <a:p>
              <a:pPr algn="r"/>
              <a:r>
                <a:rPr lang="en-US" sz="1200" b="1" dirty="0"/>
                <a:t>0.0</a:t>
              </a:r>
            </a:p>
          </p:txBody>
        </p:sp>
        <p:sp>
          <p:nvSpPr>
            <p:cNvPr id="3262" name="TextBox 3261">
              <a:extLst>
                <a:ext uri="{FF2B5EF4-FFF2-40B4-BE49-F238E27FC236}">
                  <a16:creationId xmlns:a16="http://schemas.microsoft.com/office/drawing/2014/main" id="{89DC01BC-8C46-F4E1-6719-4EE1527E71A2}"/>
                </a:ext>
              </a:extLst>
            </p:cNvPr>
            <p:cNvSpPr txBox="1"/>
            <p:nvPr/>
          </p:nvSpPr>
          <p:spPr>
            <a:xfrm>
              <a:off x="2303524" y="5159000"/>
              <a:ext cx="786000" cy="276999"/>
            </a:xfrm>
            <a:prstGeom prst="rect">
              <a:avLst/>
            </a:prstGeom>
            <a:noFill/>
          </p:spPr>
          <p:txBody>
            <a:bodyPr wrap="square" rtlCol="0">
              <a:spAutoFit/>
            </a:bodyPr>
            <a:lstStyle/>
            <a:p>
              <a:pPr algn="r"/>
              <a:r>
                <a:rPr lang="en-US" sz="1200" b="1" dirty="0"/>
                <a:t>1.9</a:t>
              </a:r>
            </a:p>
          </p:txBody>
        </p:sp>
        <p:sp>
          <p:nvSpPr>
            <p:cNvPr id="3263" name="TextBox 3262">
              <a:extLst>
                <a:ext uri="{FF2B5EF4-FFF2-40B4-BE49-F238E27FC236}">
                  <a16:creationId xmlns:a16="http://schemas.microsoft.com/office/drawing/2014/main" id="{45AC58B4-4B89-9814-6B13-EA754E3A3858}"/>
                </a:ext>
              </a:extLst>
            </p:cNvPr>
            <p:cNvSpPr txBox="1"/>
            <p:nvPr/>
          </p:nvSpPr>
          <p:spPr>
            <a:xfrm>
              <a:off x="2196170" y="5802600"/>
              <a:ext cx="846917" cy="276999"/>
            </a:xfrm>
            <a:prstGeom prst="rect">
              <a:avLst/>
            </a:prstGeom>
            <a:noFill/>
          </p:spPr>
          <p:txBody>
            <a:bodyPr wrap="square" rtlCol="0">
              <a:spAutoFit/>
            </a:bodyPr>
            <a:lstStyle/>
            <a:p>
              <a:pPr algn="r"/>
              <a:r>
                <a:rPr lang="en-US" sz="1200" b="1" dirty="0"/>
                <a:t>351.3</a:t>
              </a:r>
            </a:p>
          </p:txBody>
        </p:sp>
        <p:sp>
          <p:nvSpPr>
            <p:cNvPr id="3338" name="TextBox 3337">
              <a:extLst>
                <a:ext uri="{FF2B5EF4-FFF2-40B4-BE49-F238E27FC236}">
                  <a16:creationId xmlns:a16="http://schemas.microsoft.com/office/drawing/2014/main" id="{4521FB0D-76AD-07A0-5797-91BC77FF29E9}"/>
                </a:ext>
              </a:extLst>
            </p:cNvPr>
            <p:cNvSpPr txBox="1"/>
            <p:nvPr/>
          </p:nvSpPr>
          <p:spPr>
            <a:xfrm>
              <a:off x="2277184" y="2846488"/>
              <a:ext cx="758828" cy="276999"/>
            </a:xfrm>
            <a:prstGeom prst="rect">
              <a:avLst/>
            </a:prstGeom>
            <a:solidFill>
              <a:srgbClr val="FFFF99"/>
            </a:solidFill>
          </p:spPr>
          <p:txBody>
            <a:bodyPr wrap="square" rtlCol="0">
              <a:spAutoFit/>
            </a:bodyPr>
            <a:lstStyle/>
            <a:p>
              <a:pPr algn="r"/>
              <a:r>
                <a:rPr lang="en-US" sz="1200" b="1" dirty="0"/>
                <a:t>.34</a:t>
              </a:r>
            </a:p>
          </p:txBody>
        </p:sp>
      </p:grpSp>
      <p:grpSp>
        <p:nvGrpSpPr>
          <p:cNvPr id="3232" name="Group 3231">
            <a:extLst>
              <a:ext uri="{FF2B5EF4-FFF2-40B4-BE49-F238E27FC236}">
                <a16:creationId xmlns:a16="http://schemas.microsoft.com/office/drawing/2014/main" id="{EBA22A33-43C3-0F40-18FC-3B0B27E37425}"/>
              </a:ext>
            </a:extLst>
          </p:cNvPr>
          <p:cNvGrpSpPr/>
          <p:nvPr/>
        </p:nvGrpSpPr>
        <p:grpSpPr>
          <a:xfrm>
            <a:off x="-6854" y="3371988"/>
            <a:ext cx="2127437" cy="2852795"/>
            <a:chOff x="116435" y="3163661"/>
            <a:chExt cx="2715022" cy="2852795"/>
          </a:xfrm>
        </p:grpSpPr>
        <p:grpSp>
          <p:nvGrpSpPr>
            <p:cNvPr id="3243" name="Group 3242">
              <a:extLst>
                <a:ext uri="{FF2B5EF4-FFF2-40B4-BE49-F238E27FC236}">
                  <a16:creationId xmlns:a16="http://schemas.microsoft.com/office/drawing/2014/main" id="{8970EADB-64AF-2FE8-009E-977062ED3645}"/>
                </a:ext>
              </a:extLst>
            </p:cNvPr>
            <p:cNvGrpSpPr/>
            <p:nvPr/>
          </p:nvGrpSpPr>
          <p:grpSpPr>
            <a:xfrm>
              <a:off x="116435" y="3163661"/>
              <a:ext cx="2715022" cy="2573082"/>
              <a:chOff x="51410" y="2261711"/>
              <a:chExt cx="2715022" cy="2573082"/>
            </a:xfrm>
          </p:grpSpPr>
          <p:sp>
            <p:nvSpPr>
              <p:cNvPr id="3245" name="TextBox 3244">
                <a:extLst>
                  <a:ext uri="{FF2B5EF4-FFF2-40B4-BE49-F238E27FC236}">
                    <a16:creationId xmlns:a16="http://schemas.microsoft.com/office/drawing/2014/main" id="{FCC999A7-180A-7795-7014-7CCD31FF4E5B}"/>
                  </a:ext>
                </a:extLst>
              </p:cNvPr>
              <p:cNvSpPr txBox="1"/>
              <p:nvPr/>
            </p:nvSpPr>
            <p:spPr>
              <a:xfrm>
                <a:off x="51410" y="2517420"/>
                <a:ext cx="2332582" cy="276999"/>
              </a:xfrm>
              <a:prstGeom prst="rect">
                <a:avLst/>
              </a:prstGeom>
              <a:noFill/>
            </p:spPr>
            <p:txBody>
              <a:bodyPr wrap="square" rtlCol="0">
                <a:spAutoFit/>
              </a:bodyPr>
              <a:lstStyle/>
              <a:p>
                <a:r>
                  <a:rPr lang="en-US" sz="1200" dirty="0"/>
                  <a:t>Coffee supplier</a:t>
                </a:r>
              </a:p>
            </p:txBody>
          </p:sp>
          <p:sp>
            <p:nvSpPr>
              <p:cNvPr id="3246" name="TextBox 3245">
                <a:extLst>
                  <a:ext uri="{FF2B5EF4-FFF2-40B4-BE49-F238E27FC236}">
                    <a16:creationId xmlns:a16="http://schemas.microsoft.com/office/drawing/2014/main" id="{B2445396-4AA9-F0D9-0DDF-6C3076CEA5B5}"/>
                  </a:ext>
                </a:extLst>
              </p:cNvPr>
              <p:cNvSpPr txBox="1"/>
              <p:nvPr/>
            </p:nvSpPr>
            <p:spPr>
              <a:xfrm>
                <a:off x="79041" y="3468397"/>
                <a:ext cx="2429082" cy="276999"/>
              </a:xfrm>
              <a:prstGeom prst="rect">
                <a:avLst/>
              </a:prstGeom>
              <a:noFill/>
            </p:spPr>
            <p:txBody>
              <a:bodyPr wrap="square" rtlCol="0">
                <a:spAutoFit/>
              </a:bodyPr>
              <a:lstStyle/>
              <a:p>
                <a:r>
                  <a:rPr lang="en-US" sz="1200" dirty="0"/>
                  <a:t>Warehouse ops (year) </a:t>
                </a:r>
              </a:p>
            </p:txBody>
          </p:sp>
          <p:sp>
            <p:nvSpPr>
              <p:cNvPr id="3247" name="TextBox 3246">
                <a:extLst>
                  <a:ext uri="{FF2B5EF4-FFF2-40B4-BE49-F238E27FC236}">
                    <a16:creationId xmlns:a16="http://schemas.microsoft.com/office/drawing/2014/main" id="{61A7BF21-1EBE-6DCF-DF69-C3E0DA1DBB80}"/>
                  </a:ext>
                </a:extLst>
              </p:cNvPr>
              <p:cNvSpPr txBox="1"/>
              <p:nvPr/>
            </p:nvSpPr>
            <p:spPr>
              <a:xfrm>
                <a:off x="54461" y="2261711"/>
                <a:ext cx="2437293" cy="276999"/>
              </a:xfrm>
              <a:prstGeom prst="rect">
                <a:avLst/>
              </a:prstGeom>
              <a:noFill/>
            </p:spPr>
            <p:txBody>
              <a:bodyPr wrap="square" rtlCol="0">
                <a:spAutoFit/>
              </a:bodyPr>
              <a:lstStyle/>
              <a:p>
                <a:r>
                  <a:rPr lang="en-US" sz="1200" dirty="0"/>
                  <a:t>Manuf. of coffee bags</a:t>
                </a:r>
              </a:p>
            </p:txBody>
          </p:sp>
          <p:sp>
            <p:nvSpPr>
              <p:cNvPr id="3248" name="TextBox 3247">
                <a:extLst>
                  <a:ext uri="{FF2B5EF4-FFF2-40B4-BE49-F238E27FC236}">
                    <a16:creationId xmlns:a16="http://schemas.microsoft.com/office/drawing/2014/main" id="{12802690-A512-F718-C487-DBD2DAECB7B2}"/>
                  </a:ext>
                </a:extLst>
              </p:cNvPr>
              <p:cNvSpPr txBox="1"/>
              <p:nvPr/>
            </p:nvSpPr>
            <p:spPr>
              <a:xfrm>
                <a:off x="75940" y="4557794"/>
                <a:ext cx="1860178" cy="276999"/>
              </a:xfrm>
              <a:prstGeom prst="rect">
                <a:avLst/>
              </a:prstGeom>
              <a:noFill/>
            </p:spPr>
            <p:txBody>
              <a:bodyPr wrap="square" rtlCol="0">
                <a:spAutoFit/>
              </a:bodyPr>
              <a:lstStyle/>
              <a:p>
                <a:r>
                  <a:rPr lang="en-US" sz="1200" dirty="0"/>
                  <a:t>Ship to N.Y. harbor</a:t>
                </a:r>
                <a:endParaRPr lang="en-US" sz="1200" b="1" dirty="0"/>
              </a:p>
            </p:txBody>
          </p:sp>
          <p:sp>
            <p:nvSpPr>
              <p:cNvPr id="3249" name="TextBox 3248">
                <a:extLst>
                  <a:ext uri="{FF2B5EF4-FFF2-40B4-BE49-F238E27FC236}">
                    <a16:creationId xmlns:a16="http://schemas.microsoft.com/office/drawing/2014/main" id="{3E4D07B4-66AA-6FE1-83F8-19C0CB46AFB3}"/>
                  </a:ext>
                </a:extLst>
              </p:cNvPr>
              <p:cNvSpPr txBox="1"/>
              <p:nvPr/>
            </p:nvSpPr>
            <p:spPr>
              <a:xfrm>
                <a:off x="77138" y="3966114"/>
                <a:ext cx="2332582" cy="276999"/>
              </a:xfrm>
              <a:prstGeom prst="rect">
                <a:avLst/>
              </a:prstGeom>
              <a:noFill/>
            </p:spPr>
            <p:txBody>
              <a:bodyPr wrap="square" rtlCol="0">
                <a:spAutoFit/>
              </a:bodyPr>
              <a:lstStyle/>
              <a:p>
                <a:r>
                  <a:rPr lang="en-US" sz="1200" dirty="0"/>
                  <a:t>Coffee bag loading on ship</a:t>
                </a:r>
              </a:p>
            </p:txBody>
          </p:sp>
          <p:sp>
            <p:nvSpPr>
              <p:cNvPr id="3250" name="TextBox 3249">
                <a:extLst>
                  <a:ext uri="{FF2B5EF4-FFF2-40B4-BE49-F238E27FC236}">
                    <a16:creationId xmlns:a16="http://schemas.microsoft.com/office/drawing/2014/main" id="{49E212D8-E605-FF53-34B2-05DAF1DD9ED5}"/>
                  </a:ext>
                </a:extLst>
              </p:cNvPr>
              <p:cNvSpPr txBox="1"/>
              <p:nvPr/>
            </p:nvSpPr>
            <p:spPr>
              <a:xfrm>
                <a:off x="67299" y="2803688"/>
                <a:ext cx="2699133" cy="646331"/>
              </a:xfrm>
              <a:prstGeom prst="rect">
                <a:avLst/>
              </a:prstGeom>
              <a:noFill/>
            </p:spPr>
            <p:txBody>
              <a:bodyPr wrap="square" rtlCol="0">
                <a:spAutoFit/>
              </a:bodyPr>
              <a:lstStyle/>
              <a:p>
                <a:r>
                  <a:rPr lang="en-US" sz="1200" dirty="0"/>
                  <a:t>Trucking to Warehouse</a:t>
                </a:r>
              </a:p>
              <a:p>
                <a:r>
                  <a:rPr lang="en-US" sz="1200" dirty="0"/>
                  <a:t>    - Freight Co. #2</a:t>
                </a:r>
              </a:p>
              <a:p>
                <a:r>
                  <a:rPr lang="en-US" sz="1200" dirty="0"/>
                  <a:t>    - unloading</a:t>
                </a:r>
              </a:p>
            </p:txBody>
          </p:sp>
          <p:sp>
            <p:nvSpPr>
              <p:cNvPr id="3251" name="TextBox 3250">
                <a:extLst>
                  <a:ext uri="{FF2B5EF4-FFF2-40B4-BE49-F238E27FC236}">
                    <a16:creationId xmlns:a16="http://schemas.microsoft.com/office/drawing/2014/main" id="{CD2F1DC3-66D1-D81C-048A-DFDD217A7E88}"/>
                  </a:ext>
                </a:extLst>
              </p:cNvPr>
              <p:cNvSpPr txBox="1"/>
              <p:nvPr/>
            </p:nvSpPr>
            <p:spPr>
              <a:xfrm>
                <a:off x="229459" y="3648372"/>
                <a:ext cx="1747534" cy="276999"/>
              </a:xfrm>
              <a:prstGeom prst="rect">
                <a:avLst/>
              </a:prstGeom>
              <a:noFill/>
            </p:spPr>
            <p:txBody>
              <a:bodyPr wrap="square" rtlCol="0">
                <a:spAutoFit/>
              </a:bodyPr>
              <a:lstStyle/>
              <a:p>
                <a:r>
                  <a:rPr lang="en-US" sz="1200" dirty="0"/>
                  <a:t>- Heating / cooling </a:t>
                </a:r>
              </a:p>
            </p:txBody>
          </p:sp>
          <p:sp>
            <p:nvSpPr>
              <p:cNvPr id="3252" name="TextBox 3251">
                <a:extLst>
                  <a:ext uri="{FF2B5EF4-FFF2-40B4-BE49-F238E27FC236}">
                    <a16:creationId xmlns:a16="http://schemas.microsoft.com/office/drawing/2014/main" id="{E1A960D6-3D23-7024-7A23-DDB21F757E58}"/>
                  </a:ext>
                </a:extLst>
              </p:cNvPr>
              <p:cNvSpPr txBox="1"/>
              <p:nvPr/>
            </p:nvSpPr>
            <p:spPr>
              <a:xfrm>
                <a:off x="238386" y="4133238"/>
                <a:ext cx="1672536" cy="276999"/>
              </a:xfrm>
              <a:prstGeom prst="rect">
                <a:avLst/>
              </a:prstGeom>
              <a:noFill/>
            </p:spPr>
            <p:txBody>
              <a:bodyPr wrap="square" rtlCol="0">
                <a:spAutoFit/>
              </a:bodyPr>
              <a:lstStyle/>
              <a:p>
                <a:r>
                  <a:rPr lang="en-US" sz="1200" dirty="0"/>
                  <a:t>- forklift ops </a:t>
                </a:r>
              </a:p>
            </p:txBody>
          </p:sp>
          <p:sp>
            <p:nvSpPr>
              <p:cNvPr id="3253" name="TextBox 3252">
                <a:extLst>
                  <a:ext uri="{FF2B5EF4-FFF2-40B4-BE49-F238E27FC236}">
                    <a16:creationId xmlns:a16="http://schemas.microsoft.com/office/drawing/2014/main" id="{EAD4D4D1-E7FF-2526-A716-207654557401}"/>
                  </a:ext>
                </a:extLst>
              </p:cNvPr>
              <p:cNvSpPr txBox="1"/>
              <p:nvPr/>
            </p:nvSpPr>
            <p:spPr>
              <a:xfrm>
                <a:off x="237330" y="4246060"/>
                <a:ext cx="1990949" cy="307777"/>
              </a:xfrm>
              <a:prstGeom prst="rect">
                <a:avLst/>
              </a:prstGeom>
              <a:noFill/>
            </p:spPr>
            <p:txBody>
              <a:bodyPr wrap="square" rtlCol="0">
                <a:spAutoFit/>
              </a:bodyPr>
              <a:lstStyle/>
              <a:p>
                <a:r>
                  <a:rPr lang="en-US" sz="1400" dirty="0"/>
                  <a:t>- </a:t>
                </a:r>
                <a:r>
                  <a:rPr lang="en-US" sz="1200" dirty="0"/>
                  <a:t>cranes for loading </a:t>
                </a:r>
              </a:p>
            </p:txBody>
          </p:sp>
        </p:grpSp>
        <p:sp>
          <p:nvSpPr>
            <p:cNvPr id="3244" name="TextBox 3243">
              <a:extLst>
                <a:ext uri="{FF2B5EF4-FFF2-40B4-BE49-F238E27FC236}">
                  <a16:creationId xmlns:a16="http://schemas.microsoft.com/office/drawing/2014/main" id="{B3DFDD21-EFA4-3B92-D55D-1384D4D04D0A}"/>
                </a:ext>
              </a:extLst>
            </p:cNvPr>
            <p:cNvSpPr txBox="1"/>
            <p:nvPr/>
          </p:nvSpPr>
          <p:spPr>
            <a:xfrm>
              <a:off x="128893" y="5739457"/>
              <a:ext cx="2161122" cy="276999"/>
            </a:xfrm>
            <a:prstGeom prst="rect">
              <a:avLst/>
            </a:prstGeom>
            <a:noFill/>
          </p:spPr>
          <p:txBody>
            <a:bodyPr wrap="square" rtlCol="0">
              <a:spAutoFit/>
            </a:bodyPr>
            <a:lstStyle/>
            <a:p>
              <a:r>
                <a:rPr lang="en-US" sz="1200" b="1" dirty="0"/>
                <a:t>Purchase GHG credits</a:t>
              </a:r>
            </a:p>
          </p:txBody>
        </p:sp>
      </p:grpSp>
      <p:grpSp>
        <p:nvGrpSpPr>
          <p:cNvPr id="3233" name="Group 3232">
            <a:extLst>
              <a:ext uri="{FF2B5EF4-FFF2-40B4-BE49-F238E27FC236}">
                <a16:creationId xmlns:a16="http://schemas.microsoft.com/office/drawing/2014/main" id="{81FB7344-BCFB-EFE4-A133-CA06427E8741}"/>
              </a:ext>
            </a:extLst>
          </p:cNvPr>
          <p:cNvGrpSpPr/>
          <p:nvPr/>
        </p:nvGrpSpPr>
        <p:grpSpPr>
          <a:xfrm>
            <a:off x="10015" y="3627697"/>
            <a:ext cx="2290621" cy="2620783"/>
            <a:chOff x="135733" y="3147241"/>
            <a:chExt cx="2290621" cy="2620783"/>
          </a:xfrm>
        </p:grpSpPr>
        <p:cxnSp>
          <p:nvCxnSpPr>
            <p:cNvPr id="3236" name="Straight Connector 3235">
              <a:extLst>
                <a:ext uri="{FF2B5EF4-FFF2-40B4-BE49-F238E27FC236}">
                  <a16:creationId xmlns:a16="http://schemas.microsoft.com/office/drawing/2014/main" id="{90881B03-4114-C6AF-BD13-28C6BAC95AB9}"/>
                </a:ext>
              </a:extLst>
            </p:cNvPr>
            <p:cNvCxnSpPr>
              <a:cxnSpLocks/>
            </p:cNvCxnSpPr>
            <p:nvPr/>
          </p:nvCxnSpPr>
          <p:spPr>
            <a:xfrm flipV="1">
              <a:off x="135733" y="3147241"/>
              <a:ext cx="2290621" cy="11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37" name="Straight Connector 3236">
              <a:extLst>
                <a:ext uri="{FF2B5EF4-FFF2-40B4-BE49-F238E27FC236}">
                  <a16:creationId xmlns:a16="http://schemas.microsoft.com/office/drawing/2014/main" id="{32A54D70-32DE-D237-5CC2-F32036FB4D8F}"/>
                </a:ext>
              </a:extLst>
            </p:cNvPr>
            <p:cNvCxnSpPr>
              <a:cxnSpLocks/>
            </p:cNvCxnSpPr>
            <p:nvPr/>
          </p:nvCxnSpPr>
          <p:spPr>
            <a:xfrm flipV="1">
              <a:off x="151212" y="3424240"/>
              <a:ext cx="2275142" cy="68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38" name="Straight Connector 3237">
              <a:extLst>
                <a:ext uri="{FF2B5EF4-FFF2-40B4-BE49-F238E27FC236}">
                  <a16:creationId xmlns:a16="http://schemas.microsoft.com/office/drawing/2014/main" id="{C596AD71-3019-1B45-04ED-09463A3DDDE1}"/>
                </a:ext>
              </a:extLst>
            </p:cNvPr>
            <p:cNvCxnSpPr>
              <a:cxnSpLocks/>
            </p:cNvCxnSpPr>
            <p:nvPr/>
          </p:nvCxnSpPr>
          <p:spPr>
            <a:xfrm flipV="1">
              <a:off x="151212" y="4088710"/>
              <a:ext cx="2268755" cy="9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40" name="Straight Connector 3239">
              <a:extLst>
                <a:ext uri="{FF2B5EF4-FFF2-40B4-BE49-F238E27FC236}">
                  <a16:creationId xmlns:a16="http://schemas.microsoft.com/office/drawing/2014/main" id="{3BD01567-B227-473B-7F94-F41EC95E7B61}"/>
                </a:ext>
              </a:extLst>
            </p:cNvPr>
            <p:cNvCxnSpPr>
              <a:cxnSpLocks/>
            </p:cNvCxnSpPr>
            <p:nvPr/>
          </p:nvCxnSpPr>
          <p:spPr>
            <a:xfrm flipV="1">
              <a:off x="163316" y="5165963"/>
              <a:ext cx="2256651" cy="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241" name="Straight Connector 3240">
              <a:extLst>
                <a:ext uri="{FF2B5EF4-FFF2-40B4-BE49-F238E27FC236}">
                  <a16:creationId xmlns:a16="http://schemas.microsoft.com/office/drawing/2014/main" id="{2642C907-2957-BAB7-E365-F798A00FB150}"/>
                </a:ext>
              </a:extLst>
            </p:cNvPr>
            <p:cNvCxnSpPr>
              <a:cxnSpLocks/>
            </p:cNvCxnSpPr>
            <p:nvPr/>
          </p:nvCxnSpPr>
          <p:spPr>
            <a:xfrm flipV="1">
              <a:off x="142867" y="5457333"/>
              <a:ext cx="2277100" cy="87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42" name="Straight Connector 3241">
              <a:extLst>
                <a:ext uri="{FF2B5EF4-FFF2-40B4-BE49-F238E27FC236}">
                  <a16:creationId xmlns:a16="http://schemas.microsoft.com/office/drawing/2014/main" id="{FD511BA6-EC0F-5BB2-3073-9A6247342C02}"/>
                </a:ext>
              </a:extLst>
            </p:cNvPr>
            <p:cNvCxnSpPr>
              <a:cxnSpLocks/>
            </p:cNvCxnSpPr>
            <p:nvPr/>
          </p:nvCxnSpPr>
          <p:spPr>
            <a:xfrm flipV="1">
              <a:off x="163316" y="5760439"/>
              <a:ext cx="2256651" cy="7585"/>
            </a:xfrm>
            <a:prstGeom prst="line">
              <a:avLst/>
            </a:prstGeom>
          </p:spPr>
          <p:style>
            <a:lnRef idx="1">
              <a:schemeClr val="accent1"/>
            </a:lnRef>
            <a:fillRef idx="0">
              <a:schemeClr val="accent1"/>
            </a:fillRef>
            <a:effectRef idx="0">
              <a:schemeClr val="accent1"/>
            </a:effectRef>
            <a:fontRef idx="minor">
              <a:schemeClr val="tx1"/>
            </a:fontRef>
          </p:style>
        </p:cxnSp>
      </p:grpSp>
      <p:sp>
        <p:nvSpPr>
          <p:cNvPr id="3234" name="TextBox 3233">
            <a:extLst>
              <a:ext uri="{FF2B5EF4-FFF2-40B4-BE49-F238E27FC236}">
                <a16:creationId xmlns:a16="http://schemas.microsoft.com/office/drawing/2014/main" id="{9EA44CB2-2425-1136-778A-64886F5E6A41}"/>
              </a:ext>
            </a:extLst>
          </p:cNvPr>
          <p:cNvSpPr txBox="1"/>
          <p:nvPr/>
        </p:nvSpPr>
        <p:spPr>
          <a:xfrm>
            <a:off x="39868" y="3109739"/>
            <a:ext cx="3185676" cy="276999"/>
          </a:xfrm>
          <a:prstGeom prst="rect">
            <a:avLst/>
          </a:prstGeom>
          <a:noFill/>
        </p:spPr>
        <p:txBody>
          <a:bodyPr wrap="square" rtlCol="0">
            <a:spAutoFit/>
          </a:bodyPr>
          <a:lstStyle/>
          <a:p>
            <a:r>
              <a:rPr lang="en-US" sz="1200" b="1" dirty="0"/>
              <a:t>DT Baseline </a:t>
            </a:r>
            <a:r>
              <a:rPr lang="en-US" sz="1200" dirty="0">
                <a:solidFill>
                  <a:srgbClr val="FF0000"/>
                </a:solidFill>
              </a:rPr>
              <a:t>(metric tons of CO2e) </a:t>
            </a:r>
          </a:p>
        </p:txBody>
      </p:sp>
      <p:sp>
        <p:nvSpPr>
          <p:cNvPr id="3235" name="TextBox 3234">
            <a:extLst>
              <a:ext uri="{FF2B5EF4-FFF2-40B4-BE49-F238E27FC236}">
                <a16:creationId xmlns:a16="http://schemas.microsoft.com/office/drawing/2014/main" id="{B3373D09-00C1-7B00-F2E8-2720B8C54344}"/>
              </a:ext>
            </a:extLst>
          </p:cNvPr>
          <p:cNvSpPr txBox="1"/>
          <p:nvPr/>
        </p:nvSpPr>
        <p:spPr>
          <a:xfrm>
            <a:off x="-20448" y="6343265"/>
            <a:ext cx="668822" cy="307777"/>
          </a:xfrm>
          <a:prstGeom prst="rect">
            <a:avLst/>
          </a:prstGeom>
          <a:noFill/>
        </p:spPr>
        <p:txBody>
          <a:bodyPr wrap="square" rtlCol="0">
            <a:spAutoFit/>
          </a:bodyPr>
          <a:lstStyle/>
          <a:p>
            <a:r>
              <a:rPr lang="en-US" sz="1400" b="1" dirty="0"/>
              <a:t>Total</a:t>
            </a:r>
          </a:p>
        </p:txBody>
      </p:sp>
      <p:cxnSp>
        <p:nvCxnSpPr>
          <p:cNvPr id="3264" name="Straight Connector 3263">
            <a:extLst>
              <a:ext uri="{FF2B5EF4-FFF2-40B4-BE49-F238E27FC236}">
                <a16:creationId xmlns:a16="http://schemas.microsoft.com/office/drawing/2014/main" id="{F157BE77-D995-1E60-CE4F-DCC7EF9E4049}"/>
              </a:ext>
            </a:extLst>
          </p:cNvPr>
          <p:cNvCxnSpPr>
            <a:cxnSpLocks/>
          </p:cNvCxnSpPr>
          <p:nvPr/>
        </p:nvCxnSpPr>
        <p:spPr>
          <a:xfrm>
            <a:off x="27557" y="3379273"/>
            <a:ext cx="2279564" cy="0"/>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3268" name="Group 3267">
            <a:extLst>
              <a:ext uri="{FF2B5EF4-FFF2-40B4-BE49-F238E27FC236}">
                <a16:creationId xmlns:a16="http://schemas.microsoft.com/office/drawing/2014/main" id="{10FD2FCA-AFE5-4FCB-1F96-A10BD564825D}"/>
              </a:ext>
            </a:extLst>
          </p:cNvPr>
          <p:cNvGrpSpPr/>
          <p:nvPr/>
        </p:nvGrpSpPr>
        <p:grpSpPr>
          <a:xfrm>
            <a:off x="8906770" y="3380144"/>
            <a:ext cx="625591" cy="3219411"/>
            <a:chOff x="2196170" y="2860188"/>
            <a:chExt cx="905724" cy="3219411"/>
          </a:xfrm>
        </p:grpSpPr>
        <p:sp>
          <p:nvSpPr>
            <p:cNvPr id="3291" name="TextBox 3290">
              <a:extLst>
                <a:ext uri="{FF2B5EF4-FFF2-40B4-BE49-F238E27FC236}">
                  <a16:creationId xmlns:a16="http://schemas.microsoft.com/office/drawing/2014/main" id="{3C8417BA-5F81-E357-851F-7B38498ED588}"/>
                </a:ext>
              </a:extLst>
            </p:cNvPr>
            <p:cNvSpPr txBox="1"/>
            <p:nvPr/>
          </p:nvSpPr>
          <p:spPr>
            <a:xfrm>
              <a:off x="2316049" y="2860188"/>
              <a:ext cx="758828" cy="276999"/>
            </a:xfrm>
            <a:prstGeom prst="rect">
              <a:avLst/>
            </a:prstGeom>
            <a:noFill/>
          </p:spPr>
          <p:txBody>
            <a:bodyPr wrap="square" rtlCol="0">
              <a:spAutoFit/>
            </a:bodyPr>
            <a:lstStyle/>
            <a:p>
              <a:pPr algn="r"/>
              <a:r>
                <a:rPr lang="en-US" sz="1200" b="1" dirty="0"/>
                <a:t>.50</a:t>
              </a:r>
            </a:p>
          </p:txBody>
        </p:sp>
        <p:sp>
          <p:nvSpPr>
            <p:cNvPr id="3292" name="TextBox 3291">
              <a:extLst>
                <a:ext uri="{FF2B5EF4-FFF2-40B4-BE49-F238E27FC236}">
                  <a16:creationId xmlns:a16="http://schemas.microsoft.com/office/drawing/2014/main" id="{AEE8260D-B65E-028E-9D69-51133F9BFDB8}"/>
                </a:ext>
              </a:extLst>
            </p:cNvPr>
            <p:cNvSpPr txBox="1"/>
            <p:nvPr/>
          </p:nvSpPr>
          <p:spPr>
            <a:xfrm>
              <a:off x="2314503" y="3110790"/>
              <a:ext cx="758829" cy="276999"/>
            </a:xfrm>
            <a:prstGeom prst="rect">
              <a:avLst/>
            </a:prstGeom>
            <a:noFill/>
          </p:spPr>
          <p:txBody>
            <a:bodyPr wrap="square" rtlCol="0">
              <a:spAutoFit/>
            </a:bodyPr>
            <a:lstStyle/>
            <a:p>
              <a:pPr algn="r"/>
              <a:r>
                <a:rPr lang="en-US" sz="1200" b="1" dirty="0"/>
                <a:t>309</a:t>
              </a:r>
            </a:p>
          </p:txBody>
        </p:sp>
        <p:sp>
          <p:nvSpPr>
            <p:cNvPr id="3293" name="TextBox 3292">
              <a:extLst>
                <a:ext uri="{FF2B5EF4-FFF2-40B4-BE49-F238E27FC236}">
                  <a16:creationId xmlns:a16="http://schemas.microsoft.com/office/drawing/2014/main" id="{D294325E-D10F-22D6-7E7E-7C7B2628870B}"/>
                </a:ext>
              </a:extLst>
            </p:cNvPr>
            <p:cNvSpPr txBox="1"/>
            <p:nvPr/>
          </p:nvSpPr>
          <p:spPr>
            <a:xfrm>
              <a:off x="2316555" y="3604084"/>
              <a:ext cx="758829" cy="276999"/>
            </a:xfrm>
            <a:prstGeom prst="rect">
              <a:avLst/>
            </a:prstGeom>
            <a:noFill/>
          </p:spPr>
          <p:txBody>
            <a:bodyPr wrap="square" rtlCol="0">
              <a:spAutoFit/>
            </a:bodyPr>
            <a:lstStyle/>
            <a:p>
              <a:pPr algn="r"/>
              <a:r>
                <a:rPr lang="en-US" sz="1200" b="1" dirty="0"/>
                <a:t>3.6</a:t>
              </a:r>
            </a:p>
          </p:txBody>
        </p:sp>
        <p:sp>
          <p:nvSpPr>
            <p:cNvPr id="3294" name="TextBox 3293">
              <a:extLst>
                <a:ext uri="{FF2B5EF4-FFF2-40B4-BE49-F238E27FC236}">
                  <a16:creationId xmlns:a16="http://schemas.microsoft.com/office/drawing/2014/main" id="{3E30C5D0-868A-A271-E566-C49472D23C05}"/>
                </a:ext>
              </a:extLst>
            </p:cNvPr>
            <p:cNvSpPr txBox="1"/>
            <p:nvPr/>
          </p:nvSpPr>
          <p:spPr>
            <a:xfrm>
              <a:off x="2316049" y="3810967"/>
              <a:ext cx="758829" cy="276999"/>
            </a:xfrm>
            <a:prstGeom prst="rect">
              <a:avLst/>
            </a:prstGeom>
            <a:noFill/>
          </p:spPr>
          <p:txBody>
            <a:bodyPr wrap="square" rtlCol="0">
              <a:spAutoFit/>
            </a:bodyPr>
            <a:lstStyle/>
            <a:p>
              <a:pPr algn="r"/>
              <a:r>
                <a:rPr lang="en-US" sz="1200" b="1" dirty="0"/>
                <a:t>.99</a:t>
              </a:r>
            </a:p>
          </p:txBody>
        </p:sp>
        <p:sp>
          <p:nvSpPr>
            <p:cNvPr id="3295" name="TextBox 3294">
              <a:extLst>
                <a:ext uri="{FF2B5EF4-FFF2-40B4-BE49-F238E27FC236}">
                  <a16:creationId xmlns:a16="http://schemas.microsoft.com/office/drawing/2014/main" id="{78020DEC-9357-EFB3-A618-7332E274CACC}"/>
                </a:ext>
              </a:extLst>
            </p:cNvPr>
            <p:cNvSpPr txBox="1"/>
            <p:nvPr/>
          </p:nvSpPr>
          <p:spPr>
            <a:xfrm>
              <a:off x="2310062" y="4248014"/>
              <a:ext cx="758829" cy="276999"/>
            </a:xfrm>
            <a:prstGeom prst="rect">
              <a:avLst/>
            </a:prstGeom>
            <a:noFill/>
          </p:spPr>
          <p:txBody>
            <a:bodyPr wrap="square" rtlCol="0">
              <a:spAutoFit/>
            </a:bodyPr>
            <a:lstStyle/>
            <a:p>
              <a:pPr algn="r"/>
              <a:r>
                <a:rPr lang="en-US" sz="1200" b="1" dirty="0"/>
                <a:t>61.1</a:t>
              </a:r>
            </a:p>
          </p:txBody>
        </p:sp>
        <p:sp>
          <p:nvSpPr>
            <p:cNvPr id="3296" name="TextBox 3295">
              <a:extLst>
                <a:ext uri="{FF2B5EF4-FFF2-40B4-BE49-F238E27FC236}">
                  <a16:creationId xmlns:a16="http://schemas.microsoft.com/office/drawing/2014/main" id="{0E3CF7B1-3DED-AE82-4D71-7D7A40EAD721}"/>
                </a:ext>
              </a:extLst>
            </p:cNvPr>
            <p:cNvSpPr txBox="1"/>
            <p:nvPr/>
          </p:nvSpPr>
          <p:spPr>
            <a:xfrm>
              <a:off x="2343065" y="4871701"/>
              <a:ext cx="758829" cy="276999"/>
            </a:xfrm>
            <a:prstGeom prst="rect">
              <a:avLst/>
            </a:prstGeom>
            <a:noFill/>
          </p:spPr>
          <p:txBody>
            <a:bodyPr wrap="square" rtlCol="0">
              <a:spAutoFit/>
            </a:bodyPr>
            <a:lstStyle/>
            <a:p>
              <a:pPr algn="r"/>
              <a:r>
                <a:rPr lang="en-US" sz="1200" b="1" dirty="0"/>
                <a:t>----</a:t>
              </a:r>
            </a:p>
          </p:txBody>
        </p:sp>
        <p:sp>
          <p:nvSpPr>
            <p:cNvPr id="3297" name="TextBox 3296">
              <a:extLst>
                <a:ext uri="{FF2B5EF4-FFF2-40B4-BE49-F238E27FC236}">
                  <a16:creationId xmlns:a16="http://schemas.microsoft.com/office/drawing/2014/main" id="{2E12FA38-2F4F-EFCA-EF31-EE1EF2F60264}"/>
                </a:ext>
              </a:extLst>
            </p:cNvPr>
            <p:cNvSpPr txBox="1"/>
            <p:nvPr/>
          </p:nvSpPr>
          <p:spPr>
            <a:xfrm>
              <a:off x="2314504" y="4735171"/>
              <a:ext cx="758829" cy="276999"/>
            </a:xfrm>
            <a:prstGeom prst="rect">
              <a:avLst/>
            </a:prstGeom>
            <a:noFill/>
          </p:spPr>
          <p:txBody>
            <a:bodyPr wrap="square" rtlCol="0">
              <a:spAutoFit/>
            </a:bodyPr>
            <a:lstStyle/>
            <a:p>
              <a:pPr algn="r"/>
              <a:r>
                <a:rPr lang="en-US" sz="1200" b="1" dirty="0">
                  <a:solidFill>
                    <a:srgbClr val="008000"/>
                  </a:solidFill>
                </a:rPr>
                <a:t>1.2</a:t>
              </a:r>
            </a:p>
          </p:txBody>
        </p:sp>
        <p:sp>
          <p:nvSpPr>
            <p:cNvPr id="3298" name="TextBox 3297">
              <a:extLst>
                <a:ext uri="{FF2B5EF4-FFF2-40B4-BE49-F238E27FC236}">
                  <a16:creationId xmlns:a16="http://schemas.microsoft.com/office/drawing/2014/main" id="{962D49E4-76EE-8787-7CB3-689730F49220}"/>
                </a:ext>
              </a:extLst>
            </p:cNvPr>
            <p:cNvSpPr txBox="1"/>
            <p:nvPr/>
          </p:nvSpPr>
          <p:spPr>
            <a:xfrm>
              <a:off x="2314504" y="5443599"/>
              <a:ext cx="758828" cy="276999"/>
            </a:xfrm>
            <a:prstGeom prst="rect">
              <a:avLst/>
            </a:prstGeom>
            <a:noFill/>
          </p:spPr>
          <p:txBody>
            <a:bodyPr wrap="square" rtlCol="0">
              <a:spAutoFit/>
            </a:bodyPr>
            <a:lstStyle/>
            <a:p>
              <a:pPr algn="r"/>
              <a:r>
                <a:rPr lang="en-US" sz="1200" b="1" dirty="0">
                  <a:solidFill>
                    <a:srgbClr val="008000"/>
                  </a:solidFill>
                </a:rPr>
                <a:t>---</a:t>
              </a:r>
            </a:p>
          </p:txBody>
        </p:sp>
        <p:sp>
          <p:nvSpPr>
            <p:cNvPr id="3299" name="TextBox 3298">
              <a:extLst>
                <a:ext uri="{FF2B5EF4-FFF2-40B4-BE49-F238E27FC236}">
                  <a16:creationId xmlns:a16="http://schemas.microsoft.com/office/drawing/2014/main" id="{2B94760D-B946-AECB-193C-5B2B88FA53F0}"/>
                </a:ext>
              </a:extLst>
            </p:cNvPr>
            <p:cNvSpPr txBox="1"/>
            <p:nvPr/>
          </p:nvSpPr>
          <p:spPr>
            <a:xfrm>
              <a:off x="2303524" y="5159000"/>
              <a:ext cx="786000" cy="276999"/>
            </a:xfrm>
            <a:prstGeom prst="rect">
              <a:avLst/>
            </a:prstGeom>
            <a:noFill/>
          </p:spPr>
          <p:txBody>
            <a:bodyPr wrap="square" rtlCol="0">
              <a:spAutoFit/>
            </a:bodyPr>
            <a:lstStyle/>
            <a:p>
              <a:pPr algn="r"/>
              <a:r>
                <a:rPr lang="en-US" sz="1200" b="1" dirty="0"/>
                <a:t>----</a:t>
              </a:r>
            </a:p>
          </p:txBody>
        </p:sp>
        <p:sp>
          <p:nvSpPr>
            <p:cNvPr id="3300" name="TextBox 3299">
              <a:extLst>
                <a:ext uri="{FF2B5EF4-FFF2-40B4-BE49-F238E27FC236}">
                  <a16:creationId xmlns:a16="http://schemas.microsoft.com/office/drawing/2014/main" id="{78A485C5-EBC9-72DF-A1C5-82E2EA50A663}"/>
                </a:ext>
              </a:extLst>
            </p:cNvPr>
            <p:cNvSpPr txBox="1"/>
            <p:nvPr/>
          </p:nvSpPr>
          <p:spPr>
            <a:xfrm>
              <a:off x="2196170" y="5802600"/>
              <a:ext cx="846918" cy="276999"/>
            </a:xfrm>
            <a:prstGeom prst="rect">
              <a:avLst/>
            </a:prstGeom>
            <a:noFill/>
          </p:spPr>
          <p:txBody>
            <a:bodyPr wrap="square" rtlCol="0">
              <a:spAutoFit/>
            </a:bodyPr>
            <a:lstStyle/>
            <a:p>
              <a:pPr algn="r"/>
              <a:r>
                <a:rPr lang="en-US" sz="1200" b="1" dirty="0">
                  <a:solidFill>
                    <a:srgbClr val="FF0000"/>
                  </a:solidFill>
                </a:rPr>
                <a:t>376.4</a:t>
              </a:r>
            </a:p>
          </p:txBody>
        </p:sp>
      </p:grpSp>
      <p:grpSp>
        <p:nvGrpSpPr>
          <p:cNvPr id="3269" name="Group 3268">
            <a:extLst>
              <a:ext uri="{FF2B5EF4-FFF2-40B4-BE49-F238E27FC236}">
                <a16:creationId xmlns:a16="http://schemas.microsoft.com/office/drawing/2014/main" id="{1B76B560-C061-4478-CCA6-4E3ED3E482A0}"/>
              </a:ext>
            </a:extLst>
          </p:cNvPr>
          <p:cNvGrpSpPr/>
          <p:nvPr/>
        </p:nvGrpSpPr>
        <p:grpSpPr>
          <a:xfrm>
            <a:off x="7202063" y="3386465"/>
            <a:ext cx="2127437" cy="2852795"/>
            <a:chOff x="116435" y="3163661"/>
            <a:chExt cx="2715022" cy="2852795"/>
          </a:xfrm>
        </p:grpSpPr>
        <p:grpSp>
          <p:nvGrpSpPr>
            <p:cNvPr id="3280" name="Group 3279">
              <a:extLst>
                <a:ext uri="{FF2B5EF4-FFF2-40B4-BE49-F238E27FC236}">
                  <a16:creationId xmlns:a16="http://schemas.microsoft.com/office/drawing/2014/main" id="{1ADDF209-92B5-F1B8-2575-EF4C7F65DFBC}"/>
                </a:ext>
              </a:extLst>
            </p:cNvPr>
            <p:cNvGrpSpPr/>
            <p:nvPr/>
          </p:nvGrpSpPr>
          <p:grpSpPr>
            <a:xfrm>
              <a:off x="116435" y="3163661"/>
              <a:ext cx="2715022" cy="2573082"/>
              <a:chOff x="51410" y="2261711"/>
              <a:chExt cx="2715022" cy="2573082"/>
            </a:xfrm>
          </p:grpSpPr>
          <p:sp>
            <p:nvSpPr>
              <p:cNvPr id="3282" name="TextBox 3281">
                <a:extLst>
                  <a:ext uri="{FF2B5EF4-FFF2-40B4-BE49-F238E27FC236}">
                    <a16:creationId xmlns:a16="http://schemas.microsoft.com/office/drawing/2014/main" id="{9B2D5308-BFDE-DDF0-96FB-8A1A798F9A2F}"/>
                  </a:ext>
                </a:extLst>
              </p:cNvPr>
              <p:cNvSpPr txBox="1"/>
              <p:nvPr/>
            </p:nvSpPr>
            <p:spPr>
              <a:xfrm>
                <a:off x="51410" y="2517420"/>
                <a:ext cx="2332582" cy="276999"/>
              </a:xfrm>
              <a:prstGeom prst="rect">
                <a:avLst/>
              </a:prstGeom>
              <a:noFill/>
            </p:spPr>
            <p:txBody>
              <a:bodyPr wrap="square" rtlCol="0">
                <a:spAutoFit/>
              </a:bodyPr>
              <a:lstStyle/>
              <a:p>
                <a:r>
                  <a:rPr lang="en-US" sz="1200" dirty="0"/>
                  <a:t>Coffee supplier</a:t>
                </a:r>
              </a:p>
            </p:txBody>
          </p:sp>
          <p:sp>
            <p:nvSpPr>
              <p:cNvPr id="3283" name="TextBox 3282">
                <a:extLst>
                  <a:ext uri="{FF2B5EF4-FFF2-40B4-BE49-F238E27FC236}">
                    <a16:creationId xmlns:a16="http://schemas.microsoft.com/office/drawing/2014/main" id="{BF56F4FC-FBB7-D744-B408-511F7C055412}"/>
                  </a:ext>
                </a:extLst>
              </p:cNvPr>
              <p:cNvSpPr txBox="1"/>
              <p:nvPr/>
            </p:nvSpPr>
            <p:spPr>
              <a:xfrm>
                <a:off x="79040" y="3468397"/>
                <a:ext cx="2371690" cy="276999"/>
              </a:xfrm>
              <a:prstGeom prst="rect">
                <a:avLst/>
              </a:prstGeom>
              <a:noFill/>
            </p:spPr>
            <p:txBody>
              <a:bodyPr wrap="square" rtlCol="0">
                <a:spAutoFit/>
              </a:bodyPr>
              <a:lstStyle/>
              <a:p>
                <a:r>
                  <a:rPr lang="en-US" sz="1200" dirty="0"/>
                  <a:t>Warehouse ops (year) </a:t>
                </a:r>
              </a:p>
            </p:txBody>
          </p:sp>
          <p:sp>
            <p:nvSpPr>
              <p:cNvPr id="3284" name="TextBox 3283">
                <a:extLst>
                  <a:ext uri="{FF2B5EF4-FFF2-40B4-BE49-F238E27FC236}">
                    <a16:creationId xmlns:a16="http://schemas.microsoft.com/office/drawing/2014/main" id="{9431137D-CE4B-718D-8391-8E28E0E4BF45}"/>
                  </a:ext>
                </a:extLst>
              </p:cNvPr>
              <p:cNvSpPr txBox="1"/>
              <p:nvPr/>
            </p:nvSpPr>
            <p:spPr>
              <a:xfrm>
                <a:off x="54461" y="2261711"/>
                <a:ext cx="2437293" cy="276999"/>
              </a:xfrm>
              <a:prstGeom prst="rect">
                <a:avLst/>
              </a:prstGeom>
              <a:noFill/>
            </p:spPr>
            <p:txBody>
              <a:bodyPr wrap="square" rtlCol="0">
                <a:spAutoFit/>
              </a:bodyPr>
              <a:lstStyle/>
              <a:p>
                <a:r>
                  <a:rPr lang="en-US" sz="1200" dirty="0"/>
                  <a:t>Manuf. of coffee bags</a:t>
                </a:r>
              </a:p>
            </p:txBody>
          </p:sp>
          <p:sp>
            <p:nvSpPr>
              <p:cNvPr id="3285" name="TextBox 3284">
                <a:extLst>
                  <a:ext uri="{FF2B5EF4-FFF2-40B4-BE49-F238E27FC236}">
                    <a16:creationId xmlns:a16="http://schemas.microsoft.com/office/drawing/2014/main" id="{B52E1894-D854-2355-802E-4F27E04F5E1A}"/>
                  </a:ext>
                </a:extLst>
              </p:cNvPr>
              <p:cNvSpPr txBox="1"/>
              <p:nvPr/>
            </p:nvSpPr>
            <p:spPr>
              <a:xfrm>
                <a:off x="75940" y="4557794"/>
                <a:ext cx="1860178" cy="276999"/>
              </a:xfrm>
              <a:prstGeom prst="rect">
                <a:avLst/>
              </a:prstGeom>
              <a:noFill/>
            </p:spPr>
            <p:txBody>
              <a:bodyPr wrap="square" rtlCol="0">
                <a:spAutoFit/>
              </a:bodyPr>
              <a:lstStyle/>
              <a:p>
                <a:r>
                  <a:rPr lang="en-US" sz="1200" dirty="0"/>
                  <a:t>Ship to N.Y. harbor</a:t>
                </a:r>
                <a:endParaRPr lang="en-US" sz="1200" b="1" dirty="0"/>
              </a:p>
            </p:txBody>
          </p:sp>
          <p:sp>
            <p:nvSpPr>
              <p:cNvPr id="3286" name="TextBox 3285">
                <a:extLst>
                  <a:ext uri="{FF2B5EF4-FFF2-40B4-BE49-F238E27FC236}">
                    <a16:creationId xmlns:a16="http://schemas.microsoft.com/office/drawing/2014/main" id="{7C192A1F-4155-E382-3F0A-2A63761B7FD3}"/>
                  </a:ext>
                </a:extLst>
              </p:cNvPr>
              <p:cNvSpPr txBox="1"/>
              <p:nvPr/>
            </p:nvSpPr>
            <p:spPr>
              <a:xfrm>
                <a:off x="77138" y="3966114"/>
                <a:ext cx="2332582" cy="276999"/>
              </a:xfrm>
              <a:prstGeom prst="rect">
                <a:avLst/>
              </a:prstGeom>
              <a:noFill/>
            </p:spPr>
            <p:txBody>
              <a:bodyPr wrap="square" rtlCol="0">
                <a:spAutoFit/>
              </a:bodyPr>
              <a:lstStyle/>
              <a:p>
                <a:r>
                  <a:rPr lang="en-US" sz="1200" dirty="0"/>
                  <a:t>Coffee bag loading on ship</a:t>
                </a:r>
              </a:p>
            </p:txBody>
          </p:sp>
          <p:sp>
            <p:nvSpPr>
              <p:cNvPr id="3287" name="TextBox 3286">
                <a:extLst>
                  <a:ext uri="{FF2B5EF4-FFF2-40B4-BE49-F238E27FC236}">
                    <a16:creationId xmlns:a16="http://schemas.microsoft.com/office/drawing/2014/main" id="{1007E59A-3841-F6D9-4B06-295713FCA9D1}"/>
                  </a:ext>
                </a:extLst>
              </p:cNvPr>
              <p:cNvSpPr txBox="1"/>
              <p:nvPr/>
            </p:nvSpPr>
            <p:spPr>
              <a:xfrm>
                <a:off x="67299" y="2803688"/>
                <a:ext cx="2699133" cy="646331"/>
              </a:xfrm>
              <a:prstGeom prst="rect">
                <a:avLst/>
              </a:prstGeom>
              <a:noFill/>
            </p:spPr>
            <p:txBody>
              <a:bodyPr wrap="square" rtlCol="0">
                <a:spAutoFit/>
              </a:bodyPr>
              <a:lstStyle/>
              <a:p>
                <a:r>
                  <a:rPr lang="en-US" sz="1200" dirty="0"/>
                  <a:t>Trucking to Warehouse</a:t>
                </a:r>
              </a:p>
              <a:p>
                <a:r>
                  <a:rPr lang="en-US" sz="1200" dirty="0"/>
                  <a:t>    - Freight Co. #2</a:t>
                </a:r>
              </a:p>
              <a:p>
                <a:r>
                  <a:rPr lang="en-US" sz="1200" dirty="0"/>
                  <a:t>    - unloading</a:t>
                </a:r>
              </a:p>
            </p:txBody>
          </p:sp>
          <p:sp>
            <p:nvSpPr>
              <p:cNvPr id="3288" name="TextBox 3287">
                <a:extLst>
                  <a:ext uri="{FF2B5EF4-FFF2-40B4-BE49-F238E27FC236}">
                    <a16:creationId xmlns:a16="http://schemas.microsoft.com/office/drawing/2014/main" id="{22B70831-FF75-198A-8818-21B408FCE229}"/>
                  </a:ext>
                </a:extLst>
              </p:cNvPr>
              <p:cNvSpPr txBox="1"/>
              <p:nvPr/>
            </p:nvSpPr>
            <p:spPr>
              <a:xfrm>
                <a:off x="229459" y="3648372"/>
                <a:ext cx="1747534" cy="276999"/>
              </a:xfrm>
              <a:prstGeom prst="rect">
                <a:avLst/>
              </a:prstGeom>
              <a:noFill/>
            </p:spPr>
            <p:txBody>
              <a:bodyPr wrap="square" rtlCol="0">
                <a:spAutoFit/>
              </a:bodyPr>
              <a:lstStyle/>
              <a:p>
                <a:r>
                  <a:rPr lang="en-US" sz="1200" dirty="0"/>
                  <a:t>- Heating / cooling </a:t>
                </a:r>
              </a:p>
            </p:txBody>
          </p:sp>
          <p:sp>
            <p:nvSpPr>
              <p:cNvPr id="3289" name="TextBox 3288">
                <a:extLst>
                  <a:ext uri="{FF2B5EF4-FFF2-40B4-BE49-F238E27FC236}">
                    <a16:creationId xmlns:a16="http://schemas.microsoft.com/office/drawing/2014/main" id="{3EAAB7F0-5743-565B-6924-532EC1363803}"/>
                  </a:ext>
                </a:extLst>
              </p:cNvPr>
              <p:cNvSpPr txBox="1"/>
              <p:nvPr/>
            </p:nvSpPr>
            <p:spPr>
              <a:xfrm>
                <a:off x="238386" y="4133238"/>
                <a:ext cx="1672536" cy="276999"/>
              </a:xfrm>
              <a:prstGeom prst="rect">
                <a:avLst/>
              </a:prstGeom>
              <a:noFill/>
            </p:spPr>
            <p:txBody>
              <a:bodyPr wrap="square" rtlCol="0">
                <a:spAutoFit/>
              </a:bodyPr>
              <a:lstStyle/>
              <a:p>
                <a:r>
                  <a:rPr lang="en-US" sz="1200" dirty="0">
                    <a:solidFill>
                      <a:schemeClr val="accent6">
                        <a:lumMod val="75000"/>
                      </a:schemeClr>
                    </a:solidFill>
                  </a:rPr>
                  <a:t>- </a:t>
                </a:r>
                <a:r>
                  <a:rPr lang="en-US" sz="1200" b="1" dirty="0">
                    <a:solidFill>
                      <a:schemeClr val="accent6">
                        <a:lumMod val="75000"/>
                      </a:schemeClr>
                    </a:solidFill>
                  </a:rPr>
                  <a:t>forklift ops </a:t>
                </a:r>
              </a:p>
            </p:txBody>
          </p:sp>
          <p:sp>
            <p:nvSpPr>
              <p:cNvPr id="3290" name="TextBox 3289">
                <a:extLst>
                  <a:ext uri="{FF2B5EF4-FFF2-40B4-BE49-F238E27FC236}">
                    <a16:creationId xmlns:a16="http://schemas.microsoft.com/office/drawing/2014/main" id="{CAD33A2E-C3BB-4236-5404-86CA07356923}"/>
                  </a:ext>
                </a:extLst>
              </p:cNvPr>
              <p:cNvSpPr txBox="1"/>
              <p:nvPr/>
            </p:nvSpPr>
            <p:spPr>
              <a:xfrm>
                <a:off x="237330" y="4288460"/>
                <a:ext cx="1990949" cy="307777"/>
              </a:xfrm>
              <a:prstGeom prst="rect">
                <a:avLst/>
              </a:prstGeom>
              <a:noFill/>
            </p:spPr>
            <p:txBody>
              <a:bodyPr wrap="square" rtlCol="0">
                <a:spAutoFit/>
              </a:bodyPr>
              <a:lstStyle/>
              <a:p>
                <a:r>
                  <a:rPr lang="en-US" sz="1400" dirty="0"/>
                  <a:t>- </a:t>
                </a:r>
                <a:r>
                  <a:rPr lang="en-US" sz="1200" dirty="0"/>
                  <a:t>cranes for loading </a:t>
                </a:r>
              </a:p>
            </p:txBody>
          </p:sp>
        </p:grpSp>
        <p:sp>
          <p:nvSpPr>
            <p:cNvPr id="3281" name="TextBox 3280">
              <a:extLst>
                <a:ext uri="{FF2B5EF4-FFF2-40B4-BE49-F238E27FC236}">
                  <a16:creationId xmlns:a16="http://schemas.microsoft.com/office/drawing/2014/main" id="{EFC77383-065C-2FAD-6530-448CE805C2E0}"/>
                </a:ext>
              </a:extLst>
            </p:cNvPr>
            <p:cNvSpPr txBox="1"/>
            <p:nvPr/>
          </p:nvSpPr>
          <p:spPr>
            <a:xfrm>
              <a:off x="128893" y="5739457"/>
              <a:ext cx="2161122" cy="276999"/>
            </a:xfrm>
            <a:prstGeom prst="rect">
              <a:avLst/>
            </a:prstGeom>
            <a:noFill/>
          </p:spPr>
          <p:txBody>
            <a:bodyPr wrap="square" rtlCol="0">
              <a:spAutoFit/>
            </a:bodyPr>
            <a:lstStyle/>
            <a:p>
              <a:r>
                <a:rPr lang="en-US" sz="1200" dirty="0"/>
                <a:t>Purchase GHG credits</a:t>
              </a:r>
            </a:p>
          </p:txBody>
        </p:sp>
      </p:grpSp>
      <p:grpSp>
        <p:nvGrpSpPr>
          <p:cNvPr id="3270" name="Group 3269">
            <a:extLst>
              <a:ext uri="{FF2B5EF4-FFF2-40B4-BE49-F238E27FC236}">
                <a16:creationId xmlns:a16="http://schemas.microsoft.com/office/drawing/2014/main" id="{C48114B9-9DFB-246F-3A06-1CB1809CBE80}"/>
              </a:ext>
            </a:extLst>
          </p:cNvPr>
          <p:cNvGrpSpPr/>
          <p:nvPr/>
        </p:nvGrpSpPr>
        <p:grpSpPr>
          <a:xfrm>
            <a:off x="7218932" y="3642174"/>
            <a:ext cx="2290621" cy="2620783"/>
            <a:chOff x="135733" y="3147241"/>
            <a:chExt cx="2290621" cy="2620783"/>
          </a:xfrm>
        </p:grpSpPr>
        <p:cxnSp>
          <p:nvCxnSpPr>
            <p:cNvPr id="3273" name="Straight Connector 3272">
              <a:extLst>
                <a:ext uri="{FF2B5EF4-FFF2-40B4-BE49-F238E27FC236}">
                  <a16:creationId xmlns:a16="http://schemas.microsoft.com/office/drawing/2014/main" id="{D180DACB-7A73-6B44-89E4-4A7089225467}"/>
                </a:ext>
              </a:extLst>
            </p:cNvPr>
            <p:cNvCxnSpPr>
              <a:cxnSpLocks/>
            </p:cNvCxnSpPr>
            <p:nvPr/>
          </p:nvCxnSpPr>
          <p:spPr>
            <a:xfrm flipV="1">
              <a:off x="135733" y="3147241"/>
              <a:ext cx="2290621" cy="11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74" name="Straight Connector 3273">
              <a:extLst>
                <a:ext uri="{FF2B5EF4-FFF2-40B4-BE49-F238E27FC236}">
                  <a16:creationId xmlns:a16="http://schemas.microsoft.com/office/drawing/2014/main" id="{EB8B27BB-A045-D30F-8DCD-2315FFA49CE7}"/>
                </a:ext>
              </a:extLst>
            </p:cNvPr>
            <p:cNvCxnSpPr>
              <a:cxnSpLocks/>
            </p:cNvCxnSpPr>
            <p:nvPr/>
          </p:nvCxnSpPr>
          <p:spPr>
            <a:xfrm flipV="1">
              <a:off x="151212" y="3424240"/>
              <a:ext cx="2275142" cy="68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75" name="Straight Connector 3274">
              <a:extLst>
                <a:ext uri="{FF2B5EF4-FFF2-40B4-BE49-F238E27FC236}">
                  <a16:creationId xmlns:a16="http://schemas.microsoft.com/office/drawing/2014/main" id="{72227506-AA96-6ACD-42C8-56616A493219}"/>
                </a:ext>
              </a:extLst>
            </p:cNvPr>
            <p:cNvCxnSpPr>
              <a:cxnSpLocks/>
            </p:cNvCxnSpPr>
            <p:nvPr/>
          </p:nvCxnSpPr>
          <p:spPr>
            <a:xfrm flipV="1">
              <a:off x="151212" y="4088710"/>
              <a:ext cx="2268755" cy="9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76" name="Straight Connector 3275">
              <a:extLst>
                <a:ext uri="{FF2B5EF4-FFF2-40B4-BE49-F238E27FC236}">
                  <a16:creationId xmlns:a16="http://schemas.microsoft.com/office/drawing/2014/main" id="{3ADB5EAC-D4F0-F658-50BB-B7F8FB69B15E}"/>
                </a:ext>
              </a:extLst>
            </p:cNvPr>
            <p:cNvCxnSpPr>
              <a:cxnSpLocks/>
            </p:cNvCxnSpPr>
            <p:nvPr/>
          </p:nvCxnSpPr>
          <p:spPr>
            <a:xfrm flipV="1">
              <a:off x="151212" y="4566184"/>
              <a:ext cx="2275142" cy="9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77" name="Straight Connector 3276">
              <a:extLst>
                <a:ext uri="{FF2B5EF4-FFF2-40B4-BE49-F238E27FC236}">
                  <a16:creationId xmlns:a16="http://schemas.microsoft.com/office/drawing/2014/main" id="{B7F2023C-0E88-A853-54D7-E7FEB45C2BF0}"/>
                </a:ext>
              </a:extLst>
            </p:cNvPr>
            <p:cNvCxnSpPr>
              <a:cxnSpLocks/>
            </p:cNvCxnSpPr>
            <p:nvPr/>
          </p:nvCxnSpPr>
          <p:spPr>
            <a:xfrm flipV="1">
              <a:off x="163316" y="5165963"/>
              <a:ext cx="2256651" cy="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278" name="Straight Connector 3277">
              <a:extLst>
                <a:ext uri="{FF2B5EF4-FFF2-40B4-BE49-F238E27FC236}">
                  <a16:creationId xmlns:a16="http://schemas.microsoft.com/office/drawing/2014/main" id="{4D8B9571-5B38-00A4-4E46-27A3A67F10B5}"/>
                </a:ext>
              </a:extLst>
            </p:cNvPr>
            <p:cNvCxnSpPr>
              <a:cxnSpLocks/>
            </p:cNvCxnSpPr>
            <p:nvPr/>
          </p:nvCxnSpPr>
          <p:spPr>
            <a:xfrm flipV="1">
              <a:off x="142867" y="5457333"/>
              <a:ext cx="2277100" cy="87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79" name="Straight Connector 3278">
              <a:extLst>
                <a:ext uri="{FF2B5EF4-FFF2-40B4-BE49-F238E27FC236}">
                  <a16:creationId xmlns:a16="http://schemas.microsoft.com/office/drawing/2014/main" id="{5DF74FC1-0E7B-6C80-7B91-DFF987D63DB1}"/>
                </a:ext>
              </a:extLst>
            </p:cNvPr>
            <p:cNvCxnSpPr>
              <a:cxnSpLocks/>
            </p:cNvCxnSpPr>
            <p:nvPr/>
          </p:nvCxnSpPr>
          <p:spPr>
            <a:xfrm flipV="1">
              <a:off x="163316" y="5760439"/>
              <a:ext cx="2256651" cy="7585"/>
            </a:xfrm>
            <a:prstGeom prst="line">
              <a:avLst/>
            </a:prstGeom>
          </p:spPr>
          <p:style>
            <a:lnRef idx="1">
              <a:schemeClr val="accent1"/>
            </a:lnRef>
            <a:fillRef idx="0">
              <a:schemeClr val="accent1"/>
            </a:fillRef>
            <a:effectRef idx="0">
              <a:schemeClr val="accent1"/>
            </a:effectRef>
            <a:fontRef idx="minor">
              <a:schemeClr val="tx1"/>
            </a:fontRef>
          </p:style>
        </p:cxnSp>
      </p:grpSp>
      <p:sp>
        <p:nvSpPr>
          <p:cNvPr id="3271" name="TextBox 3270">
            <a:extLst>
              <a:ext uri="{FF2B5EF4-FFF2-40B4-BE49-F238E27FC236}">
                <a16:creationId xmlns:a16="http://schemas.microsoft.com/office/drawing/2014/main" id="{617ACA76-4AEA-F355-826F-026AE65A870C}"/>
              </a:ext>
            </a:extLst>
          </p:cNvPr>
          <p:cNvSpPr txBox="1"/>
          <p:nvPr/>
        </p:nvSpPr>
        <p:spPr>
          <a:xfrm>
            <a:off x="7248785" y="3124216"/>
            <a:ext cx="3185676" cy="276999"/>
          </a:xfrm>
          <a:prstGeom prst="rect">
            <a:avLst/>
          </a:prstGeom>
          <a:noFill/>
        </p:spPr>
        <p:txBody>
          <a:bodyPr wrap="square" rtlCol="0">
            <a:spAutoFit/>
          </a:bodyPr>
          <a:lstStyle/>
          <a:p>
            <a:r>
              <a:rPr lang="en-US" sz="1200" b="1" dirty="0"/>
              <a:t>In Process </a:t>
            </a:r>
            <a:r>
              <a:rPr lang="en-US" sz="1200" dirty="0">
                <a:solidFill>
                  <a:srgbClr val="FF0000"/>
                </a:solidFill>
              </a:rPr>
              <a:t>(</a:t>
            </a:r>
            <a:r>
              <a:rPr lang="en-US" sz="1200" dirty="0" err="1">
                <a:solidFill>
                  <a:srgbClr val="FF0000"/>
                </a:solidFill>
              </a:rPr>
              <a:t>mtons</a:t>
            </a:r>
            <a:r>
              <a:rPr lang="en-US" sz="1200" dirty="0">
                <a:solidFill>
                  <a:srgbClr val="FF0000"/>
                </a:solidFill>
              </a:rPr>
              <a:t> of CO2e) </a:t>
            </a:r>
          </a:p>
        </p:txBody>
      </p:sp>
      <p:sp>
        <p:nvSpPr>
          <p:cNvPr id="3272" name="TextBox 3271">
            <a:extLst>
              <a:ext uri="{FF2B5EF4-FFF2-40B4-BE49-F238E27FC236}">
                <a16:creationId xmlns:a16="http://schemas.microsoft.com/office/drawing/2014/main" id="{8F969267-FCE3-8789-4839-5B73ED84062F}"/>
              </a:ext>
            </a:extLst>
          </p:cNvPr>
          <p:cNvSpPr txBox="1"/>
          <p:nvPr/>
        </p:nvSpPr>
        <p:spPr>
          <a:xfrm>
            <a:off x="7188468" y="6357742"/>
            <a:ext cx="1359007" cy="307777"/>
          </a:xfrm>
          <a:prstGeom prst="rect">
            <a:avLst/>
          </a:prstGeom>
          <a:noFill/>
        </p:spPr>
        <p:txBody>
          <a:bodyPr wrap="square" rtlCol="0">
            <a:spAutoFit/>
          </a:bodyPr>
          <a:lstStyle/>
          <a:p>
            <a:r>
              <a:rPr lang="en-US" sz="1400" b="1" dirty="0"/>
              <a:t>Current Total</a:t>
            </a:r>
          </a:p>
        </p:txBody>
      </p:sp>
      <p:cxnSp>
        <p:nvCxnSpPr>
          <p:cNvPr id="3301" name="Straight Connector 3300">
            <a:extLst>
              <a:ext uri="{FF2B5EF4-FFF2-40B4-BE49-F238E27FC236}">
                <a16:creationId xmlns:a16="http://schemas.microsoft.com/office/drawing/2014/main" id="{2DE1AD54-E136-5E6E-ACE1-BBDF818E0A05}"/>
              </a:ext>
            </a:extLst>
          </p:cNvPr>
          <p:cNvCxnSpPr>
            <a:cxnSpLocks/>
          </p:cNvCxnSpPr>
          <p:nvPr/>
        </p:nvCxnSpPr>
        <p:spPr>
          <a:xfrm>
            <a:off x="7243737" y="3366649"/>
            <a:ext cx="2279564"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3337" name="Straight Connector 3336">
            <a:extLst>
              <a:ext uri="{FF2B5EF4-FFF2-40B4-BE49-F238E27FC236}">
                <a16:creationId xmlns:a16="http://schemas.microsoft.com/office/drawing/2014/main" id="{CE934E61-03DF-FD24-1724-76A95B9F0894}"/>
              </a:ext>
            </a:extLst>
          </p:cNvPr>
          <p:cNvCxnSpPr>
            <a:cxnSpLocks/>
          </p:cNvCxnSpPr>
          <p:nvPr/>
        </p:nvCxnSpPr>
        <p:spPr>
          <a:xfrm>
            <a:off x="9635799" y="3384408"/>
            <a:ext cx="2279564"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3343" name="TextBox 3342">
            <a:extLst>
              <a:ext uri="{FF2B5EF4-FFF2-40B4-BE49-F238E27FC236}">
                <a16:creationId xmlns:a16="http://schemas.microsoft.com/office/drawing/2014/main" id="{D75E4D34-0C70-E0E3-8E67-E70E8CB6749F}"/>
              </a:ext>
            </a:extLst>
          </p:cNvPr>
          <p:cNvSpPr txBox="1"/>
          <p:nvPr/>
        </p:nvSpPr>
        <p:spPr>
          <a:xfrm>
            <a:off x="1766004" y="1324389"/>
            <a:ext cx="9103669" cy="1231106"/>
          </a:xfrm>
          <a:prstGeom prst="rect">
            <a:avLst/>
          </a:prstGeom>
          <a:solidFill>
            <a:schemeClr val="bg1"/>
          </a:solidFill>
        </p:spPr>
        <p:txBody>
          <a:bodyPr wrap="square" rtlCol="0">
            <a:spAutoFit/>
          </a:bodyPr>
          <a:lstStyle/>
          <a:p>
            <a:r>
              <a:rPr lang="en-US" sz="1600" b="1" dirty="0"/>
              <a:t>2)    Pull last 2 previous supply chain runs</a:t>
            </a:r>
          </a:p>
          <a:p>
            <a:endParaRPr lang="en-US" sz="1600" b="1" dirty="0"/>
          </a:p>
          <a:p>
            <a:r>
              <a:rPr lang="en-US" sz="1400" b="1" dirty="0"/>
              <a:t>          Has the amount of emissions from this supply chain performed as expected or has there been an increase over the</a:t>
            </a:r>
          </a:p>
          <a:p>
            <a:r>
              <a:rPr lang="en-US" sz="1400" b="1" dirty="0"/>
              <a:t>          baseline? An emission increase over a period of time results in the need to perform modeling and/or discuss with</a:t>
            </a:r>
          </a:p>
          <a:p>
            <a:r>
              <a:rPr lang="en-US" sz="1400" b="1" dirty="0"/>
              <a:t>          supply chain actors. </a:t>
            </a:r>
          </a:p>
        </p:txBody>
      </p:sp>
      <p:sp>
        <p:nvSpPr>
          <p:cNvPr id="3344" name="TextBox 3343">
            <a:extLst>
              <a:ext uri="{FF2B5EF4-FFF2-40B4-BE49-F238E27FC236}">
                <a16:creationId xmlns:a16="http://schemas.microsoft.com/office/drawing/2014/main" id="{CB333E15-B712-30BB-627E-E1DB6CBF369D}"/>
              </a:ext>
            </a:extLst>
          </p:cNvPr>
          <p:cNvSpPr txBox="1"/>
          <p:nvPr/>
        </p:nvSpPr>
        <p:spPr>
          <a:xfrm>
            <a:off x="1774947" y="1311165"/>
            <a:ext cx="9679690" cy="1477328"/>
          </a:xfrm>
          <a:prstGeom prst="rect">
            <a:avLst/>
          </a:prstGeom>
          <a:solidFill>
            <a:schemeClr val="bg1"/>
          </a:solidFill>
        </p:spPr>
        <p:txBody>
          <a:bodyPr wrap="square" rtlCol="0">
            <a:spAutoFit/>
          </a:bodyPr>
          <a:lstStyle/>
          <a:p>
            <a:r>
              <a:rPr lang="en-US" sz="1600" b="1" dirty="0"/>
              <a:t>3)   View the current state of emissions from the supply chain in motion.</a:t>
            </a:r>
          </a:p>
          <a:p>
            <a:endParaRPr lang="en-US" sz="1600" b="1" dirty="0"/>
          </a:p>
          <a:p>
            <a:r>
              <a:rPr lang="en-US" sz="1600" b="1" dirty="0"/>
              <a:t>        </a:t>
            </a:r>
            <a:r>
              <a:rPr lang="en-US" sz="1400" b="1" dirty="0"/>
              <a:t>The supply chain is currently in operation. As shown below, the loading of coffee bags onto the ocean steamship vessel is</a:t>
            </a:r>
          </a:p>
          <a:p>
            <a:r>
              <a:rPr lang="en-US" sz="1400" b="1" dirty="0"/>
              <a:t>         underway. GHG emissions for this activity are received every minute through an IoT interface to enable observation in real</a:t>
            </a:r>
          </a:p>
          <a:p>
            <a:r>
              <a:rPr lang="en-US" sz="1400" b="1" dirty="0"/>
              <a:t>         time. FORKLIFT activity is underway.</a:t>
            </a:r>
          </a:p>
          <a:p>
            <a:r>
              <a:rPr lang="en-US" sz="1400" dirty="0"/>
              <a:t>   </a:t>
            </a:r>
          </a:p>
        </p:txBody>
      </p:sp>
      <p:sp>
        <p:nvSpPr>
          <p:cNvPr id="30" name="TextBox 29">
            <a:extLst>
              <a:ext uri="{FF2B5EF4-FFF2-40B4-BE49-F238E27FC236}">
                <a16:creationId xmlns:a16="http://schemas.microsoft.com/office/drawing/2014/main" id="{6429AED5-EAE6-0AD7-B144-A17A9D6F3608}"/>
              </a:ext>
            </a:extLst>
          </p:cNvPr>
          <p:cNvSpPr txBox="1"/>
          <p:nvPr/>
        </p:nvSpPr>
        <p:spPr>
          <a:xfrm>
            <a:off x="9491740" y="1275356"/>
            <a:ext cx="2469875" cy="1815882"/>
          </a:xfrm>
          <a:prstGeom prst="rect">
            <a:avLst/>
          </a:prstGeom>
          <a:solidFill>
            <a:schemeClr val="bg1"/>
          </a:solidFill>
          <a:ln>
            <a:solidFill>
              <a:schemeClr val="accent1">
                <a:shade val="15000"/>
              </a:schemeClr>
            </a:solidFill>
          </a:ln>
        </p:spPr>
        <p:txBody>
          <a:bodyPr wrap="square" rtlCol="0">
            <a:spAutoFit/>
          </a:bodyPr>
          <a:lstStyle/>
          <a:p>
            <a:pPr algn="ctr"/>
            <a:r>
              <a:rPr lang="en-US" sz="1400" dirty="0"/>
              <a:t>Listed below are the supply chain activities where GHG emissions are higher than planned. </a:t>
            </a:r>
          </a:p>
          <a:p>
            <a:r>
              <a:rPr lang="en-US" sz="1400" dirty="0"/>
              <a:t>Numbers below are an average of  the 2 previous runs plus the In-Process run minus the baseline.</a:t>
            </a:r>
          </a:p>
        </p:txBody>
      </p:sp>
      <p:grpSp>
        <p:nvGrpSpPr>
          <p:cNvPr id="3302" name="Group 3301">
            <a:extLst>
              <a:ext uri="{FF2B5EF4-FFF2-40B4-BE49-F238E27FC236}">
                <a16:creationId xmlns:a16="http://schemas.microsoft.com/office/drawing/2014/main" id="{69DFAF7B-5CEA-8FC8-B397-5BB925767904}"/>
              </a:ext>
            </a:extLst>
          </p:cNvPr>
          <p:cNvGrpSpPr/>
          <p:nvPr/>
        </p:nvGrpSpPr>
        <p:grpSpPr>
          <a:xfrm>
            <a:off x="9612191" y="3097101"/>
            <a:ext cx="3232398" cy="3610644"/>
            <a:chOff x="9054856" y="2793927"/>
            <a:chExt cx="3232398" cy="3610644"/>
          </a:xfrm>
        </p:grpSpPr>
        <p:sp>
          <p:nvSpPr>
            <p:cNvPr id="3303" name="Rectangle 3302">
              <a:extLst>
                <a:ext uri="{FF2B5EF4-FFF2-40B4-BE49-F238E27FC236}">
                  <a16:creationId xmlns:a16="http://schemas.microsoft.com/office/drawing/2014/main" id="{F24828AA-01A7-2D3A-8247-3E4BDACC60ED}"/>
                </a:ext>
              </a:extLst>
            </p:cNvPr>
            <p:cNvSpPr/>
            <p:nvPr/>
          </p:nvSpPr>
          <p:spPr>
            <a:xfrm>
              <a:off x="9078871" y="2793927"/>
              <a:ext cx="2283475" cy="3610644"/>
            </a:xfrm>
            <a:prstGeom prst="rect">
              <a:avLst/>
            </a:prstGeom>
            <a:solidFill>
              <a:srgbClr val="FF0000">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04" name="Group 3303">
              <a:extLst>
                <a:ext uri="{FF2B5EF4-FFF2-40B4-BE49-F238E27FC236}">
                  <a16:creationId xmlns:a16="http://schemas.microsoft.com/office/drawing/2014/main" id="{DEE86188-325D-9000-CAE2-EF0917F80EED}"/>
                </a:ext>
              </a:extLst>
            </p:cNvPr>
            <p:cNvGrpSpPr/>
            <p:nvPr/>
          </p:nvGrpSpPr>
          <p:grpSpPr>
            <a:xfrm>
              <a:off x="10728682" y="3064332"/>
              <a:ext cx="656473" cy="2860410"/>
              <a:chOff x="2151460" y="2860188"/>
              <a:chExt cx="950434" cy="2860410"/>
            </a:xfrm>
          </p:grpSpPr>
          <p:sp>
            <p:nvSpPr>
              <p:cNvPr id="3327" name="TextBox 3326">
                <a:extLst>
                  <a:ext uri="{FF2B5EF4-FFF2-40B4-BE49-F238E27FC236}">
                    <a16:creationId xmlns:a16="http://schemas.microsoft.com/office/drawing/2014/main" id="{F0A0F98B-2655-EA4A-DAD7-4D7BB09AF896}"/>
                  </a:ext>
                </a:extLst>
              </p:cNvPr>
              <p:cNvSpPr txBox="1"/>
              <p:nvPr/>
            </p:nvSpPr>
            <p:spPr>
              <a:xfrm>
                <a:off x="2316049" y="2860188"/>
                <a:ext cx="758828" cy="276999"/>
              </a:xfrm>
              <a:prstGeom prst="rect">
                <a:avLst/>
              </a:prstGeom>
              <a:noFill/>
            </p:spPr>
            <p:txBody>
              <a:bodyPr wrap="square" rtlCol="0">
                <a:spAutoFit/>
              </a:bodyPr>
              <a:lstStyle/>
              <a:p>
                <a:pPr algn="r"/>
                <a:r>
                  <a:rPr lang="en-US" sz="1200" b="1" dirty="0"/>
                  <a:t>+.16</a:t>
                </a:r>
              </a:p>
            </p:txBody>
          </p:sp>
          <p:sp>
            <p:nvSpPr>
              <p:cNvPr id="3328" name="TextBox 3327">
                <a:extLst>
                  <a:ext uri="{FF2B5EF4-FFF2-40B4-BE49-F238E27FC236}">
                    <a16:creationId xmlns:a16="http://schemas.microsoft.com/office/drawing/2014/main" id="{13BAF53E-52A3-7408-42BC-1A3B222779F2}"/>
                  </a:ext>
                </a:extLst>
              </p:cNvPr>
              <p:cNvSpPr txBox="1"/>
              <p:nvPr/>
            </p:nvSpPr>
            <p:spPr>
              <a:xfrm>
                <a:off x="2151460" y="3110790"/>
                <a:ext cx="921872" cy="276999"/>
              </a:xfrm>
              <a:prstGeom prst="rect">
                <a:avLst/>
              </a:prstGeom>
              <a:noFill/>
            </p:spPr>
            <p:txBody>
              <a:bodyPr wrap="square" rtlCol="0">
                <a:spAutoFit/>
              </a:bodyPr>
              <a:lstStyle/>
              <a:p>
                <a:pPr algn="r"/>
                <a:r>
                  <a:rPr lang="en-US" sz="1200" b="1" dirty="0"/>
                  <a:t>+29</a:t>
                </a:r>
              </a:p>
            </p:txBody>
          </p:sp>
          <p:sp>
            <p:nvSpPr>
              <p:cNvPr id="3329" name="TextBox 3328">
                <a:extLst>
                  <a:ext uri="{FF2B5EF4-FFF2-40B4-BE49-F238E27FC236}">
                    <a16:creationId xmlns:a16="http://schemas.microsoft.com/office/drawing/2014/main" id="{CC46DF10-DFD3-E4F6-44A7-C0AB46638BF1}"/>
                  </a:ext>
                </a:extLst>
              </p:cNvPr>
              <p:cNvSpPr txBox="1"/>
              <p:nvPr/>
            </p:nvSpPr>
            <p:spPr>
              <a:xfrm>
                <a:off x="2316555" y="3604084"/>
                <a:ext cx="758829" cy="276999"/>
              </a:xfrm>
              <a:prstGeom prst="rect">
                <a:avLst/>
              </a:prstGeom>
              <a:noFill/>
            </p:spPr>
            <p:txBody>
              <a:bodyPr wrap="square" rtlCol="0">
                <a:spAutoFit/>
              </a:bodyPr>
              <a:lstStyle/>
              <a:p>
                <a:pPr algn="r"/>
                <a:r>
                  <a:rPr lang="en-US" sz="1200" b="1" dirty="0"/>
                  <a:t>+.53</a:t>
                </a:r>
              </a:p>
            </p:txBody>
          </p:sp>
          <p:sp>
            <p:nvSpPr>
              <p:cNvPr id="3330" name="TextBox 3329">
                <a:extLst>
                  <a:ext uri="{FF2B5EF4-FFF2-40B4-BE49-F238E27FC236}">
                    <a16:creationId xmlns:a16="http://schemas.microsoft.com/office/drawing/2014/main" id="{0EAA2AF4-1E62-FBBB-B0C6-1D06337D3573}"/>
                  </a:ext>
                </a:extLst>
              </p:cNvPr>
              <p:cNvSpPr txBox="1"/>
              <p:nvPr/>
            </p:nvSpPr>
            <p:spPr>
              <a:xfrm>
                <a:off x="2303524" y="3810967"/>
                <a:ext cx="771354" cy="276999"/>
              </a:xfrm>
              <a:prstGeom prst="rect">
                <a:avLst/>
              </a:prstGeom>
              <a:noFill/>
            </p:spPr>
            <p:txBody>
              <a:bodyPr wrap="square" rtlCol="0">
                <a:spAutoFit/>
              </a:bodyPr>
              <a:lstStyle/>
              <a:p>
                <a:pPr algn="r"/>
                <a:endParaRPr lang="en-US" sz="1200" b="1" dirty="0"/>
              </a:p>
            </p:txBody>
          </p:sp>
          <p:sp>
            <p:nvSpPr>
              <p:cNvPr id="3331" name="TextBox 3330">
                <a:extLst>
                  <a:ext uri="{FF2B5EF4-FFF2-40B4-BE49-F238E27FC236}">
                    <a16:creationId xmlns:a16="http://schemas.microsoft.com/office/drawing/2014/main" id="{65CB7D96-A9F4-8E43-A62E-9FB0527B6345}"/>
                  </a:ext>
                </a:extLst>
              </p:cNvPr>
              <p:cNvSpPr txBox="1"/>
              <p:nvPr/>
            </p:nvSpPr>
            <p:spPr>
              <a:xfrm>
                <a:off x="2310062" y="4248014"/>
                <a:ext cx="758829" cy="276999"/>
              </a:xfrm>
              <a:prstGeom prst="rect">
                <a:avLst/>
              </a:prstGeom>
              <a:noFill/>
            </p:spPr>
            <p:txBody>
              <a:bodyPr wrap="square" rtlCol="0">
                <a:spAutoFit/>
              </a:bodyPr>
              <a:lstStyle/>
              <a:p>
                <a:pPr algn="r"/>
                <a:r>
                  <a:rPr lang="en-US" sz="1200" b="1" dirty="0"/>
                  <a:t>+8.6</a:t>
                </a:r>
              </a:p>
            </p:txBody>
          </p:sp>
          <p:sp>
            <p:nvSpPr>
              <p:cNvPr id="3332" name="TextBox 3331">
                <a:extLst>
                  <a:ext uri="{FF2B5EF4-FFF2-40B4-BE49-F238E27FC236}">
                    <a16:creationId xmlns:a16="http://schemas.microsoft.com/office/drawing/2014/main" id="{5EA39F1E-BC88-DE2B-7C9F-5A0DC6AA230F}"/>
                  </a:ext>
                </a:extLst>
              </p:cNvPr>
              <p:cNvSpPr txBox="1"/>
              <p:nvPr/>
            </p:nvSpPr>
            <p:spPr>
              <a:xfrm>
                <a:off x="2343065" y="4871701"/>
                <a:ext cx="758829" cy="276999"/>
              </a:xfrm>
              <a:prstGeom prst="rect">
                <a:avLst/>
              </a:prstGeom>
              <a:noFill/>
            </p:spPr>
            <p:txBody>
              <a:bodyPr wrap="square" rtlCol="0">
                <a:spAutoFit/>
              </a:bodyPr>
              <a:lstStyle/>
              <a:p>
                <a:pPr algn="r"/>
                <a:r>
                  <a:rPr lang="en-US" sz="1200" b="1" dirty="0"/>
                  <a:t>----</a:t>
                </a:r>
              </a:p>
            </p:txBody>
          </p:sp>
          <p:sp>
            <p:nvSpPr>
              <p:cNvPr id="3333" name="TextBox 3332">
                <a:extLst>
                  <a:ext uri="{FF2B5EF4-FFF2-40B4-BE49-F238E27FC236}">
                    <a16:creationId xmlns:a16="http://schemas.microsoft.com/office/drawing/2014/main" id="{091DFFEA-C084-73C0-D624-585B7F004F48}"/>
                  </a:ext>
                </a:extLst>
              </p:cNvPr>
              <p:cNvSpPr txBox="1"/>
              <p:nvPr/>
            </p:nvSpPr>
            <p:spPr>
              <a:xfrm>
                <a:off x="2314504" y="4735171"/>
                <a:ext cx="758829" cy="276999"/>
              </a:xfrm>
              <a:prstGeom prst="rect">
                <a:avLst/>
              </a:prstGeom>
              <a:noFill/>
            </p:spPr>
            <p:txBody>
              <a:bodyPr wrap="square" rtlCol="0">
                <a:spAutoFit/>
              </a:bodyPr>
              <a:lstStyle/>
              <a:p>
                <a:pPr algn="r"/>
                <a:endParaRPr lang="en-US" sz="1200" b="1" dirty="0"/>
              </a:p>
            </p:txBody>
          </p:sp>
          <p:sp>
            <p:nvSpPr>
              <p:cNvPr id="3334" name="TextBox 3333">
                <a:extLst>
                  <a:ext uri="{FF2B5EF4-FFF2-40B4-BE49-F238E27FC236}">
                    <a16:creationId xmlns:a16="http://schemas.microsoft.com/office/drawing/2014/main" id="{794C0DEF-D893-C557-8AB1-783207D3FA80}"/>
                  </a:ext>
                </a:extLst>
              </p:cNvPr>
              <p:cNvSpPr txBox="1"/>
              <p:nvPr/>
            </p:nvSpPr>
            <p:spPr>
              <a:xfrm>
                <a:off x="2314504" y="5443599"/>
                <a:ext cx="758828" cy="276999"/>
              </a:xfrm>
              <a:prstGeom prst="rect">
                <a:avLst/>
              </a:prstGeom>
              <a:noFill/>
            </p:spPr>
            <p:txBody>
              <a:bodyPr wrap="square" rtlCol="0">
                <a:spAutoFit/>
              </a:bodyPr>
              <a:lstStyle/>
              <a:p>
                <a:pPr algn="r"/>
                <a:r>
                  <a:rPr lang="en-US" sz="1200" b="1" dirty="0">
                    <a:solidFill>
                      <a:srgbClr val="008000"/>
                    </a:solidFill>
                  </a:rPr>
                  <a:t>---</a:t>
                </a:r>
              </a:p>
            </p:txBody>
          </p:sp>
          <p:sp>
            <p:nvSpPr>
              <p:cNvPr id="3335" name="TextBox 3334">
                <a:extLst>
                  <a:ext uri="{FF2B5EF4-FFF2-40B4-BE49-F238E27FC236}">
                    <a16:creationId xmlns:a16="http://schemas.microsoft.com/office/drawing/2014/main" id="{B3D290D4-186F-E226-795F-AD548A6A4517}"/>
                  </a:ext>
                </a:extLst>
              </p:cNvPr>
              <p:cNvSpPr txBox="1"/>
              <p:nvPr/>
            </p:nvSpPr>
            <p:spPr>
              <a:xfrm>
                <a:off x="2303524" y="5159000"/>
                <a:ext cx="786000" cy="276999"/>
              </a:xfrm>
              <a:prstGeom prst="rect">
                <a:avLst/>
              </a:prstGeom>
              <a:noFill/>
            </p:spPr>
            <p:txBody>
              <a:bodyPr wrap="square" rtlCol="0">
                <a:spAutoFit/>
              </a:bodyPr>
              <a:lstStyle/>
              <a:p>
                <a:pPr algn="r"/>
                <a:r>
                  <a:rPr lang="en-US" sz="1200" b="1" dirty="0"/>
                  <a:t>----</a:t>
                </a:r>
              </a:p>
            </p:txBody>
          </p:sp>
        </p:grpSp>
        <p:grpSp>
          <p:nvGrpSpPr>
            <p:cNvPr id="3305" name="Group 3304">
              <a:extLst>
                <a:ext uri="{FF2B5EF4-FFF2-40B4-BE49-F238E27FC236}">
                  <a16:creationId xmlns:a16="http://schemas.microsoft.com/office/drawing/2014/main" id="{C1FDCC59-0A68-9157-C3DF-C8141760E420}"/>
                </a:ext>
              </a:extLst>
            </p:cNvPr>
            <p:cNvGrpSpPr/>
            <p:nvPr/>
          </p:nvGrpSpPr>
          <p:grpSpPr>
            <a:xfrm>
              <a:off x="9054856" y="3070653"/>
              <a:ext cx="2127437" cy="2852795"/>
              <a:chOff x="116435" y="3163661"/>
              <a:chExt cx="2715022" cy="2852795"/>
            </a:xfrm>
          </p:grpSpPr>
          <p:grpSp>
            <p:nvGrpSpPr>
              <p:cNvPr id="3316" name="Group 3315">
                <a:extLst>
                  <a:ext uri="{FF2B5EF4-FFF2-40B4-BE49-F238E27FC236}">
                    <a16:creationId xmlns:a16="http://schemas.microsoft.com/office/drawing/2014/main" id="{513F0310-1D89-7675-A00B-717E5BE5978B}"/>
                  </a:ext>
                </a:extLst>
              </p:cNvPr>
              <p:cNvGrpSpPr/>
              <p:nvPr/>
            </p:nvGrpSpPr>
            <p:grpSpPr>
              <a:xfrm>
                <a:off x="116435" y="3163661"/>
                <a:ext cx="2715022" cy="2573082"/>
                <a:chOff x="51410" y="2261711"/>
                <a:chExt cx="2715022" cy="2573082"/>
              </a:xfrm>
            </p:grpSpPr>
            <p:sp>
              <p:nvSpPr>
                <p:cNvPr id="3318" name="TextBox 3317">
                  <a:extLst>
                    <a:ext uri="{FF2B5EF4-FFF2-40B4-BE49-F238E27FC236}">
                      <a16:creationId xmlns:a16="http://schemas.microsoft.com/office/drawing/2014/main" id="{3F615169-2B08-B315-31C8-8204CE4FB6E7}"/>
                    </a:ext>
                  </a:extLst>
                </p:cNvPr>
                <p:cNvSpPr txBox="1"/>
                <p:nvPr/>
              </p:nvSpPr>
              <p:spPr>
                <a:xfrm>
                  <a:off x="51410" y="2517420"/>
                  <a:ext cx="2332582" cy="276999"/>
                </a:xfrm>
                <a:prstGeom prst="rect">
                  <a:avLst/>
                </a:prstGeom>
                <a:noFill/>
              </p:spPr>
              <p:txBody>
                <a:bodyPr wrap="square" rtlCol="0">
                  <a:spAutoFit/>
                </a:bodyPr>
                <a:lstStyle/>
                <a:p>
                  <a:r>
                    <a:rPr lang="en-US" sz="1200" dirty="0"/>
                    <a:t>Coffee supplier</a:t>
                  </a:r>
                </a:p>
              </p:txBody>
            </p:sp>
            <p:sp>
              <p:nvSpPr>
                <p:cNvPr id="3319" name="TextBox 3318">
                  <a:extLst>
                    <a:ext uri="{FF2B5EF4-FFF2-40B4-BE49-F238E27FC236}">
                      <a16:creationId xmlns:a16="http://schemas.microsoft.com/office/drawing/2014/main" id="{ED35C088-118E-BC4B-CC9D-FC04B7795CAD}"/>
                    </a:ext>
                  </a:extLst>
                </p:cNvPr>
                <p:cNvSpPr txBox="1"/>
                <p:nvPr/>
              </p:nvSpPr>
              <p:spPr>
                <a:xfrm>
                  <a:off x="79041" y="3468397"/>
                  <a:ext cx="1474650" cy="276999"/>
                </a:xfrm>
                <a:prstGeom prst="rect">
                  <a:avLst/>
                </a:prstGeom>
                <a:noFill/>
              </p:spPr>
              <p:txBody>
                <a:bodyPr wrap="square" rtlCol="0">
                  <a:spAutoFit/>
                </a:bodyPr>
                <a:lstStyle/>
                <a:p>
                  <a:r>
                    <a:rPr lang="en-US" sz="1200" dirty="0"/>
                    <a:t>Warehouse ops </a:t>
                  </a:r>
                </a:p>
              </p:txBody>
            </p:sp>
            <p:sp>
              <p:nvSpPr>
                <p:cNvPr id="3320" name="TextBox 3319">
                  <a:extLst>
                    <a:ext uri="{FF2B5EF4-FFF2-40B4-BE49-F238E27FC236}">
                      <a16:creationId xmlns:a16="http://schemas.microsoft.com/office/drawing/2014/main" id="{374BAE83-A431-B201-A6C7-C9EBD829B544}"/>
                    </a:ext>
                  </a:extLst>
                </p:cNvPr>
                <p:cNvSpPr txBox="1"/>
                <p:nvPr/>
              </p:nvSpPr>
              <p:spPr>
                <a:xfrm>
                  <a:off x="54461" y="2261711"/>
                  <a:ext cx="2437293" cy="276999"/>
                </a:xfrm>
                <a:prstGeom prst="rect">
                  <a:avLst/>
                </a:prstGeom>
                <a:noFill/>
              </p:spPr>
              <p:txBody>
                <a:bodyPr wrap="square" rtlCol="0">
                  <a:spAutoFit/>
                </a:bodyPr>
                <a:lstStyle/>
                <a:p>
                  <a:r>
                    <a:rPr lang="en-US" sz="1200" dirty="0"/>
                    <a:t>Manuf. of coffee bags</a:t>
                  </a:r>
                </a:p>
              </p:txBody>
            </p:sp>
            <p:sp>
              <p:nvSpPr>
                <p:cNvPr id="3321" name="TextBox 3320">
                  <a:extLst>
                    <a:ext uri="{FF2B5EF4-FFF2-40B4-BE49-F238E27FC236}">
                      <a16:creationId xmlns:a16="http://schemas.microsoft.com/office/drawing/2014/main" id="{31B64365-2BB2-6934-3094-A6BDAC316C06}"/>
                    </a:ext>
                  </a:extLst>
                </p:cNvPr>
                <p:cNvSpPr txBox="1"/>
                <p:nvPr/>
              </p:nvSpPr>
              <p:spPr>
                <a:xfrm>
                  <a:off x="75940" y="4557794"/>
                  <a:ext cx="1860178" cy="276999"/>
                </a:xfrm>
                <a:prstGeom prst="rect">
                  <a:avLst/>
                </a:prstGeom>
                <a:noFill/>
              </p:spPr>
              <p:txBody>
                <a:bodyPr wrap="square" rtlCol="0">
                  <a:spAutoFit/>
                </a:bodyPr>
                <a:lstStyle/>
                <a:p>
                  <a:r>
                    <a:rPr lang="en-US" sz="1200" dirty="0"/>
                    <a:t>Ship to N.Y. harbor</a:t>
                  </a:r>
                  <a:endParaRPr lang="en-US" sz="1200" b="1" dirty="0"/>
                </a:p>
              </p:txBody>
            </p:sp>
            <p:sp>
              <p:nvSpPr>
                <p:cNvPr id="3322" name="TextBox 3321">
                  <a:extLst>
                    <a:ext uri="{FF2B5EF4-FFF2-40B4-BE49-F238E27FC236}">
                      <a16:creationId xmlns:a16="http://schemas.microsoft.com/office/drawing/2014/main" id="{4BE8E3CD-19C7-DFE4-840B-E0BA70F8179C}"/>
                    </a:ext>
                  </a:extLst>
                </p:cNvPr>
                <p:cNvSpPr txBox="1"/>
                <p:nvPr/>
              </p:nvSpPr>
              <p:spPr>
                <a:xfrm>
                  <a:off x="77138" y="3966114"/>
                  <a:ext cx="2332582" cy="276999"/>
                </a:xfrm>
                <a:prstGeom prst="rect">
                  <a:avLst/>
                </a:prstGeom>
                <a:noFill/>
              </p:spPr>
              <p:txBody>
                <a:bodyPr wrap="square" rtlCol="0">
                  <a:spAutoFit/>
                </a:bodyPr>
                <a:lstStyle/>
                <a:p>
                  <a:r>
                    <a:rPr lang="en-US" sz="1200" dirty="0"/>
                    <a:t>Coffee bag loading on ship</a:t>
                  </a:r>
                </a:p>
              </p:txBody>
            </p:sp>
            <p:sp>
              <p:nvSpPr>
                <p:cNvPr id="3323" name="TextBox 3322">
                  <a:extLst>
                    <a:ext uri="{FF2B5EF4-FFF2-40B4-BE49-F238E27FC236}">
                      <a16:creationId xmlns:a16="http://schemas.microsoft.com/office/drawing/2014/main" id="{1EB9189E-56F4-0323-9827-21483E1E1801}"/>
                    </a:ext>
                  </a:extLst>
                </p:cNvPr>
                <p:cNvSpPr txBox="1"/>
                <p:nvPr/>
              </p:nvSpPr>
              <p:spPr>
                <a:xfrm>
                  <a:off x="67299" y="2803688"/>
                  <a:ext cx="2699133" cy="646331"/>
                </a:xfrm>
                <a:prstGeom prst="rect">
                  <a:avLst/>
                </a:prstGeom>
                <a:noFill/>
              </p:spPr>
              <p:txBody>
                <a:bodyPr wrap="square" rtlCol="0">
                  <a:spAutoFit/>
                </a:bodyPr>
                <a:lstStyle/>
                <a:p>
                  <a:r>
                    <a:rPr lang="en-US" sz="1200" dirty="0"/>
                    <a:t>Trucking to Warehouse</a:t>
                  </a:r>
                </a:p>
                <a:p>
                  <a:r>
                    <a:rPr lang="en-US" sz="1200" dirty="0"/>
                    <a:t>    - Freight Co. #2</a:t>
                  </a:r>
                </a:p>
                <a:p>
                  <a:r>
                    <a:rPr lang="en-US" sz="1200" dirty="0"/>
                    <a:t>    - unloading</a:t>
                  </a:r>
                </a:p>
              </p:txBody>
            </p:sp>
            <p:sp>
              <p:nvSpPr>
                <p:cNvPr id="3324" name="TextBox 3323">
                  <a:extLst>
                    <a:ext uri="{FF2B5EF4-FFF2-40B4-BE49-F238E27FC236}">
                      <a16:creationId xmlns:a16="http://schemas.microsoft.com/office/drawing/2014/main" id="{56D9A235-9BFC-0FB6-7A08-5087F7C2DB4B}"/>
                    </a:ext>
                  </a:extLst>
                </p:cNvPr>
                <p:cNvSpPr txBox="1"/>
                <p:nvPr/>
              </p:nvSpPr>
              <p:spPr>
                <a:xfrm>
                  <a:off x="229459" y="3648372"/>
                  <a:ext cx="1747534" cy="276999"/>
                </a:xfrm>
                <a:prstGeom prst="rect">
                  <a:avLst/>
                </a:prstGeom>
                <a:noFill/>
              </p:spPr>
              <p:txBody>
                <a:bodyPr wrap="square" rtlCol="0">
                  <a:spAutoFit/>
                </a:bodyPr>
                <a:lstStyle/>
                <a:p>
                  <a:r>
                    <a:rPr lang="en-US" sz="1200" dirty="0"/>
                    <a:t>- Heating / cooling </a:t>
                  </a:r>
                </a:p>
              </p:txBody>
            </p:sp>
            <p:sp>
              <p:nvSpPr>
                <p:cNvPr id="3325" name="TextBox 3324">
                  <a:extLst>
                    <a:ext uri="{FF2B5EF4-FFF2-40B4-BE49-F238E27FC236}">
                      <a16:creationId xmlns:a16="http://schemas.microsoft.com/office/drawing/2014/main" id="{011AAE0E-C551-69D8-0ECF-D63224D9AEBB}"/>
                    </a:ext>
                  </a:extLst>
                </p:cNvPr>
                <p:cNvSpPr txBox="1"/>
                <p:nvPr/>
              </p:nvSpPr>
              <p:spPr>
                <a:xfrm>
                  <a:off x="238386" y="4133238"/>
                  <a:ext cx="1672536" cy="276999"/>
                </a:xfrm>
                <a:prstGeom prst="rect">
                  <a:avLst/>
                </a:prstGeom>
                <a:noFill/>
              </p:spPr>
              <p:txBody>
                <a:bodyPr wrap="square" rtlCol="0">
                  <a:spAutoFit/>
                </a:bodyPr>
                <a:lstStyle/>
                <a:p>
                  <a:r>
                    <a:rPr lang="en-US" sz="1200" dirty="0"/>
                    <a:t>- forklift ops </a:t>
                  </a:r>
                </a:p>
              </p:txBody>
            </p:sp>
            <p:sp>
              <p:nvSpPr>
                <p:cNvPr id="3326" name="TextBox 3325">
                  <a:extLst>
                    <a:ext uri="{FF2B5EF4-FFF2-40B4-BE49-F238E27FC236}">
                      <a16:creationId xmlns:a16="http://schemas.microsoft.com/office/drawing/2014/main" id="{87356059-3DBA-247A-5AE3-DEC7EDC08D15}"/>
                    </a:ext>
                  </a:extLst>
                </p:cNvPr>
                <p:cNvSpPr txBox="1"/>
                <p:nvPr/>
              </p:nvSpPr>
              <p:spPr>
                <a:xfrm>
                  <a:off x="237330" y="4246060"/>
                  <a:ext cx="1990949" cy="307777"/>
                </a:xfrm>
                <a:prstGeom prst="rect">
                  <a:avLst/>
                </a:prstGeom>
                <a:noFill/>
              </p:spPr>
              <p:txBody>
                <a:bodyPr wrap="square" rtlCol="0">
                  <a:spAutoFit/>
                </a:bodyPr>
                <a:lstStyle/>
                <a:p>
                  <a:r>
                    <a:rPr lang="en-US" sz="1400" dirty="0"/>
                    <a:t>- </a:t>
                  </a:r>
                  <a:r>
                    <a:rPr lang="en-US" sz="1200" dirty="0"/>
                    <a:t>cranes for loading </a:t>
                  </a:r>
                </a:p>
              </p:txBody>
            </p:sp>
          </p:grpSp>
          <p:sp>
            <p:nvSpPr>
              <p:cNvPr id="3317" name="TextBox 3316">
                <a:extLst>
                  <a:ext uri="{FF2B5EF4-FFF2-40B4-BE49-F238E27FC236}">
                    <a16:creationId xmlns:a16="http://schemas.microsoft.com/office/drawing/2014/main" id="{E034D743-8996-5680-F63F-3E32A4434A8F}"/>
                  </a:ext>
                </a:extLst>
              </p:cNvPr>
              <p:cNvSpPr txBox="1"/>
              <p:nvPr/>
            </p:nvSpPr>
            <p:spPr>
              <a:xfrm>
                <a:off x="128893" y="5739457"/>
                <a:ext cx="2161122" cy="276999"/>
              </a:xfrm>
              <a:prstGeom prst="rect">
                <a:avLst/>
              </a:prstGeom>
              <a:noFill/>
            </p:spPr>
            <p:txBody>
              <a:bodyPr wrap="square" rtlCol="0">
                <a:spAutoFit/>
              </a:bodyPr>
              <a:lstStyle/>
              <a:p>
                <a:r>
                  <a:rPr lang="en-US" sz="1200" dirty="0"/>
                  <a:t>Purchase GHG credits</a:t>
                </a:r>
              </a:p>
            </p:txBody>
          </p:sp>
        </p:grpSp>
        <p:grpSp>
          <p:nvGrpSpPr>
            <p:cNvPr id="3306" name="Group 3305">
              <a:extLst>
                <a:ext uri="{FF2B5EF4-FFF2-40B4-BE49-F238E27FC236}">
                  <a16:creationId xmlns:a16="http://schemas.microsoft.com/office/drawing/2014/main" id="{0CE78DD0-6E52-0154-0E25-8F0AE3322053}"/>
                </a:ext>
              </a:extLst>
            </p:cNvPr>
            <p:cNvGrpSpPr/>
            <p:nvPr/>
          </p:nvGrpSpPr>
          <p:grpSpPr>
            <a:xfrm>
              <a:off x="9071725" y="3326362"/>
              <a:ext cx="2290621" cy="2620783"/>
              <a:chOff x="135733" y="3147241"/>
              <a:chExt cx="2290621" cy="2620783"/>
            </a:xfrm>
          </p:grpSpPr>
          <p:cxnSp>
            <p:nvCxnSpPr>
              <p:cNvPr id="3309" name="Straight Connector 3308">
                <a:extLst>
                  <a:ext uri="{FF2B5EF4-FFF2-40B4-BE49-F238E27FC236}">
                    <a16:creationId xmlns:a16="http://schemas.microsoft.com/office/drawing/2014/main" id="{F76462BE-EE22-FA27-3607-DA91C0E79910}"/>
                  </a:ext>
                </a:extLst>
              </p:cNvPr>
              <p:cNvCxnSpPr>
                <a:cxnSpLocks/>
              </p:cNvCxnSpPr>
              <p:nvPr/>
            </p:nvCxnSpPr>
            <p:spPr>
              <a:xfrm flipV="1">
                <a:off x="135733" y="3147241"/>
                <a:ext cx="2290621" cy="11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310" name="Straight Connector 3309">
                <a:extLst>
                  <a:ext uri="{FF2B5EF4-FFF2-40B4-BE49-F238E27FC236}">
                    <a16:creationId xmlns:a16="http://schemas.microsoft.com/office/drawing/2014/main" id="{3C2ED4FE-78A7-68FE-576E-35AA216F02AB}"/>
                  </a:ext>
                </a:extLst>
              </p:cNvPr>
              <p:cNvCxnSpPr>
                <a:cxnSpLocks/>
              </p:cNvCxnSpPr>
              <p:nvPr/>
            </p:nvCxnSpPr>
            <p:spPr>
              <a:xfrm flipV="1">
                <a:off x="151212" y="3424240"/>
                <a:ext cx="2275142" cy="68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11" name="Straight Connector 3310">
                <a:extLst>
                  <a:ext uri="{FF2B5EF4-FFF2-40B4-BE49-F238E27FC236}">
                    <a16:creationId xmlns:a16="http://schemas.microsoft.com/office/drawing/2014/main" id="{FB06F251-8062-0041-FA91-AA6C10B3770B}"/>
                  </a:ext>
                </a:extLst>
              </p:cNvPr>
              <p:cNvCxnSpPr>
                <a:cxnSpLocks/>
              </p:cNvCxnSpPr>
              <p:nvPr/>
            </p:nvCxnSpPr>
            <p:spPr>
              <a:xfrm flipV="1">
                <a:off x="151212" y="4088710"/>
                <a:ext cx="2268755" cy="9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12" name="Straight Connector 3311">
                <a:extLst>
                  <a:ext uri="{FF2B5EF4-FFF2-40B4-BE49-F238E27FC236}">
                    <a16:creationId xmlns:a16="http://schemas.microsoft.com/office/drawing/2014/main" id="{3D6B7DC0-8B92-C579-6CA7-645C1338C41D}"/>
                  </a:ext>
                </a:extLst>
              </p:cNvPr>
              <p:cNvCxnSpPr>
                <a:cxnSpLocks/>
              </p:cNvCxnSpPr>
              <p:nvPr/>
            </p:nvCxnSpPr>
            <p:spPr>
              <a:xfrm flipV="1">
                <a:off x="151212" y="4566184"/>
                <a:ext cx="2275142" cy="9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13" name="Straight Connector 3312">
                <a:extLst>
                  <a:ext uri="{FF2B5EF4-FFF2-40B4-BE49-F238E27FC236}">
                    <a16:creationId xmlns:a16="http://schemas.microsoft.com/office/drawing/2014/main" id="{2B1A000E-4A66-5E7A-D14E-133EA507F2A2}"/>
                  </a:ext>
                </a:extLst>
              </p:cNvPr>
              <p:cNvCxnSpPr>
                <a:cxnSpLocks/>
              </p:cNvCxnSpPr>
              <p:nvPr/>
            </p:nvCxnSpPr>
            <p:spPr>
              <a:xfrm flipV="1">
                <a:off x="165385" y="5187228"/>
                <a:ext cx="2256651" cy="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14" name="Straight Connector 3313">
                <a:extLst>
                  <a:ext uri="{FF2B5EF4-FFF2-40B4-BE49-F238E27FC236}">
                    <a16:creationId xmlns:a16="http://schemas.microsoft.com/office/drawing/2014/main" id="{8DA45DA0-C563-4BFF-D513-0BBBD0404D12}"/>
                  </a:ext>
                </a:extLst>
              </p:cNvPr>
              <p:cNvCxnSpPr>
                <a:cxnSpLocks/>
              </p:cNvCxnSpPr>
              <p:nvPr/>
            </p:nvCxnSpPr>
            <p:spPr>
              <a:xfrm flipV="1">
                <a:off x="142867" y="5457333"/>
                <a:ext cx="2277100" cy="87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15" name="Straight Connector 3314">
                <a:extLst>
                  <a:ext uri="{FF2B5EF4-FFF2-40B4-BE49-F238E27FC236}">
                    <a16:creationId xmlns:a16="http://schemas.microsoft.com/office/drawing/2014/main" id="{D6FE4C56-EF20-AEDD-E69B-850F86A9D9D2}"/>
                  </a:ext>
                </a:extLst>
              </p:cNvPr>
              <p:cNvCxnSpPr>
                <a:cxnSpLocks/>
              </p:cNvCxnSpPr>
              <p:nvPr/>
            </p:nvCxnSpPr>
            <p:spPr>
              <a:xfrm flipV="1">
                <a:off x="163316" y="5760439"/>
                <a:ext cx="2256651" cy="7585"/>
              </a:xfrm>
              <a:prstGeom prst="line">
                <a:avLst/>
              </a:prstGeom>
            </p:spPr>
            <p:style>
              <a:lnRef idx="1">
                <a:schemeClr val="accent1"/>
              </a:lnRef>
              <a:fillRef idx="0">
                <a:schemeClr val="accent1"/>
              </a:fillRef>
              <a:effectRef idx="0">
                <a:schemeClr val="accent1"/>
              </a:effectRef>
              <a:fontRef idx="minor">
                <a:schemeClr val="tx1"/>
              </a:fontRef>
            </p:style>
          </p:cxnSp>
        </p:grpSp>
        <p:sp>
          <p:nvSpPr>
            <p:cNvPr id="3307" name="TextBox 3306">
              <a:extLst>
                <a:ext uri="{FF2B5EF4-FFF2-40B4-BE49-F238E27FC236}">
                  <a16:creationId xmlns:a16="http://schemas.microsoft.com/office/drawing/2014/main" id="{C01C6700-9F16-9F22-E75D-CFE9F1485936}"/>
                </a:ext>
              </a:extLst>
            </p:cNvPr>
            <p:cNvSpPr txBox="1"/>
            <p:nvPr/>
          </p:nvSpPr>
          <p:spPr>
            <a:xfrm>
              <a:off x="9101578" y="2808404"/>
              <a:ext cx="3185676" cy="276999"/>
            </a:xfrm>
            <a:prstGeom prst="rect">
              <a:avLst/>
            </a:prstGeom>
            <a:noFill/>
          </p:spPr>
          <p:txBody>
            <a:bodyPr wrap="square" rtlCol="0">
              <a:spAutoFit/>
            </a:bodyPr>
            <a:lstStyle/>
            <a:p>
              <a:r>
                <a:rPr lang="en-US" sz="1200" b="1" dirty="0"/>
                <a:t>Issues </a:t>
              </a:r>
              <a:r>
                <a:rPr lang="en-US" sz="1200" dirty="0"/>
                <a:t>(</a:t>
              </a:r>
              <a:r>
                <a:rPr lang="en-US" sz="1200" dirty="0" err="1"/>
                <a:t>mtons</a:t>
              </a:r>
              <a:r>
                <a:rPr lang="en-US" sz="1200" dirty="0"/>
                <a:t> of CO2e) </a:t>
              </a:r>
            </a:p>
          </p:txBody>
        </p:sp>
      </p:grpSp>
      <p:pic>
        <p:nvPicPr>
          <p:cNvPr id="2052" name="Picture 4" descr="239,100+ Blockchain Stock Photos ...">
            <a:extLst>
              <a:ext uri="{FF2B5EF4-FFF2-40B4-BE49-F238E27FC236}">
                <a16:creationId xmlns:a16="http://schemas.microsoft.com/office/drawing/2014/main" id="{A7251EC0-F529-671C-A1ED-C3235A33E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51" y="1298723"/>
            <a:ext cx="1508713" cy="1003980"/>
          </a:xfrm>
          <a:prstGeom prst="rect">
            <a:avLst/>
          </a:prstGeom>
          <a:noFill/>
          <a:extLst>
            <a:ext uri="{909E8E84-426E-40DD-AFC4-6F175D3DCCD1}">
              <a14:hiddenFill xmlns:a14="http://schemas.microsoft.com/office/drawing/2010/main">
                <a:solidFill>
                  <a:srgbClr val="FFFFFF"/>
                </a:solidFill>
              </a14:hiddenFill>
            </a:ext>
          </a:extLst>
        </p:spPr>
      </p:pic>
      <p:sp>
        <p:nvSpPr>
          <p:cNvPr id="3267" name="Rectangle 3266">
            <a:extLst>
              <a:ext uri="{FF2B5EF4-FFF2-40B4-BE49-F238E27FC236}">
                <a16:creationId xmlns:a16="http://schemas.microsoft.com/office/drawing/2014/main" id="{AA515696-751A-2E08-CF3C-2C2616CB683E}"/>
              </a:ext>
            </a:extLst>
          </p:cNvPr>
          <p:cNvSpPr/>
          <p:nvPr/>
        </p:nvSpPr>
        <p:spPr>
          <a:xfrm>
            <a:off x="7229046" y="3117241"/>
            <a:ext cx="2283475" cy="3610644"/>
          </a:xfrm>
          <a:prstGeom prst="rect">
            <a:avLst/>
          </a:prstGeom>
          <a:solidFill>
            <a:srgbClr val="008000">
              <a:alpha val="22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EE77F6AA-A38B-B921-A75B-0ACF2B5406FC}"/>
              </a:ext>
            </a:extLst>
          </p:cNvPr>
          <p:cNvSpPr txBox="1"/>
          <p:nvPr/>
        </p:nvSpPr>
        <p:spPr>
          <a:xfrm>
            <a:off x="2697109" y="1545980"/>
            <a:ext cx="6030129" cy="369332"/>
          </a:xfrm>
          <a:prstGeom prst="rect">
            <a:avLst/>
          </a:prstGeom>
          <a:noFill/>
        </p:spPr>
        <p:txBody>
          <a:bodyPr wrap="square" rtlCol="0">
            <a:spAutoFit/>
          </a:bodyPr>
          <a:lstStyle/>
          <a:p>
            <a:r>
              <a:rPr lang="en-US" b="1" dirty="0">
                <a:solidFill>
                  <a:schemeClr val="bg1"/>
                </a:solidFill>
              </a:rPr>
              <a:t>[  LFDT Systems Used: Fabric, </a:t>
            </a:r>
            <a:r>
              <a:rPr lang="en-US" b="1" dirty="0" err="1">
                <a:solidFill>
                  <a:schemeClr val="bg1"/>
                </a:solidFill>
              </a:rPr>
              <a:t>Besu</a:t>
            </a:r>
            <a:r>
              <a:rPr lang="en-US" b="1" dirty="0">
                <a:solidFill>
                  <a:schemeClr val="bg1"/>
                </a:solidFill>
              </a:rPr>
              <a:t>, Indy, Explorer, Cacti  ]</a:t>
            </a:r>
          </a:p>
        </p:txBody>
      </p:sp>
      <p:sp>
        <p:nvSpPr>
          <p:cNvPr id="3" name="TextBox 2">
            <a:extLst>
              <a:ext uri="{FF2B5EF4-FFF2-40B4-BE49-F238E27FC236}">
                <a16:creationId xmlns:a16="http://schemas.microsoft.com/office/drawing/2014/main" id="{159A2729-A23D-83BD-BA78-3069721DA92A}"/>
              </a:ext>
            </a:extLst>
          </p:cNvPr>
          <p:cNvSpPr txBox="1"/>
          <p:nvPr/>
        </p:nvSpPr>
        <p:spPr>
          <a:xfrm>
            <a:off x="11391233" y="4296965"/>
            <a:ext cx="524130" cy="276999"/>
          </a:xfrm>
          <a:prstGeom prst="rect">
            <a:avLst/>
          </a:prstGeom>
          <a:noFill/>
        </p:spPr>
        <p:txBody>
          <a:bodyPr wrap="square" rtlCol="0">
            <a:spAutoFit/>
          </a:bodyPr>
          <a:lstStyle/>
          <a:p>
            <a:pPr algn="r"/>
            <a:r>
              <a:rPr lang="en-US" sz="1200" b="1" dirty="0"/>
              <a:t>+.06</a:t>
            </a:r>
          </a:p>
        </p:txBody>
      </p:sp>
    </p:spTree>
    <p:extLst>
      <p:ext uri="{BB962C8B-B14F-4D97-AF65-F5344CB8AC3E}">
        <p14:creationId xmlns:p14="http://schemas.microsoft.com/office/powerpoint/2010/main" val="4146478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anim calcmode="lin" valueType="num">
                                      <p:cBhvr additive="base">
                                        <p:cTn id="7" dur="10" fill="hold"/>
                                        <p:tgtEl>
                                          <p:spTgt spid="109"/>
                                        </p:tgtEl>
                                        <p:attrNameLst>
                                          <p:attrName>ppt_x</p:attrName>
                                        </p:attrNameLst>
                                      </p:cBhvr>
                                      <p:tavLst>
                                        <p:tav tm="0">
                                          <p:val>
                                            <p:strVal val="#ppt_x"/>
                                          </p:val>
                                        </p:tav>
                                        <p:tav tm="100000">
                                          <p:val>
                                            <p:strVal val="#ppt_x"/>
                                          </p:val>
                                        </p:tav>
                                      </p:tavLst>
                                    </p:anim>
                                    <p:anim calcmode="lin" valueType="num">
                                      <p:cBhvr additive="base">
                                        <p:cTn id="8" dur="10" fill="hold"/>
                                        <p:tgtEl>
                                          <p:spTgt spid="109"/>
                                        </p:tgtEl>
                                        <p:attrNameLst>
                                          <p:attrName>ppt_y</p:attrName>
                                        </p:attrNameLst>
                                      </p:cBhvr>
                                      <p:tavLst>
                                        <p:tav tm="0">
                                          <p:val>
                                            <p:strVal val="1+#ppt_h/2"/>
                                          </p:val>
                                        </p:tav>
                                        <p:tav tm="100000">
                                          <p:val>
                                            <p:strVal val="#ppt_y"/>
                                          </p:val>
                                        </p:tav>
                                      </p:tavLst>
                                    </p:anim>
                                  </p:childTnLst>
                                </p:cTn>
                              </p:par>
                            </p:childTnLst>
                          </p:cTn>
                        </p:par>
                        <p:par>
                          <p:cTn id="9" fill="hold">
                            <p:stCondLst>
                              <p:cond delay="10"/>
                            </p:stCondLst>
                            <p:childTnLst>
                              <p:par>
                                <p:cTn id="10" presetID="1" presetClass="entr" presetSubtype="0" fill="hold" nodeType="afterEffect">
                                  <p:stCondLst>
                                    <p:cond delay="0"/>
                                  </p:stCondLst>
                                  <p:childTnLst>
                                    <p:set>
                                      <p:cBhvr>
                                        <p:cTn id="11" dur="1" fill="hold">
                                          <p:stCondLst>
                                            <p:cond delay="0"/>
                                          </p:stCondLst>
                                        </p:cTn>
                                        <p:tgtEl>
                                          <p:spTgt spid="323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1" nodeType="clickEffect">
                                  <p:stCondLst>
                                    <p:cond delay="0"/>
                                  </p:stCondLst>
                                  <p:childTnLst>
                                    <p:set>
                                      <p:cBhvr>
                                        <p:cTn id="15" dur="1" fill="hold">
                                          <p:stCondLst>
                                            <p:cond delay="0"/>
                                          </p:stCondLst>
                                        </p:cTn>
                                        <p:tgtEl>
                                          <p:spTgt spid="109"/>
                                        </p:tgtEl>
                                        <p:attrNameLst>
                                          <p:attrName>style.visibility</p:attrName>
                                        </p:attrNameLst>
                                      </p:cBhvr>
                                      <p:to>
                                        <p:strVal val="hidden"/>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3343"/>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500"/>
                                  </p:stCondLst>
                                  <p:childTnLst>
                                    <p:set>
                                      <p:cBhvr>
                                        <p:cTn id="21" dur="1" fill="hold">
                                          <p:stCondLst>
                                            <p:cond delay="0"/>
                                          </p:stCondLst>
                                        </p:cTn>
                                        <p:tgtEl>
                                          <p:spTgt spid="1072"/>
                                        </p:tgtEl>
                                        <p:attrNameLst>
                                          <p:attrName>style.visibility</p:attrName>
                                        </p:attrNameLst>
                                      </p:cBhvr>
                                      <p:to>
                                        <p:strVal val="visible"/>
                                      </p:to>
                                    </p:set>
                                  </p:childTnLst>
                                </p:cTn>
                              </p:par>
                            </p:childTnLst>
                          </p:cTn>
                        </p:par>
                        <p:par>
                          <p:cTn id="22" fill="hold">
                            <p:stCondLst>
                              <p:cond delay="500"/>
                            </p:stCondLst>
                            <p:childTnLst>
                              <p:par>
                                <p:cTn id="23" presetID="1" presetClass="entr" presetSubtype="0" fill="hold" nodeType="afterEffect">
                                  <p:stCondLst>
                                    <p:cond delay="500"/>
                                  </p:stCondLst>
                                  <p:childTnLst>
                                    <p:set>
                                      <p:cBhvr>
                                        <p:cTn id="24" dur="1" fill="hold">
                                          <p:stCondLst>
                                            <p:cond delay="0"/>
                                          </p:stCondLst>
                                        </p:cTn>
                                        <p:tgtEl>
                                          <p:spTgt spid="319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344"/>
                                        </p:tgtEl>
                                        <p:attrNameLst>
                                          <p:attrName>style.visibility</p:attrName>
                                        </p:attrNameLst>
                                      </p:cBhvr>
                                      <p:to>
                                        <p:strVal val="visible"/>
                                      </p:to>
                                    </p:set>
                                  </p:childTnLst>
                                </p:cTn>
                              </p:par>
                            </p:childTnLst>
                          </p:cTn>
                        </p:par>
                        <p:par>
                          <p:cTn id="29" fill="hold">
                            <p:stCondLst>
                              <p:cond delay="0"/>
                            </p:stCondLst>
                            <p:childTnLst>
                              <p:par>
                                <p:cTn id="30" presetID="1" presetClass="exit" presetSubtype="0" fill="hold" grpId="1" nodeType="afterEffect">
                                  <p:stCondLst>
                                    <p:cond delay="0"/>
                                  </p:stCondLst>
                                  <p:childTnLst>
                                    <p:set>
                                      <p:cBhvr>
                                        <p:cTn id="31" dur="1" fill="hold">
                                          <p:stCondLst>
                                            <p:cond delay="0"/>
                                          </p:stCondLst>
                                        </p:cTn>
                                        <p:tgtEl>
                                          <p:spTgt spid="3343"/>
                                        </p:tgtEl>
                                        <p:attrNameLst>
                                          <p:attrName>style.visibility</p:attrName>
                                        </p:attrNameLst>
                                      </p:cBhvr>
                                      <p:to>
                                        <p:strVal val="hidden"/>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326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3344"/>
                                        </p:tgtEl>
                                        <p:attrNameLst>
                                          <p:attrName>style.visibility</p:attrName>
                                        </p:attrNameLst>
                                      </p:cBhvr>
                                      <p:to>
                                        <p:strVal val="hidden"/>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09" grpId="1" animBg="1"/>
      <p:bldP spid="3343" grpId="0" animBg="1"/>
      <p:bldP spid="3343" grpId="1" animBg="1"/>
      <p:bldP spid="3344" grpId="0" animBg="1"/>
      <p:bldP spid="3344" grpId="1" animBg="1"/>
      <p:bldP spid="3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B5F14-7D07-B78D-5F8A-103D3693277F}"/>
            </a:ext>
          </a:extLst>
        </p:cNvPr>
        <p:cNvGrpSpPr/>
        <p:nvPr/>
      </p:nvGrpSpPr>
      <p:grpSpPr>
        <a:xfrm>
          <a:off x="0" y="0"/>
          <a:ext cx="0" cy="0"/>
          <a:chOff x="0" y="0"/>
          <a:chExt cx="0" cy="0"/>
        </a:xfrm>
      </p:grpSpPr>
      <p:pic>
        <p:nvPicPr>
          <p:cNvPr id="8" name="Picture 4" descr="8,438 Blockchain Technology Light Blue Royalty-Free Images ...">
            <a:extLst>
              <a:ext uri="{FF2B5EF4-FFF2-40B4-BE49-F238E27FC236}">
                <a16:creationId xmlns:a16="http://schemas.microsoft.com/office/drawing/2014/main" id="{FAB1F612-9134-2E77-A3A9-9458AA736B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 y="1026489"/>
            <a:ext cx="12198732" cy="5831511"/>
          </a:xfrm>
          <a:prstGeom prst="rect">
            <a:avLst/>
          </a:prstGeom>
          <a:noFill/>
          <a:extLst>
            <a:ext uri="{909E8E84-426E-40DD-AFC4-6F175D3DCCD1}">
              <a14:hiddenFill xmlns:a14="http://schemas.microsoft.com/office/drawing/2010/main">
                <a:solidFill>
                  <a:srgbClr val="FFFFFF"/>
                </a:solidFill>
              </a14:hiddenFill>
            </a:ext>
          </a:extLst>
        </p:spPr>
      </p:pic>
      <p:sp>
        <p:nvSpPr>
          <p:cNvPr id="2075" name="Rectangle 2074">
            <a:extLst>
              <a:ext uri="{FF2B5EF4-FFF2-40B4-BE49-F238E27FC236}">
                <a16:creationId xmlns:a16="http://schemas.microsoft.com/office/drawing/2014/main" id="{F500A862-DB25-623B-669C-D95C89F47BDD}"/>
              </a:ext>
            </a:extLst>
          </p:cNvPr>
          <p:cNvSpPr/>
          <p:nvPr/>
        </p:nvSpPr>
        <p:spPr>
          <a:xfrm>
            <a:off x="9472574" y="2454383"/>
            <a:ext cx="1744712" cy="2740271"/>
          </a:xfrm>
          <a:prstGeom prst="rect">
            <a:avLst/>
          </a:prstGeom>
          <a:solidFill>
            <a:srgbClr val="92D050"/>
          </a:solidFill>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4" name="Rectangle 2073">
            <a:extLst>
              <a:ext uri="{FF2B5EF4-FFF2-40B4-BE49-F238E27FC236}">
                <a16:creationId xmlns:a16="http://schemas.microsoft.com/office/drawing/2014/main" id="{39E81919-72C5-BB46-A33B-D186E1EE1AA6}"/>
              </a:ext>
            </a:extLst>
          </p:cNvPr>
          <p:cNvSpPr/>
          <p:nvPr/>
        </p:nvSpPr>
        <p:spPr>
          <a:xfrm>
            <a:off x="5946228" y="2442590"/>
            <a:ext cx="1744712" cy="2740271"/>
          </a:xfrm>
          <a:prstGeom prst="rect">
            <a:avLst/>
          </a:prstGeom>
          <a:solidFill>
            <a:srgbClr val="CCFFFF"/>
          </a:solidFill>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5" name="Rectangle 3354">
            <a:extLst>
              <a:ext uri="{FF2B5EF4-FFF2-40B4-BE49-F238E27FC236}">
                <a16:creationId xmlns:a16="http://schemas.microsoft.com/office/drawing/2014/main" id="{D5A54395-7F7F-9E10-7440-233E293F3E75}"/>
              </a:ext>
            </a:extLst>
          </p:cNvPr>
          <p:cNvSpPr/>
          <p:nvPr/>
        </p:nvSpPr>
        <p:spPr>
          <a:xfrm>
            <a:off x="3216439" y="2464500"/>
            <a:ext cx="1744712" cy="2658852"/>
          </a:xfrm>
          <a:prstGeom prst="rect">
            <a:avLst/>
          </a:prstGeom>
          <a:solidFill>
            <a:srgbClr val="CCFFFF"/>
          </a:solidFill>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F453A5B-827E-8813-D512-140C644DE224}"/>
              </a:ext>
            </a:extLst>
          </p:cNvPr>
          <p:cNvSpPr/>
          <p:nvPr/>
        </p:nvSpPr>
        <p:spPr>
          <a:xfrm>
            <a:off x="-4608" y="8756"/>
            <a:ext cx="12180896" cy="656492"/>
          </a:xfrm>
          <a:prstGeom prst="rect">
            <a:avLst/>
          </a:prstGeom>
          <a:solidFill>
            <a:srgbClr val="0066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DE50732-17AA-A5F3-B6DB-0A0A88C4319D}"/>
              </a:ext>
            </a:extLst>
          </p:cNvPr>
          <p:cNvSpPr txBox="1"/>
          <p:nvPr/>
        </p:nvSpPr>
        <p:spPr>
          <a:xfrm>
            <a:off x="-4608" y="685872"/>
            <a:ext cx="12172010" cy="584775"/>
          </a:xfrm>
          <a:prstGeom prst="rect">
            <a:avLst/>
          </a:prstGeom>
          <a:solidFill>
            <a:schemeClr val="bg1"/>
          </a:solidFill>
        </p:spPr>
        <p:txBody>
          <a:bodyPr wrap="square" rtlCol="0">
            <a:spAutoFit/>
          </a:bodyPr>
          <a:lstStyle/>
          <a:p>
            <a:r>
              <a:rPr lang="en-US" sz="1600" dirty="0"/>
              <a:t>Using Hyperledger software as the digital twin platform, we can model GHG emissions within the supply chain, enabling progress towards targeted emission reduction levels. </a:t>
            </a:r>
          </a:p>
        </p:txBody>
      </p:sp>
      <p:sp>
        <p:nvSpPr>
          <p:cNvPr id="45" name="TextBox 44">
            <a:extLst>
              <a:ext uri="{FF2B5EF4-FFF2-40B4-BE49-F238E27FC236}">
                <a16:creationId xmlns:a16="http://schemas.microsoft.com/office/drawing/2014/main" id="{7979CD94-6628-6B0A-2F4F-14122F69BA15}"/>
              </a:ext>
            </a:extLst>
          </p:cNvPr>
          <p:cNvSpPr txBox="1"/>
          <p:nvPr/>
        </p:nvSpPr>
        <p:spPr>
          <a:xfrm>
            <a:off x="59552" y="91228"/>
            <a:ext cx="11835599" cy="461665"/>
          </a:xfrm>
          <a:prstGeom prst="rect">
            <a:avLst/>
          </a:prstGeom>
          <a:noFill/>
        </p:spPr>
        <p:txBody>
          <a:bodyPr wrap="square" rtlCol="0">
            <a:spAutoFit/>
          </a:bodyPr>
          <a:lstStyle/>
          <a:p>
            <a:r>
              <a:rPr lang="en-US" sz="2400" b="1" dirty="0">
                <a:solidFill>
                  <a:schemeClr val="bg1">
                    <a:lumMod val="95000"/>
                  </a:schemeClr>
                </a:solidFill>
              </a:rPr>
              <a:t>Model: Use Digital Twin for an Approach to Reduce GHG Emissions to Target ( 1 of 2 ) </a:t>
            </a:r>
          </a:p>
        </p:txBody>
      </p:sp>
      <p:sp>
        <p:nvSpPr>
          <p:cNvPr id="3230" name="Rectangle 3229">
            <a:extLst>
              <a:ext uri="{FF2B5EF4-FFF2-40B4-BE49-F238E27FC236}">
                <a16:creationId xmlns:a16="http://schemas.microsoft.com/office/drawing/2014/main" id="{FB4036C8-AD3C-5BF1-BBEA-D1D63A41936A}"/>
              </a:ext>
            </a:extLst>
          </p:cNvPr>
          <p:cNvSpPr/>
          <p:nvPr/>
        </p:nvSpPr>
        <p:spPr>
          <a:xfrm>
            <a:off x="109054" y="2431114"/>
            <a:ext cx="1744712" cy="2740271"/>
          </a:xfrm>
          <a:prstGeom prst="rect">
            <a:avLst/>
          </a:prstGeom>
          <a:solidFill>
            <a:srgbClr val="FFFF99"/>
          </a:solidFill>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32" name="Group 3231">
            <a:extLst>
              <a:ext uri="{FF2B5EF4-FFF2-40B4-BE49-F238E27FC236}">
                <a16:creationId xmlns:a16="http://schemas.microsoft.com/office/drawing/2014/main" id="{7803F0A3-CA81-795E-662D-E4228724F370}"/>
              </a:ext>
            </a:extLst>
          </p:cNvPr>
          <p:cNvGrpSpPr/>
          <p:nvPr/>
        </p:nvGrpSpPr>
        <p:grpSpPr>
          <a:xfrm>
            <a:off x="132250" y="2710474"/>
            <a:ext cx="2502986" cy="2209876"/>
            <a:chOff x="116435" y="3163661"/>
            <a:chExt cx="2715023" cy="2209876"/>
          </a:xfrm>
        </p:grpSpPr>
        <p:grpSp>
          <p:nvGrpSpPr>
            <p:cNvPr id="3243" name="Group 3242">
              <a:extLst>
                <a:ext uri="{FF2B5EF4-FFF2-40B4-BE49-F238E27FC236}">
                  <a16:creationId xmlns:a16="http://schemas.microsoft.com/office/drawing/2014/main" id="{B0110EEE-5D7E-19B7-90FB-8A2CE5CF776B}"/>
                </a:ext>
              </a:extLst>
            </p:cNvPr>
            <p:cNvGrpSpPr/>
            <p:nvPr/>
          </p:nvGrpSpPr>
          <p:grpSpPr>
            <a:xfrm>
              <a:off x="116435" y="3163661"/>
              <a:ext cx="2715023" cy="1897575"/>
              <a:chOff x="51410" y="2261711"/>
              <a:chExt cx="2715023" cy="1897575"/>
            </a:xfrm>
          </p:grpSpPr>
          <p:sp>
            <p:nvSpPr>
              <p:cNvPr id="3245" name="TextBox 3244">
                <a:extLst>
                  <a:ext uri="{FF2B5EF4-FFF2-40B4-BE49-F238E27FC236}">
                    <a16:creationId xmlns:a16="http://schemas.microsoft.com/office/drawing/2014/main" id="{7AFC8797-8212-EF6D-2D77-9820276E37CD}"/>
                  </a:ext>
                </a:extLst>
              </p:cNvPr>
              <p:cNvSpPr txBox="1"/>
              <p:nvPr/>
            </p:nvSpPr>
            <p:spPr>
              <a:xfrm>
                <a:off x="51410" y="2451720"/>
                <a:ext cx="2332582" cy="230832"/>
              </a:xfrm>
              <a:prstGeom prst="rect">
                <a:avLst/>
              </a:prstGeom>
              <a:noFill/>
            </p:spPr>
            <p:txBody>
              <a:bodyPr wrap="square" rtlCol="0">
                <a:spAutoFit/>
              </a:bodyPr>
              <a:lstStyle/>
              <a:p>
                <a:r>
                  <a:rPr lang="en-US" sz="900" dirty="0"/>
                  <a:t>Coffee supplier</a:t>
                </a:r>
              </a:p>
            </p:txBody>
          </p:sp>
          <p:sp>
            <p:nvSpPr>
              <p:cNvPr id="3246" name="TextBox 3245">
                <a:extLst>
                  <a:ext uri="{FF2B5EF4-FFF2-40B4-BE49-F238E27FC236}">
                    <a16:creationId xmlns:a16="http://schemas.microsoft.com/office/drawing/2014/main" id="{80B578C6-6E39-7EEC-2B1D-F762752963C2}"/>
                  </a:ext>
                </a:extLst>
              </p:cNvPr>
              <p:cNvSpPr txBox="1"/>
              <p:nvPr/>
            </p:nvSpPr>
            <p:spPr>
              <a:xfrm>
                <a:off x="79041" y="3110105"/>
                <a:ext cx="1474650" cy="230832"/>
              </a:xfrm>
              <a:prstGeom prst="rect">
                <a:avLst/>
              </a:prstGeom>
              <a:noFill/>
            </p:spPr>
            <p:txBody>
              <a:bodyPr wrap="square" rtlCol="0">
                <a:spAutoFit/>
              </a:bodyPr>
              <a:lstStyle/>
              <a:p>
                <a:r>
                  <a:rPr lang="en-US" sz="900" dirty="0"/>
                  <a:t>Warehouse ops </a:t>
                </a:r>
              </a:p>
            </p:txBody>
          </p:sp>
          <p:sp>
            <p:nvSpPr>
              <p:cNvPr id="3247" name="TextBox 3246">
                <a:extLst>
                  <a:ext uri="{FF2B5EF4-FFF2-40B4-BE49-F238E27FC236}">
                    <a16:creationId xmlns:a16="http://schemas.microsoft.com/office/drawing/2014/main" id="{685915E4-2A88-62FD-4E2D-09DE8B2CF52C}"/>
                  </a:ext>
                </a:extLst>
              </p:cNvPr>
              <p:cNvSpPr txBox="1"/>
              <p:nvPr/>
            </p:nvSpPr>
            <p:spPr>
              <a:xfrm>
                <a:off x="54461" y="2261711"/>
                <a:ext cx="2437293" cy="230832"/>
              </a:xfrm>
              <a:prstGeom prst="rect">
                <a:avLst/>
              </a:prstGeom>
              <a:noFill/>
            </p:spPr>
            <p:txBody>
              <a:bodyPr wrap="square" rtlCol="0">
                <a:spAutoFit/>
              </a:bodyPr>
              <a:lstStyle/>
              <a:p>
                <a:r>
                  <a:rPr lang="en-US" sz="900" dirty="0"/>
                  <a:t>Manuf. of coffee bags</a:t>
                </a:r>
              </a:p>
            </p:txBody>
          </p:sp>
          <p:sp>
            <p:nvSpPr>
              <p:cNvPr id="3248" name="TextBox 3247">
                <a:extLst>
                  <a:ext uri="{FF2B5EF4-FFF2-40B4-BE49-F238E27FC236}">
                    <a16:creationId xmlns:a16="http://schemas.microsoft.com/office/drawing/2014/main" id="{5C1DEF60-7714-4FE0-59B1-E395B742AC06}"/>
                  </a:ext>
                </a:extLst>
              </p:cNvPr>
              <p:cNvSpPr txBox="1"/>
              <p:nvPr/>
            </p:nvSpPr>
            <p:spPr>
              <a:xfrm>
                <a:off x="75940" y="3928454"/>
                <a:ext cx="1188249" cy="230832"/>
              </a:xfrm>
              <a:prstGeom prst="rect">
                <a:avLst/>
              </a:prstGeom>
              <a:noFill/>
            </p:spPr>
            <p:txBody>
              <a:bodyPr wrap="square" rtlCol="0">
                <a:spAutoFit/>
              </a:bodyPr>
              <a:lstStyle/>
              <a:p>
                <a:r>
                  <a:rPr lang="en-US" sz="900" dirty="0"/>
                  <a:t>Ship to N.Y. harbor</a:t>
                </a:r>
                <a:endParaRPr lang="en-US" sz="900" b="1" dirty="0"/>
              </a:p>
            </p:txBody>
          </p:sp>
          <p:sp>
            <p:nvSpPr>
              <p:cNvPr id="3249" name="TextBox 3248">
                <a:extLst>
                  <a:ext uri="{FF2B5EF4-FFF2-40B4-BE49-F238E27FC236}">
                    <a16:creationId xmlns:a16="http://schemas.microsoft.com/office/drawing/2014/main" id="{85B3AF4A-1620-C0F6-84A4-95391B7B2198}"/>
                  </a:ext>
                </a:extLst>
              </p:cNvPr>
              <p:cNvSpPr txBox="1"/>
              <p:nvPr/>
            </p:nvSpPr>
            <p:spPr>
              <a:xfrm>
                <a:off x="77138" y="3471090"/>
                <a:ext cx="1817504" cy="230832"/>
              </a:xfrm>
              <a:prstGeom prst="rect">
                <a:avLst/>
              </a:prstGeom>
              <a:noFill/>
            </p:spPr>
            <p:txBody>
              <a:bodyPr wrap="square" rtlCol="0">
                <a:spAutoFit/>
              </a:bodyPr>
              <a:lstStyle/>
              <a:p>
                <a:r>
                  <a:rPr lang="en-US" sz="900" dirty="0"/>
                  <a:t>Coffee bag loading on ship</a:t>
                </a:r>
              </a:p>
            </p:txBody>
          </p:sp>
          <p:sp>
            <p:nvSpPr>
              <p:cNvPr id="3250" name="TextBox 3249">
                <a:extLst>
                  <a:ext uri="{FF2B5EF4-FFF2-40B4-BE49-F238E27FC236}">
                    <a16:creationId xmlns:a16="http://schemas.microsoft.com/office/drawing/2014/main" id="{C5377B87-CED5-AB5F-6503-BE3055A0371E}"/>
                  </a:ext>
                </a:extLst>
              </p:cNvPr>
              <p:cNvSpPr txBox="1"/>
              <p:nvPr/>
            </p:nvSpPr>
            <p:spPr>
              <a:xfrm>
                <a:off x="67300" y="2650383"/>
                <a:ext cx="2699133" cy="507831"/>
              </a:xfrm>
              <a:prstGeom prst="rect">
                <a:avLst/>
              </a:prstGeom>
              <a:noFill/>
            </p:spPr>
            <p:txBody>
              <a:bodyPr wrap="square" rtlCol="0">
                <a:spAutoFit/>
              </a:bodyPr>
              <a:lstStyle/>
              <a:p>
                <a:r>
                  <a:rPr lang="en-US" sz="900" dirty="0"/>
                  <a:t>Trucking to Warehouse</a:t>
                </a:r>
              </a:p>
              <a:p>
                <a:r>
                  <a:rPr lang="en-US" sz="900" dirty="0"/>
                  <a:t>    - Freight Co. #2</a:t>
                </a:r>
              </a:p>
              <a:p>
                <a:r>
                  <a:rPr lang="en-US" sz="900" dirty="0"/>
                  <a:t>    - unloading</a:t>
                </a:r>
              </a:p>
            </p:txBody>
          </p:sp>
          <p:sp>
            <p:nvSpPr>
              <p:cNvPr id="3251" name="TextBox 3250">
                <a:extLst>
                  <a:ext uri="{FF2B5EF4-FFF2-40B4-BE49-F238E27FC236}">
                    <a16:creationId xmlns:a16="http://schemas.microsoft.com/office/drawing/2014/main" id="{0CD5C41B-CE4E-19B6-4D39-224A30385A17}"/>
                  </a:ext>
                </a:extLst>
              </p:cNvPr>
              <p:cNvSpPr txBox="1"/>
              <p:nvPr/>
            </p:nvSpPr>
            <p:spPr>
              <a:xfrm>
                <a:off x="229459" y="3248043"/>
                <a:ext cx="1207402" cy="230832"/>
              </a:xfrm>
              <a:prstGeom prst="rect">
                <a:avLst/>
              </a:prstGeom>
              <a:noFill/>
            </p:spPr>
            <p:txBody>
              <a:bodyPr wrap="square" rtlCol="0">
                <a:spAutoFit/>
              </a:bodyPr>
              <a:lstStyle/>
              <a:p>
                <a:r>
                  <a:rPr lang="en-US" sz="900" dirty="0"/>
                  <a:t>- Heating / cooling </a:t>
                </a:r>
              </a:p>
            </p:txBody>
          </p:sp>
          <p:sp>
            <p:nvSpPr>
              <p:cNvPr id="3252" name="TextBox 3251">
                <a:extLst>
                  <a:ext uri="{FF2B5EF4-FFF2-40B4-BE49-F238E27FC236}">
                    <a16:creationId xmlns:a16="http://schemas.microsoft.com/office/drawing/2014/main" id="{93DE2F9B-BEB1-3738-3B0F-0CADB5676C8A}"/>
                  </a:ext>
                </a:extLst>
              </p:cNvPr>
              <p:cNvSpPr txBox="1"/>
              <p:nvPr/>
            </p:nvSpPr>
            <p:spPr>
              <a:xfrm>
                <a:off x="238386" y="3597949"/>
                <a:ext cx="1299044" cy="230832"/>
              </a:xfrm>
              <a:prstGeom prst="rect">
                <a:avLst/>
              </a:prstGeom>
              <a:noFill/>
            </p:spPr>
            <p:txBody>
              <a:bodyPr wrap="square" rtlCol="0">
                <a:spAutoFit/>
              </a:bodyPr>
              <a:lstStyle/>
              <a:p>
                <a:r>
                  <a:rPr lang="en-US" sz="900" dirty="0"/>
                  <a:t>- forklift ops </a:t>
                </a:r>
              </a:p>
            </p:txBody>
          </p:sp>
          <p:sp>
            <p:nvSpPr>
              <p:cNvPr id="3253" name="TextBox 3252">
                <a:extLst>
                  <a:ext uri="{FF2B5EF4-FFF2-40B4-BE49-F238E27FC236}">
                    <a16:creationId xmlns:a16="http://schemas.microsoft.com/office/drawing/2014/main" id="{4C30D955-1C5F-5C19-2D92-FF7AE1F87E90}"/>
                  </a:ext>
                </a:extLst>
              </p:cNvPr>
              <p:cNvSpPr txBox="1"/>
              <p:nvPr/>
            </p:nvSpPr>
            <p:spPr>
              <a:xfrm>
                <a:off x="237331" y="3712552"/>
                <a:ext cx="1271812" cy="230832"/>
              </a:xfrm>
              <a:prstGeom prst="rect">
                <a:avLst/>
              </a:prstGeom>
              <a:noFill/>
            </p:spPr>
            <p:txBody>
              <a:bodyPr wrap="square" rtlCol="0">
                <a:spAutoFit/>
              </a:bodyPr>
              <a:lstStyle/>
              <a:p>
                <a:r>
                  <a:rPr lang="en-US" sz="900" dirty="0"/>
                  <a:t>- cranes for loading </a:t>
                </a:r>
              </a:p>
            </p:txBody>
          </p:sp>
        </p:grpSp>
        <p:sp>
          <p:nvSpPr>
            <p:cNvPr id="3244" name="TextBox 3243">
              <a:extLst>
                <a:ext uri="{FF2B5EF4-FFF2-40B4-BE49-F238E27FC236}">
                  <a16:creationId xmlns:a16="http://schemas.microsoft.com/office/drawing/2014/main" id="{C86E5973-96FF-5F9E-2179-AF48985EAE4C}"/>
                </a:ext>
              </a:extLst>
            </p:cNvPr>
            <p:cNvSpPr txBox="1"/>
            <p:nvPr/>
          </p:nvSpPr>
          <p:spPr>
            <a:xfrm>
              <a:off x="130856" y="5142705"/>
              <a:ext cx="1473562" cy="230832"/>
            </a:xfrm>
            <a:prstGeom prst="rect">
              <a:avLst/>
            </a:prstGeom>
            <a:noFill/>
          </p:spPr>
          <p:txBody>
            <a:bodyPr wrap="square" rtlCol="0">
              <a:spAutoFit/>
            </a:bodyPr>
            <a:lstStyle/>
            <a:p>
              <a:r>
                <a:rPr lang="en-US" sz="900" b="1" dirty="0"/>
                <a:t>Purchase GHG credits</a:t>
              </a:r>
            </a:p>
          </p:txBody>
        </p:sp>
      </p:grpSp>
      <p:grpSp>
        <p:nvGrpSpPr>
          <p:cNvPr id="3231" name="Group 3230">
            <a:extLst>
              <a:ext uri="{FF2B5EF4-FFF2-40B4-BE49-F238E27FC236}">
                <a16:creationId xmlns:a16="http://schemas.microsoft.com/office/drawing/2014/main" id="{B366E691-CE10-7D87-E388-6D6ED0B5D023}"/>
              </a:ext>
            </a:extLst>
          </p:cNvPr>
          <p:cNvGrpSpPr/>
          <p:nvPr/>
        </p:nvGrpSpPr>
        <p:grpSpPr>
          <a:xfrm>
            <a:off x="1204199" y="2714681"/>
            <a:ext cx="677943" cy="2484670"/>
            <a:chOff x="1047209" y="2870716"/>
            <a:chExt cx="834255" cy="2484670"/>
          </a:xfrm>
        </p:grpSpPr>
        <p:sp>
          <p:nvSpPr>
            <p:cNvPr id="3258" name="TextBox 3257">
              <a:extLst>
                <a:ext uri="{FF2B5EF4-FFF2-40B4-BE49-F238E27FC236}">
                  <a16:creationId xmlns:a16="http://schemas.microsoft.com/office/drawing/2014/main" id="{31148C19-FD82-61A8-E8E4-A4E09235FC05}"/>
                </a:ext>
              </a:extLst>
            </p:cNvPr>
            <p:cNvSpPr txBox="1"/>
            <p:nvPr/>
          </p:nvSpPr>
          <p:spPr>
            <a:xfrm>
              <a:off x="1288926" y="3835871"/>
              <a:ext cx="525579" cy="230832"/>
            </a:xfrm>
            <a:prstGeom prst="rect">
              <a:avLst/>
            </a:prstGeom>
            <a:noFill/>
          </p:spPr>
          <p:txBody>
            <a:bodyPr wrap="square" rtlCol="0">
              <a:spAutoFit/>
            </a:bodyPr>
            <a:lstStyle/>
            <a:p>
              <a:pPr algn="r"/>
              <a:r>
                <a:rPr lang="en-US" sz="900" b="1" dirty="0"/>
                <a:t>45.4</a:t>
              </a:r>
            </a:p>
          </p:txBody>
        </p:sp>
        <p:sp>
          <p:nvSpPr>
            <p:cNvPr id="3259" name="TextBox 3258">
              <a:extLst>
                <a:ext uri="{FF2B5EF4-FFF2-40B4-BE49-F238E27FC236}">
                  <a16:creationId xmlns:a16="http://schemas.microsoft.com/office/drawing/2014/main" id="{1BCE27D9-E8F2-CA75-0214-562BEB5AEB38}"/>
                </a:ext>
              </a:extLst>
            </p:cNvPr>
            <p:cNvSpPr txBox="1"/>
            <p:nvPr/>
          </p:nvSpPr>
          <p:spPr>
            <a:xfrm>
              <a:off x="1345260" y="4308522"/>
              <a:ext cx="478202" cy="230832"/>
            </a:xfrm>
            <a:prstGeom prst="rect">
              <a:avLst/>
            </a:prstGeom>
            <a:noFill/>
          </p:spPr>
          <p:txBody>
            <a:bodyPr wrap="square" rtlCol="0">
              <a:spAutoFit/>
            </a:bodyPr>
            <a:lstStyle/>
            <a:p>
              <a:pPr algn="r"/>
              <a:r>
                <a:rPr lang="en-US" sz="900" b="1" dirty="0"/>
                <a:t>4.4</a:t>
              </a:r>
            </a:p>
          </p:txBody>
        </p:sp>
        <p:sp>
          <p:nvSpPr>
            <p:cNvPr id="3260" name="TextBox 3259">
              <a:extLst>
                <a:ext uri="{FF2B5EF4-FFF2-40B4-BE49-F238E27FC236}">
                  <a16:creationId xmlns:a16="http://schemas.microsoft.com/office/drawing/2014/main" id="{F7F832C7-6E0D-FA6A-0F48-7BDDCED77442}"/>
                </a:ext>
              </a:extLst>
            </p:cNvPr>
            <p:cNvSpPr txBox="1"/>
            <p:nvPr/>
          </p:nvSpPr>
          <p:spPr>
            <a:xfrm>
              <a:off x="1387522" y="4197434"/>
              <a:ext cx="436434" cy="230832"/>
            </a:xfrm>
            <a:prstGeom prst="rect">
              <a:avLst/>
            </a:prstGeom>
            <a:noFill/>
          </p:spPr>
          <p:txBody>
            <a:bodyPr wrap="square" rtlCol="0">
              <a:spAutoFit/>
            </a:bodyPr>
            <a:lstStyle/>
            <a:p>
              <a:pPr algn="r"/>
              <a:r>
                <a:rPr lang="en-US" sz="900" b="1" dirty="0"/>
                <a:t>2.4</a:t>
              </a:r>
            </a:p>
          </p:txBody>
        </p:sp>
        <p:sp>
          <p:nvSpPr>
            <p:cNvPr id="3261" name="TextBox 3260">
              <a:extLst>
                <a:ext uri="{FF2B5EF4-FFF2-40B4-BE49-F238E27FC236}">
                  <a16:creationId xmlns:a16="http://schemas.microsoft.com/office/drawing/2014/main" id="{F081F94C-BD4A-2A19-A56E-BBDBBA346516}"/>
                </a:ext>
              </a:extLst>
            </p:cNvPr>
            <p:cNvSpPr txBox="1"/>
            <p:nvPr/>
          </p:nvSpPr>
          <p:spPr>
            <a:xfrm>
              <a:off x="1370030" y="4838957"/>
              <a:ext cx="449639" cy="230832"/>
            </a:xfrm>
            <a:prstGeom prst="rect">
              <a:avLst/>
            </a:prstGeom>
            <a:noFill/>
          </p:spPr>
          <p:txBody>
            <a:bodyPr wrap="square" rtlCol="0">
              <a:spAutoFit/>
            </a:bodyPr>
            <a:lstStyle/>
            <a:p>
              <a:pPr algn="r"/>
              <a:r>
                <a:rPr lang="en-US" sz="900" b="1" dirty="0"/>
                <a:t>0.0</a:t>
              </a:r>
            </a:p>
          </p:txBody>
        </p:sp>
        <p:sp>
          <p:nvSpPr>
            <p:cNvPr id="3262" name="TextBox 3261">
              <a:extLst>
                <a:ext uri="{FF2B5EF4-FFF2-40B4-BE49-F238E27FC236}">
                  <a16:creationId xmlns:a16="http://schemas.microsoft.com/office/drawing/2014/main" id="{C30A40A1-D4F5-7833-4D30-BE43D35C5AE6}"/>
                </a:ext>
              </a:extLst>
            </p:cNvPr>
            <p:cNvSpPr txBox="1"/>
            <p:nvPr/>
          </p:nvSpPr>
          <p:spPr>
            <a:xfrm>
              <a:off x="1324692" y="4524777"/>
              <a:ext cx="494889" cy="230832"/>
            </a:xfrm>
            <a:prstGeom prst="rect">
              <a:avLst/>
            </a:prstGeom>
            <a:noFill/>
          </p:spPr>
          <p:txBody>
            <a:bodyPr wrap="square" rtlCol="0">
              <a:spAutoFit/>
            </a:bodyPr>
            <a:lstStyle/>
            <a:p>
              <a:pPr algn="r"/>
              <a:r>
                <a:rPr lang="en-US" sz="900" b="1" dirty="0"/>
                <a:t>1.9</a:t>
              </a:r>
            </a:p>
          </p:txBody>
        </p:sp>
        <p:sp>
          <p:nvSpPr>
            <p:cNvPr id="3263" name="TextBox 3262">
              <a:extLst>
                <a:ext uri="{FF2B5EF4-FFF2-40B4-BE49-F238E27FC236}">
                  <a16:creationId xmlns:a16="http://schemas.microsoft.com/office/drawing/2014/main" id="{7154B731-1C97-CA63-C93A-A7B655926CD8}"/>
                </a:ext>
              </a:extLst>
            </p:cNvPr>
            <p:cNvSpPr txBox="1"/>
            <p:nvPr/>
          </p:nvSpPr>
          <p:spPr>
            <a:xfrm>
              <a:off x="1241094" y="5124554"/>
              <a:ext cx="585797" cy="230832"/>
            </a:xfrm>
            <a:prstGeom prst="rect">
              <a:avLst/>
            </a:prstGeom>
            <a:noFill/>
          </p:spPr>
          <p:txBody>
            <a:bodyPr wrap="square" rtlCol="0">
              <a:spAutoFit/>
            </a:bodyPr>
            <a:lstStyle/>
            <a:p>
              <a:pPr algn="r"/>
              <a:r>
                <a:rPr lang="en-US" sz="900" b="1" dirty="0"/>
                <a:t>351.3</a:t>
              </a:r>
            </a:p>
          </p:txBody>
        </p:sp>
        <p:sp>
          <p:nvSpPr>
            <p:cNvPr id="3169" name="TextBox 3168">
              <a:extLst>
                <a:ext uri="{FF2B5EF4-FFF2-40B4-BE49-F238E27FC236}">
                  <a16:creationId xmlns:a16="http://schemas.microsoft.com/office/drawing/2014/main" id="{AC09AF44-AFFC-6295-12BC-5C9C513F38B9}"/>
                </a:ext>
              </a:extLst>
            </p:cNvPr>
            <p:cNvSpPr txBox="1"/>
            <p:nvPr/>
          </p:nvSpPr>
          <p:spPr>
            <a:xfrm>
              <a:off x="1047209" y="3041501"/>
              <a:ext cx="758831" cy="230832"/>
            </a:xfrm>
            <a:prstGeom prst="rect">
              <a:avLst/>
            </a:prstGeom>
            <a:noFill/>
          </p:spPr>
          <p:txBody>
            <a:bodyPr wrap="square" rtlCol="0">
              <a:spAutoFit/>
            </a:bodyPr>
            <a:lstStyle/>
            <a:p>
              <a:pPr algn="r"/>
              <a:r>
                <a:rPr lang="en-US" sz="900" b="1" dirty="0"/>
                <a:t>293</a:t>
              </a:r>
            </a:p>
          </p:txBody>
        </p:sp>
        <p:sp>
          <p:nvSpPr>
            <p:cNvPr id="3170" name="TextBox 3169">
              <a:extLst>
                <a:ext uri="{FF2B5EF4-FFF2-40B4-BE49-F238E27FC236}">
                  <a16:creationId xmlns:a16="http://schemas.microsoft.com/office/drawing/2014/main" id="{5136B0DD-C03A-856B-9A7D-4198754B8069}"/>
                </a:ext>
              </a:extLst>
            </p:cNvPr>
            <p:cNvSpPr txBox="1"/>
            <p:nvPr/>
          </p:nvSpPr>
          <p:spPr>
            <a:xfrm>
              <a:off x="1416199" y="3395311"/>
              <a:ext cx="465265" cy="230832"/>
            </a:xfrm>
            <a:prstGeom prst="rect">
              <a:avLst/>
            </a:prstGeom>
            <a:noFill/>
          </p:spPr>
          <p:txBody>
            <a:bodyPr wrap="square" rtlCol="0">
              <a:spAutoFit/>
            </a:bodyPr>
            <a:lstStyle/>
            <a:p>
              <a:r>
                <a:rPr lang="en-US" sz="900" b="1" dirty="0"/>
                <a:t>2.9</a:t>
              </a:r>
            </a:p>
          </p:txBody>
        </p:sp>
        <p:sp>
          <p:nvSpPr>
            <p:cNvPr id="3171" name="TextBox 3170">
              <a:extLst>
                <a:ext uri="{FF2B5EF4-FFF2-40B4-BE49-F238E27FC236}">
                  <a16:creationId xmlns:a16="http://schemas.microsoft.com/office/drawing/2014/main" id="{D76A4939-5F0B-0068-BFCA-6ABD403B14FB}"/>
                </a:ext>
              </a:extLst>
            </p:cNvPr>
            <p:cNvSpPr txBox="1"/>
            <p:nvPr/>
          </p:nvSpPr>
          <p:spPr>
            <a:xfrm>
              <a:off x="1379989" y="2870716"/>
              <a:ext cx="428679" cy="230832"/>
            </a:xfrm>
            <a:prstGeom prst="rect">
              <a:avLst/>
            </a:prstGeom>
            <a:solidFill>
              <a:srgbClr val="FFFF99"/>
            </a:solidFill>
          </p:spPr>
          <p:txBody>
            <a:bodyPr wrap="square" rtlCol="0">
              <a:spAutoFit/>
            </a:bodyPr>
            <a:lstStyle/>
            <a:p>
              <a:pPr algn="r"/>
              <a:r>
                <a:rPr lang="en-US" sz="900" b="1" dirty="0"/>
                <a:t>.34</a:t>
              </a:r>
            </a:p>
          </p:txBody>
        </p:sp>
      </p:grpSp>
      <p:sp>
        <p:nvSpPr>
          <p:cNvPr id="3234" name="TextBox 3233">
            <a:extLst>
              <a:ext uri="{FF2B5EF4-FFF2-40B4-BE49-F238E27FC236}">
                <a16:creationId xmlns:a16="http://schemas.microsoft.com/office/drawing/2014/main" id="{E95BD201-4431-368F-A2B5-45B117BBB192}"/>
              </a:ext>
            </a:extLst>
          </p:cNvPr>
          <p:cNvSpPr txBox="1"/>
          <p:nvPr/>
        </p:nvSpPr>
        <p:spPr>
          <a:xfrm>
            <a:off x="94455" y="2448225"/>
            <a:ext cx="3748032" cy="230832"/>
          </a:xfrm>
          <a:prstGeom prst="rect">
            <a:avLst/>
          </a:prstGeom>
          <a:noFill/>
          <a:scene3d>
            <a:camera prst="orthographicFront"/>
            <a:lightRig rig="threePt" dir="t"/>
          </a:scene3d>
          <a:sp3d>
            <a:bevelT w="152400" h="50800" prst="softRound"/>
          </a:sp3d>
        </p:spPr>
        <p:txBody>
          <a:bodyPr wrap="square" rtlCol="0">
            <a:spAutoFit/>
          </a:bodyPr>
          <a:lstStyle/>
          <a:p>
            <a:r>
              <a:rPr lang="en-US" sz="900" b="1" dirty="0"/>
              <a:t>DT Baseline </a:t>
            </a:r>
            <a:r>
              <a:rPr lang="en-US" sz="900" dirty="0">
                <a:solidFill>
                  <a:srgbClr val="FF0000"/>
                </a:solidFill>
              </a:rPr>
              <a:t>(metric tons of CO2e) </a:t>
            </a:r>
          </a:p>
        </p:txBody>
      </p:sp>
      <p:sp>
        <p:nvSpPr>
          <p:cNvPr id="3235" name="TextBox 3234">
            <a:extLst>
              <a:ext uri="{FF2B5EF4-FFF2-40B4-BE49-F238E27FC236}">
                <a16:creationId xmlns:a16="http://schemas.microsoft.com/office/drawing/2014/main" id="{E0246A5E-6CC1-4C72-B49E-E6030E349467}"/>
              </a:ext>
            </a:extLst>
          </p:cNvPr>
          <p:cNvSpPr txBox="1"/>
          <p:nvPr/>
        </p:nvSpPr>
        <p:spPr>
          <a:xfrm>
            <a:off x="199588" y="4947119"/>
            <a:ext cx="786887" cy="230832"/>
          </a:xfrm>
          <a:prstGeom prst="rect">
            <a:avLst/>
          </a:prstGeom>
          <a:noFill/>
        </p:spPr>
        <p:txBody>
          <a:bodyPr wrap="square" rtlCol="0">
            <a:spAutoFit/>
          </a:bodyPr>
          <a:lstStyle/>
          <a:p>
            <a:r>
              <a:rPr lang="en-US" sz="900" b="1" dirty="0"/>
              <a:t>Total</a:t>
            </a:r>
          </a:p>
        </p:txBody>
      </p:sp>
      <p:sp>
        <p:nvSpPr>
          <p:cNvPr id="3172" name="TextBox 3171">
            <a:extLst>
              <a:ext uri="{FF2B5EF4-FFF2-40B4-BE49-F238E27FC236}">
                <a16:creationId xmlns:a16="http://schemas.microsoft.com/office/drawing/2014/main" id="{790280E1-C67F-FC1D-23F6-5195905B1436}"/>
              </a:ext>
            </a:extLst>
          </p:cNvPr>
          <p:cNvSpPr txBox="1"/>
          <p:nvPr/>
        </p:nvSpPr>
        <p:spPr>
          <a:xfrm>
            <a:off x="1499767" y="3378289"/>
            <a:ext cx="433589" cy="230832"/>
          </a:xfrm>
          <a:prstGeom prst="rect">
            <a:avLst/>
          </a:prstGeom>
          <a:noFill/>
        </p:spPr>
        <p:txBody>
          <a:bodyPr wrap="square" rtlCol="0">
            <a:spAutoFit/>
          </a:bodyPr>
          <a:lstStyle/>
          <a:p>
            <a:r>
              <a:rPr lang="en-US" sz="900" b="1" dirty="0"/>
              <a:t>.94</a:t>
            </a:r>
          </a:p>
        </p:txBody>
      </p:sp>
      <p:grpSp>
        <p:nvGrpSpPr>
          <p:cNvPr id="3358" name="Group 3357">
            <a:extLst>
              <a:ext uri="{FF2B5EF4-FFF2-40B4-BE49-F238E27FC236}">
                <a16:creationId xmlns:a16="http://schemas.microsoft.com/office/drawing/2014/main" id="{046F031B-618A-4D3B-59A0-4673290531ED}"/>
              </a:ext>
            </a:extLst>
          </p:cNvPr>
          <p:cNvGrpSpPr/>
          <p:nvPr/>
        </p:nvGrpSpPr>
        <p:grpSpPr>
          <a:xfrm>
            <a:off x="215799" y="2912518"/>
            <a:ext cx="1650348" cy="2017020"/>
            <a:chOff x="215799" y="2912518"/>
            <a:chExt cx="1650348" cy="2017020"/>
          </a:xfrm>
        </p:grpSpPr>
        <p:cxnSp>
          <p:nvCxnSpPr>
            <p:cNvPr id="3237" name="Straight Connector 3236">
              <a:extLst>
                <a:ext uri="{FF2B5EF4-FFF2-40B4-BE49-F238E27FC236}">
                  <a16:creationId xmlns:a16="http://schemas.microsoft.com/office/drawing/2014/main" id="{F85111E2-9F41-9FEC-DB8F-5E23199D3FC1}"/>
                </a:ext>
              </a:extLst>
            </p:cNvPr>
            <p:cNvCxnSpPr>
              <a:cxnSpLocks/>
            </p:cNvCxnSpPr>
            <p:nvPr/>
          </p:nvCxnSpPr>
          <p:spPr>
            <a:xfrm flipV="1">
              <a:off x="215799" y="3095357"/>
              <a:ext cx="1585191"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78" name="Straight Connector 3177">
              <a:extLst>
                <a:ext uri="{FF2B5EF4-FFF2-40B4-BE49-F238E27FC236}">
                  <a16:creationId xmlns:a16="http://schemas.microsoft.com/office/drawing/2014/main" id="{0F6666DF-0967-1546-8D22-8B9F8D9953BD}"/>
                </a:ext>
              </a:extLst>
            </p:cNvPr>
            <p:cNvCxnSpPr>
              <a:cxnSpLocks/>
            </p:cNvCxnSpPr>
            <p:nvPr/>
          </p:nvCxnSpPr>
          <p:spPr>
            <a:xfrm flipV="1">
              <a:off x="217180" y="2912518"/>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1" name="Straight Connector 3180">
              <a:extLst>
                <a:ext uri="{FF2B5EF4-FFF2-40B4-BE49-F238E27FC236}">
                  <a16:creationId xmlns:a16="http://schemas.microsoft.com/office/drawing/2014/main" id="{C9C3BF56-E00A-CFE1-46DB-B89E3C92FC79}"/>
                </a:ext>
              </a:extLst>
            </p:cNvPr>
            <p:cNvCxnSpPr>
              <a:cxnSpLocks/>
            </p:cNvCxnSpPr>
            <p:nvPr/>
          </p:nvCxnSpPr>
          <p:spPr>
            <a:xfrm flipV="1">
              <a:off x="236149" y="3572406"/>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2" name="Straight Connector 3181">
              <a:extLst>
                <a:ext uri="{FF2B5EF4-FFF2-40B4-BE49-F238E27FC236}">
                  <a16:creationId xmlns:a16="http://schemas.microsoft.com/office/drawing/2014/main" id="{76B0F854-CF74-29DE-CC5B-40E794E553D6}"/>
                </a:ext>
              </a:extLst>
            </p:cNvPr>
            <p:cNvCxnSpPr>
              <a:cxnSpLocks/>
            </p:cNvCxnSpPr>
            <p:nvPr/>
          </p:nvCxnSpPr>
          <p:spPr>
            <a:xfrm flipV="1">
              <a:off x="236149" y="3896465"/>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3" name="Straight Connector 3182">
              <a:extLst>
                <a:ext uri="{FF2B5EF4-FFF2-40B4-BE49-F238E27FC236}">
                  <a16:creationId xmlns:a16="http://schemas.microsoft.com/office/drawing/2014/main" id="{C6DAE72E-E0B3-6A20-82AF-4436CECC992C}"/>
                </a:ext>
              </a:extLst>
            </p:cNvPr>
            <p:cNvCxnSpPr>
              <a:cxnSpLocks/>
            </p:cNvCxnSpPr>
            <p:nvPr/>
          </p:nvCxnSpPr>
          <p:spPr>
            <a:xfrm flipV="1">
              <a:off x="260113" y="4370941"/>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4" name="Straight Connector 3183">
              <a:extLst>
                <a:ext uri="{FF2B5EF4-FFF2-40B4-BE49-F238E27FC236}">
                  <a16:creationId xmlns:a16="http://schemas.microsoft.com/office/drawing/2014/main" id="{8FD8F254-701A-A2C6-6A45-B533DC0D4776}"/>
                </a:ext>
              </a:extLst>
            </p:cNvPr>
            <p:cNvCxnSpPr>
              <a:cxnSpLocks/>
            </p:cNvCxnSpPr>
            <p:nvPr/>
          </p:nvCxnSpPr>
          <p:spPr>
            <a:xfrm flipV="1">
              <a:off x="267517" y="4619593"/>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5" name="Straight Connector 3184">
              <a:extLst>
                <a:ext uri="{FF2B5EF4-FFF2-40B4-BE49-F238E27FC236}">
                  <a16:creationId xmlns:a16="http://schemas.microsoft.com/office/drawing/2014/main" id="{48FC6EE8-0C47-9923-27FC-83BABB5A82A2}"/>
                </a:ext>
              </a:extLst>
            </p:cNvPr>
            <p:cNvCxnSpPr>
              <a:cxnSpLocks/>
            </p:cNvCxnSpPr>
            <p:nvPr/>
          </p:nvCxnSpPr>
          <p:spPr>
            <a:xfrm flipV="1">
              <a:off x="280955" y="4922721"/>
              <a:ext cx="1585192" cy="6817"/>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189" name="Straight Connector 3188">
            <a:extLst>
              <a:ext uri="{FF2B5EF4-FFF2-40B4-BE49-F238E27FC236}">
                <a16:creationId xmlns:a16="http://schemas.microsoft.com/office/drawing/2014/main" id="{56FF2B2F-AAF2-B670-7BCB-D3483BB50CB4}"/>
              </a:ext>
            </a:extLst>
          </p:cNvPr>
          <p:cNvCxnSpPr>
            <a:cxnSpLocks/>
          </p:cNvCxnSpPr>
          <p:nvPr/>
        </p:nvCxnSpPr>
        <p:spPr>
          <a:xfrm flipV="1">
            <a:off x="234984" y="2681034"/>
            <a:ext cx="1585191" cy="6817"/>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3190" name="Group 3189">
            <a:extLst>
              <a:ext uri="{FF2B5EF4-FFF2-40B4-BE49-F238E27FC236}">
                <a16:creationId xmlns:a16="http://schemas.microsoft.com/office/drawing/2014/main" id="{0CF9815E-69C9-B311-9A58-B91905C8C495}"/>
              </a:ext>
            </a:extLst>
          </p:cNvPr>
          <p:cNvGrpSpPr/>
          <p:nvPr/>
        </p:nvGrpSpPr>
        <p:grpSpPr>
          <a:xfrm>
            <a:off x="3181346" y="2441618"/>
            <a:ext cx="3748032" cy="2719283"/>
            <a:chOff x="2778058" y="1538266"/>
            <a:chExt cx="3185676" cy="2719283"/>
          </a:xfrm>
        </p:grpSpPr>
        <p:grpSp>
          <p:nvGrpSpPr>
            <p:cNvPr id="3191" name="Group 3190">
              <a:extLst>
                <a:ext uri="{FF2B5EF4-FFF2-40B4-BE49-F238E27FC236}">
                  <a16:creationId xmlns:a16="http://schemas.microsoft.com/office/drawing/2014/main" id="{62F14696-7F35-56DE-9020-ED7C5C4CFD70}"/>
                </a:ext>
              </a:extLst>
            </p:cNvPr>
            <p:cNvGrpSpPr/>
            <p:nvPr/>
          </p:nvGrpSpPr>
          <p:grpSpPr>
            <a:xfrm>
              <a:off x="2778058" y="1538266"/>
              <a:ext cx="3185676" cy="2719283"/>
              <a:chOff x="-38978" y="3141582"/>
              <a:chExt cx="3185676" cy="2719283"/>
            </a:xfrm>
          </p:grpSpPr>
          <p:grpSp>
            <p:nvGrpSpPr>
              <p:cNvPr id="64" name="Group 63">
                <a:extLst>
                  <a:ext uri="{FF2B5EF4-FFF2-40B4-BE49-F238E27FC236}">
                    <a16:creationId xmlns:a16="http://schemas.microsoft.com/office/drawing/2014/main" id="{60C55FDF-3C19-02C7-77FE-038DBDBC5F7D}"/>
                  </a:ext>
                </a:extLst>
              </p:cNvPr>
              <p:cNvGrpSpPr/>
              <p:nvPr/>
            </p:nvGrpSpPr>
            <p:grpSpPr>
              <a:xfrm>
                <a:off x="-6854" y="3371988"/>
                <a:ext cx="2127437" cy="2209876"/>
                <a:chOff x="116435" y="3163661"/>
                <a:chExt cx="2715023" cy="2209876"/>
              </a:xfrm>
            </p:grpSpPr>
            <p:grpSp>
              <p:nvGrpSpPr>
                <p:cNvPr id="77" name="Group 76">
                  <a:extLst>
                    <a:ext uri="{FF2B5EF4-FFF2-40B4-BE49-F238E27FC236}">
                      <a16:creationId xmlns:a16="http://schemas.microsoft.com/office/drawing/2014/main" id="{AF0B9A0B-1219-F061-AC9E-B936751685AD}"/>
                    </a:ext>
                  </a:extLst>
                </p:cNvPr>
                <p:cNvGrpSpPr/>
                <p:nvPr/>
              </p:nvGrpSpPr>
              <p:grpSpPr>
                <a:xfrm>
                  <a:off x="116435" y="3163661"/>
                  <a:ext cx="2715023" cy="1897575"/>
                  <a:chOff x="51410" y="2261711"/>
                  <a:chExt cx="2715023" cy="1897575"/>
                </a:xfrm>
              </p:grpSpPr>
              <p:sp>
                <p:nvSpPr>
                  <p:cNvPr id="79" name="TextBox 78">
                    <a:extLst>
                      <a:ext uri="{FF2B5EF4-FFF2-40B4-BE49-F238E27FC236}">
                        <a16:creationId xmlns:a16="http://schemas.microsoft.com/office/drawing/2014/main" id="{E462DE79-CA33-2C44-0062-E43AAEF80FEE}"/>
                      </a:ext>
                    </a:extLst>
                  </p:cNvPr>
                  <p:cNvSpPr txBox="1"/>
                  <p:nvPr/>
                </p:nvSpPr>
                <p:spPr>
                  <a:xfrm>
                    <a:off x="51410" y="2451720"/>
                    <a:ext cx="2332582" cy="230832"/>
                  </a:xfrm>
                  <a:prstGeom prst="rect">
                    <a:avLst/>
                  </a:prstGeom>
                  <a:noFill/>
                </p:spPr>
                <p:txBody>
                  <a:bodyPr wrap="square" rtlCol="0">
                    <a:spAutoFit/>
                  </a:bodyPr>
                  <a:lstStyle/>
                  <a:p>
                    <a:r>
                      <a:rPr lang="en-US" sz="900" dirty="0"/>
                      <a:t>Coffee supplier</a:t>
                    </a:r>
                  </a:p>
                </p:txBody>
              </p:sp>
              <p:sp>
                <p:nvSpPr>
                  <p:cNvPr id="80" name="TextBox 79">
                    <a:extLst>
                      <a:ext uri="{FF2B5EF4-FFF2-40B4-BE49-F238E27FC236}">
                        <a16:creationId xmlns:a16="http://schemas.microsoft.com/office/drawing/2014/main" id="{55B116C7-449B-B239-369C-07FBC78DEB91}"/>
                      </a:ext>
                    </a:extLst>
                  </p:cNvPr>
                  <p:cNvSpPr txBox="1"/>
                  <p:nvPr/>
                </p:nvSpPr>
                <p:spPr>
                  <a:xfrm>
                    <a:off x="79041" y="3110105"/>
                    <a:ext cx="1474650" cy="230832"/>
                  </a:xfrm>
                  <a:prstGeom prst="rect">
                    <a:avLst/>
                  </a:prstGeom>
                  <a:noFill/>
                </p:spPr>
                <p:txBody>
                  <a:bodyPr wrap="square" rtlCol="0">
                    <a:spAutoFit/>
                  </a:bodyPr>
                  <a:lstStyle/>
                  <a:p>
                    <a:r>
                      <a:rPr lang="en-US" sz="900" dirty="0"/>
                      <a:t>Warehouse ops </a:t>
                    </a:r>
                  </a:p>
                </p:txBody>
              </p:sp>
              <p:sp>
                <p:nvSpPr>
                  <p:cNvPr id="81" name="TextBox 80">
                    <a:extLst>
                      <a:ext uri="{FF2B5EF4-FFF2-40B4-BE49-F238E27FC236}">
                        <a16:creationId xmlns:a16="http://schemas.microsoft.com/office/drawing/2014/main" id="{D7077786-C030-1E16-5281-4497D978C415}"/>
                      </a:ext>
                    </a:extLst>
                  </p:cNvPr>
                  <p:cNvSpPr txBox="1"/>
                  <p:nvPr/>
                </p:nvSpPr>
                <p:spPr>
                  <a:xfrm>
                    <a:off x="54461" y="2261711"/>
                    <a:ext cx="2437293" cy="230832"/>
                  </a:xfrm>
                  <a:prstGeom prst="rect">
                    <a:avLst/>
                  </a:prstGeom>
                  <a:noFill/>
                </p:spPr>
                <p:txBody>
                  <a:bodyPr wrap="square" rtlCol="0">
                    <a:spAutoFit/>
                  </a:bodyPr>
                  <a:lstStyle/>
                  <a:p>
                    <a:r>
                      <a:rPr lang="en-US" sz="900" dirty="0"/>
                      <a:t>Manuf. of coffee bags</a:t>
                    </a:r>
                  </a:p>
                </p:txBody>
              </p:sp>
              <p:sp>
                <p:nvSpPr>
                  <p:cNvPr id="82" name="TextBox 81">
                    <a:extLst>
                      <a:ext uri="{FF2B5EF4-FFF2-40B4-BE49-F238E27FC236}">
                        <a16:creationId xmlns:a16="http://schemas.microsoft.com/office/drawing/2014/main" id="{AFA3D1B5-EDE9-05CA-0522-09F0B31D5340}"/>
                      </a:ext>
                    </a:extLst>
                  </p:cNvPr>
                  <p:cNvSpPr txBox="1"/>
                  <p:nvPr/>
                </p:nvSpPr>
                <p:spPr>
                  <a:xfrm>
                    <a:off x="75940" y="3928454"/>
                    <a:ext cx="1188249" cy="230832"/>
                  </a:xfrm>
                  <a:prstGeom prst="rect">
                    <a:avLst/>
                  </a:prstGeom>
                  <a:noFill/>
                </p:spPr>
                <p:txBody>
                  <a:bodyPr wrap="square" rtlCol="0">
                    <a:spAutoFit/>
                  </a:bodyPr>
                  <a:lstStyle/>
                  <a:p>
                    <a:r>
                      <a:rPr lang="en-US" sz="900" dirty="0"/>
                      <a:t>Ship to N.Y. harbor</a:t>
                    </a:r>
                    <a:endParaRPr lang="en-US" sz="900" b="1" dirty="0"/>
                  </a:p>
                </p:txBody>
              </p:sp>
              <p:sp>
                <p:nvSpPr>
                  <p:cNvPr id="83" name="TextBox 82">
                    <a:extLst>
                      <a:ext uri="{FF2B5EF4-FFF2-40B4-BE49-F238E27FC236}">
                        <a16:creationId xmlns:a16="http://schemas.microsoft.com/office/drawing/2014/main" id="{FE03D183-DFBA-63AE-C5BB-F9CB8621F829}"/>
                      </a:ext>
                    </a:extLst>
                  </p:cNvPr>
                  <p:cNvSpPr txBox="1"/>
                  <p:nvPr/>
                </p:nvSpPr>
                <p:spPr>
                  <a:xfrm>
                    <a:off x="77138" y="3471090"/>
                    <a:ext cx="1817504" cy="230832"/>
                  </a:xfrm>
                  <a:prstGeom prst="rect">
                    <a:avLst/>
                  </a:prstGeom>
                  <a:noFill/>
                </p:spPr>
                <p:txBody>
                  <a:bodyPr wrap="square" rtlCol="0">
                    <a:spAutoFit/>
                  </a:bodyPr>
                  <a:lstStyle/>
                  <a:p>
                    <a:r>
                      <a:rPr lang="en-US" sz="900" dirty="0"/>
                      <a:t>Coffee bag loading on ship</a:t>
                    </a:r>
                  </a:p>
                </p:txBody>
              </p:sp>
              <p:sp>
                <p:nvSpPr>
                  <p:cNvPr id="84" name="TextBox 83">
                    <a:extLst>
                      <a:ext uri="{FF2B5EF4-FFF2-40B4-BE49-F238E27FC236}">
                        <a16:creationId xmlns:a16="http://schemas.microsoft.com/office/drawing/2014/main" id="{E2ED02A1-9127-3BB0-4540-B5BEE2C755F2}"/>
                      </a:ext>
                    </a:extLst>
                  </p:cNvPr>
                  <p:cNvSpPr txBox="1"/>
                  <p:nvPr/>
                </p:nvSpPr>
                <p:spPr>
                  <a:xfrm>
                    <a:off x="67300" y="2650383"/>
                    <a:ext cx="2699133" cy="507831"/>
                  </a:xfrm>
                  <a:prstGeom prst="rect">
                    <a:avLst/>
                  </a:prstGeom>
                  <a:noFill/>
                </p:spPr>
                <p:txBody>
                  <a:bodyPr wrap="square" rtlCol="0">
                    <a:spAutoFit/>
                  </a:bodyPr>
                  <a:lstStyle/>
                  <a:p>
                    <a:r>
                      <a:rPr lang="en-US" sz="900" dirty="0"/>
                      <a:t>Trucking to Warehouse</a:t>
                    </a:r>
                  </a:p>
                  <a:p>
                    <a:r>
                      <a:rPr lang="en-US" sz="900" dirty="0"/>
                      <a:t>    - Freight Co. #2</a:t>
                    </a:r>
                  </a:p>
                  <a:p>
                    <a:r>
                      <a:rPr lang="en-US" sz="900" dirty="0"/>
                      <a:t>    - unloading</a:t>
                    </a:r>
                  </a:p>
                </p:txBody>
              </p:sp>
              <p:sp>
                <p:nvSpPr>
                  <p:cNvPr id="85" name="TextBox 84">
                    <a:extLst>
                      <a:ext uri="{FF2B5EF4-FFF2-40B4-BE49-F238E27FC236}">
                        <a16:creationId xmlns:a16="http://schemas.microsoft.com/office/drawing/2014/main" id="{D701C63F-B9A7-33B4-1627-722FB0FBEBFF}"/>
                      </a:ext>
                    </a:extLst>
                  </p:cNvPr>
                  <p:cNvSpPr txBox="1"/>
                  <p:nvPr/>
                </p:nvSpPr>
                <p:spPr>
                  <a:xfrm>
                    <a:off x="229459" y="3248043"/>
                    <a:ext cx="1207402" cy="230832"/>
                  </a:xfrm>
                  <a:prstGeom prst="rect">
                    <a:avLst/>
                  </a:prstGeom>
                  <a:noFill/>
                </p:spPr>
                <p:txBody>
                  <a:bodyPr wrap="square" rtlCol="0">
                    <a:spAutoFit/>
                  </a:bodyPr>
                  <a:lstStyle/>
                  <a:p>
                    <a:r>
                      <a:rPr lang="en-US" sz="900" dirty="0"/>
                      <a:t>- Heating / cooling </a:t>
                    </a:r>
                  </a:p>
                </p:txBody>
              </p:sp>
              <p:sp>
                <p:nvSpPr>
                  <p:cNvPr id="86" name="TextBox 85">
                    <a:extLst>
                      <a:ext uri="{FF2B5EF4-FFF2-40B4-BE49-F238E27FC236}">
                        <a16:creationId xmlns:a16="http://schemas.microsoft.com/office/drawing/2014/main" id="{9B3FFE5B-7344-0A89-E26F-1678444F10EF}"/>
                      </a:ext>
                    </a:extLst>
                  </p:cNvPr>
                  <p:cNvSpPr txBox="1"/>
                  <p:nvPr/>
                </p:nvSpPr>
                <p:spPr>
                  <a:xfrm>
                    <a:off x="238386" y="3597949"/>
                    <a:ext cx="1299044" cy="230832"/>
                  </a:xfrm>
                  <a:prstGeom prst="rect">
                    <a:avLst/>
                  </a:prstGeom>
                  <a:noFill/>
                </p:spPr>
                <p:txBody>
                  <a:bodyPr wrap="square" rtlCol="0">
                    <a:spAutoFit/>
                  </a:bodyPr>
                  <a:lstStyle/>
                  <a:p>
                    <a:r>
                      <a:rPr lang="en-US" sz="900" dirty="0"/>
                      <a:t>- forklift ops </a:t>
                    </a:r>
                  </a:p>
                </p:txBody>
              </p:sp>
              <p:sp>
                <p:nvSpPr>
                  <p:cNvPr id="87" name="TextBox 86">
                    <a:extLst>
                      <a:ext uri="{FF2B5EF4-FFF2-40B4-BE49-F238E27FC236}">
                        <a16:creationId xmlns:a16="http://schemas.microsoft.com/office/drawing/2014/main" id="{0A2AC862-EA92-5BDC-0E20-CB6841BF8DD1}"/>
                      </a:ext>
                    </a:extLst>
                  </p:cNvPr>
                  <p:cNvSpPr txBox="1"/>
                  <p:nvPr/>
                </p:nvSpPr>
                <p:spPr>
                  <a:xfrm>
                    <a:off x="237331" y="3712552"/>
                    <a:ext cx="1271812" cy="230832"/>
                  </a:xfrm>
                  <a:prstGeom prst="rect">
                    <a:avLst/>
                  </a:prstGeom>
                  <a:noFill/>
                </p:spPr>
                <p:txBody>
                  <a:bodyPr wrap="square" rtlCol="0">
                    <a:spAutoFit/>
                  </a:bodyPr>
                  <a:lstStyle/>
                  <a:p>
                    <a:r>
                      <a:rPr lang="en-US" sz="900" dirty="0"/>
                      <a:t>- cranes for loading </a:t>
                    </a:r>
                  </a:p>
                </p:txBody>
              </p:sp>
            </p:grpSp>
            <p:sp>
              <p:nvSpPr>
                <p:cNvPr id="78" name="TextBox 77">
                  <a:extLst>
                    <a:ext uri="{FF2B5EF4-FFF2-40B4-BE49-F238E27FC236}">
                      <a16:creationId xmlns:a16="http://schemas.microsoft.com/office/drawing/2014/main" id="{6D48EC93-7323-BF06-2BB8-D1AA25505DF7}"/>
                    </a:ext>
                  </a:extLst>
                </p:cNvPr>
                <p:cNvSpPr txBox="1"/>
                <p:nvPr/>
              </p:nvSpPr>
              <p:spPr>
                <a:xfrm>
                  <a:off x="130856" y="5142705"/>
                  <a:ext cx="1473562" cy="230832"/>
                </a:xfrm>
                <a:prstGeom prst="rect">
                  <a:avLst/>
                </a:prstGeom>
                <a:noFill/>
              </p:spPr>
              <p:txBody>
                <a:bodyPr wrap="square" rtlCol="0">
                  <a:spAutoFit/>
                </a:bodyPr>
                <a:lstStyle/>
                <a:p>
                  <a:r>
                    <a:rPr lang="en-US" sz="900" b="1" dirty="0"/>
                    <a:t>Purchase GHG credits</a:t>
                  </a:r>
                </a:p>
              </p:txBody>
            </p:sp>
          </p:grpSp>
          <p:grpSp>
            <p:nvGrpSpPr>
              <p:cNvPr id="65" name="Group 64">
                <a:extLst>
                  <a:ext uri="{FF2B5EF4-FFF2-40B4-BE49-F238E27FC236}">
                    <a16:creationId xmlns:a16="http://schemas.microsoft.com/office/drawing/2014/main" id="{22348897-3A32-D441-C78C-B08394972BA9}"/>
                  </a:ext>
                </a:extLst>
              </p:cNvPr>
              <p:cNvGrpSpPr/>
              <p:nvPr/>
            </p:nvGrpSpPr>
            <p:grpSpPr>
              <a:xfrm>
                <a:off x="939288" y="3359355"/>
                <a:ext cx="524127" cy="2501510"/>
                <a:chOff x="1097923" y="2853876"/>
                <a:chExt cx="758831" cy="2501510"/>
              </a:xfrm>
            </p:grpSpPr>
            <p:sp>
              <p:nvSpPr>
                <p:cNvPr id="68" name="TextBox 67">
                  <a:extLst>
                    <a:ext uri="{FF2B5EF4-FFF2-40B4-BE49-F238E27FC236}">
                      <a16:creationId xmlns:a16="http://schemas.microsoft.com/office/drawing/2014/main" id="{BD575ABF-187A-F4F1-2730-378210CEEABA}"/>
                    </a:ext>
                  </a:extLst>
                </p:cNvPr>
                <p:cNvSpPr txBox="1"/>
                <p:nvPr/>
              </p:nvSpPr>
              <p:spPr>
                <a:xfrm>
                  <a:off x="1281442" y="3835871"/>
                  <a:ext cx="533063" cy="230832"/>
                </a:xfrm>
                <a:prstGeom prst="rect">
                  <a:avLst/>
                </a:prstGeom>
                <a:noFill/>
              </p:spPr>
              <p:txBody>
                <a:bodyPr wrap="square" rtlCol="0">
                  <a:spAutoFit/>
                </a:bodyPr>
                <a:lstStyle/>
                <a:p>
                  <a:pPr algn="r"/>
                  <a:r>
                    <a:rPr lang="en-US" sz="900" b="1" dirty="0"/>
                    <a:t>45.4</a:t>
                  </a:r>
                </a:p>
              </p:txBody>
            </p:sp>
            <p:sp>
              <p:nvSpPr>
                <p:cNvPr id="69" name="TextBox 68">
                  <a:extLst>
                    <a:ext uri="{FF2B5EF4-FFF2-40B4-BE49-F238E27FC236}">
                      <a16:creationId xmlns:a16="http://schemas.microsoft.com/office/drawing/2014/main" id="{FDEACC8F-DD5F-C9B9-3244-3E405351BE1D}"/>
                    </a:ext>
                  </a:extLst>
                </p:cNvPr>
                <p:cNvSpPr txBox="1"/>
                <p:nvPr/>
              </p:nvSpPr>
              <p:spPr>
                <a:xfrm>
                  <a:off x="1345260" y="4308522"/>
                  <a:ext cx="478202" cy="230832"/>
                </a:xfrm>
                <a:prstGeom prst="rect">
                  <a:avLst/>
                </a:prstGeom>
                <a:noFill/>
              </p:spPr>
              <p:txBody>
                <a:bodyPr wrap="square" rtlCol="0">
                  <a:spAutoFit/>
                </a:bodyPr>
                <a:lstStyle/>
                <a:p>
                  <a:pPr algn="r"/>
                  <a:r>
                    <a:rPr lang="en-US" sz="900" b="1" dirty="0"/>
                    <a:t>4.4</a:t>
                  </a:r>
                </a:p>
              </p:txBody>
            </p:sp>
            <p:sp>
              <p:nvSpPr>
                <p:cNvPr id="70" name="TextBox 69">
                  <a:extLst>
                    <a:ext uri="{FF2B5EF4-FFF2-40B4-BE49-F238E27FC236}">
                      <a16:creationId xmlns:a16="http://schemas.microsoft.com/office/drawing/2014/main" id="{E4A8DC8A-16A3-FD2D-BD0B-B6BE3CDBF14C}"/>
                    </a:ext>
                  </a:extLst>
                </p:cNvPr>
                <p:cNvSpPr txBox="1"/>
                <p:nvPr/>
              </p:nvSpPr>
              <p:spPr>
                <a:xfrm>
                  <a:off x="1387522" y="4197434"/>
                  <a:ext cx="436434" cy="230832"/>
                </a:xfrm>
                <a:prstGeom prst="rect">
                  <a:avLst/>
                </a:prstGeom>
                <a:noFill/>
              </p:spPr>
              <p:txBody>
                <a:bodyPr wrap="square" rtlCol="0">
                  <a:spAutoFit/>
                </a:bodyPr>
                <a:lstStyle/>
                <a:p>
                  <a:pPr algn="r"/>
                  <a:r>
                    <a:rPr lang="en-US" sz="900" b="1" dirty="0"/>
                    <a:t>2.4</a:t>
                  </a:r>
                </a:p>
              </p:txBody>
            </p:sp>
            <p:sp>
              <p:nvSpPr>
                <p:cNvPr id="71" name="TextBox 70">
                  <a:extLst>
                    <a:ext uri="{FF2B5EF4-FFF2-40B4-BE49-F238E27FC236}">
                      <a16:creationId xmlns:a16="http://schemas.microsoft.com/office/drawing/2014/main" id="{DF8A8E87-8F60-C37C-27F4-B7550F92327C}"/>
                    </a:ext>
                  </a:extLst>
                </p:cNvPr>
                <p:cNvSpPr txBox="1"/>
                <p:nvPr/>
              </p:nvSpPr>
              <p:spPr>
                <a:xfrm>
                  <a:off x="1370030" y="4838957"/>
                  <a:ext cx="449639" cy="230832"/>
                </a:xfrm>
                <a:prstGeom prst="rect">
                  <a:avLst/>
                </a:prstGeom>
                <a:noFill/>
              </p:spPr>
              <p:txBody>
                <a:bodyPr wrap="square" rtlCol="0">
                  <a:spAutoFit/>
                </a:bodyPr>
                <a:lstStyle/>
                <a:p>
                  <a:pPr algn="r"/>
                  <a:r>
                    <a:rPr lang="en-US" sz="900" b="1" dirty="0"/>
                    <a:t>0.0</a:t>
                  </a:r>
                </a:p>
              </p:txBody>
            </p:sp>
            <p:sp>
              <p:nvSpPr>
                <p:cNvPr id="72" name="TextBox 71">
                  <a:extLst>
                    <a:ext uri="{FF2B5EF4-FFF2-40B4-BE49-F238E27FC236}">
                      <a16:creationId xmlns:a16="http://schemas.microsoft.com/office/drawing/2014/main" id="{E1B16599-2DED-C23D-FCF3-D5149D30550C}"/>
                    </a:ext>
                  </a:extLst>
                </p:cNvPr>
                <p:cNvSpPr txBox="1"/>
                <p:nvPr/>
              </p:nvSpPr>
              <p:spPr>
                <a:xfrm>
                  <a:off x="1324692" y="4524777"/>
                  <a:ext cx="494889" cy="230832"/>
                </a:xfrm>
                <a:prstGeom prst="rect">
                  <a:avLst/>
                </a:prstGeom>
                <a:noFill/>
              </p:spPr>
              <p:txBody>
                <a:bodyPr wrap="square" rtlCol="0">
                  <a:spAutoFit/>
                </a:bodyPr>
                <a:lstStyle/>
                <a:p>
                  <a:pPr algn="r"/>
                  <a:r>
                    <a:rPr lang="en-US" sz="900" b="1" dirty="0"/>
                    <a:t>1.9</a:t>
                  </a:r>
                </a:p>
              </p:txBody>
            </p:sp>
            <p:sp>
              <p:nvSpPr>
                <p:cNvPr id="73" name="TextBox 72">
                  <a:extLst>
                    <a:ext uri="{FF2B5EF4-FFF2-40B4-BE49-F238E27FC236}">
                      <a16:creationId xmlns:a16="http://schemas.microsoft.com/office/drawing/2014/main" id="{3824C0DF-D4A2-6AA4-D304-133DE5C763D2}"/>
                    </a:ext>
                  </a:extLst>
                </p:cNvPr>
                <p:cNvSpPr txBox="1"/>
                <p:nvPr/>
              </p:nvSpPr>
              <p:spPr>
                <a:xfrm>
                  <a:off x="1241094" y="5124554"/>
                  <a:ext cx="585797" cy="230832"/>
                </a:xfrm>
                <a:prstGeom prst="rect">
                  <a:avLst/>
                </a:prstGeom>
                <a:noFill/>
              </p:spPr>
              <p:txBody>
                <a:bodyPr wrap="square" rtlCol="0">
                  <a:spAutoFit/>
                </a:bodyPr>
                <a:lstStyle/>
                <a:p>
                  <a:pPr algn="r"/>
                  <a:r>
                    <a:rPr lang="en-US" sz="900" b="1" dirty="0"/>
                    <a:t>136.0</a:t>
                  </a:r>
                </a:p>
              </p:txBody>
            </p:sp>
            <p:sp>
              <p:nvSpPr>
                <p:cNvPr id="74" name="TextBox 73">
                  <a:extLst>
                    <a:ext uri="{FF2B5EF4-FFF2-40B4-BE49-F238E27FC236}">
                      <a16:creationId xmlns:a16="http://schemas.microsoft.com/office/drawing/2014/main" id="{391CAA95-70CB-E9E2-FC83-EB29578F6DBB}"/>
                    </a:ext>
                  </a:extLst>
                </p:cNvPr>
                <p:cNvSpPr txBox="1"/>
                <p:nvPr/>
              </p:nvSpPr>
              <p:spPr>
                <a:xfrm>
                  <a:off x="1097923" y="3043915"/>
                  <a:ext cx="758831" cy="246221"/>
                </a:xfrm>
                <a:prstGeom prst="rect">
                  <a:avLst/>
                </a:prstGeom>
                <a:noFill/>
              </p:spPr>
              <p:txBody>
                <a:bodyPr wrap="square" rtlCol="0">
                  <a:spAutoFit/>
                </a:bodyPr>
                <a:lstStyle/>
                <a:p>
                  <a:pPr algn="r"/>
                  <a:r>
                    <a:rPr lang="en-US" sz="1000" b="1" dirty="0">
                      <a:solidFill>
                        <a:schemeClr val="bg1"/>
                      </a:solidFill>
                      <a:highlight>
                        <a:srgbClr val="008080"/>
                      </a:highlight>
                    </a:rPr>
                    <a:t>77.9</a:t>
                  </a:r>
                </a:p>
              </p:txBody>
            </p:sp>
            <p:sp>
              <p:nvSpPr>
                <p:cNvPr id="75" name="TextBox 74">
                  <a:extLst>
                    <a:ext uri="{FF2B5EF4-FFF2-40B4-BE49-F238E27FC236}">
                      <a16:creationId xmlns:a16="http://schemas.microsoft.com/office/drawing/2014/main" id="{C1CA4F6E-6A40-63A4-12FA-69B88934B09F}"/>
                    </a:ext>
                  </a:extLst>
                </p:cNvPr>
                <p:cNvSpPr txBox="1"/>
                <p:nvPr/>
              </p:nvSpPr>
              <p:spPr>
                <a:xfrm>
                  <a:off x="1360191" y="3384173"/>
                  <a:ext cx="465265" cy="369332"/>
                </a:xfrm>
                <a:prstGeom prst="rect">
                  <a:avLst/>
                </a:prstGeom>
                <a:noFill/>
              </p:spPr>
              <p:txBody>
                <a:bodyPr wrap="square" rtlCol="0">
                  <a:spAutoFit/>
                </a:bodyPr>
                <a:lstStyle/>
                <a:p>
                  <a:r>
                    <a:rPr lang="en-US" sz="900" b="1" dirty="0"/>
                    <a:t>2.9</a:t>
                  </a:r>
                </a:p>
                <a:p>
                  <a:r>
                    <a:rPr lang="en-US" sz="900" b="1" dirty="0"/>
                    <a:t>.94</a:t>
                  </a:r>
                </a:p>
              </p:txBody>
            </p:sp>
            <p:sp>
              <p:nvSpPr>
                <p:cNvPr id="76" name="TextBox 75">
                  <a:extLst>
                    <a:ext uri="{FF2B5EF4-FFF2-40B4-BE49-F238E27FC236}">
                      <a16:creationId xmlns:a16="http://schemas.microsoft.com/office/drawing/2014/main" id="{BE9080D3-1D6D-D21A-D346-C9B3FAC95015}"/>
                    </a:ext>
                  </a:extLst>
                </p:cNvPr>
                <p:cNvSpPr txBox="1"/>
                <p:nvPr/>
              </p:nvSpPr>
              <p:spPr>
                <a:xfrm>
                  <a:off x="1379989" y="2853876"/>
                  <a:ext cx="415574" cy="230832"/>
                </a:xfrm>
                <a:prstGeom prst="rect">
                  <a:avLst/>
                </a:prstGeom>
                <a:solidFill>
                  <a:srgbClr val="008000"/>
                </a:solidFill>
              </p:spPr>
              <p:txBody>
                <a:bodyPr wrap="square" rtlCol="0">
                  <a:spAutoFit/>
                </a:bodyPr>
                <a:lstStyle/>
                <a:p>
                  <a:pPr algn="r"/>
                  <a:r>
                    <a:rPr lang="en-US" sz="900" b="1" dirty="0">
                      <a:solidFill>
                        <a:schemeClr val="bg1"/>
                      </a:solidFill>
                    </a:rPr>
                    <a:t>.13</a:t>
                  </a:r>
                </a:p>
              </p:txBody>
            </p:sp>
          </p:grpSp>
          <p:cxnSp>
            <p:nvCxnSpPr>
              <p:cNvPr id="66" name="Straight Connector 65">
                <a:extLst>
                  <a:ext uri="{FF2B5EF4-FFF2-40B4-BE49-F238E27FC236}">
                    <a16:creationId xmlns:a16="http://schemas.microsoft.com/office/drawing/2014/main" id="{E7F98FD3-7CCB-B8A2-0154-CA4EA5F1E0CF}"/>
                  </a:ext>
                </a:extLst>
              </p:cNvPr>
              <p:cNvCxnSpPr>
                <a:cxnSpLocks/>
              </p:cNvCxnSpPr>
              <p:nvPr/>
            </p:nvCxnSpPr>
            <p:spPr>
              <a:xfrm flipV="1">
                <a:off x="25494" y="3756871"/>
                <a:ext cx="1347348" cy="6817"/>
              </a:xfrm>
              <a:prstGeom prst="line">
                <a:avLst/>
              </a:prstGeom>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25723FC6-966E-FE07-5ABF-0D61B80BB177}"/>
                  </a:ext>
                </a:extLst>
              </p:cNvPr>
              <p:cNvSpPr txBox="1"/>
              <p:nvPr/>
            </p:nvSpPr>
            <p:spPr>
              <a:xfrm>
                <a:off x="-38978" y="3141582"/>
                <a:ext cx="3185676" cy="230832"/>
              </a:xfrm>
              <a:prstGeom prst="rect">
                <a:avLst/>
              </a:prstGeom>
              <a:noFill/>
            </p:spPr>
            <p:txBody>
              <a:bodyPr wrap="square" rtlCol="0">
                <a:spAutoFit/>
              </a:bodyPr>
              <a:lstStyle/>
              <a:p>
                <a:r>
                  <a:rPr lang="en-US" sz="900" b="1" dirty="0"/>
                  <a:t>Model Run 1 </a:t>
                </a:r>
                <a:r>
                  <a:rPr lang="en-US" sz="900" dirty="0">
                    <a:solidFill>
                      <a:srgbClr val="FF0000"/>
                    </a:solidFill>
                  </a:rPr>
                  <a:t>(tons of CO2e) </a:t>
                </a:r>
              </a:p>
            </p:txBody>
          </p:sp>
        </p:grpSp>
        <p:sp>
          <p:nvSpPr>
            <p:cNvPr id="3192" name="TextBox 3191">
              <a:extLst>
                <a:ext uri="{FF2B5EF4-FFF2-40B4-BE49-F238E27FC236}">
                  <a16:creationId xmlns:a16="http://schemas.microsoft.com/office/drawing/2014/main" id="{9E6D4609-BFA1-69B9-6EC6-D8661DE34670}"/>
                </a:ext>
              </a:extLst>
            </p:cNvPr>
            <p:cNvSpPr txBox="1"/>
            <p:nvPr/>
          </p:nvSpPr>
          <p:spPr>
            <a:xfrm>
              <a:off x="2834345" y="4005317"/>
              <a:ext cx="668822" cy="230832"/>
            </a:xfrm>
            <a:prstGeom prst="rect">
              <a:avLst/>
            </a:prstGeom>
            <a:noFill/>
          </p:spPr>
          <p:txBody>
            <a:bodyPr wrap="square" rtlCol="0">
              <a:spAutoFit/>
            </a:bodyPr>
            <a:lstStyle/>
            <a:p>
              <a:r>
                <a:rPr lang="en-US" sz="900" b="1" dirty="0"/>
                <a:t>Total</a:t>
              </a:r>
            </a:p>
          </p:txBody>
        </p:sp>
      </p:grpSp>
      <p:grpSp>
        <p:nvGrpSpPr>
          <p:cNvPr id="88" name="Group 87">
            <a:extLst>
              <a:ext uri="{FF2B5EF4-FFF2-40B4-BE49-F238E27FC236}">
                <a16:creationId xmlns:a16="http://schemas.microsoft.com/office/drawing/2014/main" id="{6285F839-AC07-7116-8FC7-49A194A2ADDC}"/>
              </a:ext>
            </a:extLst>
          </p:cNvPr>
          <p:cNvGrpSpPr/>
          <p:nvPr/>
        </p:nvGrpSpPr>
        <p:grpSpPr>
          <a:xfrm>
            <a:off x="5927801" y="2441448"/>
            <a:ext cx="3748032" cy="2735715"/>
            <a:chOff x="2778058" y="1506423"/>
            <a:chExt cx="3185676" cy="2735715"/>
          </a:xfrm>
        </p:grpSpPr>
        <p:grpSp>
          <p:nvGrpSpPr>
            <p:cNvPr id="89" name="Group 88">
              <a:extLst>
                <a:ext uri="{FF2B5EF4-FFF2-40B4-BE49-F238E27FC236}">
                  <a16:creationId xmlns:a16="http://schemas.microsoft.com/office/drawing/2014/main" id="{A309464C-73C7-3033-A537-3B164AC2BCBC}"/>
                </a:ext>
              </a:extLst>
            </p:cNvPr>
            <p:cNvGrpSpPr/>
            <p:nvPr/>
          </p:nvGrpSpPr>
          <p:grpSpPr>
            <a:xfrm>
              <a:off x="2778058" y="1506423"/>
              <a:ext cx="3185676" cy="2735715"/>
              <a:chOff x="-38978" y="3109739"/>
              <a:chExt cx="3185676" cy="2735715"/>
            </a:xfrm>
          </p:grpSpPr>
          <p:grpSp>
            <p:nvGrpSpPr>
              <p:cNvPr id="91" name="Group 90">
                <a:extLst>
                  <a:ext uri="{FF2B5EF4-FFF2-40B4-BE49-F238E27FC236}">
                    <a16:creationId xmlns:a16="http://schemas.microsoft.com/office/drawing/2014/main" id="{2D53CEE9-4029-0C94-0AF7-F03FA6F6F2E9}"/>
                  </a:ext>
                </a:extLst>
              </p:cNvPr>
              <p:cNvGrpSpPr/>
              <p:nvPr/>
            </p:nvGrpSpPr>
            <p:grpSpPr>
              <a:xfrm>
                <a:off x="-6854" y="3371988"/>
                <a:ext cx="2127437" cy="2209876"/>
                <a:chOff x="116435" y="3163661"/>
                <a:chExt cx="2715023" cy="2209876"/>
              </a:xfrm>
            </p:grpSpPr>
            <p:grpSp>
              <p:nvGrpSpPr>
                <p:cNvPr id="104" name="Group 103">
                  <a:extLst>
                    <a:ext uri="{FF2B5EF4-FFF2-40B4-BE49-F238E27FC236}">
                      <a16:creationId xmlns:a16="http://schemas.microsoft.com/office/drawing/2014/main" id="{32A4D579-B707-20E4-CD63-A4155D329C47}"/>
                    </a:ext>
                  </a:extLst>
                </p:cNvPr>
                <p:cNvGrpSpPr/>
                <p:nvPr/>
              </p:nvGrpSpPr>
              <p:grpSpPr>
                <a:xfrm>
                  <a:off x="116435" y="3163661"/>
                  <a:ext cx="2715023" cy="1897575"/>
                  <a:chOff x="51410" y="2261711"/>
                  <a:chExt cx="2715023" cy="1897575"/>
                </a:xfrm>
              </p:grpSpPr>
              <p:sp>
                <p:nvSpPr>
                  <p:cNvPr id="106" name="TextBox 105">
                    <a:extLst>
                      <a:ext uri="{FF2B5EF4-FFF2-40B4-BE49-F238E27FC236}">
                        <a16:creationId xmlns:a16="http://schemas.microsoft.com/office/drawing/2014/main" id="{21869C68-B271-5311-1207-64DB7C3AE7ED}"/>
                      </a:ext>
                    </a:extLst>
                  </p:cNvPr>
                  <p:cNvSpPr txBox="1"/>
                  <p:nvPr/>
                </p:nvSpPr>
                <p:spPr>
                  <a:xfrm>
                    <a:off x="51410" y="2451720"/>
                    <a:ext cx="2332582" cy="230832"/>
                  </a:xfrm>
                  <a:prstGeom prst="rect">
                    <a:avLst/>
                  </a:prstGeom>
                  <a:noFill/>
                </p:spPr>
                <p:txBody>
                  <a:bodyPr wrap="square" rtlCol="0">
                    <a:spAutoFit/>
                  </a:bodyPr>
                  <a:lstStyle/>
                  <a:p>
                    <a:r>
                      <a:rPr lang="en-US" sz="900" dirty="0"/>
                      <a:t>Coffee supplier</a:t>
                    </a:r>
                  </a:p>
                </p:txBody>
              </p:sp>
              <p:sp>
                <p:nvSpPr>
                  <p:cNvPr id="107" name="TextBox 106">
                    <a:extLst>
                      <a:ext uri="{FF2B5EF4-FFF2-40B4-BE49-F238E27FC236}">
                        <a16:creationId xmlns:a16="http://schemas.microsoft.com/office/drawing/2014/main" id="{3E525817-693D-8457-A3FF-B7D509A8D19E}"/>
                      </a:ext>
                    </a:extLst>
                  </p:cNvPr>
                  <p:cNvSpPr txBox="1"/>
                  <p:nvPr/>
                </p:nvSpPr>
                <p:spPr>
                  <a:xfrm>
                    <a:off x="79041" y="3110105"/>
                    <a:ext cx="1474650" cy="230832"/>
                  </a:xfrm>
                  <a:prstGeom prst="rect">
                    <a:avLst/>
                  </a:prstGeom>
                  <a:noFill/>
                </p:spPr>
                <p:txBody>
                  <a:bodyPr wrap="square" rtlCol="0">
                    <a:spAutoFit/>
                  </a:bodyPr>
                  <a:lstStyle/>
                  <a:p>
                    <a:r>
                      <a:rPr lang="en-US" sz="900" dirty="0"/>
                      <a:t>Warehouse ops </a:t>
                    </a:r>
                  </a:p>
                </p:txBody>
              </p:sp>
              <p:sp>
                <p:nvSpPr>
                  <p:cNvPr id="108" name="TextBox 107">
                    <a:extLst>
                      <a:ext uri="{FF2B5EF4-FFF2-40B4-BE49-F238E27FC236}">
                        <a16:creationId xmlns:a16="http://schemas.microsoft.com/office/drawing/2014/main" id="{1BE0BE61-8280-E928-C4CA-04D4F22BEDBA}"/>
                      </a:ext>
                    </a:extLst>
                  </p:cNvPr>
                  <p:cNvSpPr txBox="1"/>
                  <p:nvPr/>
                </p:nvSpPr>
                <p:spPr>
                  <a:xfrm>
                    <a:off x="54461" y="2261711"/>
                    <a:ext cx="2437293" cy="230832"/>
                  </a:xfrm>
                  <a:prstGeom prst="rect">
                    <a:avLst/>
                  </a:prstGeom>
                  <a:noFill/>
                </p:spPr>
                <p:txBody>
                  <a:bodyPr wrap="square" rtlCol="0">
                    <a:spAutoFit/>
                  </a:bodyPr>
                  <a:lstStyle/>
                  <a:p>
                    <a:r>
                      <a:rPr lang="en-US" sz="900" dirty="0"/>
                      <a:t>Manuf. of coffee bags</a:t>
                    </a:r>
                  </a:p>
                </p:txBody>
              </p:sp>
              <p:sp>
                <p:nvSpPr>
                  <p:cNvPr id="110" name="TextBox 109">
                    <a:extLst>
                      <a:ext uri="{FF2B5EF4-FFF2-40B4-BE49-F238E27FC236}">
                        <a16:creationId xmlns:a16="http://schemas.microsoft.com/office/drawing/2014/main" id="{E40C4B9A-5935-8A8A-2534-BCBC44DEDFA4}"/>
                      </a:ext>
                    </a:extLst>
                  </p:cNvPr>
                  <p:cNvSpPr txBox="1"/>
                  <p:nvPr/>
                </p:nvSpPr>
                <p:spPr>
                  <a:xfrm>
                    <a:off x="75940" y="3928454"/>
                    <a:ext cx="1188249" cy="230832"/>
                  </a:xfrm>
                  <a:prstGeom prst="rect">
                    <a:avLst/>
                  </a:prstGeom>
                  <a:noFill/>
                </p:spPr>
                <p:txBody>
                  <a:bodyPr wrap="square" rtlCol="0">
                    <a:spAutoFit/>
                  </a:bodyPr>
                  <a:lstStyle/>
                  <a:p>
                    <a:r>
                      <a:rPr lang="en-US" sz="900" dirty="0"/>
                      <a:t>Ship to N.Y. harbor</a:t>
                    </a:r>
                    <a:endParaRPr lang="en-US" sz="900" b="1" dirty="0"/>
                  </a:p>
                </p:txBody>
              </p:sp>
              <p:sp>
                <p:nvSpPr>
                  <p:cNvPr id="111" name="TextBox 110">
                    <a:extLst>
                      <a:ext uri="{FF2B5EF4-FFF2-40B4-BE49-F238E27FC236}">
                        <a16:creationId xmlns:a16="http://schemas.microsoft.com/office/drawing/2014/main" id="{2F22149C-854E-2743-0ABD-959B767E0D5D}"/>
                      </a:ext>
                    </a:extLst>
                  </p:cNvPr>
                  <p:cNvSpPr txBox="1"/>
                  <p:nvPr/>
                </p:nvSpPr>
                <p:spPr>
                  <a:xfrm>
                    <a:off x="77138" y="3471090"/>
                    <a:ext cx="1817504" cy="230832"/>
                  </a:xfrm>
                  <a:prstGeom prst="rect">
                    <a:avLst/>
                  </a:prstGeom>
                  <a:noFill/>
                </p:spPr>
                <p:txBody>
                  <a:bodyPr wrap="square" rtlCol="0">
                    <a:spAutoFit/>
                  </a:bodyPr>
                  <a:lstStyle/>
                  <a:p>
                    <a:r>
                      <a:rPr lang="en-US" sz="900" dirty="0"/>
                      <a:t>Coffee bag loading on ship</a:t>
                    </a:r>
                  </a:p>
                </p:txBody>
              </p:sp>
              <p:sp>
                <p:nvSpPr>
                  <p:cNvPr id="112" name="TextBox 111">
                    <a:extLst>
                      <a:ext uri="{FF2B5EF4-FFF2-40B4-BE49-F238E27FC236}">
                        <a16:creationId xmlns:a16="http://schemas.microsoft.com/office/drawing/2014/main" id="{D149A53C-A06B-7356-51DB-ABA5E73D3B9E}"/>
                      </a:ext>
                    </a:extLst>
                  </p:cNvPr>
                  <p:cNvSpPr txBox="1"/>
                  <p:nvPr/>
                </p:nvSpPr>
                <p:spPr>
                  <a:xfrm>
                    <a:off x="67300" y="2650383"/>
                    <a:ext cx="2699133" cy="507831"/>
                  </a:xfrm>
                  <a:prstGeom prst="rect">
                    <a:avLst/>
                  </a:prstGeom>
                  <a:noFill/>
                </p:spPr>
                <p:txBody>
                  <a:bodyPr wrap="square" rtlCol="0">
                    <a:spAutoFit/>
                  </a:bodyPr>
                  <a:lstStyle/>
                  <a:p>
                    <a:r>
                      <a:rPr lang="en-US" sz="900" dirty="0"/>
                      <a:t>Trucking to Warehouse</a:t>
                    </a:r>
                  </a:p>
                  <a:p>
                    <a:r>
                      <a:rPr lang="en-US" sz="900" dirty="0"/>
                      <a:t>    - Freight Co. #new2</a:t>
                    </a:r>
                  </a:p>
                  <a:p>
                    <a:r>
                      <a:rPr lang="en-US" sz="900" dirty="0"/>
                      <a:t>    - unloading</a:t>
                    </a:r>
                  </a:p>
                </p:txBody>
              </p:sp>
              <p:sp>
                <p:nvSpPr>
                  <p:cNvPr id="113" name="TextBox 112">
                    <a:extLst>
                      <a:ext uri="{FF2B5EF4-FFF2-40B4-BE49-F238E27FC236}">
                        <a16:creationId xmlns:a16="http://schemas.microsoft.com/office/drawing/2014/main" id="{861A3B89-FEBF-F423-0D40-D1BE5496F1CA}"/>
                      </a:ext>
                    </a:extLst>
                  </p:cNvPr>
                  <p:cNvSpPr txBox="1"/>
                  <p:nvPr/>
                </p:nvSpPr>
                <p:spPr>
                  <a:xfrm>
                    <a:off x="229459" y="3248043"/>
                    <a:ext cx="1207402" cy="230832"/>
                  </a:xfrm>
                  <a:prstGeom prst="rect">
                    <a:avLst/>
                  </a:prstGeom>
                  <a:noFill/>
                </p:spPr>
                <p:txBody>
                  <a:bodyPr wrap="square" rtlCol="0">
                    <a:spAutoFit/>
                  </a:bodyPr>
                  <a:lstStyle/>
                  <a:p>
                    <a:r>
                      <a:rPr lang="en-US" sz="900" dirty="0"/>
                      <a:t>- Heating / cooling </a:t>
                    </a:r>
                  </a:p>
                </p:txBody>
              </p:sp>
              <p:sp>
                <p:nvSpPr>
                  <p:cNvPr id="114" name="TextBox 113">
                    <a:extLst>
                      <a:ext uri="{FF2B5EF4-FFF2-40B4-BE49-F238E27FC236}">
                        <a16:creationId xmlns:a16="http://schemas.microsoft.com/office/drawing/2014/main" id="{8944C065-0342-7C36-D7AE-5C38E65BB454}"/>
                      </a:ext>
                    </a:extLst>
                  </p:cNvPr>
                  <p:cNvSpPr txBox="1"/>
                  <p:nvPr/>
                </p:nvSpPr>
                <p:spPr>
                  <a:xfrm>
                    <a:off x="238386" y="3597949"/>
                    <a:ext cx="1299044" cy="230832"/>
                  </a:xfrm>
                  <a:prstGeom prst="rect">
                    <a:avLst/>
                  </a:prstGeom>
                  <a:noFill/>
                </p:spPr>
                <p:txBody>
                  <a:bodyPr wrap="square" rtlCol="0">
                    <a:spAutoFit/>
                  </a:bodyPr>
                  <a:lstStyle/>
                  <a:p>
                    <a:r>
                      <a:rPr lang="en-US" sz="900" dirty="0"/>
                      <a:t>- forklift ops </a:t>
                    </a:r>
                  </a:p>
                </p:txBody>
              </p:sp>
              <p:sp>
                <p:nvSpPr>
                  <p:cNvPr id="115" name="TextBox 114">
                    <a:extLst>
                      <a:ext uri="{FF2B5EF4-FFF2-40B4-BE49-F238E27FC236}">
                        <a16:creationId xmlns:a16="http://schemas.microsoft.com/office/drawing/2014/main" id="{6BBE7A25-5B3D-CD5A-0BFD-DB528D778027}"/>
                      </a:ext>
                    </a:extLst>
                  </p:cNvPr>
                  <p:cNvSpPr txBox="1"/>
                  <p:nvPr/>
                </p:nvSpPr>
                <p:spPr>
                  <a:xfrm>
                    <a:off x="237331" y="3712552"/>
                    <a:ext cx="1271812" cy="230832"/>
                  </a:xfrm>
                  <a:prstGeom prst="rect">
                    <a:avLst/>
                  </a:prstGeom>
                  <a:noFill/>
                </p:spPr>
                <p:txBody>
                  <a:bodyPr wrap="square" rtlCol="0">
                    <a:spAutoFit/>
                  </a:bodyPr>
                  <a:lstStyle/>
                  <a:p>
                    <a:r>
                      <a:rPr lang="en-US" sz="900" dirty="0"/>
                      <a:t>- cranes for loading </a:t>
                    </a:r>
                  </a:p>
                </p:txBody>
              </p:sp>
            </p:grpSp>
            <p:sp>
              <p:nvSpPr>
                <p:cNvPr id="105" name="TextBox 104">
                  <a:extLst>
                    <a:ext uri="{FF2B5EF4-FFF2-40B4-BE49-F238E27FC236}">
                      <a16:creationId xmlns:a16="http://schemas.microsoft.com/office/drawing/2014/main" id="{22512704-654C-1B01-9844-AF7BD8B5358E}"/>
                    </a:ext>
                  </a:extLst>
                </p:cNvPr>
                <p:cNvSpPr txBox="1"/>
                <p:nvPr/>
              </p:nvSpPr>
              <p:spPr>
                <a:xfrm>
                  <a:off x="130856" y="5142705"/>
                  <a:ext cx="1473562" cy="230832"/>
                </a:xfrm>
                <a:prstGeom prst="rect">
                  <a:avLst/>
                </a:prstGeom>
                <a:noFill/>
              </p:spPr>
              <p:txBody>
                <a:bodyPr wrap="square" rtlCol="0">
                  <a:spAutoFit/>
                </a:bodyPr>
                <a:lstStyle/>
                <a:p>
                  <a:r>
                    <a:rPr lang="en-US" sz="900" b="1" dirty="0"/>
                    <a:t>Purchase GHG credits</a:t>
                  </a:r>
                </a:p>
              </p:txBody>
            </p:sp>
          </p:grpSp>
          <p:grpSp>
            <p:nvGrpSpPr>
              <p:cNvPr id="92" name="Group 91">
                <a:extLst>
                  <a:ext uri="{FF2B5EF4-FFF2-40B4-BE49-F238E27FC236}">
                    <a16:creationId xmlns:a16="http://schemas.microsoft.com/office/drawing/2014/main" id="{E02BD22E-D0CF-4C67-F8EB-79A0C04D6BA4}"/>
                  </a:ext>
                </a:extLst>
              </p:cNvPr>
              <p:cNvGrpSpPr/>
              <p:nvPr/>
            </p:nvGrpSpPr>
            <p:grpSpPr>
              <a:xfrm>
                <a:off x="904257" y="3345615"/>
                <a:ext cx="538527" cy="2499839"/>
                <a:chOff x="1047209" y="2840136"/>
                <a:chExt cx="779681" cy="2499839"/>
              </a:xfrm>
            </p:grpSpPr>
            <p:sp>
              <p:nvSpPr>
                <p:cNvPr id="95" name="TextBox 94">
                  <a:extLst>
                    <a:ext uri="{FF2B5EF4-FFF2-40B4-BE49-F238E27FC236}">
                      <a16:creationId xmlns:a16="http://schemas.microsoft.com/office/drawing/2014/main" id="{0969B032-462E-0542-4283-6CEAEC873603}"/>
                    </a:ext>
                  </a:extLst>
                </p:cNvPr>
                <p:cNvSpPr txBox="1"/>
                <p:nvPr/>
              </p:nvSpPr>
              <p:spPr>
                <a:xfrm>
                  <a:off x="1160341" y="3808496"/>
                  <a:ext cx="654164" cy="230832"/>
                </a:xfrm>
                <a:prstGeom prst="rect">
                  <a:avLst/>
                </a:prstGeom>
                <a:noFill/>
              </p:spPr>
              <p:txBody>
                <a:bodyPr wrap="square" rtlCol="0">
                  <a:spAutoFit/>
                </a:bodyPr>
                <a:lstStyle/>
                <a:p>
                  <a:pPr algn="r"/>
                  <a:r>
                    <a:rPr lang="en-US" sz="900" b="1" dirty="0"/>
                    <a:t>45.4</a:t>
                  </a:r>
                </a:p>
              </p:txBody>
            </p:sp>
            <p:sp>
              <p:nvSpPr>
                <p:cNvPr id="96" name="TextBox 95">
                  <a:extLst>
                    <a:ext uri="{FF2B5EF4-FFF2-40B4-BE49-F238E27FC236}">
                      <a16:creationId xmlns:a16="http://schemas.microsoft.com/office/drawing/2014/main" id="{D13BA6C3-CDC2-506B-37EC-AE192BE220EF}"/>
                    </a:ext>
                  </a:extLst>
                </p:cNvPr>
                <p:cNvSpPr txBox="1"/>
                <p:nvPr/>
              </p:nvSpPr>
              <p:spPr>
                <a:xfrm>
                  <a:off x="1345260" y="4308522"/>
                  <a:ext cx="478202" cy="230832"/>
                </a:xfrm>
                <a:prstGeom prst="rect">
                  <a:avLst/>
                </a:prstGeom>
                <a:noFill/>
              </p:spPr>
              <p:txBody>
                <a:bodyPr wrap="square" rtlCol="0">
                  <a:spAutoFit/>
                </a:bodyPr>
                <a:lstStyle/>
                <a:p>
                  <a:pPr algn="r"/>
                  <a:r>
                    <a:rPr lang="en-US" sz="900" b="1" dirty="0"/>
                    <a:t>4.4</a:t>
                  </a:r>
                </a:p>
              </p:txBody>
            </p:sp>
            <p:sp>
              <p:nvSpPr>
                <p:cNvPr id="97" name="TextBox 96">
                  <a:extLst>
                    <a:ext uri="{FF2B5EF4-FFF2-40B4-BE49-F238E27FC236}">
                      <a16:creationId xmlns:a16="http://schemas.microsoft.com/office/drawing/2014/main" id="{DA26DC37-5B5C-A2DA-867B-0F5B709F67FF}"/>
                    </a:ext>
                  </a:extLst>
                </p:cNvPr>
                <p:cNvSpPr txBox="1"/>
                <p:nvPr/>
              </p:nvSpPr>
              <p:spPr>
                <a:xfrm>
                  <a:off x="1387522" y="4197434"/>
                  <a:ext cx="436434" cy="230832"/>
                </a:xfrm>
                <a:prstGeom prst="rect">
                  <a:avLst/>
                </a:prstGeom>
                <a:noFill/>
              </p:spPr>
              <p:txBody>
                <a:bodyPr wrap="square" rtlCol="0">
                  <a:spAutoFit/>
                </a:bodyPr>
                <a:lstStyle/>
                <a:p>
                  <a:pPr algn="r"/>
                  <a:r>
                    <a:rPr lang="en-US" sz="900" b="1" dirty="0"/>
                    <a:t>2.4</a:t>
                  </a:r>
                </a:p>
              </p:txBody>
            </p:sp>
            <p:sp>
              <p:nvSpPr>
                <p:cNvPr id="98" name="TextBox 97">
                  <a:extLst>
                    <a:ext uri="{FF2B5EF4-FFF2-40B4-BE49-F238E27FC236}">
                      <a16:creationId xmlns:a16="http://schemas.microsoft.com/office/drawing/2014/main" id="{85D14C32-E303-CEB5-E397-E00F4A5145E6}"/>
                    </a:ext>
                  </a:extLst>
                </p:cNvPr>
                <p:cNvSpPr txBox="1"/>
                <p:nvPr/>
              </p:nvSpPr>
              <p:spPr>
                <a:xfrm>
                  <a:off x="1370030" y="4838957"/>
                  <a:ext cx="449639" cy="230832"/>
                </a:xfrm>
                <a:prstGeom prst="rect">
                  <a:avLst/>
                </a:prstGeom>
                <a:noFill/>
              </p:spPr>
              <p:txBody>
                <a:bodyPr wrap="square" rtlCol="0">
                  <a:spAutoFit/>
                </a:bodyPr>
                <a:lstStyle/>
                <a:p>
                  <a:pPr algn="r"/>
                  <a:r>
                    <a:rPr lang="en-US" sz="900" b="1" dirty="0"/>
                    <a:t>0.0</a:t>
                  </a:r>
                </a:p>
              </p:txBody>
            </p:sp>
            <p:sp>
              <p:nvSpPr>
                <p:cNvPr id="99" name="TextBox 98">
                  <a:extLst>
                    <a:ext uri="{FF2B5EF4-FFF2-40B4-BE49-F238E27FC236}">
                      <a16:creationId xmlns:a16="http://schemas.microsoft.com/office/drawing/2014/main" id="{DE70CEE6-5C06-3BD4-3E82-E7911E2DB1BB}"/>
                    </a:ext>
                  </a:extLst>
                </p:cNvPr>
                <p:cNvSpPr txBox="1"/>
                <p:nvPr/>
              </p:nvSpPr>
              <p:spPr>
                <a:xfrm>
                  <a:off x="1324692" y="4524777"/>
                  <a:ext cx="494889" cy="230832"/>
                </a:xfrm>
                <a:prstGeom prst="rect">
                  <a:avLst/>
                </a:prstGeom>
                <a:noFill/>
              </p:spPr>
              <p:txBody>
                <a:bodyPr wrap="square" rtlCol="0">
                  <a:spAutoFit/>
                </a:bodyPr>
                <a:lstStyle/>
                <a:p>
                  <a:pPr algn="r"/>
                  <a:r>
                    <a:rPr lang="en-US" sz="900" b="1" dirty="0"/>
                    <a:t>1.9</a:t>
                  </a:r>
                </a:p>
              </p:txBody>
            </p:sp>
            <p:sp>
              <p:nvSpPr>
                <p:cNvPr id="100" name="TextBox 99">
                  <a:extLst>
                    <a:ext uri="{FF2B5EF4-FFF2-40B4-BE49-F238E27FC236}">
                      <a16:creationId xmlns:a16="http://schemas.microsoft.com/office/drawing/2014/main" id="{7344430E-418A-02AF-9B80-68C4F937FF3F}"/>
                    </a:ext>
                  </a:extLst>
                </p:cNvPr>
                <p:cNvSpPr txBox="1"/>
                <p:nvPr/>
              </p:nvSpPr>
              <p:spPr>
                <a:xfrm>
                  <a:off x="1241093" y="5109143"/>
                  <a:ext cx="585797" cy="230832"/>
                </a:xfrm>
                <a:prstGeom prst="rect">
                  <a:avLst/>
                </a:prstGeom>
                <a:noFill/>
              </p:spPr>
              <p:txBody>
                <a:bodyPr wrap="square" rtlCol="0">
                  <a:spAutoFit/>
                </a:bodyPr>
                <a:lstStyle/>
                <a:p>
                  <a:pPr algn="r"/>
                  <a:r>
                    <a:rPr lang="en-US" sz="900" b="1" dirty="0"/>
                    <a:t>135.0</a:t>
                  </a:r>
                </a:p>
              </p:txBody>
            </p:sp>
            <p:sp>
              <p:nvSpPr>
                <p:cNvPr id="101" name="TextBox 100">
                  <a:extLst>
                    <a:ext uri="{FF2B5EF4-FFF2-40B4-BE49-F238E27FC236}">
                      <a16:creationId xmlns:a16="http://schemas.microsoft.com/office/drawing/2014/main" id="{3E1D4A3C-DE80-5B42-85D9-C6DBC30C124C}"/>
                    </a:ext>
                  </a:extLst>
                </p:cNvPr>
                <p:cNvSpPr txBox="1"/>
                <p:nvPr/>
              </p:nvSpPr>
              <p:spPr>
                <a:xfrm>
                  <a:off x="1047209" y="3041501"/>
                  <a:ext cx="758831" cy="230832"/>
                </a:xfrm>
                <a:prstGeom prst="rect">
                  <a:avLst/>
                </a:prstGeom>
                <a:noFill/>
              </p:spPr>
              <p:txBody>
                <a:bodyPr wrap="square" rtlCol="0">
                  <a:spAutoFit/>
                </a:bodyPr>
                <a:lstStyle/>
                <a:p>
                  <a:pPr algn="r"/>
                  <a:r>
                    <a:rPr lang="en-US" sz="900" b="1" dirty="0">
                      <a:solidFill>
                        <a:schemeClr val="bg1"/>
                      </a:solidFill>
                      <a:highlight>
                        <a:srgbClr val="008000"/>
                      </a:highlight>
                    </a:rPr>
                    <a:t>77.9</a:t>
                  </a:r>
                </a:p>
              </p:txBody>
            </p:sp>
            <p:sp>
              <p:nvSpPr>
                <p:cNvPr id="102" name="TextBox 101">
                  <a:extLst>
                    <a:ext uri="{FF2B5EF4-FFF2-40B4-BE49-F238E27FC236}">
                      <a16:creationId xmlns:a16="http://schemas.microsoft.com/office/drawing/2014/main" id="{EDD56C98-755A-DEB9-F2E6-DADB01FEF72E}"/>
                    </a:ext>
                  </a:extLst>
                </p:cNvPr>
                <p:cNvSpPr txBox="1"/>
                <p:nvPr/>
              </p:nvSpPr>
              <p:spPr>
                <a:xfrm>
                  <a:off x="1375657" y="3362367"/>
                  <a:ext cx="440527" cy="369332"/>
                </a:xfrm>
                <a:prstGeom prst="rect">
                  <a:avLst/>
                </a:prstGeom>
                <a:solidFill>
                  <a:srgbClr val="008000"/>
                </a:solidFill>
              </p:spPr>
              <p:txBody>
                <a:bodyPr wrap="square" rtlCol="0">
                  <a:spAutoFit/>
                </a:bodyPr>
                <a:lstStyle/>
                <a:p>
                  <a:r>
                    <a:rPr lang="en-US" sz="900" b="1" dirty="0">
                      <a:solidFill>
                        <a:schemeClr val="bg1"/>
                      </a:solidFill>
                    </a:rPr>
                    <a:t>2.2</a:t>
                  </a:r>
                </a:p>
                <a:p>
                  <a:r>
                    <a:rPr lang="en-US" sz="900" b="1" dirty="0">
                      <a:solidFill>
                        <a:schemeClr val="bg1"/>
                      </a:solidFill>
                    </a:rPr>
                    <a:t>.66</a:t>
                  </a:r>
                </a:p>
              </p:txBody>
            </p:sp>
            <p:sp>
              <p:nvSpPr>
                <p:cNvPr id="103" name="TextBox 102">
                  <a:extLst>
                    <a:ext uri="{FF2B5EF4-FFF2-40B4-BE49-F238E27FC236}">
                      <a16:creationId xmlns:a16="http://schemas.microsoft.com/office/drawing/2014/main" id="{91A0AD59-63FC-34DB-E61F-B65821601A62}"/>
                    </a:ext>
                  </a:extLst>
                </p:cNvPr>
                <p:cNvSpPr txBox="1"/>
                <p:nvPr/>
              </p:nvSpPr>
              <p:spPr>
                <a:xfrm>
                  <a:off x="1379989" y="2840136"/>
                  <a:ext cx="428679" cy="230832"/>
                </a:xfrm>
                <a:prstGeom prst="rect">
                  <a:avLst/>
                </a:prstGeom>
                <a:solidFill>
                  <a:srgbClr val="008000"/>
                </a:solidFill>
              </p:spPr>
              <p:txBody>
                <a:bodyPr wrap="square" rtlCol="0">
                  <a:spAutoFit/>
                </a:bodyPr>
                <a:lstStyle/>
                <a:p>
                  <a:pPr algn="r"/>
                  <a:r>
                    <a:rPr lang="en-US" sz="900" b="1" dirty="0">
                      <a:solidFill>
                        <a:schemeClr val="bg1"/>
                      </a:solidFill>
                    </a:rPr>
                    <a:t>.13</a:t>
                  </a:r>
                </a:p>
              </p:txBody>
            </p:sp>
          </p:grpSp>
          <p:sp>
            <p:nvSpPr>
              <p:cNvPr id="94" name="TextBox 93">
                <a:extLst>
                  <a:ext uri="{FF2B5EF4-FFF2-40B4-BE49-F238E27FC236}">
                    <a16:creationId xmlns:a16="http://schemas.microsoft.com/office/drawing/2014/main" id="{6ECD4601-59B3-0B5F-B41C-85F548D86A55}"/>
                  </a:ext>
                </a:extLst>
              </p:cNvPr>
              <p:cNvSpPr txBox="1"/>
              <p:nvPr/>
            </p:nvSpPr>
            <p:spPr>
              <a:xfrm>
                <a:off x="-38978" y="3109739"/>
                <a:ext cx="3185676" cy="230832"/>
              </a:xfrm>
              <a:prstGeom prst="rect">
                <a:avLst/>
              </a:prstGeom>
              <a:noFill/>
            </p:spPr>
            <p:txBody>
              <a:bodyPr wrap="square" rtlCol="0">
                <a:spAutoFit/>
              </a:bodyPr>
              <a:lstStyle/>
              <a:p>
                <a:r>
                  <a:rPr lang="en-US" sz="900" b="1" dirty="0"/>
                  <a:t>Model Run 2 </a:t>
                </a:r>
                <a:r>
                  <a:rPr lang="en-US" sz="900" dirty="0">
                    <a:solidFill>
                      <a:srgbClr val="FF0000"/>
                    </a:solidFill>
                  </a:rPr>
                  <a:t>(tons of CO2e) </a:t>
                </a:r>
              </a:p>
            </p:txBody>
          </p:sp>
        </p:grpSp>
        <p:sp>
          <p:nvSpPr>
            <p:cNvPr id="90" name="TextBox 89">
              <a:extLst>
                <a:ext uri="{FF2B5EF4-FFF2-40B4-BE49-F238E27FC236}">
                  <a16:creationId xmlns:a16="http://schemas.microsoft.com/office/drawing/2014/main" id="{C91487F4-E046-5A61-921C-73088129F431}"/>
                </a:ext>
              </a:extLst>
            </p:cNvPr>
            <p:cNvSpPr txBox="1"/>
            <p:nvPr/>
          </p:nvSpPr>
          <p:spPr>
            <a:xfrm>
              <a:off x="2834345" y="4005317"/>
              <a:ext cx="668822" cy="230832"/>
            </a:xfrm>
            <a:prstGeom prst="rect">
              <a:avLst/>
            </a:prstGeom>
            <a:noFill/>
          </p:spPr>
          <p:txBody>
            <a:bodyPr wrap="square" rtlCol="0">
              <a:spAutoFit/>
            </a:bodyPr>
            <a:lstStyle/>
            <a:p>
              <a:r>
                <a:rPr lang="en-US" sz="900" b="1" dirty="0"/>
                <a:t>Total</a:t>
              </a:r>
            </a:p>
          </p:txBody>
        </p:sp>
      </p:grpSp>
      <p:grpSp>
        <p:nvGrpSpPr>
          <p:cNvPr id="1063" name="Group 1062">
            <a:extLst>
              <a:ext uri="{FF2B5EF4-FFF2-40B4-BE49-F238E27FC236}">
                <a16:creationId xmlns:a16="http://schemas.microsoft.com/office/drawing/2014/main" id="{B574F48A-0896-3AC4-3F39-DBE759B24AA9}"/>
              </a:ext>
            </a:extLst>
          </p:cNvPr>
          <p:cNvGrpSpPr/>
          <p:nvPr/>
        </p:nvGrpSpPr>
        <p:grpSpPr>
          <a:xfrm>
            <a:off x="9491821" y="2444782"/>
            <a:ext cx="3748032" cy="2751126"/>
            <a:chOff x="2778058" y="1506423"/>
            <a:chExt cx="3185676" cy="2751126"/>
          </a:xfrm>
        </p:grpSpPr>
        <p:grpSp>
          <p:nvGrpSpPr>
            <p:cNvPr id="1064" name="Group 1063">
              <a:extLst>
                <a:ext uri="{FF2B5EF4-FFF2-40B4-BE49-F238E27FC236}">
                  <a16:creationId xmlns:a16="http://schemas.microsoft.com/office/drawing/2014/main" id="{5227440B-4841-692E-BA95-F4805E81DF77}"/>
                </a:ext>
              </a:extLst>
            </p:cNvPr>
            <p:cNvGrpSpPr/>
            <p:nvPr/>
          </p:nvGrpSpPr>
          <p:grpSpPr>
            <a:xfrm>
              <a:off x="2778058" y="1506423"/>
              <a:ext cx="3185676" cy="2751126"/>
              <a:chOff x="-38978" y="3109739"/>
              <a:chExt cx="3185676" cy="2751126"/>
            </a:xfrm>
          </p:grpSpPr>
          <p:grpSp>
            <p:nvGrpSpPr>
              <p:cNvPr id="1066" name="Group 1065">
                <a:extLst>
                  <a:ext uri="{FF2B5EF4-FFF2-40B4-BE49-F238E27FC236}">
                    <a16:creationId xmlns:a16="http://schemas.microsoft.com/office/drawing/2014/main" id="{21C2632A-0FFA-B2D2-0D1F-792BACA69169}"/>
                  </a:ext>
                </a:extLst>
              </p:cNvPr>
              <p:cNvGrpSpPr/>
              <p:nvPr/>
            </p:nvGrpSpPr>
            <p:grpSpPr>
              <a:xfrm>
                <a:off x="-6854" y="3334776"/>
                <a:ext cx="2127437" cy="2247088"/>
                <a:chOff x="116435" y="3126449"/>
                <a:chExt cx="2715023" cy="2247088"/>
              </a:xfrm>
            </p:grpSpPr>
            <p:grpSp>
              <p:nvGrpSpPr>
                <p:cNvPr id="3342" name="Group 3341">
                  <a:extLst>
                    <a:ext uri="{FF2B5EF4-FFF2-40B4-BE49-F238E27FC236}">
                      <a16:creationId xmlns:a16="http://schemas.microsoft.com/office/drawing/2014/main" id="{6648C848-EC2E-AB9B-9D48-AFC4280FA180}"/>
                    </a:ext>
                  </a:extLst>
                </p:cNvPr>
                <p:cNvGrpSpPr/>
                <p:nvPr/>
              </p:nvGrpSpPr>
              <p:grpSpPr>
                <a:xfrm>
                  <a:off x="116435" y="3126449"/>
                  <a:ext cx="2715023" cy="1934787"/>
                  <a:chOff x="51410" y="2224499"/>
                  <a:chExt cx="2715023" cy="1934787"/>
                </a:xfrm>
              </p:grpSpPr>
              <p:sp>
                <p:nvSpPr>
                  <p:cNvPr id="3346" name="TextBox 3345">
                    <a:extLst>
                      <a:ext uri="{FF2B5EF4-FFF2-40B4-BE49-F238E27FC236}">
                        <a16:creationId xmlns:a16="http://schemas.microsoft.com/office/drawing/2014/main" id="{0329F557-3770-8AE9-16B7-D988F528C8F1}"/>
                      </a:ext>
                    </a:extLst>
                  </p:cNvPr>
                  <p:cNvSpPr txBox="1"/>
                  <p:nvPr/>
                </p:nvSpPr>
                <p:spPr>
                  <a:xfrm>
                    <a:off x="51410" y="2451720"/>
                    <a:ext cx="2332582" cy="230832"/>
                  </a:xfrm>
                  <a:prstGeom prst="rect">
                    <a:avLst/>
                  </a:prstGeom>
                  <a:noFill/>
                </p:spPr>
                <p:txBody>
                  <a:bodyPr wrap="square" rtlCol="0">
                    <a:spAutoFit/>
                  </a:bodyPr>
                  <a:lstStyle/>
                  <a:p>
                    <a:r>
                      <a:rPr lang="en-US" sz="900" dirty="0"/>
                      <a:t>Coffee supplier</a:t>
                    </a:r>
                  </a:p>
                </p:txBody>
              </p:sp>
              <p:sp>
                <p:nvSpPr>
                  <p:cNvPr id="3347" name="TextBox 3346">
                    <a:extLst>
                      <a:ext uri="{FF2B5EF4-FFF2-40B4-BE49-F238E27FC236}">
                        <a16:creationId xmlns:a16="http://schemas.microsoft.com/office/drawing/2014/main" id="{88E43F00-9F9E-9787-ABA3-09EAE78978E3}"/>
                      </a:ext>
                    </a:extLst>
                  </p:cNvPr>
                  <p:cNvSpPr txBox="1"/>
                  <p:nvPr/>
                </p:nvSpPr>
                <p:spPr>
                  <a:xfrm>
                    <a:off x="79041" y="3110105"/>
                    <a:ext cx="1474650" cy="230832"/>
                  </a:xfrm>
                  <a:prstGeom prst="rect">
                    <a:avLst/>
                  </a:prstGeom>
                  <a:noFill/>
                </p:spPr>
                <p:txBody>
                  <a:bodyPr wrap="square" rtlCol="0">
                    <a:spAutoFit/>
                  </a:bodyPr>
                  <a:lstStyle/>
                  <a:p>
                    <a:r>
                      <a:rPr lang="en-US" sz="900" dirty="0"/>
                      <a:t>Warehouse ops </a:t>
                    </a:r>
                  </a:p>
                </p:txBody>
              </p:sp>
              <p:sp>
                <p:nvSpPr>
                  <p:cNvPr id="3348" name="TextBox 3347">
                    <a:extLst>
                      <a:ext uri="{FF2B5EF4-FFF2-40B4-BE49-F238E27FC236}">
                        <a16:creationId xmlns:a16="http://schemas.microsoft.com/office/drawing/2014/main" id="{3CA5F0FC-58FE-60F0-99E9-8129EE4EC0F3}"/>
                      </a:ext>
                    </a:extLst>
                  </p:cNvPr>
                  <p:cNvSpPr txBox="1"/>
                  <p:nvPr/>
                </p:nvSpPr>
                <p:spPr>
                  <a:xfrm>
                    <a:off x="54461" y="2224499"/>
                    <a:ext cx="2437293" cy="230832"/>
                  </a:xfrm>
                  <a:prstGeom prst="rect">
                    <a:avLst/>
                  </a:prstGeom>
                  <a:noFill/>
                </p:spPr>
                <p:txBody>
                  <a:bodyPr wrap="square" rtlCol="0">
                    <a:spAutoFit/>
                  </a:bodyPr>
                  <a:lstStyle/>
                  <a:p>
                    <a:r>
                      <a:rPr lang="en-US" sz="900" dirty="0"/>
                      <a:t>Manuf. of coffee bags</a:t>
                    </a:r>
                  </a:p>
                </p:txBody>
              </p:sp>
              <p:sp>
                <p:nvSpPr>
                  <p:cNvPr id="3349" name="TextBox 3348">
                    <a:extLst>
                      <a:ext uri="{FF2B5EF4-FFF2-40B4-BE49-F238E27FC236}">
                        <a16:creationId xmlns:a16="http://schemas.microsoft.com/office/drawing/2014/main" id="{40DD4406-18A9-FA84-8971-346EA91CEE6F}"/>
                      </a:ext>
                    </a:extLst>
                  </p:cNvPr>
                  <p:cNvSpPr txBox="1"/>
                  <p:nvPr/>
                </p:nvSpPr>
                <p:spPr>
                  <a:xfrm>
                    <a:off x="75940" y="3928454"/>
                    <a:ext cx="1188249" cy="230832"/>
                  </a:xfrm>
                  <a:prstGeom prst="rect">
                    <a:avLst/>
                  </a:prstGeom>
                  <a:noFill/>
                </p:spPr>
                <p:txBody>
                  <a:bodyPr wrap="square" rtlCol="0">
                    <a:spAutoFit/>
                  </a:bodyPr>
                  <a:lstStyle/>
                  <a:p>
                    <a:r>
                      <a:rPr lang="en-US" sz="900" dirty="0"/>
                      <a:t>Ship to N.Y. harbor</a:t>
                    </a:r>
                    <a:endParaRPr lang="en-US" sz="900" b="1" dirty="0"/>
                  </a:p>
                </p:txBody>
              </p:sp>
              <p:sp>
                <p:nvSpPr>
                  <p:cNvPr id="3350" name="TextBox 3349">
                    <a:extLst>
                      <a:ext uri="{FF2B5EF4-FFF2-40B4-BE49-F238E27FC236}">
                        <a16:creationId xmlns:a16="http://schemas.microsoft.com/office/drawing/2014/main" id="{BA041B5E-7F29-CC7E-7924-8C438ED903E3}"/>
                      </a:ext>
                    </a:extLst>
                  </p:cNvPr>
                  <p:cNvSpPr txBox="1"/>
                  <p:nvPr/>
                </p:nvSpPr>
                <p:spPr>
                  <a:xfrm>
                    <a:off x="77138" y="3471090"/>
                    <a:ext cx="1817504" cy="230832"/>
                  </a:xfrm>
                  <a:prstGeom prst="rect">
                    <a:avLst/>
                  </a:prstGeom>
                  <a:noFill/>
                </p:spPr>
                <p:txBody>
                  <a:bodyPr wrap="square" rtlCol="0">
                    <a:spAutoFit/>
                  </a:bodyPr>
                  <a:lstStyle/>
                  <a:p>
                    <a:r>
                      <a:rPr lang="en-US" sz="900" dirty="0"/>
                      <a:t>Coffee bag loading on ship</a:t>
                    </a:r>
                  </a:p>
                </p:txBody>
              </p:sp>
              <p:sp>
                <p:nvSpPr>
                  <p:cNvPr id="3351" name="TextBox 3350">
                    <a:extLst>
                      <a:ext uri="{FF2B5EF4-FFF2-40B4-BE49-F238E27FC236}">
                        <a16:creationId xmlns:a16="http://schemas.microsoft.com/office/drawing/2014/main" id="{C4D844F2-95A2-CF44-E917-6A43316AD75A}"/>
                      </a:ext>
                    </a:extLst>
                  </p:cNvPr>
                  <p:cNvSpPr txBox="1"/>
                  <p:nvPr/>
                </p:nvSpPr>
                <p:spPr>
                  <a:xfrm>
                    <a:off x="67300" y="2650383"/>
                    <a:ext cx="2699133" cy="507831"/>
                  </a:xfrm>
                  <a:prstGeom prst="rect">
                    <a:avLst/>
                  </a:prstGeom>
                  <a:noFill/>
                </p:spPr>
                <p:txBody>
                  <a:bodyPr wrap="square" rtlCol="0">
                    <a:spAutoFit/>
                  </a:bodyPr>
                  <a:lstStyle/>
                  <a:p>
                    <a:r>
                      <a:rPr lang="en-US" sz="900" dirty="0"/>
                      <a:t>Trucking to Warehouse</a:t>
                    </a:r>
                  </a:p>
                  <a:p>
                    <a:r>
                      <a:rPr lang="en-US" sz="900" dirty="0"/>
                      <a:t>    - Freight Co. #2</a:t>
                    </a:r>
                  </a:p>
                  <a:p>
                    <a:r>
                      <a:rPr lang="en-US" sz="900" dirty="0"/>
                      <a:t>    - unloading</a:t>
                    </a:r>
                  </a:p>
                </p:txBody>
              </p:sp>
              <p:sp>
                <p:nvSpPr>
                  <p:cNvPr id="3352" name="TextBox 3351">
                    <a:extLst>
                      <a:ext uri="{FF2B5EF4-FFF2-40B4-BE49-F238E27FC236}">
                        <a16:creationId xmlns:a16="http://schemas.microsoft.com/office/drawing/2014/main" id="{55BBD7BC-AF3E-7F53-F734-8DF7366B4C6F}"/>
                      </a:ext>
                    </a:extLst>
                  </p:cNvPr>
                  <p:cNvSpPr txBox="1"/>
                  <p:nvPr/>
                </p:nvSpPr>
                <p:spPr>
                  <a:xfrm>
                    <a:off x="229459" y="3248043"/>
                    <a:ext cx="1207402" cy="230832"/>
                  </a:xfrm>
                  <a:prstGeom prst="rect">
                    <a:avLst/>
                  </a:prstGeom>
                  <a:noFill/>
                </p:spPr>
                <p:txBody>
                  <a:bodyPr wrap="square" rtlCol="0">
                    <a:spAutoFit/>
                  </a:bodyPr>
                  <a:lstStyle/>
                  <a:p>
                    <a:r>
                      <a:rPr lang="en-US" sz="900" dirty="0"/>
                      <a:t>- Heating / cooling </a:t>
                    </a:r>
                  </a:p>
                </p:txBody>
              </p:sp>
              <p:sp>
                <p:nvSpPr>
                  <p:cNvPr id="3353" name="TextBox 3352">
                    <a:extLst>
                      <a:ext uri="{FF2B5EF4-FFF2-40B4-BE49-F238E27FC236}">
                        <a16:creationId xmlns:a16="http://schemas.microsoft.com/office/drawing/2014/main" id="{8BF5AB90-3442-7207-01CC-EBE342E23A52}"/>
                      </a:ext>
                    </a:extLst>
                  </p:cNvPr>
                  <p:cNvSpPr txBox="1"/>
                  <p:nvPr/>
                </p:nvSpPr>
                <p:spPr>
                  <a:xfrm>
                    <a:off x="238386" y="3597949"/>
                    <a:ext cx="1299044" cy="230832"/>
                  </a:xfrm>
                  <a:prstGeom prst="rect">
                    <a:avLst/>
                  </a:prstGeom>
                  <a:noFill/>
                </p:spPr>
                <p:txBody>
                  <a:bodyPr wrap="square" rtlCol="0">
                    <a:spAutoFit/>
                  </a:bodyPr>
                  <a:lstStyle/>
                  <a:p>
                    <a:r>
                      <a:rPr lang="en-US" sz="900" dirty="0"/>
                      <a:t>- forklift ops </a:t>
                    </a:r>
                  </a:p>
                </p:txBody>
              </p:sp>
              <p:sp>
                <p:nvSpPr>
                  <p:cNvPr id="3354" name="TextBox 3353">
                    <a:extLst>
                      <a:ext uri="{FF2B5EF4-FFF2-40B4-BE49-F238E27FC236}">
                        <a16:creationId xmlns:a16="http://schemas.microsoft.com/office/drawing/2014/main" id="{FAB88DDF-C154-442A-C59D-67068D2FF907}"/>
                      </a:ext>
                    </a:extLst>
                  </p:cNvPr>
                  <p:cNvSpPr txBox="1"/>
                  <p:nvPr/>
                </p:nvSpPr>
                <p:spPr>
                  <a:xfrm>
                    <a:off x="237331" y="3712552"/>
                    <a:ext cx="1271812" cy="230832"/>
                  </a:xfrm>
                  <a:prstGeom prst="rect">
                    <a:avLst/>
                  </a:prstGeom>
                  <a:noFill/>
                </p:spPr>
                <p:txBody>
                  <a:bodyPr wrap="square" rtlCol="0">
                    <a:spAutoFit/>
                  </a:bodyPr>
                  <a:lstStyle/>
                  <a:p>
                    <a:r>
                      <a:rPr lang="en-US" sz="900" dirty="0"/>
                      <a:t>- cranes for loading </a:t>
                    </a:r>
                  </a:p>
                </p:txBody>
              </p:sp>
            </p:grpSp>
            <p:sp>
              <p:nvSpPr>
                <p:cNvPr id="3345" name="TextBox 3344">
                  <a:extLst>
                    <a:ext uri="{FF2B5EF4-FFF2-40B4-BE49-F238E27FC236}">
                      <a16:creationId xmlns:a16="http://schemas.microsoft.com/office/drawing/2014/main" id="{A0E073D0-B4B5-9BA2-C518-268FBC81A086}"/>
                    </a:ext>
                  </a:extLst>
                </p:cNvPr>
                <p:cNvSpPr txBox="1"/>
                <p:nvPr/>
              </p:nvSpPr>
              <p:spPr>
                <a:xfrm>
                  <a:off x="130856" y="5142705"/>
                  <a:ext cx="1473562" cy="230832"/>
                </a:xfrm>
                <a:prstGeom prst="rect">
                  <a:avLst/>
                </a:prstGeom>
                <a:noFill/>
              </p:spPr>
              <p:txBody>
                <a:bodyPr wrap="square" rtlCol="0">
                  <a:spAutoFit/>
                </a:bodyPr>
                <a:lstStyle/>
                <a:p>
                  <a:r>
                    <a:rPr lang="en-US" sz="900" b="1" dirty="0"/>
                    <a:t>Purchase GHG credits</a:t>
                  </a:r>
                </a:p>
              </p:txBody>
            </p:sp>
          </p:grpSp>
          <p:grpSp>
            <p:nvGrpSpPr>
              <p:cNvPr id="1067" name="Group 1066">
                <a:extLst>
                  <a:ext uri="{FF2B5EF4-FFF2-40B4-BE49-F238E27FC236}">
                    <a16:creationId xmlns:a16="http://schemas.microsoft.com/office/drawing/2014/main" id="{88C5F7C6-DDED-DBC2-0A4E-06289CC3498B}"/>
                  </a:ext>
                </a:extLst>
              </p:cNvPr>
              <p:cNvGrpSpPr/>
              <p:nvPr/>
            </p:nvGrpSpPr>
            <p:grpSpPr>
              <a:xfrm>
                <a:off x="904260" y="3307083"/>
                <a:ext cx="538530" cy="2553782"/>
                <a:chOff x="1047209" y="2801604"/>
                <a:chExt cx="779682" cy="2553782"/>
              </a:xfrm>
            </p:grpSpPr>
            <p:sp>
              <p:nvSpPr>
                <p:cNvPr id="1070" name="TextBox 1069">
                  <a:extLst>
                    <a:ext uri="{FF2B5EF4-FFF2-40B4-BE49-F238E27FC236}">
                      <a16:creationId xmlns:a16="http://schemas.microsoft.com/office/drawing/2014/main" id="{55CAFB88-96D4-14E2-1844-BF6B29ABB189}"/>
                    </a:ext>
                  </a:extLst>
                </p:cNvPr>
                <p:cNvSpPr txBox="1"/>
                <p:nvPr/>
              </p:nvSpPr>
              <p:spPr>
                <a:xfrm>
                  <a:off x="1369305" y="3805049"/>
                  <a:ext cx="445200" cy="230832"/>
                </a:xfrm>
                <a:prstGeom prst="rect">
                  <a:avLst/>
                </a:prstGeom>
                <a:solidFill>
                  <a:srgbClr val="008000"/>
                </a:solidFill>
              </p:spPr>
              <p:txBody>
                <a:bodyPr wrap="square" rtlCol="0">
                  <a:spAutoFit/>
                </a:bodyPr>
                <a:lstStyle/>
                <a:p>
                  <a:pPr algn="r"/>
                  <a:r>
                    <a:rPr lang="en-US" sz="900" b="1" dirty="0">
                      <a:solidFill>
                        <a:schemeClr val="bg1"/>
                      </a:solidFill>
                    </a:rPr>
                    <a:t>.09</a:t>
                  </a:r>
                </a:p>
              </p:txBody>
            </p:sp>
            <p:sp>
              <p:nvSpPr>
                <p:cNvPr id="1071" name="TextBox 1070">
                  <a:extLst>
                    <a:ext uri="{FF2B5EF4-FFF2-40B4-BE49-F238E27FC236}">
                      <a16:creationId xmlns:a16="http://schemas.microsoft.com/office/drawing/2014/main" id="{B3AC2759-F301-3574-D705-31EA02052AC4}"/>
                    </a:ext>
                  </a:extLst>
                </p:cNvPr>
                <p:cNvSpPr txBox="1"/>
                <p:nvPr/>
              </p:nvSpPr>
              <p:spPr>
                <a:xfrm>
                  <a:off x="1345260" y="4308522"/>
                  <a:ext cx="478202" cy="230832"/>
                </a:xfrm>
                <a:prstGeom prst="rect">
                  <a:avLst/>
                </a:prstGeom>
                <a:noFill/>
              </p:spPr>
              <p:txBody>
                <a:bodyPr wrap="square" rtlCol="0">
                  <a:spAutoFit/>
                </a:bodyPr>
                <a:lstStyle/>
                <a:p>
                  <a:pPr algn="r"/>
                  <a:r>
                    <a:rPr lang="en-US" sz="900" b="1" dirty="0"/>
                    <a:t>4.4</a:t>
                  </a:r>
                </a:p>
              </p:txBody>
            </p:sp>
            <p:sp>
              <p:nvSpPr>
                <p:cNvPr id="3265" name="TextBox 3264">
                  <a:extLst>
                    <a:ext uri="{FF2B5EF4-FFF2-40B4-BE49-F238E27FC236}">
                      <a16:creationId xmlns:a16="http://schemas.microsoft.com/office/drawing/2014/main" id="{BD9C191B-9100-9D07-76A3-58798D97FC65}"/>
                    </a:ext>
                  </a:extLst>
                </p:cNvPr>
                <p:cNvSpPr txBox="1"/>
                <p:nvPr/>
              </p:nvSpPr>
              <p:spPr>
                <a:xfrm>
                  <a:off x="1309572" y="4197434"/>
                  <a:ext cx="514383" cy="230832"/>
                </a:xfrm>
                <a:prstGeom prst="rect">
                  <a:avLst/>
                </a:prstGeom>
                <a:noFill/>
              </p:spPr>
              <p:txBody>
                <a:bodyPr wrap="square" rtlCol="0">
                  <a:spAutoFit/>
                </a:bodyPr>
                <a:lstStyle/>
                <a:p>
                  <a:pPr algn="r"/>
                  <a:r>
                    <a:rPr lang="en-US" sz="900" b="1" dirty="0"/>
                    <a:t>2.4</a:t>
                  </a:r>
                </a:p>
              </p:txBody>
            </p:sp>
            <p:sp>
              <p:nvSpPr>
                <p:cNvPr id="3266" name="TextBox 3265">
                  <a:extLst>
                    <a:ext uri="{FF2B5EF4-FFF2-40B4-BE49-F238E27FC236}">
                      <a16:creationId xmlns:a16="http://schemas.microsoft.com/office/drawing/2014/main" id="{57E1F314-4856-8C3F-6E6F-42E94B7A50DF}"/>
                    </a:ext>
                  </a:extLst>
                </p:cNvPr>
                <p:cNvSpPr txBox="1"/>
                <p:nvPr/>
              </p:nvSpPr>
              <p:spPr>
                <a:xfrm>
                  <a:off x="1370030" y="4838957"/>
                  <a:ext cx="449639" cy="230832"/>
                </a:xfrm>
                <a:prstGeom prst="rect">
                  <a:avLst/>
                </a:prstGeom>
                <a:noFill/>
              </p:spPr>
              <p:txBody>
                <a:bodyPr wrap="square" rtlCol="0">
                  <a:spAutoFit/>
                </a:bodyPr>
                <a:lstStyle/>
                <a:p>
                  <a:pPr algn="r"/>
                  <a:r>
                    <a:rPr lang="en-US" sz="900" b="1" dirty="0"/>
                    <a:t>0.0</a:t>
                  </a:r>
                </a:p>
              </p:txBody>
            </p:sp>
            <p:sp>
              <p:nvSpPr>
                <p:cNvPr id="3308" name="TextBox 3307">
                  <a:extLst>
                    <a:ext uri="{FF2B5EF4-FFF2-40B4-BE49-F238E27FC236}">
                      <a16:creationId xmlns:a16="http://schemas.microsoft.com/office/drawing/2014/main" id="{A4196154-05DA-1DF8-C2D2-BE47A6E140CC}"/>
                    </a:ext>
                  </a:extLst>
                </p:cNvPr>
                <p:cNvSpPr txBox="1"/>
                <p:nvPr/>
              </p:nvSpPr>
              <p:spPr>
                <a:xfrm>
                  <a:off x="1324692" y="4524777"/>
                  <a:ext cx="494889" cy="230832"/>
                </a:xfrm>
                <a:prstGeom prst="rect">
                  <a:avLst/>
                </a:prstGeom>
                <a:noFill/>
              </p:spPr>
              <p:txBody>
                <a:bodyPr wrap="square" rtlCol="0">
                  <a:spAutoFit/>
                </a:bodyPr>
                <a:lstStyle/>
                <a:p>
                  <a:pPr algn="r"/>
                  <a:r>
                    <a:rPr lang="en-US" sz="900" b="1" dirty="0"/>
                    <a:t>1.9</a:t>
                  </a:r>
                </a:p>
              </p:txBody>
            </p:sp>
            <p:sp>
              <p:nvSpPr>
                <p:cNvPr id="3336" name="TextBox 3335">
                  <a:extLst>
                    <a:ext uri="{FF2B5EF4-FFF2-40B4-BE49-F238E27FC236}">
                      <a16:creationId xmlns:a16="http://schemas.microsoft.com/office/drawing/2014/main" id="{4454F181-6C1F-3C8F-7838-63312B8C0271}"/>
                    </a:ext>
                  </a:extLst>
                </p:cNvPr>
                <p:cNvSpPr txBox="1"/>
                <p:nvPr/>
              </p:nvSpPr>
              <p:spPr>
                <a:xfrm>
                  <a:off x="1241094" y="5124554"/>
                  <a:ext cx="585797" cy="230832"/>
                </a:xfrm>
                <a:prstGeom prst="rect">
                  <a:avLst/>
                </a:prstGeom>
                <a:solidFill>
                  <a:srgbClr val="008000"/>
                </a:solidFill>
              </p:spPr>
              <p:txBody>
                <a:bodyPr wrap="square" rtlCol="0">
                  <a:spAutoFit/>
                </a:bodyPr>
                <a:lstStyle/>
                <a:p>
                  <a:pPr algn="r"/>
                  <a:r>
                    <a:rPr lang="en-US" sz="900" b="1" dirty="0">
                      <a:solidFill>
                        <a:schemeClr val="bg1"/>
                      </a:solidFill>
                    </a:rPr>
                    <a:t>89.7</a:t>
                  </a:r>
                </a:p>
              </p:txBody>
            </p:sp>
            <p:sp>
              <p:nvSpPr>
                <p:cNvPr id="3339" name="TextBox 3338">
                  <a:extLst>
                    <a:ext uri="{FF2B5EF4-FFF2-40B4-BE49-F238E27FC236}">
                      <a16:creationId xmlns:a16="http://schemas.microsoft.com/office/drawing/2014/main" id="{A700A8CD-7349-EA3A-F6D5-3F39DCB846EB}"/>
                    </a:ext>
                  </a:extLst>
                </p:cNvPr>
                <p:cNvSpPr txBox="1"/>
                <p:nvPr/>
              </p:nvSpPr>
              <p:spPr>
                <a:xfrm>
                  <a:off x="1047209" y="3041501"/>
                  <a:ext cx="758831" cy="230832"/>
                </a:xfrm>
                <a:prstGeom prst="rect">
                  <a:avLst/>
                </a:prstGeom>
                <a:noFill/>
              </p:spPr>
              <p:txBody>
                <a:bodyPr wrap="square" rtlCol="0">
                  <a:spAutoFit/>
                </a:bodyPr>
                <a:lstStyle/>
                <a:p>
                  <a:pPr algn="r"/>
                  <a:r>
                    <a:rPr lang="en-US" sz="900" b="1" dirty="0">
                      <a:solidFill>
                        <a:schemeClr val="bg1"/>
                      </a:solidFill>
                      <a:highlight>
                        <a:srgbClr val="008000"/>
                      </a:highlight>
                    </a:rPr>
                    <a:t>77.9</a:t>
                  </a:r>
                </a:p>
              </p:txBody>
            </p:sp>
            <p:sp>
              <p:nvSpPr>
                <p:cNvPr id="3340" name="TextBox 3339">
                  <a:extLst>
                    <a:ext uri="{FF2B5EF4-FFF2-40B4-BE49-F238E27FC236}">
                      <a16:creationId xmlns:a16="http://schemas.microsoft.com/office/drawing/2014/main" id="{E59B1216-00CE-CACD-104B-5F9C8072666A}"/>
                    </a:ext>
                  </a:extLst>
                </p:cNvPr>
                <p:cNvSpPr txBox="1"/>
                <p:nvPr/>
              </p:nvSpPr>
              <p:spPr>
                <a:xfrm>
                  <a:off x="1333358" y="3354215"/>
                  <a:ext cx="439931" cy="369332"/>
                </a:xfrm>
                <a:prstGeom prst="rect">
                  <a:avLst/>
                </a:prstGeom>
                <a:solidFill>
                  <a:srgbClr val="008000"/>
                </a:solidFill>
              </p:spPr>
              <p:txBody>
                <a:bodyPr wrap="square" rtlCol="0">
                  <a:spAutoFit/>
                </a:bodyPr>
                <a:lstStyle/>
                <a:p>
                  <a:r>
                    <a:rPr lang="en-US" sz="900" b="1" dirty="0">
                      <a:solidFill>
                        <a:schemeClr val="bg1"/>
                      </a:solidFill>
                    </a:rPr>
                    <a:t>2.2</a:t>
                  </a:r>
                </a:p>
                <a:p>
                  <a:r>
                    <a:rPr lang="en-US" sz="900" b="1" dirty="0">
                      <a:solidFill>
                        <a:schemeClr val="bg1"/>
                      </a:solidFill>
                    </a:rPr>
                    <a:t>.66</a:t>
                  </a:r>
                </a:p>
              </p:txBody>
            </p:sp>
            <p:sp>
              <p:nvSpPr>
                <p:cNvPr id="3341" name="TextBox 3340">
                  <a:extLst>
                    <a:ext uri="{FF2B5EF4-FFF2-40B4-BE49-F238E27FC236}">
                      <a16:creationId xmlns:a16="http://schemas.microsoft.com/office/drawing/2014/main" id="{8FA2CF91-E534-682C-F6F7-28B3434B0838}"/>
                    </a:ext>
                  </a:extLst>
                </p:cNvPr>
                <p:cNvSpPr txBox="1"/>
                <p:nvPr/>
              </p:nvSpPr>
              <p:spPr>
                <a:xfrm>
                  <a:off x="1379989" y="2801604"/>
                  <a:ext cx="428680" cy="230832"/>
                </a:xfrm>
                <a:prstGeom prst="rect">
                  <a:avLst/>
                </a:prstGeom>
                <a:solidFill>
                  <a:srgbClr val="008000"/>
                </a:solidFill>
              </p:spPr>
              <p:txBody>
                <a:bodyPr wrap="square" rtlCol="0">
                  <a:spAutoFit/>
                </a:bodyPr>
                <a:lstStyle/>
                <a:p>
                  <a:pPr algn="r"/>
                  <a:r>
                    <a:rPr lang="en-US" sz="900" b="1" dirty="0">
                      <a:solidFill>
                        <a:schemeClr val="bg1"/>
                      </a:solidFill>
                    </a:rPr>
                    <a:t>.13</a:t>
                  </a:r>
                </a:p>
              </p:txBody>
            </p:sp>
          </p:grpSp>
          <p:cxnSp>
            <p:nvCxnSpPr>
              <p:cNvPr id="1068" name="Straight Connector 1067">
                <a:extLst>
                  <a:ext uri="{FF2B5EF4-FFF2-40B4-BE49-F238E27FC236}">
                    <a16:creationId xmlns:a16="http://schemas.microsoft.com/office/drawing/2014/main" id="{85B688EE-319A-924A-AF9D-F7C497A9D1F9}"/>
                  </a:ext>
                </a:extLst>
              </p:cNvPr>
              <p:cNvCxnSpPr>
                <a:cxnSpLocks/>
              </p:cNvCxnSpPr>
              <p:nvPr/>
            </p:nvCxnSpPr>
            <p:spPr>
              <a:xfrm flipV="1">
                <a:off x="25494" y="3756871"/>
                <a:ext cx="1347348" cy="6817"/>
              </a:xfrm>
              <a:prstGeom prst="line">
                <a:avLst/>
              </a:prstGeom>
            </p:spPr>
            <p:style>
              <a:lnRef idx="1">
                <a:schemeClr val="accent1"/>
              </a:lnRef>
              <a:fillRef idx="0">
                <a:schemeClr val="accent1"/>
              </a:fillRef>
              <a:effectRef idx="0">
                <a:schemeClr val="accent1"/>
              </a:effectRef>
              <a:fontRef idx="minor">
                <a:schemeClr val="tx1"/>
              </a:fontRef>
            </p:style>
          </p:cxnSp>
          <p:sp>
            <p:nvSpPr>
              <p:cNvPr id="1069" name="TextBox 1068">
                <a:extLst>
                  <a:ext uri="{FF2B5EF4-FFF2-40B4-BE49-F238E27FC236}">
                    <a16:creationId xmlns:a16="http://schemas.microsoft.com/office/drawing/2014/main" id="{1D376F18-0BA5-D120-7BD5-C86A53ECD1D9}"/>
                  </a:ext>
                </a:extLst>
              </p:cNvPr>
              <p:cNvSpPr txBox="1"/>
              <p:nvPr/>
            </p:nvSpPr>
            <p:spPr>
              <a:xfrm>
                <a:off x="-38978" y="3109739"/>
                <a:ext cx="3185676" cy="230832"/>
              </a:xfrm>
              <a:prstGeom prst="rect">
                <a:avLst/>
              </a:prstGeom>
              <a:noFill/>
            </p:spPr>
            <p:txBody>
              <a:bodyPr wrap="square" rtlCol="0">
                <a:spAutoFit/>
              </a:bodyPr>
              <a:lstStyle/>
              <a:p>
                <a:r>
                  <a:rPr lang="en-US" sz="900" b="1" dirty="0"/>
                  <a:t>Model Results </a:t>
                </a:r>
                <a:r>
                  <a:rPr lang="en-US" sz="900" dirty="0">
                    <a:solidFill>
                      <a:srgbClr val="FF0000"/>
                    </a:solidFill>
                  </a:rPr>
                  <a:t>(tons of CO2e) </a:t>
                </a:r>
              </a:p>
            </p:txBody>
          </p:sp>
        </p:grpSp>
        <p:sp>
          <p:nvSpPr>
            <p:cNvPr id="1065" name="TextBox 1064">
              <a:extLst>
                <a:ext uri="{FF2B5EF4-FFF2-40B4-BE49-F238E27FC236}">
                  <a16:creationId xmlns:a16="http://schemas.microsoft.com/office/drawing/2014/main" id="{35998647-BF15-E2B9-D8F2-217FCBE9364C}"/>
                </a:ext>
              </a:extLst>
            </p:cNvPr>
            <p:cNvSpPr txBox="1"/>
            <p:nvPr/>
          </p:nvSpPr>
          <p:spPr>
            <a:xfrm>
              <a:off x="2834345" y="4005317"/>
              <a:ext cx="668822" cy="230832"/>
            </a:xfrm>
            <a:prstGeom prst="rect">
              <a:avLst/>
            </a:prstGeom>
            <a:noFill/>
          </p:spPr>
          <p:txBody>
            <a:bodyPr wrap="square" rtlCol="0">
              <a:spAutoFit/>
            </a:bodyPr>
            <a:lstStyle/>
            <a:p>
              <a:r>
                <a:rPr lang="en-US" sz="900" b="1" dirty="0"/>
                <a:t>Total</a:t>
              </a:r>
            </a:p>
          </p:txBody>
        </p:sp>
      </p:grpSp>
      <p:grpSp>
        <p:nvGrpSpPr>
          <p:cNvPr id="3359" name="Group 3358">
            <a:extLst>
              <a:ext uri="{FF2B5EF4-FFF2-40B4-BE49-F238E27FC236}">
                <a16:creationId xmlns:a16="http://schemas.microsoft.com/office/drawing/2014/main" id="{87092419-F2AD-FBC1-3516-844355BB3613}"/>
              </a:ext>
            </a:extLst>
          </p:cNvPr>
          <p:cNvGrpSpPr/>
          <p:nvPr/>
        </p:nvGrpSpPr>
        <p:grpSpPr>
          <a:xfrm>
            <a:off x="3243041" y="2871676"/>
            <a:ext cx="1648967" cy="2017020"/>
            <a:chOff x="217180" y="2912518"/>
            <a:chExt cx="1648967" cy="2017020"/>
          </a:xfrm>
        </p:grpSpPr>
        <p:cxnSp>
          <p:nvCxnSpPr>
            <p:cNvPr id="3361" name="Straight Connector 3360">
              <a:extLst>
                <a:ext uri="{FF2B5EF4-FFF2-40B4-BE49-F238E27FC236}">
                  <a16:creationId xmlns:a16="http://schemas.microsoft.com/office/drawing/2014/main" id="{23E55D69-B65F-924A-E209-5B9428C0653D}"/>
                </a:ext>
              </a:extLst>
            </p:cNvPr>
            <p:cNvCxnSpPr>
              <a:cxnSpLocks/>
            </p:cNvCxnSpPr>
            <p:nvPr/>
          </p:nvCxnSpPr>
          <p:spPr>
            <a:xfrm flipV="1">
              <a:off x="217180" y="2912518"/>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62" name="Straight Connector 3361">
              <a:extLst>
                <a:ext uri="{FF2B5EF4-FFF2-40B4-BE49-F238E27FC236}">
                  <a16:creationId xmlns:a16="http://schemas.microsoft.com/office/drawing/2014/main" id="{9A58CA19-AE23-8825-E9FE-CC173B1834B1}"/>
                </a:ext>
              </a:extLst>
            </p:cNvPr>
            <p:cNvCxnSpPr>
              <a:cxnSpLocks/>
            </p:cNvCxnSpPr>
            <p:nvPr/>
          </p:nvCxnSpPr>
          <p:spPr>
            <a:xfrm flipV="1">
              <a:off x="236149" y="3572406"/>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63" name="Straight Connector 3362">
              <a:extLst>
                <a:ext uri="{FF2B5EF4-FFF2-40B4-BE49-F238E27FC236}">
                  <a16:creationId xmlns:a16="http://schemas.microsoft.com/office/drawing/2014/main" id="{52CD9461-1721-3EE4-840E-79CE8A5909E8}"/>
                </a:ext>
              </a:extLst>
            </p:cNvPr>
            <p:cNvCxnSpPr>
              <a:cxnSpLocks/>
            </p:cNvCxnSpPr>
            <p:nvPr/>
          </p:nvCxnSpPr>
          <p:spPr>
            <a:xfrm flipV="1">
              <a:off x="236149" y="3896465"/>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64" name="Straight Connector 3363">
              <a:extLst>
                <a:ext uri="{FF2B5EF4-FFF2-40B4-BE49-F238E27FC236}">
                  <a16:creationId xmlns:a16="http://schemas.microsoft.com/office/drawing/2014/main" id="{71671360-52FF-2839-A1AA-A92D7A0DD375}"/>
                </a:ext>
              </a:extLst>
            </p:cNvPr>
            <p:cNvCxnSpPr>
              <a:cxnSpLocks/>
            </p:cNvCxnSpPr>
            <p:nvPr/>
          </p:nvCxnSpPr>
          <p:spPr>
            <a:xfrm flipV="1">
              <a:off x="260113" y="4370941"/>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65" name="Straight Connector 3364">
              <a:extLst>
                <a:ext uri="{FF2B5EF4-FFF2-40B4-BE49-F238E27FC236}">
                  <a16:creationId xmlns:a16="http://schemas.microsoft.com/office/drawing/2014/main" id="{0FAED2A8-AAFA-D621-8FF3-4512FF223814}"/>
                </a:ext>
              </a:extLst>
            </p:cNvPr>
            <p:cNvCxnSpPr>
              <a:cxnSpLocks/>
            </p:cNvCxnSpPr>
            <p:nvPr/>
          </p:nvCxnSpPr>
          <p:spPr>
            <a:xfrm flipV="1">
              <a:off x="267517" y="4619593"/>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66" name="Straight Connector 3365">
              <a:extLst>
                <a:ext uri="{FF2B5EF4-FFF2-40B4-BE49-F238E27FC236}">
                  <a16:creationId xmlns:a16="http://schemas.microsoft.com/office/drawing/2014/main" id="{79C8FE7D-D346-8BEC-FF51-20E594BAAE38}"/>
                </a:ext>
              </a:extLst>
            </p:cNvPr>
            <p:cNvCxnSpPr>
              <a:cxnSpLocks/>
            </p:cNvCxnSpPr>
            <p:nvPr/>
          </p:nvCxnSpPr>
          <p:spPr>
            <a:xfrm flipV="1">
              <a:off x="280955" y="4922721"/>
              <a:ext cx="1585192" cy="6817"/>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367" name="Straight Connector 3366">
            <a:extLst>
              <a:ext uri="{FF2B5EF4-FFF2-40B4-BE49-F238E27FC236}">
                <a16:creationId xmlns:a16="http://schemas.microsoft.com/office/drawing/2014/main" id="{5C589670-5710-8BC3-2F20-113E2E8324FA}"/>
              </a:ext>
            </a:extLst>
          </p:cNvPr>
          <p:cNvCxnSpPr>
            <a:cxnSpLocks/>
          </p:cNvCxnSpPr>
          <p:nvPr/>
        </p:nvCxnSpPr>
        <p:spPr>
          <a:xfrm flipV="1">
            <a:off x="3244301" y="2641255"/>
            <a:ext cx="1585191" cy="6817"/>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3377" name="Group 3376">
            <a:extLst>
              <a:ext uri="{FF2B5EF4-FFF2-40B4-BE49-F238E27FC236}">
                <a16:creationId xmlns:a16="http://schemas.microsoft.com/office/drawing/2014/main" id="{B37D3EF2-9E20-073A-3E75-792014E8228E}"/>
              </a:ext>
            </a:extLst>
          </p:cNvPr>
          <p:cNvGrpSpPr/>
          <p:nvPr/>
        </p:nvGrpSpPr>
        <p:grpSpPr>
          <a:xfrm>
            <a:off x="6000592" y="2896239"/>
            <a:ext cx="1650348" cy="2017020"/>
            <a:chOff x="215799" y="2912518"/>
            <a:chExt cx="1650348" cy="2017020"/>
          </a:xfrm>
        </p:grpSpPr>
        <p:cxnSp>
          <p:nvCxnSpPr>
            <p:cNvPr id="3378" name="Straight Connector 3377">
              <a:extLst>
                <a:ext uri="{FF2B5EF4-FFF2-40B4-BE49-F238E27FC236}">
                  <a16:creationId xmlns:a16="http://schemas.microsoft.com/office/drawing/2014/main" id="{8BDC4D1E-58C8-0F20-4107-739FD901852D}"/>
                </a:ext>
              </a:extLst>
            </p:cNvPr>
            <p:cNvCxnSpPr>
              <a:cxnSpLocks/>
            </p:cNvCxnSpPr>
            <p:nvPr/>
          </p:nvCxnSpPr>
          <p:spPr>
            <a:xfrm flipV="1">
              <a:off x="215799" y="3095357"/>
              <a:ext cx="1585191"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79" name="Straight Connector 3378">
              <a:extLst>
                <a:ext uri="{FF2B5EF4-FFF2-40B4-BE49-F238E27FC236}">
                  <a16:creationId xmlns:a16="http://schemas.microsoft.com/office/drawing/2014/main" id="{B4482555-8B9F-0AFC-87E4-59F7EAE86303}"/>
                </a:ext>
              </a:extLst>
            </p:cNvPr>
            <p:cNvCxnSpPr>
              <a:cxnSpLocks/>
            </p:cNvCxnSpPr>
            <p:nvPr/>
          </p:nvCxnSpPr>
          <p:spPr>
            <a:xfrm flipV="1">
              <a:off x="217180" y="2912518"/>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80" name="Straight Connector 3379">
              <a:extLst>
                <a:ext uri="{FF2B5EF4-FFF2-40B4-BE49-F238E27FC236}">
                  <a16:creationId xmlns:a16="http://schemas.microsoft.com/office/drawing/2014/main" id="{16FA9580-9117-3648-D0F4-5EA086A522D5}"/>
                </a:ext>
              </a:extLst>
            </p:cNvPr>
            <p:cNvCxnSpPr>
              <a:cxnSpLocks/>
            </p:cNvCxnSpPr>
            <p:nvPr/>
          </p:nvCxnSpPr>
          <p:spPr>
            <a:xfrm flipV="1">
              <a:off x="236149" y="3572406"/>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81" name="Straight Connector 3380">
              <a:extLst>
                <a:ext uri="{FF2B5EF4-FFF2-40B4-BE49-F238E27FC236}">
                  <a16:creationId xmlns:a16="http://schemas.microsoft.com/office/drawing/2014/main" id="{4C2ABC47-B1EE-BA80-9EDC-219E2EDE8DBC}"/>
                </a:ext>
              </a:extLst>
            </p:cNvPr>
            <p:cNvCxnSpPr>
              <a:cxnSpLocks/>
            </p:cNvCxnSpPr>
            <p:nvPr/>
          </p:nvCxnSpPr>
          <p:spPr>
            <a:xfrm flipV="1">
              <a:off x="236149" y="3896465"/>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82" name="Straight Connector 3381">
              <a:extLst>
                <a:ext uri="{FF2B5EF4-FFF2-40B4-BE49-F238E27FC236}">
                  <a16:creationId xmlns:a16="http://schemas.microsoft.com/office/drawing/2014/main" id="{20CF5095-56D3-82C8-DF79-8D7E5056D041}"/>
                </a:ext>
              </a:extLst>
            </p:cNvPr>
            <p:cNvCxnSpPr>
              <a:cxnSpLocks/>
            </p:cNvCxnSpPr>
            <p:nvPr/>
          </p:nvCxnSpPr>
          <p:spPr>
            <a:xfrm flipV="1">
              <a:off x="260113" y="4370941"/>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83" name="Straight Connector 3382">
              <a:extLst>
                <a:ext uri="{FF2B5EF4-FFF2-40B4-BE49-F238E27FC236}">
                  <a16:creationId xmlns:a16="http://schemas.microsoft.com/office/drawing/2014/main" id="{6CA0FAF5-54FC-C2E9-3B41-82DF562B5992}"/>
                </a:ext>
              </a:extLst>
            </p:cNvPr>
            <p:cNvCxnSpPr>
              <a:cxnSpLocks/>
            </p:cNvCxnSpPr>
            <p:nvPr/>
          </p:nvCxnSpPr>
          <p:spPr>
            <a:xfrm flipV="1">
              <a:off x="267517" y="4619593"/>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84" name="Straight Connector 3383">
              <a:extLst>
                <a:ext uri="{FF2B5EF4-FFF2-40B4-BE49-F238E27FC236}">
                  <a16:creationId xmlns:a16="http://schemas.microsoft.com/office/drawing/2014/main" id="{A21C9B09-A1EF-A60A-3FF8-D6C859B81581}"/>
                </a:ext>
              </a:extLst>
            </p:cNvPr>
            <p:cNvCxnSpPr>
              <a:cxnSpLocks/>
            </p:cNvCxnSpPr>
            <p:nvPr/>
          </p:nvCxnSpPr>
          <p:spPr>
            <a:xfrm flipV="1">
              <a:off x="280955" y="4922721"/>
              <a:ext cx="1585192" cy="6817"/>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385" name="Straight Connector 3384">
            <a:extLst>
              <a:ext uri="{FF2B5EF4-FFF2-40B4-BE49-F238E27FC236}">
                <a16:creationId xmlns:a16="http://schemas.microsoft.com/office/drawing/2014/main" id="{54CED85D-4BA7-5EB8-406E-47975D1F8FFB}"/>
              </a:ext>
            </a:extLst>
          </p:cNvPr>
          <p:cNvCxnSpPr>
            <a:cxnSpLocks/>
          </p:cNvCxnSpPr>
          <p:nvPr/>
        </p:nvCxnSpPr>
        <p:spPr>
          <a:xfrm flipV="1">
            <a:off x="6020922" y="2627216"/>
            <a:ext cx="1585191" cy="6817"/>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055" name="Group 2054">
            <a:extLst>
              <a:ext uri="{FF2B5EF4-FFF2-40B4-BE49-F238E27FC236}">
                <a16:creationId xmlns:a16="http://schemas.microsoft.com/office/drawing/2014/main" id="{ECA57B32-8FE2-6955-0A2B-BA872764FE1C}"/>
              </a:ext>
            </a:extLst>
          </p:cNvPr>
          <p:cNvGrpSpPr/>
          <p:nvPr/>
        </p:nvGrpSpPr>
        <p:grpSpPr>
          <a:xfrm>
            <a:off x="9558044" y="2911140"/>
            <a:ext cx="1650348" cy="2017020"/>
            <a:chOff x="215799" y="2912518"/>
            <a:chExt cx="1650348" cy="2017020"/>
          </a:xfrm>
        </p:grpSpPr>
        <p:cxnSp>
          <p:nvCxnSpPr>
            <p:cNvPr id="2056" name="Straight Connector 2055">
              <a:extLst>
                <a:ext uri="{FF2B5EF4-FFF2-40B4-BE49-F238E27FC236}">
                  <a16:creationId xmlns:a16="http://schemas.microsoft.com/office/drawing/2014/main" id="{02BDB72B-B726-63F4-858F-A0606C8FA1B8}"/>
                </a:ext>
              </a:extLst>
            </p:cNvPr>
            <p:cNvCxnSpPr>
              <a:cxnSpLocks/>
            </p:cNvCxnSpPr>
            <p:nvPr/>
          </p:nvCxnSpPr>
          <p:spPr>
            <a:xfrm flipV="1">
              <a:off x="215799" y="3095357"/>
              <a:ext cx="1585191"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57" name="Straight Connector 2056">
              <a:extLst>
                <a:ext uri="{FF2B5EF4-FFF2-40B4-BE49-F238E27FC236}">
                  <a16:creationId xmlns:a16="http://schemas.microsoft.com/office/drawing/2014/main" id="{D6F32830-E081-2631-D10F-4E4630A99A55}"/>
                </a:ext>
              </a:extLst>
            </p:cNvPr>
            <p:cNvCxnSpPr>
              <a:cxnSpLocks/>
            </p:cNvCxnSpPr>
            <p:nvPr/>
          </p:nvCxnSpPr>
          <p:spPr>
            <a:xfrm flipV="1">
              <a:off x="217180" y="2912518"/>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58" name="Straight Connector 2057">
              <a:extLst>
                <a:ext uri="{FF2B5EF4-FFF2-40B4-BE49-F238E27FC236}">
                  <a16:creationId xmlns:a16="http://schemas.microsoft.com/office/drawing/2014/main" id="{F6E92746-DDC1-0A6A-171D-5F8095D7D39D}"/>
                </a:ext>
              </a:extLst>
            </p:cNvPr>
            <p:cNvCxnSpPr>
              <a:cxnSpLocks/>
            </p:cNvCxnSpPr>
            <p:nvPr/>
          </p:nvCxnSpPr>
          <p:spPr>
            <a:xfrm flipV="1">
              <a:off x="236149" y="3572406"/>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59" name="Straight Connector 2058">
              <a:extLst>
                <a:ext uri="{FF2B5EF4-FFF2-40B4-BE49-F238E27FC236}">
                  <a16:creationId xmlns:a16="http://schemas.microsoft.com/office/drawing/2014/main" id="{135D9F5F-483C-548F-0AE4-5CB761752636}"/>
                </a:ext>
              </a:extLst>
            </p:cNvPr>
            <p:cNvCxnSpPr>
              <a:cxnSpLocks/>
            </p:cNvCxnSpPr>
            <p:nvPr/>
          </p:nvCxnSpPr>
          <p:spPr>
            <a:xfrm flipV="1">
              <a:off x="236149" y="3896465"/>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0" name="Straight Connector 2059">
              <a:extLst>
                <a:ext uri="{FF2B5EF4-FFF2-40B4-BE49-F238E27FC236}">
                  <a16:creationId xmlns:a16="http://schemas.microsoft.com/office/drawing/2014/main" id="{BE2DB8EC-29AB-2CC9-E4F7-783A76010399}"/>
                </a:ext>
              </a:extLst>
            </p:cNvPr>
            <p:cNvCxnSpPr>
              <a:cxnSpLocks/>
            </p:cNvCxnSpPr>
            <p:nvPr/>
          </p:nvCxnSpPr>
          <p:spPr>
            <a:xfrm flipV="1">
              <a:off x="260113" y="4370941"/>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1" name="Straight Connector 2060">
              <a:extLst>
                <a:ext uri="{FF2B5EF4-FFF2-40B4-BE49-F238E27FC236}">
                  <a16:creationId xmlns:a16="http://schemas.microsoft.com/office/drawing/2014/main" id="{A617FF5E-E14C-9C45-4162-58CD9E4C37F5}"/>
                </a:ext>
              </a:extLst>
            </p:cNvPr>
            <p:cNvCxnSpPr>
              <a:cxnSpLocks/>
            </p:cNvCxnSpPr>
            <p:nvPr/>
          </p:nvCxnSpPr>
          <p:spPr>
            <a:xfrm flipV="1">
              <a:off x="267517" y="4619593"/>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2" name="Straight Connector 2061">
              <a:extLst>
                <a:ext uri="{FF2B5EF4-FFF2-40B4-BE49-F238E27FC236}">
                  <a16:creationId xmlns:a16="http://schemas.microsoft.com/office/drawing/2014/main" id="{096D88E4-4D56-77FE-128B-2F2975741F47}"/>
                </a:ext>
              </a:extLst>
            </p:cNvPr>
            <p:cNvCxnSpPr>
              <a:cxnSpLocks/>
            </p:cNvCxnSpPr>
            <p:nvPr/>
          </p:nvCxnSpPr>
          <p:spPr>
            <a:xfrm flipV="1">
              <a:off x="280955" y="4922721"/>
              <a:ext cx="1585192" cy="6817"/>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081" name="Connector: Elbow 2080">
            <a:extLst>
              <a:ext uri="{FF2B5EF4-FFF2-40B4-BE49-F238E27FC236}">
                <a16:creationId xmlns:a16="http://schemas.microsoft.com/office/drawing/2014/main" id="{210D1A34-A111-B7C6-F616-6EA984E5C4AD}"/>
              </a:ext>
            </a:extLst>
          </p:cNvPr>
          <p:cNvCxnSpPr>
            <a:cxnSpLocks/>
            <a:endCxn id="80" idx="1"/>
          </p:cNvCxnSpPr>
          <p:nvPr/>
        </p:nvCxnSpPr>
        <p:spPr>
          <a:xfrm flipV="1">
            <a:off x="1876070" y="3635834"/>
            <a:ext cx="1368544" cy="362527"/>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086" name="TextBox 2085">
            <a:extLst>
              <a:ext uri="{FF2B5EF4-FFF2-40B4-BE49-F238E27FC236}">
                <a16:creationId xmlns:a16="http://schemas.microsoft.com/office/drawing/2014/main" id="{0A09C7D6-9094-1261-5B5B-B5369B3D768D}"/>
              </a:ext>
            </a:extLst>
          </p:cNvPr>
          <p:cNvSpPr txBox="1"/>
          <p:nvPr/>
        </p:nvSpPr>
        <p:spPr>
          <a:xfrm>
            <a:off x="1911669" y="4064353"/>
            <a:ext cx="1257866" cy="230832"/>
          </a:xfrm>
          <a:prstGeom prst="rect">
            <a:avLst/>
          </a:prstGeom>
          <a:solidFill>
            <a:schemeClr val="bg1"/>
          </a:solidFill>
          <a:ln w="12700">
            <a:solidFill>
              <a:srgbClr val="FF0000"/>
            </a:solidFill>
          </a:ln>
        </p:spPr>
        <p:txBody>
          <a:bodyPr wrap="square" rtlCol="0">
            <a:spAutoFit/>
          </a:bodyPr>
          <a:lstStyle/>
          <a:p>
            <a:pPr algn="ctr"/>
            <a:r>
              <a:rPr lang="en-US" sz="900" dirty="0"/>
              <a:t>Activity Approach</a:t>
            </a:r>
          </a:p>
        </p:txBody>
      </p:sp>
      <p:sp>
        <p:nvSpPr>
          <p:cNvPr id="2091" name="TextBox 2090">
            <a:extLst>
              <a:ext uri="{FF2B5EF4-FFF2-40B4-BE49-F238E27FC236}">
                <a16:creationId xmlns:a16="http://schemas.microsoft.com/office/drawing/2014/main" id="{B0C81347-0368-8E29-67FB-357A0EB879D1}"/>
              </a:ext>
            </a:extLst>
          </p:cNvPr>
          <p:cNvSpPr txBox="1"/>
          <p:nvPr/>
        </p:nvSpPr>
        <p:spPr>
          <a:xfrm>
            <a:off x="86753" y="5673862"/>
            <a:ext cx="1789317" cy="1061829"/>
          </a:xfrm>
          <a:prstGeom prst="rect">
            <a:avLst/>
          </a:prstGeom>
          <a:solidFill>
            <a:schemeClr val="bg1"/>
          </a:solidFill>
          <a:ln w="12700">
            <a:solidFill>
              <a:schemeClr val="tx1"/>
            </a:solidFill>
          </a:ln>
        </p:spPr>
        <p:txBody>
          <a:bodyPr wrap="square" rtlCol="0">
            <a:spAutoFit/>
          </a:bodyPr>
          <a:lstStyle/>
          <a:p>
            <a:r>
              <a:rPr lang="en-US" sz="900" b="1" dirty="0"/>
              <a:t>Activity Approach</a:t>
            </a:r>
            <a:r>
              <a:rPr lang="en-US" sz="900" dirty="0"/>
              <a:t>: Review emissions from each step and determine where improvements are practical resulting in a reduction in GHG emissions. Negotiations with suppliers and operators are viable options.</a:t>
            </a:r>
          </a:p>
        </p:txBody>
      </p:sp>
      <p:sp>
        <p:nvSpPr>
          <p:cNvPr id="2093" name="TextBox 2092">
            <a:extLst>
              <a:ext uri="{FF2B5EF4-FFF2-40B4-BE49-F238E27FC236}">
                <a16:creationId xmlns:a16="http://schemas.microsoft.com/office/drawing/2014/main" id="{082052D8-0B75-08E1-F96D-ACE257EC57A7}"/>
              </a:ext>
            </a:extLst>
          </p:cNvPr>
          <p:cNvSpPr txBox="1"/>
          <p:nvPr/>
        </p:nvSpPr>
        <p:spPr>
          <a:xfrm>
            <a:off x="4989013" y="2561167"/>
            <a:ext cx="951541" cy="923330"/>
          </a:xfrm>
          <a:prstGeom prst="rect">
            <a:avLst/>
          </a:prstGeom>
          <a:solidFill>
            <a:schemeClr val="bg1"/>
          </a:solidFill>
          <a:ln w="12700">
            <a:solidFill>
              <a:schemeClr val="tx1"/>
            </a:solidFill>
          </a:ln>
        </p:spPr>
        <p:txBody>
          <a:bodyPr wrap="square" rtlCol="0">
            <a:spAutoFit/>
          </a:bodyPr>
          <a:lstStyle/>
          <a:p>
            <a:r>
              <a:rPr lang="en-US" sz="900" dirty="0"/>
              <a:t>Changed Freight company to reduce emissions and more efficient operations.</a:t>
            </a:r>
          </a:p>
        </p:txBody>
      </p:sp>
      <p:sp>
        <p:nvSpPr>
          <p:cNvPr id="2095" name="TextBox 2094">
            <a:extLst>
              <a:ext uri="{FF2B5EF4-FFF2-40B4-BE49-F238E27FC236}">
                <a16:creationId xmlns:a16="http://schemas.microsoft.com/office/drawing/2014/main" id="{49C1662B-16FE-BBCF-C7E1-0EFEC204EF0B}"/>
              </a:ext>
            </a:extLst>
          </p:cNvPr>
          <p:cNvSpPr txBox="1"/>
          <p:nvPr/>
        </p:nvSpPr>
        <p:spPr>
          <a:xfrm>
            <a:off x="7917544" y="3741187"/>
            <a:ext cx="1115592" cy="923330"/>
          </a:xfrm>
          <a:prstGeom prst="rect">
            <a:avLst/>
          </a:prstGeom>
          <a:solidFill>
            <a:schemeClr val="bg1"/>
          </a:solidFill>
          <a:ln w="12700">
            <a:solidFill>
              <a:schemeClr val="tx1"/>
            </a:solidFill>
          </a:ln>
        </p:spPr>
        <p:txBody>
          <a:bodyPr wrap="square" rtlCol="0">
            <a:spAutoFit/>
          </a:bodyPr>
          <a:lstStyle/>
          <a:p>
            <a:pPr algn="ctr"/>
            <a:r>
              <a:rPr lang="en-US" sz="900" dirty="0"/>
              <a:t>Switch to solar panels and upgrade warehouse HVAC equipment to reduce GHG emissions.</a:t>
            </a:r>
          </a:p>
        </p:txBody>
      </p:sp>
      <p:sp>
        <p:nvSpPr>
          <p:cNvPr id="2096" name="TextBox 2095">
            <a:extLst>
              <a:ext uri="{FF2B5EF4-FFF2-40B4-BE49-F238E27FC236}">
                <a16:creationId xmlns:a16="http://schemas.microsoft.com/office/drawing/2014/main" id="{441DA170-AB50-F04A-77E0-8C56B7F2FEAB}"/>
              </a:ext>
            </a:extLst>
          </p:cNvPr>
          <p:cNvSpPr txBox="1"/>
          <p:nvPr/>
        </p:nvSpPr>
        <p:spPr>
          <a:xfrm>
            <a:off x="5940554" y="5544102"/>
            <a:ext cx="1744712" cy="784830"/>
          </a:xfrm>
          <a:prstGeom prst="rect">
            <a:avLst/>
          </a:prstGeom>
          <a:solidFill>
            <a:schemeClr val="bg1"/>
          </a:solidFill>
          <a:ln w="12700">
            <a:solidFill>
              <a:schemeClr val="tx1"/>
            </a:solidFill>
          </a:ln>
        </p:spPr>
        <p:txBody>
          <a:bodyPr wrap="square" rtlCol="0">
            <a:spAutoFit/>
          </a:bodyPr>
          <a:lstStyle/>
          <a:p>
            <a:r>
              <a:rPr lang="en-US" sz="900" b="1" dirty="0"/>
              <a:t>Reduction from 3.84 to 2.86 </a:t>
            </a:r>
          </a:p>
          <a:p>
            <a:r>
              <a:rPr lang="en-US" sz="900" dirty="0"/>
              <a:t>Transferred trucking operations to a new supplier with new trucks and more efficient unloading operations.</a:t>
            </a:r>
          </a:p>
        </p:txBody>
      </p:sp>
      <p:cxnSp>
        <p:nvCxnSpPr>
          <p:cNvPr id="2098" name="Straight Arrow Connector 2097">
            <a:extLst>
              <a:ext uri="{FF2B5EF4-FFF2-40B4-BE49-F238E27FC236}">
                <a16:creationId xmlns:a16="http://schemas.microsoft.com/office/drawing/2014/main" id="{CF058AEB-6289-C1CA-11ED-400614B605EF}"/>
              </a:ext>
            </a:extLst>
          </p:cNvPr>
          <p:cNvCxnSpPr/>
          <p:nvPr/>
        </p:nvCxnSpPr>
        <p:spPr>
          <a:xfrm>
            <a:off x="7675299" y="3598503"/>
            <a:ext cx="1797275"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2100" name="TextBox 2099">
            <a:extLst>
              <a:ext uri="{FF2B5EF4-FFF2-40B4-BE49-F238E27FC236}">
                <a16:creationId xmlns:a16="http://schemas.microsoft.com/office/drawing/2014/main" id="{2A6282B7-98DF-04B2-59E5-08FE68555C12}"/>
              </a:ext>
            </a:extLst>
          </p:cNvPr>
          <p:cNvSpPr txBox="1"/>
          <p:nvPr/>
        </p:nvSpPr>
        <p:spPr>
          <a:xfrm>
            <a:off x="11297409" y="3058484"/>
            <a:ext cx="878879" cy="553998"/>
          </a:xfrm>
          <a:prstGeom prst="rect">
            <a:avLst/>
          </a:prstGeom>
          <a:solidFill>
            <a:schemeClr val="bg1"/>
          </a:solidFill>
          <a:ln w="12700">
            <a:solidFill>
              <a:schemeClr val="tx1"/>
            </a:solidFill>
          </a:ln>
        </p:spPr>
        <p:txBody>
          <a:bodyPr wrap="square" rtlCol="0">
            <a:spAutoFit/>
          </a:bodyPr>
          <a:lstStyle/>
          <a:p>
            <a:r>
              <a:rPr lang="en-US" sz="1000" b="1" dirty="0">
                <a:solidFill>
                  <a:srgbClr val="FF0000"/>
                </a:solidFill>
              </a:rPr>
              <a:t>74% GHG emission reduction</a:t>
            </a:r>
          </a:p>
        </p:txBody>
      </p:sp>
      <p:cxnSp>
        <p:nvCxnSpPr>
          <p:cNvPr id="2102" name="Connector: Elbow 2101">
            <a:extLst>
              <a:ext uri="{FF2B5EF4-FFF2-40B4-BE49-F238E27FC236}">
                <a16:creationId xmlns:a16="http://schemas.microsoft.com/office/drawing/2014/main" id="{7C0E7915-621B-5AF8-093B-BE4778B8511C}"/>
              </a:ext>
            </a:extLst>
          </p:cNvPr>
          <p:cNvCxnSpPr>
            <a:stCxn id="2100" idx="2"/>
            <a:endCxn id="3336" idx="3"/>
          </p:cNvCxnSpPr>
          <p:nvPr/>
        </p:nvCxnSpPr>
        <p:spPr>
          <a:xfrm rot="5400000">
            <a:off x="10752000" y="4095643"/>
            <a:ext cx="1468010" cy="50168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04" name="Straight Arrow Connector 2103">
            <a:extLst>
              <a:ext uri="{FF2B5EF4-FFF2-40B4-BE49-F238E27FC236}">
                <a16:creationId xmlns:a16="http://schemas.microsoft.com/office/drawing/2014/main" id="{E22BC0AA-950C-25D0-EA56-A01C3ECC083A}"/>
              </a:ext>
            </a:extLst>
          </p:cNvPr>
          <p:cNvCxnSpPr>
            <a:cxnSpLocks/>
          </p:cNvCxnSpPr>
          <p:nvPr/>
        </p:nvCxnSpPr>
        <p:spPr>
          <a:xfrm>
            <a:off x="4976814" y="3556127"/>
            <a:ext cx="951540"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2106" name="TextBox 2105">
            <a:extLst>
              <a:ext uri="{FF2B5EF4-FFF2-40B4-BE49-F238E27FC236}">
                <a16:creationId xmlns:a16="http://schemas.microsoft.com/office/drawing/2014/main" id="{0F15ACCA-1905-B226-7EDD-5B65A6753B92}"/>
              </a:ext>
            </a:extLst>
          </p:cNvPr>
          <p:cNvSpPr txBox="1"/>
          <p:nvPr/>
        </p:nvSpPr>
        <p:spPr>
          <a:xfrm>
            <a:off x="2990563" y="5574613"/>
            <a:ext cx="2412601" cy="1169551"/>
          </a:xfrm>
          <a:prstGeom prst="rect">
            <a:avLst/>
          </a:prstGeom>
          <a:solidFill>
            <a:schemeClr val="bg1"/>
          </a:solidFill>
          <a:ln w="12700">
            <a:solidFill>
              <a:schemeClr val="tx1"/>
            </a:solidFill>
          </a:ln>
        </p:spPr>
        <p:txBody>
          <a:bodyPr wrap="square" rtlCol="0">
            <a:spAutoFit/>
          </a:bodyPr>
          <a:lstStyle/>
          <a:p>
            <a:r>
              <a:rPr lang="en-US" sz="1000" b="1" dirty="0">
                <a:solidFill>
                  <a:srgbClr val="FF0000"/>
                </a:solidFill>
              </a:rPr>
              <a:t>GHG Emission Reductions </a:t>
            </a:r>
          </a:p>
          <a:p>
            <a:pPr marL="228600" indent="-228600">
              <a:buAutoNum type="arabicParenR"/>
            </a:pPr>
            <a:r>
              <a:rPr lang="en-US" sz="1000" dirty="0">
                <a:solidFill>
                  <a:srgbClr val="FF0000"/>
                </a:solidFill>
              </a:rPr>
              <a:t>Switch in coffee bags from plastic to cloth material. </a:t>
            </a:r>
          </a:p>
          <a:p>
            <a:pPr marL="228600" indent="-228600">
              <a:buAutoNum type="arabicParenR"/>
            </a:pPr>
            <a:r>
              <a:rPr lang="en-US" sz="1000" dirty="0">
                <a:solidFill>
                  <a:srgbClr val="FF0000"/>
                </a:solidFill>
              </a:rPr>
              <a:t>Purchase of coffee from farms that grow organically reduces GHG emissions significantly from 293 to 77.9 </a:t>
            </a:r>
            <a:r>
              <a:rPr lang="en-US" sz="1000" dirty="0" err="1">
                <a:solidFill>
                  <a:srgbClr val="FF0000"/>
                </a:solidFill>
              </a:rPr>
              <a:t>mtons</a:t>
            </a:r>
            <a:r>
              <a:rPr lang="en-US" sz="1000" dirty="0">
                <a:solidFill>
                  <a:srgbClr val="FF0000"/>
                </a:solidFill>
              </a:rPr>
              <a:t> on this shipment.</a:t>
            </a:r>
          </a:p>
        </p:txBody>
      </p:sp>
      <p:cxnSp>
        <p:nvCxnSpPr>
          <p:cNvPr id="5" name="Straight Connector 4">
            <a:extLst>
              <a:ext uri="{FF2B5EF4-FFF2-40B4-BE49-F238E27FC236}">
                <a16:creationId xmlns:a16="http://schemas.microsoft.com/office/drawing/2014/main" id="{CBA099B9-F997-E28B-3934-783E4E4FC5C5}"/>
              </a:ext>
            </a:extLst>
          </p:cNvPr>
          <p:cNvCxnSpPr>
            <a:cxnSpLocks/>
          </p:cNvCxnSpPr>
          <p:nvPr/>
        </p:nvCxnSpPr>
        <p:spPr>
          <a:xfrm flipV="1">
            <a:off x="9552334" y="2640059"/>
            <a:ext cx="1585191" cy="681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158589C-1458-6E49-29CA-ABE9808B8161}"/>
              </a:ext>
            </a:extLst>
          </p:cNvPr>
          <p:cNvSpPr txBox="1"/>
          <p:nvPr/>
        </p:nvSpPr>
        <p:spPr>
          <a:xfrm>
            <a:off x="-6732" y="1330226"/>
            <a:ext cx="11965650" cy="523220"/>
          </a:xfrm>
          <a:prstGeom prst="rect">
            <a:avLst/>
          </a:prstGeom>
          <a:solidFill>
            <a:schemeClr val="bg1"/>
          </a:solidFill>
          <a:ln w="12700">
            <a:solidFill>
              <a:schemeClr val="tx1"/>
            </a:solidFill>
          </a:ln>
        </p:spPr>
        <p:txBody>
          <a:bodyPr wrap="square" rtlCol="0">
            <a:spAutoFit/>
          </a:bodyPr>
          <a:lstStyle/>
          <a:p>
            <a:r>
              <a:rPr lang="en-US" sz="1400" b="1" dirty="0"/>
              <a:t>Example: A fictional supply chain for exporting coffee from Ethiopia to a harbor on the U.S. East Coast involves multiple segments, each representing a chain of custody transfer. Each segment contributes to the total GHG emissions generated per shipment through this supply chain.</a:t>
            </a:r>
          </a:p>
        </p:txBody>
      </p:sp>
      <p:cxnSp>
        <p:nvCxnSpPr>
          <p:cNvPr id="22" name="Straight Arrow Connector 21">
            <a:extLst>
              <a:ext uri="{FF2B5EF4-FFF2-40B4-BE49-F238E27FC236}">
                <a16:creationId xmlns:a16="http://schemas.microsoft.com/office/drawing/2014/main" id="{ACA8DB03-20D4-D4A9-718E-5712F0EAD82D}"/>
              </a:ext>
            </a:extLst>
          </p:cNvPr>
          <p:cNvCxnSpPr>
            <a:cxnSpLocks/>
          </p:cNvCxnSpPr>
          <p:nvPr/>
        </p:nvCxnSpPr>
        <p:spPr>
          <a:xfrm flipV="1">
            <a:off x="960743" y="5161154"/>
            <a:ext cx="0" cy="511175"/>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D75BB1E-A9EB-2740-18D6-4E0315F3AA48}"/>
              </a:ext>
            </a:extLst>
          </p:cNvPr>
          <p:cNvCxnSpPr>
            <a:cxnSpLocks/>
            <a:stCxn id="2106" idx="0"/>
          </p:cNvCxnSpPr>
          <p:nvPr/>
        </p:nvCxnSpPr>
        <p:spPr>
          <a:xfrm flipH="1" flipV="1">
            <a:off x="4196863" y="5139501"/>
            <a:ext cx="1" cy="435112"/>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EBFBB28-34C4-DE08-6463-692980613FD4}"/>
              </a:ext>
            </a:extLst>
          </p:cNvPr>
          <p:cNvSpPr txBox="1"/>
          <p:nvPr/>
        </p:nvSpPr>
        <p:spPr>
          <a:xfrm>
            <a:off x="33747" y="2181465"/>
            <a:ext cx="2791888" cy="246221"/>
          </a:xfrm>
          <a:prstGeom prst="rect">
            <a:avLst/>
          </a:prstGeom>
          <a:solidFill>
            <a:schemeClr val="bg1"/>
          </a:solidFill>
          <a:ln w="12700">
            <a:solidFill>
              <a:schemeClr val="tx1"/>
            </a:solidFill>
          </a:ln>
        </p:spPr>
        <p:txBody>
          <a:bodyPr wrap="square" rtlCol="0">
            <a:spAutoFit/>
          </a:bodyPr>
          <a:lstStyle/>
          <a:p>
            <a:pPr algn="ctr"/>
            <a:r>
              <a:rPr lang="en-US" sz="1000" b="1" dirty="0">
                <a:solidFill>
                  <a:srgbClr val="FF0000"/>
                </a:solidFill>
              </a:rPr>
              <a:t>Reduction Target: &gt; 50% GHG emission reduction</a:t>
            </a:r>
          </a:p>
        </p:txBody>
      </p:sp>
      <p:cxnSp>
        <p:nvCxnSpPr>
          <p:cNvPr id="29" name="Straight Arrow Connector 28">
            <a:extLst>
              <a:ext uri="{FF2B5EF4-FFF2-40B4-BE49-F238E27FC236}">
                <a16:creationId xmlns:a16="http://schemas.microsoft.com/office/drawing/2014/main" id="{EFA2E8F5-D0C5-33DE-C860-01397C1471FA}"/>
              </a:ext>
            </a:extLst>
          </p:cNvPr>
          <p:cNvCxnSpPr>
            <a:cxnSpLocks/>
          </p:cNvCxnSpPr>
          <p:nvPr/>
        </p:nvCxnSpPr>
        <p:spPr>
          <a:xfrm flipH="1" flipV="1">
            <a:off x="6834718" y="5194654"/>
            <a:ext cx="10188" cy="328824"/>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7F56747-1B7E-A8DB-32D7-52EE509CAB0B}"/>
              </a:ext>
            </a:extLst>
          </p:cNvPr>
          <p:cNvSpPr txBox="1"/>
          <p:nvPr/>
        </p:nvSpPr>
        <p:spPr>
          <a:xfrm>
            <a:off x="9116819" y="5500819"/>
            <a:ext cx="2540677" cy="1323439"/>
          </a:xfrm>
          <a:prstGeom prst="rect">
            <a:avLst/>
          </a:prstGeom>
          <a:solidFill>
            <a:schemeClr val="bg1"/>
          </a:solidFill>
          <a:ln w="12700">
            <a:solidFill>
              <a:schemeClr val="tx1"/>
            </a:solidFill>
          </a:ln>
        </p:spPr>
        <p:txBody>
          <a:bodyPr wrap="square" rtlCol="0">
            <a:spAutoFit/>
          </a:bodyPr>
          <a:lstStyle/>
          <a:p>
            <a:r>
              <a:rPr lang="en-US" sz="1000" b="1" dirty="0">
                <a:solidFill>
                  <a:srgbClr val="FF0000"/>
                </a:solidFill>
              </a:rPr>
              <a:t>Reduction from 45.4 to .09 tons</a:t>
            </a:r>
          </a:p>
          <a:p>
            <a:r>
              <a:rPr lang="en-US" sz="1000" b="1" dirty="0">
                <a:solidFill>
                  <a:srgbClr val="FF0000"/>
                </a:solidFill>
              </a:rPr>
              <a:t> </a:t>
            </a:r>
            <a:r>
              <a:rPr lang="en-US" sz="1000" dirty="0">
                <a:solidFill>
                  <a:srgbClr val="FF0000"/>
                </a:solidFill>
              </a:rPr>
              <a:t>Switch over to solar for electricity.</a:t>
            </a:r>
          </a:p>
          <a:p>
            <a:r>
              <a:rPr lang="en-US" sz="1000" dirty="0">
                <a:solidFill>
                  <a:srgbClr val="FF0000"/>
                </a:solidFill>
              </a:rPr>
              <a:t>Heating and humidity control equipment is older and less efficient than newer versions. Decision made to spend the capital to upgrade all equipment related to keeping the warehouse at the required conditions for coffee storage reducing emissions</a:t>
            </a:r>
          </a:p>
        </p:txBody>
      </p:sp>
      <p:cxnSp>
        <p:nvCxnSpPr>
          <p:cNvPr id="32" name="Straight Arrow Connector 31">
            <a:extLst>
              <a:ext uri="{FF2B5EF4-FFF2-40B4-BE49-F238E27FC236}">
                <a16:creationId xmlns:a16="http://schemas.microsoft.com/office/drawing/2014/main" id="{477475BA-DAAA-ED81-E724-21AB1F4B5C23}"/>
              </a:ext>
            </a:extLst>
          </p:cNvPr>
          <p:cNvCxnSpPr>
            <a:cxnSpLocks/>
          </p:cNvCxnSpPr>
          <p:nvPr/>
        </p:nvCxnSpPr>
        <p:spPr>
          <a:xfrm flipH="1" flipV="1">
            <a:off x="10365896" y="5192365"/>
            <a:ext cx="10188" cy="328824"/>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FAAA8C8-D169-7AE0-9EF2-57942E9FACAB}"/>
              </a:ext>
            </a:extLst>
          </p:cNvPr>
          <p:cNvSpPr txBox="1"/>
          <p:nvPr/>
        </p:nvSpPr>
        <p:spPr>
          <a:xfrm>
            <a:off x="4452854" y="1920165"/>
            <a:ext cx="4045005" cy="338554"/>
          </a:xfrm>
          <a:prstGeom prst="rect">
            <a:avLst/>
          </a:prstGeom>
          <a:solidFill>
            <a:schemeClr val="bg1"/>
          </a:solidFill>
          <a:ln w="12700">
            <a:solidFill>
              <a:schemeClr val="tx1"/>
            </a:solidFill>
          </a:ln>
        </p:spPr>
        <p:txBody>
          <a:bodyPr wrap="square" rtlCol="0">
            <a:spAutoFit/>
          </a:bodyPr>
          <a:lstStyle/>
          <a:p>
            <a:pPr algn="ctr"/>
            <a:r>
              <a:rPr lang="en-US" sz="1600" b="1" dirty="0"/>
              <a:t>LFDT Products: Fabric, Indy, Explorer</a:t>
            </a:r>
          </a:p>
        </p:txBody>
      </p:sp>
    </p:spTree>
    <p:extLst>
      <p:ext uri="{BB962C8B-B14F-4D97-AF65-F5344CB8AC3E}">
        <p14:creationId xmlns:p14="http://schemas.microsoft.com/office/powerpoint/2010/main" val="846541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F7F97-97F9-B9E6-6324-4808F420691A}"/>
            </a:ext>
          </a:extLst>
        </p:cNvPr>
        <p:cNvGrpSpPr/>
        <p:nvPr/>
      </p:nvGrpSpPr>
      <p:grpSpPr>
        <a:xfrm>
          <a:off x="0" y="0"/>
          <a:ext cx="0" cy="0"/>
          <a:chOff x="0" y="0"/>
          <a:chExt cx="0" cy="0"/>
        </a:xfrm>
      </p:grpSpPr>
      <p:pic>
        <p:nvPicPr>
          <p:cNvPr id="3" name="Picture 4" descr="8,438 Blockchain Technology Light Blue Royalty-Free Images ...">
            <a:extLst>
              <a:ext uri="{FF2B5EF4-FFF2-40B4-BE49-F238E27FC236}">
                <a16:creationId xmlns:a16="http://schemas.microsoft.com/office/drawing/2014/main" id="{671A922D-78FE-846B-AFE3-2EE56FACE4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74" y="665248"/>
            <a:ext cx="12248274" cy="6178360"/>
          </a:xfrm>
          <a:prstGeom prst="rect">
            <a:avLst/>
          </a:prstGeom>
          <a:noFill/>
          <a:extLst>
            <a:ext uri="{909E8E84-426E-40DD-AFC4-6F175D3DCCD1}">
              <a14:hiddenFill xmlns:a14="http://schemas.microsoft.com/office/drawing/2010/main">
                <a:solidFill>
                  <a:srgbClr val="FFFFFF"/>
                </a:solidFill>
              </a14:hiddenFill>
            </a:ext>
          </a:extLst>
        </p:spPr>
      </p:pic>
      <p:sp>
        <p:nvSpPr>
          <p:cNvPr id="3357" name="Rectangle 3356">
            <a:extLst>
              <a:ext uri="{FF2B5EF4-FFF2-40B4-BE49-F238E27FC236}">
                <a16:creationId xmlns:a16="http://schemas.microsoft.com/office/drawing/2014/main" id="{F2410A60-19FF-FAC6-8736-E0D97CE00EAE}"/>
              </a:ext>
            </a:extLst>
          </p:cNvPr>
          <p:cNvSpPr/>
          <p:nvPr/>
        </p:nvSpPr>
        <p:spPr>
          <a:xfrm>
            <a:off x="4663228" y="2564818"/>
            <a:ext cx="1744712" cy="2740271"/>
          </a:xfrm>
          <a:prstGeom prst="rect">
            <a:avLst/>
          </a:prstGeom>
          <a:solidFill>
            <a:srgbClr val="92D050"/>
          </a:solidFill>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6" name="Rectangle 3355">
            <a:extLst>
              <a:ext uri="{FF2B5EF4-FFF2-40B4-BE49-F238E27FC236}">
                <a16:creationId xmlns:a16="http://schemas.microsoft.com/office/drawing/2014/main" id="{A10978E6-039F-6167-B6FD-CE9874F6DA50}"/>
              </a:ext>
            </a:extLst>
          </p:cNvPr>
          <p:cNvSpPr/>
          <p:nvPr/>
        </p:nvSpPr>
        <p:spPr>
          <a:xfrm>
            <a:off x="7775005" y="2569464"/>
            <a:ext cx="1744712" cy="2658852"/>
          </a:xfrm>
          <a:prstGeom prst="rect">
            <a:avLst/>
          </a:prstGeom>
          <a:solidFill>
            <a:srgbClr val="00CC99"/>
          </a:solidFill>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F1A6C3-6442-E96E-54BF-E5E74BED9FBC}"/>
              </a:ext>
            </a:extLst>
          </p:cNvPr>
          <p:cNvSpPr/>
          <p:nvPr/>
        </p:nvSpPr>
        <p:spPr>
          <a:xfrm>
            <a:off x="-4608" y="8756"/>
            <a:ext cx="12180896" cy="656492"/>
          </a:xfrm>
          <a:prstGeom prst="rect">
            <a:avLst/>
          </a:prstGeom>
          <a:solidFill>
            <a:srgbClr val="0066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0566E3CB-154F-6A1C-5E7E-E3C81B6E43B8}"/>
              </a:ext>
            </a:extLst>
          </p:cNvPr>
          <p:cNvSpPr txBox="1"/>
          <p:nvPr/>
        </p:nvSpPr>
        <p:spPr>
          <a:xfrm>
            <a:off x="-106785" y="90741"/>
            <a:ext cx="11835599" cy="954107"/>
          </a:xfrm>
          <a:prstGeom prst="rect">
            <a:avLst/>
          </a:prstGeom>
          <a:noFill/>
        </p:spPr>
        <p:txBody>
          <a:bodyPr wrap="square" rtlCol="0">
            <a:spAutoFit/>
          </a:bodyPr>
          <a:lstStyle/>
          <a:p>
            <a:r>
              <a:rPr lang="en-US" sz="2800" b="1" dirty="0">
                <a:solidFill>
                  <a:schemeClr val="bg1">
                    <a:lumMod val="95000"/>
                  </a:schemeClr>
                </a:solidFill>
              </a:rPr>
              <a:t> Model: </a:t>
            </a:r>
            <a:r>
              <a:rPr lang="en-US" sz="2400" b="1" dirty="0">
                <a:solidFill>
                  <a:schemeClr val="bg1">
                    <a:lumMod val="95000"/>
                  </a:schemeClr>
                </a:solidFill>
              </a:rPr>
              <a:t>Digital Twin to Model a </a:t>
            </a:r>
            <a:r>
              <a:rPr lang="en-US" sz="2400" b="1" dirty="0">
                <a:solidFill>
                  <a:srgbClr val="FFFF00"/>
                </a:solidFill>
              </a:rPr>
              <a:t>Net Zero </a:t>
            </a:r>
            <a:r>
              <a:rPr lang="en-US" sz="2400" b="1" dirty="0">
                <a:solidFill>
                  <a:schemeClr val="bg1">
                    <a:lumMod val="95000"/>
                  </a:schemeClr>
                </a:solidFill>
              </a:rPr>
              <a:t>Approach to Reduce GHG Emissions (2 of 2) </a:t>
            </a:r>
          </a:p>
          <a:p>
            <a:endParaRPr lang="en-US" sz="2800" b="1" dirty="0">
              <a:solidFill>
                <a:schemeClr val="bg1">
                  <a:lumMod val="95000"/>
                </a:schemeClr>
              </a:solidFill>
            </a:endParaRPr>
          </a:p>
        </p:txBody>
      </p:sp>
      <p:sp>
        <p:nvSpPr>
          <p:cNvPr id="3230" name="Rectangle 3229">
            <a:extLst>
              <a:ext uri="{FF2B5EF4-FFF2-40B4-BE49-F238E27FC236}">
                <a16:creationId xmlns:a16="http://schemas.microsoft.com/office/drawing/2014/main" id="{861B0381-C3EA-376A-B32F-5BB4419B0C31}"/>
              </a:ext>
            </a:extLst>
          </p:cNvPr>
          <p:cNvSpPr/>
          <p:nvPr/>
        </p:nvSpPr>
        <p:spPr>
          <a:xfrm>
            <a:off x="109054" y="2457785"/>
            <a:ext cx="1744712" cy="2740271"/>
          </a:xfrm>
          <a:prstGeom prst="rect">
            <a:avLst/>
          </a:prstGeom>
          <a:solidFill>
            <a:srgbClr val="FFFF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32" name="Group 3231">
            <a:extLst>
              <a:ext uri="{FF2B5EF4-FFF2-40B4-BE49-F238E27FC236}">
                <a16:creationId xmlns:a16="http://schemas.microsoft.com/office/drawing/2014/main" id="{060DA8D2-F614-0219-D2B2-994F65AB64E3}"/>
              </a:ext>
            </a:extLst>
          </p:cNvPr>
          <p:cNvGrpSpPr/>
          <p:nvPr/>
        </p:nvGrpSpPr>
        <p:grpSpPr>
          <a:xfrm>
            <a:off x="132250" y="2710474"/>
            <a:ext cx="2502986" cy="2209876"/>
            <a:chOff x="116435" y="3163661"/>
            <a:chExt cx="2715023" cy="2209876"/>
          </a:xfrm>
        </p:grpSpPr>
        <p:grpSp>
          <p:nvGrpSpPr>
            <p:cNvPr id="3243" name="Group 3242">
              <a:extLst>
                <a:ext uri="{FF2B5EF4-FFF2-40B4-BE49-F238E27FC236}">
                  <a16:creationId xmlns:a16="http://schemas.microsoft.com/office/drawing/2014/main" id="{404363A2-2D6E-9BBF-72F4-E9E1BB27BC3D}"/>
                </a:ext>
              </a:extLst>
            </p:cNvPr>
            <p:cNvGrpSpPr/>
            <p:nvPr/>
          </p:nvGrpSpPr>
          <p:grpSpPr>
            <a:xfrm>
              <a:off x="116435" y="3163661"/>
              <a:ext cx="2715023" cy="1897575"/>
              <a:chOff x="51410" y="2261711"/>
              <a:chExt cx="2715023" cy="1897575"/>
            </a:xfrm>
          </p:grpSpPr>
          <p:sp>
            <p:nvSpPr>
              <p:cNvPr id="3245" name="TextBox 3244">
                <a:extLst>
                  <a:ext uri="{FF2B5EF4-FFF2-40B4-BE49-F238E27FC236}">
                    <a16:creationId xmlns:a16="http://schemas.microsoft.com/office/drawing/2014/main" id="{5B05DE46-0252-FC6E-377A-257C8FB4A414}"/>
                  </a:ext>
                </a:extLst>
              </p:cNvPr>
              <p:cNvSpPr txBox="1"/>
              <p:nvPr/>
            </p:nvSpPr>
            <p:spPr>
              <a:xfrm>
                <a:off x="51410" y="2451720"/>
                <a:ext cx="2332582" cy="230832"/>
              </a:xfrm>
              <a:prstGeom prst="rect">
                <a:avLst/>
              </a:prstGeom>
              <a:noFill/>
            </p:spPr>
            <p:txBody>
              <a:bodyPr wrap="square" rtlCol="0">
                <a:spAutoFit/>
              </a:bodyPr>
              <a:lstStyle/>
              <a:p>
                <a:r>
                  <a:rPr lang="en-US" sz="900" dirty="0"/>
                  <a:t>Coffee supplier</a:t>
                </a:r>
              </a:p>
            </p:txBody>
          </p:sp>
          <p:sp>
            <p:nvSpPr>
              <p:cNvPr id="3246" name="TextBox 3245">
                <a:extLst>
                  <a:ext uri="{FF2B5EF4-FFF2-40B4-BE49-F238E27FC236}">
                    <a16:creationId xmlns:a16="http://schemas.microsoft.com/office/drawing/2014/main" id="{2E93AA62-993B-EA08-DE10-D25FE84BD023}"/>
                  </a:ext>
                </a:extLst>
              </p:cNvPr>
              <p:cNvSpPr txBox="1"/>
              <p:nvPr/>
            </p:nvSpPr>
            <p:spPr>
              <a:xfrm>
                <a:off x="79041" y="3110105"/>
                <a:ext cx="1474650" cy="230832"/>
              </a:xfrm>
              <a:prstGeom prst="rect">
                <a:avLst/>
              </a:prstGeom>
              <a:noFill/>
            </p:spPr>
            <p:txBody>
              <a:bodyPr wrap="square" rtlCol="0">
                <a:spAutoFit/>
              </a:bodyPr>
              <a:lstStyle/>
              <a:p>
                <a:r>
                  <a:rPr lang="en-US" sz="900" dirty="0"/>
                  <a:t>Warehouse ops </a:t>
                </a:r>
              </a:p>
            </p:txBody>
          </p:sp>
          <p:sp>
            <p:nvSpPr>
              <p:cNvPr id="3247" name="TextBox 3246">
                <a:extLst>
                  <a:ext uri="{FF2B5EF4-FFF2-40B4-BE49-F238E27FC236}">
                    <a16:creationId xmlns:a16="http://schemas.microsoft.com/office/drawing/2014/main" id="{0155A8C0-00F5-3BDE-7D60-04B689617C88}"/>
                  </a:ext>
                </a:extLst>
              </p:cNvPr>
              <p:cNvSpPr txBox="1"/>
              <p:nvPr/>
            </p:nvSpPr>
            <p:spPr>
              <a:xfrm>
                <a:off x="54461" y="2261711"/>
                <a:ext cx="2437293" cy="230832"/>
              </a:xfrm>
              <a:prstGeom prst="rect">
                <a:avLst/>
              </a:prstGeom>
              <a:noFill/>
            </p:spPr>
            <p:txBody>
              <a:bodyPr wrap="square" rtlCol="0">
                <a:spAutoFit/>
              </a:bodyPr>
              <a:lstStyle/>
              <a:p>
                <a:r>
                  <a:rPr lang="en-US" sz="900" dirty="0"/>
                  <a:t>Manuf. of coffee bags</a:t>
                </a:r>
              </a:p>
            </p:txBody>
          </p:sp>
          <p:sp>
            <p:nvSpPr>
              <p:cNvPr id="3248" name="TextBox 3247">
                <a:extLst>
                  <a:ext uri="{FF2B5EF4-FFF2-40B4-BE49-F238E27FC236}">
                    <a16:creationId xmlns:a16="http://schemas.microsoft.com/office/drawing/2014/main" id="{32FF3A62-9937-15B8-0CE0-595568459F2B}"/>
                  </a:ext>
                </a:extLst>
              </p:cNvPr>
              <p:cNvSpPr txBox="1"/>
              <p:nvPr/>
            </p:nvSpPr>
            <p:spPr>
              <a:xfrm>
                <a:off x="75940" y="3928454"/>
                <a:ext cx="1188249" cy="230832"/>
              </a:xfrm>
              <a:prstGeom prst="rect">
                <a:avLst/>
              </a:prstGeom>
              <a:noFill/>
            </p:spPr>
            <p:txBody>
              <a:bodyPr wrap="square" rtlCol="0">
                <a:spAutoFit/>
              </a:bodyPr>
              <a:lstStyle/>
              <a:p>
                <a:r>
                  <a:rPr lang="en-US" sz="900" dirty="0"/>
                  <a:t>Ship to N.Y. harbor</a:t>
                </a:r>
                <a:endParaRPr lang="en-US" sz="900" b="1" dirty="0"/>
              </a:p>
            </p:txBody>
          </p:sp>
          <p:sp>
            <p:nvSpPr>
              <p:cNvPr id="3249" name="TextBox 3248">
                <a:extLst>
                  <a:ext uri="{FF2B5EF4-FFF2-40B4-BE49-F238E27FC236}">
                    <a16:creationId xmlns:a16="http://schemas.microsoft.com/office/drawing/2014/main" id="{EB0945D9-409E-0CCF-522F-10EC8EC65120}"/>
                  </a:ext>
                </a:extLst>
              </p:cNvPr>
              <p:cNvSpPr txBox="1"/>
              <p:nvPr/>
            </p:nvSpPr>
            <p:spPr>
              <a:xfrm>
                <a:off x="77138" y="3471090"/>
                <a:ext cx="1817504" cy="230832"/>
              </a:xfrm>
              <a:prstGeom prst="rect">
                <a:avLst/>
              </a:prstGeom>
              <a:noFill/>
            </p:spPr>
            <p:txBody>
              <a:bodyPr wrap="square" rtlCol="0">
                <a:spAutoFit/>
              </a:bodyPr>
              <a:lstStyle/>
              <a:p>
                <a:r>
                  <a:rPr lang="en-US" sz="900" dirty="0"/>
                  <a:t>Coffee bag loading on ship</a:t>
                </a:r>
              </a:p>
            </p:txBody>
          </p:sp>
          <p:sp>
            <p:nvSpPr>
              <p:cNvPr id="3250" name="TextBox 3249">
                <a:extLst>
                  <a:ext uri="{FF2B5EF4-FFF2-40B4-BE49-F238E27FC236}">
                    <a16:creationId xmlns:a16="http://schemas.microsoft.com/office/drawing/2014/main" id="{D5F18C0E-41B8-CB3E-C9B7-232641478E3A}"/>
                  </a:ext>
                </a:extLst>
              </p:cNvPr>
              <p:cNvSpPr txBox="1"/>
              <p:nvPr/>
            </p:nvSpPr>
            <p:spPr>
              <a:xfrm>
                <a:off x="67300" y="2650383"/>
                <a:ext cx="2699133" cy="507831"/>
              </a:xfrm>
              <a:prstGeom prst="rect">
                <a:avLst/>
              </a:prstGeom>
              <a:noFill/>
            </p:spPr>
            <p:txBody>
              <a:bodyPr wrap="square" rtlCol="0">
                <a:spAutoFit/>
              </a:bodyPr>
              <a:lstStyle/>
              <a:p>
                <a:r>
                  <a:rPr lang="en-US" sz="900" dirty="0"/>
                  <a:t>Trucking to Warehouse</a:t>
                </a:r>
              </a:p>
              <a:p>
                <a:r>
                  <a:rPr lang="en-US" sz="900" dirty="0"/>
                  <a:t>    - Freight Co. #2</a:t>
                </a:r>
              </a:p>
              <a:p>
                <a:r>
                  <a:rPr lang="en-US" sz="900" dirty="0"/>
                  <a:t>    - unloading</a:t>
                </a:r>
              </a:p>
            </p:txBody>
          </p:sp>
          <p:sp>
            <p:nvSpPr>
              <p:cNvPr id="3251" name="TextBox 3250">
                <a:extLst>
                  <a:ext uri="{FF2B5EF4-FFF2-40B4-BE49-F238E27FC236}">
                    <a16:creationId xmlns:a16="http://schemas.microsoft.com/office/drawing/2014/main" id="{A2B51D8F-5835-7031-283E-1A6F75483A10}"/>
                  </a:ext>
                </a:extLst>
              </p:cNvPr>
              <p:cNvSpPr txBox="1"/>
              <p:nvPr/>
            </p:nvSpPr>
            <p:spPr>
              <a:xfrm>
                <a:off x="229459" y="3248043"/>
                <a:ext cx="1207402" cy="230832"/>
              </a:xfrm>
              <a:prstGeom prst="rect">
                <a:avLst/>
              </a:prstGeom>
              <a:noFill/>
            </p:spPr>
            <p:txBody>
              <a:bodyPr wrap="square" rtlCol="0">
                <a:spAutoFit/>
              </a:bodyPr>
              <a:lstStyle/>
              <a:p>
                <a:r>
                  <a:rPr lang="en-US" sz="900" dirty="0"/>
                  <a:t>- Heating / cooling </a:t>
                </a:r>
              </a:p>
            </p:txBody>
          </p:sp>
          <p:sp>
            <p:nvSpPr>
              <p:cNvPr id="3252" name="TextBox 3251">
                <a:extLst>
                  <a:ext uri="{FF2B5EF4-FFF2-40B4-BE49-F238E27FC236}">
                    <a16:creationId xmlns:a16="http://schemas.microsoft.com/office/drawing/2014/main" id="{B188B577-7C80-5AC7-D074-8073290BDBD4}"/>
                  </a:ext>
                </a:extLst>
              </p:cNvPr>
              <p:cNvSpPr txBox="1"/>
              <p:nvPr/>
            </p:nvSpPr>
            <p:spPr>
              <a:xfrm>
                <a:off x="238386" y="3597949"/>
                <a:ext cx="1299044" cy="230832"/>
              </a:xfrm>
              <a:prstGeom prst="rect">
                <a:avLst/>
              </a:prstGeom>
              <a:noFill/>
            </p:spPr>
            <p:txBody>
              <a:bodyPr wrap="square" rtlCol="0">
                <a:spAutoFit/>
              </a:bodyPr>
              <a:lstStyle/>
              <a:p>
                <a:r>
                  <a:rPr lang="en-US" sz="900" dirty="0"/>
                  <a:t>- forklift ops </a:t>
                </a:r>
              </a:p>
            </p:txBody>
          </p:sp>
          <p:sp>
            <p:nvSpPr>
              <p:cNvPr id="3253" name="TextBox 3252">
                <a:extLst>
                  <a:ext uri="{FF2B5EF4-FFF2-40B4-BE49-F238E27FC236}">
                    <a16:creationId xmlns:a16="http://schemas.microsoft.com/office/drawing/2014/main" id="{9A57792B-DAA7-ECB6-827E-9705DD49878E}"/>
                  </a:ext>
                </a:extLst>
              </p:cNvPr>
              <p:cNvSpPr txBox="1"/>
              <p:nvPr/>
            </p:nvSpPr>
            <p:spPr>
              <a:xfrm>
                <a:off x="237331" y="3712552"/>
                <a:ext cx="1271812" cy="230832"/>
              </a:xfrm>
              <a:prstGeom prst="rect">
                <a:avLst/>
              </a:prstGeom>
              <a:noFill/>
            </p:spPr>
            <p:txBody>
              <a:bodyPr wrap="square" rtlCol="0">
                <a:spAutoFit/>
              </a:bodyPr>
              <a:lstStyle/>
              <a:p>
                <a:r>
                  <a:rPr lang="en-US" sz="900" dirty="0"/>
                  <a:t>- cranes for loading </a:t>
                </a:r>
              </a:p>
            </p:txBody>
          </p:sp>
        </p:grpSp>
        <p:sp>
          <p:nvSpPr>
            <p:cNvPr id="3244" name="TextBox 3243">
              <a:extLst>
                <a:ext uri="{FF2B5EF4-FFF2-40B4-BE49-F238E27FC236}">
                  <a16:creationId xmlns:a16="http://schemas.microsoft.com/office/drawing/2014/main" id="{9D5ED587-84BE-E988-91AD-85B2AFB6387F}"/>
                </a:ext>
              </a:extLst>
            </p:cNvPr>
            <p:cNvSpPr txBox="1"/>
            <p:nvPr/>
          </p:nvSpPr>
          <p:spPr>
            <a:xfrm>
              <a:off x="130856" y="5142705"/>
              <a:ext cx="1473562" cy="230832"/>
            </a:xfrm>
            <a:prstGeom prst="rect">
              <a:avLst/>
            </a:prstGeom>
            <a:noFill/>
          </p:spPr>
          <p:txBody>
            <a:bodyPr wrap="square" rtlCol="0">
              <a:spAutoFit/>
            </a:bodyPr>
            <a:lstStyle/>
            <a:p>
              <a:r>
                <a:rPr lang="en-US" sz="900" b="1" dirty="0"/>
                <a:t>Utilize GHG credits</a:t>
              </a:r>
            </a:p>
          </p:txBody>
        </p:sp>
      </p:grpSp>
      <p:grpSp>
        <p:nvGrpSpPr>
          <p:cNvPr id="3231" name="Group 3230">
            <a:extLst>
              <a:ext uri="{FF2B5EF4-FFF2-40B4-BE49-F238E27FC236}">
                <a16:creationId xmlns:a16="http://schemas.microsoft.com/office/drawing/2014/main" id="{B41CA48F-31DB-C3CC-93F6-EF943B5D0D56}"/>
              </a:ext>
            </a:extLst>
          </p:cNvPr>
          <p:cNvGrpSpPr/>
          <p:nvPr/>
        </p:nvGrpSpPr>
        <p:grpSpPr>
          <a:xfrm>
            <a:off x="1204199" y="2714681"/>
            <a:ext cx="677943" cy="2484670"/>
            <a:chOff x="1047209" y="2870716"/>
            <a:chExt cx="834255" cy="2484670"/>
          </a:xfrm>
        </p:grpSpPr>
        <p:sp>
          <p:nvSpPr>
            <p:cNvPr id="3258" name="TextBox 3257">
              <a:extLst>
                <a:ext uri="{FF2B5EF4-FFF2-40B4-BE49-F238E27FC236}">
                  <a16:creationId xmlns:a16="http://schemas.microsoft.com/office/drawing/2014/main" id="{B680F303-7132-24B0-2D9C-622F2032F296}"/>
                </a:ext>
              </a:extLst>
            </p:cNvPr>
            <p:cNvSpPr txBox="1"/>
            <p:nvPr/>
          </p:nvSpPr>
          <p:spPr>
            <a:xfrm>
              <a:off x="1317812" y="3835871"/>
              <a:ext cx="496693" cy="230832"/>
            </a:xfrm>
            <a:prstGeom prst="rect">
              <a:avLst/>
            </a:prstGeom>
            <a:noFill/>
          </p:spPr>
          <p:txBody>
            <a:bodyPr wrap="square" rtlCol="0">
              <a:spAutoFit/>
            </a:bodyPr>
            <a:lstStyle/>
            <a:p>
              <a:pPr algn="r"/>
              <a:r>
                <a:rPr lang="en-US" sz="900" b="1" dirty="0"/>
                <a:t>45.4</a:t>
              </a:r>
            </a:p>
          </p:txBody>
        </p:sp>
        <p:sp>
          <p:nvSpPr>
            <p:cNvPr id="3259" name="TextBox 3258">
              <a:extLst>
                <a:ext uri="{FF2B5EF4-FFF2-40B4-BE49-F238E27FC236}">
                  <a16:creationId xmlns:a16="http://schemas.microsoft.com/office/drawing/2014/main" id="{789029F4-0DE3-9753-4DC6-B4B1FFEEF257}"/>
                </a:ext>
              </a:extLst>
            </p:cNvPr>
            <p:cNvSpPr txBox="1"/>
            <p:nvPr/>
          </p:nvSpPr>
          <p:spPr>
            <a:xfrm>
              <a:off x="1345260" y="4308522"/>
              <a:ext cx="478202" cy="230832"/>
            </a:xfrm>
            <a:prstGeom prst="rect">
              <a:avLst/>
            </a:prstGeom>
            <a:noFill/>
          </p:spPr>
          <p:txBody>
            <a:bodyPr wrap="square" rtlCol="0">
              <a:spAutoFit/>
            </a:bodyPr>
            <a:lstStyle/>
            <a:p>
              <a:pPr algn="r"/>
              <a:r>
                <a:rPr lang="en-US" sz="900" b="1" dirty="0"/>
                <a:t>4.4</a:t>
              </a:r>
            </a:p>
          </p:txBody>
        </p:sp>
        <p:sp>
          <p:nvSpPr>
            <p:cNvPr id="3260" name="TextBox 3259">
              <a:extLst>
                <a:ext uri="{FF2B5EF4-FFF2-40B4-BE49-F238E27FC236}">
                  <a16:creationId xmlns:a16="http://schemas.microsoft.com/office/drawing/2014/main" id="{9A17E7B2-4752-95E1-B6AE-0FE53A46D69A}"/>
                </a:ext>
              </a:extLst>
            </p:cNvPr>
            <p:cNvSpPr txBox="1"/>
            <p:nvPr/>
          </p:nvSpPr>
          <p:spPr>
            <a:xfrm>
              <a:off x="1387522" y="4197434"/>
              <a:ext cx="436434" cy="230832"/>
            </a:xfrm>
            <a:prstGeom prst="rect">
              <a:avLst/>
            </a:prstGeom>
            <a:noFill/>
          </p:spPr>
          <p:txBody>
            <a:bodyPr wrap="square" rtlCol="0">
              <a:spAutoFit/>
            </a:bodyPr>
            <a:lstStyle/>
            <a:p>
              <a:pPr algn="r"/>
              <a:r>
                <a:rPr lang="en-US" sz="900" b="1" dirty="0"/>
                <a:t>2.4</a:t>
              </a:r>
            </a:p>
          </p:txBody>
        </p:sp>
        <p:sp>
          <p:nvSpPr>
            <p:cNvPr id="3261" name="TextBox 3260">
              <a:extLst>
                <a:ext uri="{FF2B5EF4-FFF2-40B4-BE49-F238E27FC236}">
                  <a16:creationId xmlns:a16="http://schemas.microsoft.com/office/drawing/2014/main" id="{5B10B327-84E8-2101-A093-E18D9AB0E8F8}"/>
                </a:ext>
              </a:extLst>
            </p:cNvPr>
            <p:cNvSpPr txBox="1"/>
            <p:nvPr/>
          </p:nvSpPr>
          <p:spPr>
            <a:xfrm>
              <a:off x="1370030" y="4838957"/>
              <a:ext cx="449639" cy="230832"/>
            </a:xfrm>
            <a:prstGeom prst="rect">
              <a:avLst/>
            </a:prstGeom>
            <a:noFill/>
          </p:spPr>
          <p:txBody>
            <a:bodyPr wrap="square" rtlCol="0">
              <a:spAutoFit/>
            </a:bodyPr>
            <a:lstStyle/>
            <a:p>
              <a:pPr algn="r"/>
              <a:r>
                <a:rPr lang="en-US" sz="900" b="1" dirty="0"/>
                <a:t>0.0</a:t>
              </a:r>
            </a:p>
          </p:txBody>
        </p:sp>
        <p:sp>
          <p:nvSpPr>
            <p:cNvPr id="3262" name="TextBox 3261">
              <a:extLst>
                <a:ext uri="{FF2B5EF4-FFF2-40B4-BE49-F238E27FC236}">
                  <a16:creationId xmlns:a16="http://schemas.microsoft.com/office/drawing/2014/main" id="{F00E457C-BE0B-CDF8-3AA6-FE5550FDFF9B}"/>
                </a:ext>
              </a:extLst>
            </p:cNvPr>
            <p:cNvSpPr txBox="1"/>
            <p:nvPr/>
          </p:nvSpPr>
          <p:spPr>
            <a:xfrm>
              <a:off x="1324692" y="4524777"/>
              <a:ext cx="494889" cy="230832"/>
            </a:xfrm>
            <a:prstGeom prst="rect">
              <a:avLst/>
            </a:prstGeom>
            <a:noFill/>
          </p:spPr>
          <p:txBody>
            <a:bodyPr wrap="square" rtlCol="0">
              <a:spAutoFit/>
            </a:bodyPr>
            <a:lstStyle/>
            <a:p>
              <a:pPr algn="r"/>
              <a:r>
                <a:rPr lang="en-US" sz="900" b="1" dirty="0"/>
                <a:t>1.9</a:t>
              </a:r>
            </a:p>
          </p:txBody>
        </p:sp>
        <p:sp>
          <p:nvSpPr>
            <p:cNvPr id="3263" name="TextBox 3262">
              <a:extLst>
                <a:ext uri="{FF2B5EF4-FFF2-40B4-BE49-F238E27FC236}">
                  <a16:creationId xmlns:a16="http://schemas.microsoft.com/office/drawing/2014/main" id="{F10286D4-E9FD-CA21-7B6A-01C7209F1721}"/>
                </a:ext>
              </a:extLst>
            </p:cNvPr>
            <p:cNvSpPr txBox="1"/>
            <p:nvPr/>
          </p:nvSpPr>
          <p:spPr>
            <a:xfrm>
              <a:off x="1241094" y="5124554"/>
              <a:ext cx="585797" cy="230832"/>
            </a:xfrm>
            <a:prstGeom prst="rect">
              <a:avLst/>
            </a:prstGeom>
            <a:noFill/>
          </p:spPr>
          <p:txBody>
            <a:bodyPr wrap="square" rtlCol="0">
              <a:spAutoFit/>
            </a:bodyPr>
            <a:lstStyle/>
            <a:p>
              <a:pPr algn="r"/>
              <a:r>
                <a:rPr lang="en-US" sz="900" b="1" dirty="0"/>
                <a:t>351.3</a:t>
              </a:r>
            </a:p>
          </p:txBody>
        </p:sp>
        <p:sp>
          <p:nvSpPr>
            <p:cNvPr id="3169" name="TextBox 3168">
              <a:extLst>
                <a:ext uri="{FF2B5EF4-FFF2-40B4-BE49-F238E27FC236}">
                  <a16:creationId xmlns:a16="http://schemas.microsoft.com/office/drawing/2014/main" id="{B1FD2D16-36D3-42E7-8E2E-510282838534}"/>
                </a:ext>
              </a:extLst>
            </p:cNvPr>
            <p:cNvSpPr txBox="1"/>
            <p:nvPr/>
          </p:nvSpPr>
          <p:spPr>
            <a:xfrm>
              <a:off x="1047209" y="3041501"/>
              <a:ext cx="758831" cy="230832"/>
            </a:xfrm>
            <a:prstGeom prst="rect">
              <a:avLst/>
            </a:prstGeom>
            <a:noFill/>
          </p:spPr>
          <p:txBody>
            <a:bodyPr wrap="square" rtlCol="0">
              <a:spAutoFit/>
            </a:bodyPr>
            <a:lstStyle/>
            <a:p>
              <a:pPr algn="r"/>
              <a:r>
                <a:rPr lang="en-US" sz="900" b="1" dirty="0"/>
                <a:t>293</a:t>
              </a:r>
            </a:p>
          </p:txBody>
        </p:sp>
        <p:sp>
          <p:nvSpPr>
            <p:cNvPr id="3170" name="TextBox 3169">
              <a:extLst>
                <a:ext uri="{FF2B5EF4-FFF2-40B4-BE49-F238E27FC236}">
                  <a16:creationId xmlns:a16="http://schemas.microsoft.com/office/drawing/2014/main" id="{7044EEAA-2373-CE65-1921-A523EFAA0C00}"/>
                </a:ext>
              </a:extLst>
            </p:cNvPr>
            <p:cNvSpPr txBox="1"/>
            <p:nvPr/>
          </p:nvSpPr>
          <p:spPr>
            <a:xfrm>
              <a:off x="1416199" y="3395311"/>
              <a:ext cx="465265" cy="230832"/>
            </a:xfrm>
            <a:prstGeom prst="rect">
              <a:avLst/>
            </a:prstGeom>
            <a:noFill/>
          </p:spPr>
          <p:txBody>
            <a:bodyPr wrap="square" rtlCol="0">
              <a:spAutoFit/>
            </a:bodyPr>
            <a:lstStyle/>
            <a:p>
              <a:r>
                <a:rPr lang="en-US" sz="900" b="1" dirty="0"/>
                <a:t>2.9</a:t>
              </a:r>
            </a:p>
          </p:txBody>
        </p:sp>
        <p:sp>
          <p:nvSpPr>
            <p:cNvPr id="3171" name="TextBox 3170">
              <a:extLst>
                <a:ext uri="{FF2B5EF4-FFF2-40B4-BE49-F238E27FC236}">
                  <a16:creationId xmlns:a16="http://schemas.microsoft.com/office/drawing/2014/main" id="{45D238D2-8F14-AF1E-5BB3-E09BDA4E53CB}"/>
                </a:ext>
              </a:extLst>
            </p:cNvPr>
            <p:cNvSpPr txBox="1"/>
            <p:nvPr/>
          </p:nvSpPr>
          <p:spPr>
            <a:xfrm>
              <a:off x="1379989" y="2870716"/>
              <a:ext cx="428679" cy="230832"/>
            </a:xfrm>
            <a:prstGeom prst="rect">
              <a:avLst/>
            </a:prstGeom>
            <a:solidFill>
              <a:srgbClr val="FFFF99"/>
            </a:solidFill>
          </p:spPr>
          <p:txBody>
            <a:bodyPr wrap="square" rtlCol="0">
              <a:spAutoFit/>
            </a:bodyPr>
            <a:lstStyle/>
            <a:p>
              <a:pPr algn="r"/>
              <a:r>
                <a:rPr lang="en-US" sz="900" b="1" dirty="0"/>
                <a:t>.34</a:t>
              </a:r>
            </a:p>
          </p:txBody>
        </p:sp>
      </p:grpSp>
      <p:sp>
        <p:nvSpPr>
          <p:cNvPr id="3234" name="TextBox 3233">
            <a:extLst>
              <a:ext uri="{FF2B5EF4-FFF2-40B4-BE49-F238E27FC236}">
                <a16:creationId xmlns:a16="http://schemas.microsoft.com/office/drawing/2014/main" id="{6C7CFE8D-FAAF-DC52-D27B-63F134442963}"/>
              </a:ext>
            </a:extLst>
          </p:cNvPr>
          <p:cNvSpPr txBox="1"/>
          <p:nvPr/>
        </p:nvSpPr>
        <p:spPr>
          <a:xfrm>
            <a:off x="94455" y="2448225"/>
            <a:ext cx="3748032" cy="230832"/>
          </a:xfrm>
          <a:prstGeom prst="rect">
            <a:avLst/>
          </a:prstGeom>
          <a:noFill/>
        </p:spPr>
        <p:txBody>
          <a:bodyPr wrap="square" rtlCol="0">
            <a:spAutoFit/>
          </a:bodyPr>
          <a:lstStyle/>
          <a:p>
            <a:r>
              <a:rPr lang="en-US" sz="900" b="1" dirty="0"/>
              <a:t>DT Model Baseline </a:t>
            </a:r>
            <a:r>
              <a:rPr lang="en-US" sz="900" dirty="0">
                <a:solidFill>
                  <a:srgbClr val="FF0000"/>
                </a:solidFill>
              </a:rPr>
              <a:t>(</a:t>
            </a:r>
            <a:r>
              <a:rPr lang="en-US" sz="900" dirty="0" err="1">
                <a:solidFill>
                  <a:srgbClr val="FF0000"/>
                </a:solidFill>
              </a:rPr>
              <a:t>mtons</a:t>
            </a:r>
            <a:r>
              <a:rPr lang="en-US" sz="900" dirty="0">
                <a:solidFill>
                  <a:srgbClr val="FF0000"/>
                </a:solidFill>
              </a:rPr>
              <a:t> of CO2e) </a:t>
            </a:r>
          </a:p>
        </p:txBody>
      </p:sp>
      <p:sp>
        <p:nvSpPr>
          <p:cNvPr id="3235" name="TextBox 3234">
            <a:extLst>
              <a:ext uri="{FF2B5EF4-FFF2-40B4-BE49-F238E27FC236}">
                <a16:creationId xmlns:a16="http://schemas.microsoft.com/office/drawing/2014/main" id="{6CD324B6-5841-550D-0225-DE4781B13A32}"/>
              </a:ext>
            </a:extLst>
          </p:cNvPr>
          <p:cNvSpPr txBox="1"/>
          <p:nvPr/>
        </p:nvSpPr>
        <p:spPr>
          <a:xfrm>
            <a:off x="199588" y="4947119"/>
            <a:ext cx="786887" cy="230832"/>
          </a:xfrm>
          <a:prstGeom prst="rect">
            <a:avLst/>
          </a:prstGeom>
          <a:noFill/>
        </p:spPr>
        <p:txBody>
          <a:bodyPr wrap="square" rtlCol="0">
            <a:spAutoFit/>
          </a:bodyPr>
          <a:lstStyle/>
          <a:p>
            <a:r>
              <a:rPr lang="en-US" sz="900" b="1" dirty="0"/>
              <a:t>Total</a:t>
            </a:r>
          </a:p>
        </p:txBody>
      </p:sp>
      <p:cxnSp>
        <p:nvCxnSpPr>
          <p:cNvPr id="10" name="Straight Arrow Connector 9">
            <a:extLst>
              <a:ext uri="{FF2B5EF4-FFF2-40B4-BE49-F238E27FC236}">
                <a16:creationId xmlns:a16="http://schemas.microsoft.com/office/drawing/2014/main" id="{B4E86936-E214-4352-BFA4-95174B845120}"/>
              </a:ext>
            </a:extLst>
          </p:cNvPr>
          <p:cNvCxnSpPr>
            <a:cxnSpLocks/>
          </p:cNvCxnSpPr>
          <p:nvPr/>
        </p:nvCxnSpPr>
        <p:spPr>
          <a:xfrm>
            <a:off x="2395473" y="5633243"/>
            <a:ext cx="804477" cy="0"/>
          </a:xfrm>
          <a:prstGeom prst="straightConnector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EA393EF-7D92-F446-9E53-61682E1AD9F2}"/>
              </a:ext>
            </a:extLst>
          </p:cNvPr>
          <p:cNvSpPr txBox="1"/>
          <p:nvPr/>
        </p:nvSpPr>
        <p:spPr>
          <a:xfrm>
            <a:off x="94455" y="5667735"/>
            <a:ext cx="2925646" cy="1061829"/>
          </a:xfrm>
          <a:prstGeom prst="rect">
            <a:avLst/>
          </a:prstGeom>
          <a:solidFill>
            <a:schemeClr val="bg1"/>
          </a:solidFill>
          <a:ln w="12700">
            <a:solidFill>
              <a:srgbClr val="FF0000"/>
            </a:solidFill>
          </a:ln>
        </p:spPr>
        <p:txBody>
          <a:bodyPr wrap="square" rtlCol="0">
            <a:spAutoFit/>
          </a:bodyPr>
          <a:lstStyle/>
          <a:p>
            <a:r>
              <a:rPr lang="en-US" sz="900" dirty="0"/>
              <a:t>The most recent emissions baseline for this supply chain has been modeled resulting in a 74% reduction as shown in the 2nd rectangle entitled “Model Results”. The amount of GHG credits needed is based upon thar completed and verified actions. How GHG credits are gained and applied is now shown.</a:t>
            </a:r>
          </a:p>
          <a:p>
            <a:r>
              <a:rPr lang="en-US" sz="900" b="1" dirty="0"/>
              <a:t>Digital Twin</a:t>
            </a:r>
            <a:r>
              <a:rPr lang="en-US" sz="900" dirty="0"/>
              <a:t> stores these values for comparison purposes.</a:t>
            </a:r>
            <a:endParaRPr lang="en-US" sz="900" b="1" dirty="0"/>
          </a:p>
        </p:txBody>
      </p:sp>
      <p:sp>
        <p:nvSpPr>
          <p:cNvPr id="3172" name="TextBox 3171">
            <a:extLst>
              <a:ext uri="{FF2B5EF4-FFF2-40B4-BE49-F238E27FC236}">
                <a16:creationId xmlns:a16="http://schemas.microsoft.com/office/drawing/2014/main" id="{6AE38C56-00C3-F824-9655-638005A7FE55}"/>
              </a:ext>
            </a:extLst>
          </p:cNvPr>
          <p:cNvSpPr txBox="1"/>
          <p:nvPr/>
        </p:nvSpPr>
        <p:spPr>
          <a:xfrm>
            <a:off x="1499767" y="3378289"/>
            <a:ext cx="433589" cy="230832"/>
          </a:xfrm>
          <a:prstGeom prst="rect">
            <a:avLst/>
          </a:prstGeom>
          <a:noFill/>
        </p:spPr>
        <p:txBody>
          <a:bodyPr wrap="square" rtlCol="0">
            <a:spAutoFit/>
          </a:bodyPr>
          <a:lstStyle/>
          <a:p>
            <a:r>
              <a:rPr lang="en-US" sz="900" b="1" dirty="0"/>
              <a:t>.94</a:t>
            </a:r>
          </a:p>
        </p:txBody>
      </p:sp>
      <p:grpSp>
        <p:nvGrpSpPr>
          <p:cNvPr id="3358" name="Group 3357">
            <a:extLst>
              <a:ext uri="{FF2B5EF4-FFF2-40B4-BE49-F238E27FC236}">
                <a16:creationId xmlns:a16="http://schemas.microsoft.com/office/drawing/2014/main" id="{E531A33F-195B-B62C-2479-0CF9078780A4}"/>
              </a:ext>
            </a:extLst>
          </p:cNvPr>
          <p:cNvGrpSpPr/>
          <p:nvPr/>
        </p:nvGrpSpPr>
        <p:grpSpPr>
          <a:xfrm>
            <a:off x="215799" y="2912518"/>
            <a:ext cx="1650348" cy="2017020"/>
            <a:chOff x="215799" y="2912518"/>
            <a:chExt cx="1650348" cy="2017020"/>
          </a:xfrm>
        </p:grpSpPr>
        <p:cxnSp>
          <p:nvCxnSpPr>
            <p:cNvPr id="3237" name="Straight Connector 3236">
              <a:extLst>
                <a:ext uri="{FF2B5EF4-FFF2-40B4-BE49-F238E27FC236}">
                  <a16:creationId xmlns:a16="http://schemas.microsoft.com/office/drawing/2014/main" id="{59E1DE65-EC00-8787-BB2F-1F9111ADCD44}"/>
                </a:ext>
              </a:extLst>
            </p:cNvPr>
            <p:cNvCxnSpPr>
              <a:cxnSpLocks/>
            </p:cNvCxnSpPr>
            <p:nvPr/>
          </p:nvCxnSpPr>
          <p:spPr>
            <a:xfrm flipV="1">
              <a:off x="215799" y="3080404"/>
              <a:ext cx="1585191"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78" name="Straight Connector 3177">
              <a:extLst>
                <a:ext uri="{FF2B5EF4-FFF2-40B4-BE49-F238E27FC236}">
                  <a16:creationId xmlns:a16="http://schemas.microsoft.com/office/drawing/2014/main" id="{01A935FF-C6C3-E838-C605-41DB2A948FCF}"/>
                </a:ext>
              </a:extLst>
            </p:cNvPr>
            <p:cNvCxnSpPr>
              <a:cxnSpLocks/>
            </p:cNvCxnSpPr>
            <p:nvPr/>
          </p:nvCxnSpPr>
          <p:spPr>
            <a:xfrm flipV="1">
              <a:off x="217180" y="2912518"/>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1" name="Straight Connector 3180">
              <a:extLst>
                <a:ext uri="{FF2B5EF4-FFF2-40B4-BE49-F238E27FC236}">
                  <a16:creationId xmlns:a16="http://schemas.microsoft.com/office/drawing/2014/main" id="{7E6740E9-0282-211E-6389-FC8395B219CE}"/>
                </a:ext>
              </a:extLst>
            </p:cNvPr>
            <p:cNvCxnSpPr>
              <a:cxnSpLocks/>
            </p:cNvCxnSpPr>
            <p:nvPr/>
          </p:nvCxnSpPr>
          <p:spPr>
            <a:xfrm flipV="1">
              <a:off x="236149" y="3557453"/>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2" name="Straight Connector 3181">
              <a:extLst>
                <a:ext uri="{FF2B5EF4-FFF2-40B4-BE49-F238E27FC236}">
                  <a16:creationId xmlns:a16="http://schemas.microsoft.com/office/drawing/2014/main" id="{3B83D205-14DD-D305-E1BE-261AA8909678}"/>
                </a:ext>
              </a:extLst>
            </p:cNvPr>
            <p:cNvCxnSpPr>
              <a:cxnSpLocks/>
            </p:cNvCxnSpPr>
            <p:nvPr/>
          </p:nvCxnSpPr>
          <p:spPr>
            <a:xfrm flipV="1">
              <a:off x="236149" y="3881512"/>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3" name="Straight Connector 3182">
              <a:extLst>
                <a:ext uri="{FF2B5EF4-FFF2-40B4-BE49-F238E27FC236}">
                  <a16:creationId xmlns:a16="http://schemas.microsoft.com/office/drawing/2014/main" id="{7F1CC02B-B642-C864-2E9C-926E227740B7}"/>
                </a:ext>
              </a:extLst>
            </p:cNvPr>
            <p:cNvCxnSpPr>
              <a:cxnSpLocks/>
            </p:cNvCxnSpPr>
            <p:nvPr/>
          </p:nvCxnSpPr>
          <p:spPr>
            <a:xfrm flipV="1">
              <a:off x="260113" y="4355988"/>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4" name="Straight Connector 3183">
              <a:extLst>
                <a:ext uri="{FF2B5EF4-FFF2-40B4-BE49-F238E27FC236}">
                  <a16:creationId xmlns:a16="http://schemas.microsoft.com/office/drawing/2014/main" id="{6E90AB69-0350-A287-4038-637CE75E0413}"/>
                </a:ext>
              </a:extLst>
            </p:cNvPr>
            <p:cNvCxnSpPr>
              <a:cxnSpLocks/>
            </p:cNvCxnSpPr>
            <p:nvPr/>
          </p:nvCxnSpPr>
          <p:spPr>
            <a:xfrm flipV="1">
              <a:off x="267517" y="4604640"/>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5" name="Straight Connector 3184">
              <a:extLst>
                <a:ext uri="{FF2B5EF4-FFF2-40B4-BE49-F238E27FC236}">
                  <a16:creationId xmlns:a16="http://schemas.microsoft.com/office/drawing/2014/main" id="{9E1FA00B-16C4-3496-BA67-35AA549D618F}"/>
                </a:ext>
              </a:extLst>
            </p:cNvPr>
            <p:cNvCxnSpPr>
              <a:cxnSpLocks/>
            </p:cNvCxnSpPr>
            <p:nvPr/>
          </p:nvCxnSpPr>
          <p:spPr>
            <a:xfrm flipV="1">
              <a:off x="280955" y="4922721"/>
              <a:ext cx="1585192" cy="6817"/>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189" name="Straight Connector 3188">
            <a:extLst>
              <a:ext uri="{FF2B5EF4-FFF2-40B4-BE49-F238E27FC236}">
                <a16:creationId xmlns:a16="http://schemas.microsoft.com/office/drawing/2014/main" id="{51D39FD6-0D15-E8A7-E9AD-78AA186B8B72}"/>
              </a:ext>
            </a:extLst>
          </p:cNvPr>
          <p:cNvCxnSpPr>
            <a:cxnSpLocks/>
          </p:cNvCxnSpPr>
          <p:nvPr/>
        </p:nvCxnSpPr>
        <p:spPr>
          <a:xfrm flipV="1">
            <a:off x="234984" y="2681034"/>
            <a:ext cx="1585191" cy="6817"/>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116" name="Group 115">
            <a:extLst>
              <a:ext uri="{FF2B5EF4-FFF2-40B4-BE49-F238E27FC236}">
                <a16:creationId xmlns:a16="http://schemas.microsoft.com/office/drawing/2014/main" id="{EC29656B-955B-D789-70F8-F6926C8DF231}"/>
              </a:ext>
            </a:extLst>
          </p:cNvPr>
          <p:cNvGrpSpPr/>
          <p:nvPr/>
        </p:nvGrpSpPr>
        <p:grpSpPr>
          <a:xfrm>
            <a:off x="4677907" y="2568562"/>
            <a:ext cx="3748032" cy="2751126"/>
            <a:chOff x="2778058" y="1506423"/>
            <a:chExt cx="3185676" cy="2751126"/>
          </a:xfrm>
        </p:grpSpPr>
        <p:grpSp>
          <p:nvGrpSpPr>
            <p:cNvPr id="117" name="Group 116">
              <a:extLst>
                <a:ext uri="{FF2B5EF4-FFF2-40B4-BE49-F238E27FC236}">
                  <a16:creationId xmlns:a16="http://schemas.microsoft.com/office/drawing/2014/main" id="{3B6E98CC-1AA3-F6C6-960D-FE0B63326AF2}"/>
                </a:ext>
              </a:extLst>
            </p:cNvPr>
            <p:cNvGrpSpPr/>
            <p:nvPr/>
          </p:nvGrpSpPr>
          <p:grpSpPr>
            <a:xfrm>
              <a:off x="2778058" y="1506423"/>
              <a:ext cx="3185676" cy="2751126"/>
              <a:chOff x="-38978" y="3109739"/>
              <a:chExt cx="3185676" cy="2751126"/>
            </a:xfrm>
          </p:grpSpPr>
          <p:grpSp>
            <p:nvGrpSpPr>
              <p:cNvPr id="119" name="Group 118">
                <a:extLst>
                  <a:ext uri="{FF2B5EF4-FFF2-40B4-BE49-F238E27FC236}">
                    <a16:creationId xmlns:a16="http://schemas.microsoft.com/office/drawing/2014/main" id="{076D2F4D-175B-B581-A03B-75CB5EFDA772}"/>
                  </a:ext>
                </a:extLst>
              </p:cNvPr>
              <p:cNvGrpSpPr/>
              <p:nvPr/>
            </p:nvGrpSpPr>
            <p:grpSpPr>
              <a:xfrm>
                <a:off x="-6854" y="3342960"/>
                <a:ext cx="2127437" cy="2238904"/>
                <a:chOff x="116435" y="3134633"/>
                <a:chExt cx="2715023" cy="2238904"/>
              </a:xfrm>
            </p:grpSpPr>
            <p:grpSp>
              <p:nvGrpSpPr>
                <p:cNvPr id="1025" name="Group 1024">
                  <a:extLst>
                    <a:ext uri="{FF2B5EF4-FFF2-40B4-BE49-F238E27FC236}">
                      <a16:creationId xmlns:a16="http://schemas.microsoft.com/office/drawing/2014/main" id="{1CED27D6-DE4C-8DA3-CDE8-1F3BD7783E54}"/>
                    </a:ext>
                  </a:extLst>
                </p:cNvPr>
                <p:cNvGrpSpPr/>
                <p:nvPr/>
              </p:nvGrpSpPr>
              <p:grpSpPr>
                <a:xfrm>
                  <a:off x="116435" y="3134633"/>
                  <a:ext cx="2715023" cy="1926603"/>
                  <a:chOff x="51410" y="2232683"/>
                  <a:chExt cx="2715023" cy="1926603"/>
                </a:xfrm>
              </p:grpSpPr>
              <p:sp>
                <p:nvSpPr>
                  <p:cNvPr id="1027" name="TextBox 1026">
                    <a:extLst>
                      <a:ext uri="{FF2B5EF4-FFF2-40B4-BE49-F238E27FC236}">
                        <a16:creationId xmlns:a16="http://schemas.microsoft.com/office/drawing/2014/main" id="{99ECBD2E-8610-61A3-D34A-DE79506A8CF6}"/>
                      </a:ext>
                    </a:extLst>
                  </p:cNvPr>
                  <p:cNvSpPr txBox="1"/>
                  <p:nvPr/>
                </p:nvSpPr>
                <p:spPr>
                  <a:xfrm>
                    <a:off x="51410" y="2451720"/>
                    <a:ext cx="2332582" cy="230832"/>
                  </a:xfrm>
                  <a:prstGeom prst="rect">
                    <a:avLst/>
                  </a:prstGeom>
                  <a:noFill/>
                </p:spPr>
                <p:txBody>
                  <a:bodyPr wrap="square" rtlCol="0">
                    <a:spAutoFit/>
                  </a:bodyPr>
                  <a:lstStyle/>
                  <a:p>
                    <a:r>
                      <a:rPr lang="en-US" sz="900" dirty="0"/>
                      <a:t>Coffee supplier</a:t>
                    </a:r>
                  </a:p>
                </p:txBody>
              </p:sp>
              <p:sp>
                <p:nvSpPr>
                  <p:cNvPr id="1028" name="TextBox 1027">
                    <a:extLst>
                      <a:ext uri="{FF2B5EF4-FFF2-40B4-BE49-F238E27FC236}">
                        <a16:creationId xmlns:a16="http://schemas.microsoft.com/office/drawing/2014/main" id="{A7C79828-87EF-3B8C-EB28-A60FEEC1FC5E}"/>
                      </a:ext>
                    </a:extLst>
                  </p:cNvPr>
                  <p:cNvSpPr txBox="1"/>
                  <p:nvPr/>
                </p:nvSpPr>
                <p:spPr>
                  <a:xfrm>
                    <a:off x="79041" y="3110105"/>
                    <a:ext cx="1474650" cy="230832"/>
                  </a:xfrm>
                  <a:prstGeom prst="rect">
                    <a:avLst/>
                  </a:prstGeom>
                  <a:noFill/>
                </p:spPr>
                <p:txBody>
                  <a:bodyPr wrap="square" rtlCol="0">
                    <a:spAutoFit/>
                  </a:bodyPr>
                  <a:lstStyle/>
                  <a:p>
                    <a:r>
                      <a:rPr lang="en-US" sz="900" dirty="0"/>
                      <a:t>Warehouse ops </a:t>
                    </a:r>
                  </a:p>
                </p:txBody>
              </p:sp>
              <p:sp>
                <p:nvSpPr>
                  <p:cNvPr id="1029" name="TextBox 1028">
                    <a:extLst>
                      <a:ext uri="{FF2B5EF4-FFF2-40B4-BE49-F238E27FC236}">
                        <a16:creationId xmlns:a16="http://schemas.microsoft.com/office/drawing/2014/main" id="{91C32F8F-CBC3-2514-6BF2-6AE7A3F41788}"/>
                      </a:ext>
                    </a:extLst>
                  </p:cNvPr>
                  <p:cNvSpPr txBox="1"/>
                  <p:nvPr/>
                </p:nvSpPr>
                <p:spPr>
                  <a:xfrm>
                    <a:off x="54461" y="2232683"/>
                    <a:ext cx="2437293" cy="230832"/>
                  </a:xfrm>
                  <a:prstGeom prst="rect">
                    <a:avLst/>
                  </a:prstGeom>
                  <a:noFill/>
                </p:spPr>
                <p:txBody>
                  <a:bodyPr wrap="square" rtlCol="0">
                    <a:spAutoFit/>
                  </a:bodyPr>
                  <a:lstStyle/>
                  <a:p>
                    <a:r>
                      <a:rPr lang="en-US" sz="900" dirty="0"/>
                      <a:t>Manuf. of coffee bags</a:t>
                    </a:r>
                  </a:p>
                </p:txBody>
              </p:sp>
              <p:sp>
                <p:nvSpPr>
                  <p:cNvPr id="1030" name="TextBox 1029">
                    <a:extLst>
                      <a:ext uri="{FF2B5EF4-FFF2-40B4-BE49-F238E27FC236}">
                        <a16:creationId xmlns:a16="http://schemas.microsoft.com/office/drawing/2014/main" id="{0953C958-5C83-BBEB-F1E5-9137371E29A3}"/>
                      </a:ext>
                    </a:extLst>
                  </p:cNvPr>
                  <p:cNvSpPr txBox="1"/>
                  <p:nvPr/>
                </p:nvSpPr>
                <p:spPr>
                  <a:xfrm>
                    <a:off x="75940" y="3928454"/>
                    <a:ext cx="1188249" cy="230832"/>
                  </a:xfrm>
                  <a:prstGeom prst="rect">
                    <a:avLst/>
                  </a:prstGeom>
                  <a:noFill/>
                </p:spPr>
                <p:txBody>
                  <a:bodyPr wrap="square" rtlCol="0">
                    <a:spAutoFit/>
                  </a:bodyPr>
                  <a:lstStyle/>
                  <a:p>
                    <a:r>
                      <a:rPr lang="en-US" sz="900" dirty="0"/>
                      <a:t>Ship to N.Y. harbor</a:t>
                    </a:r>
                    <a:endParaRPr lang="en-US" sz="900" b="1" dirty="0"/>
                  </a:p>
                </p:txBody>
              </p:sp>
              <p:sp>
                <p:nvSpPr>
                  <p:cNvPr id="1031" name="TextBox 1030">
                    <a:extLst>
                      <a:ext uri="{FF2B5EF4-FFF2-40B4-BE49-F238E27FC236}">
                        <a16:creationId xmlns:a16="http://schemas.microsoft.com/office/drawing/2014/main" id="{3C47B129-5E73-5727-47EF-92BA93E17C89}"/>
                      </a:ext>
                    </a:extLst>
                  </p:cNvPr>
                  <p:cNvSpPr txBox="1"/>
                  <p:nvPr/>
                </p:nvSpPr>
                <p:spPr>
                  <a:xfrm>
                    <a:off x="77138" y="3471090"/>
                    <a:ext cx="1817504" cy="230832"/>
                  </a:xfrm>
                  <a:prstGeom prst="rect">
                    <a:avLst/>
                  </a:prstGeom>
                  <a:noFill/>
                </p:spPr>
                <p:txBody>
                  <a:bodyPr wrap="square" rtlCol="0">
                    <a:spAutoFit/>
                  </a:bodyPr>
                  <a:lstStyle/>
                  <a:p>
                    <a:r>
                      <a:rPr lang="en-US" sz="900" dirty="0"/>
                      <a:t>Coffee bag loading on ship</a:t>
                    </a:r>
                  </a:p>
                </p:txBody>
              </p:sp>
              <p:sp>
                <p:nvSpPr>
                  <p:cNvPr id="1032" name="TextBox 1031">
                    <a:extLst>
                      <a:ext uri="{FF2B5EF4-FFF2-40B4-BE49-F238E27FC236}">
                        <a16:creationId xmlns:a16="http://schemas.microsoft.com/office/drawing/2014/main" id="{A61CFCCF-A5FB-B9DE-D80F-BB85F0FAADD8}"/>
                      </a:ext>
                    </a:extLst>
                  </p:cNvPr>
                  <p:cNvSpPr txBox="1"/>
                  <p:nvPr/>
                </p:nvSpPr>
                <p:spPr>
                  <a:xfrm>
                    <a:off x="67300" y="2650383"/>
                    <a:ext cx="2699133" cy="507831"/>
                  </a:xfrm>
                  <a:prstGeom prst="rect">
                    <a:avLst/>
                  </a:prstGeom>
                  <a:noFill/>
                </p:spPr>
                <p:txBody>
                  <a:bodyPr wrap="square" rtlCol="0">
                    <a:spAutoFit/>
                  </a:bodyPr>
                  <a:lstStyle/>
                  <a:p>
                    <a:r>
                      <a:rPr lang="en-US" sz="900" dirty="0"/>
                      <a:t>Trucking to Warehouse</a:t>
                    </a:r>
                  </a:p>
                  <a:p>
                    <a:r>
                      <a:rPr lang="en-US" sz="900" dirty="0"/>
                      <a:t>    - Freight Co. #2</a:t>
                    </a:r>
                  </a:p>
                  <a:p>
                    <a:r>
                      <a:rPr lang="en-US" sz="900" dirty="0"/>
                      <a:t>    - unloading</a:t>
                    </a:r>
                  </a:p>
                </p:txBody>
              </p:sp>
              <p:sp>
                <p:nvSpPr>
                  <p:cNvPr id="1033" name="TextBox 1032">
                    <a:extLst>
                      <a:ext uri="{FF2B5EF4-FFF2-40B4-BE49-F238E27FC236}">
                        <a16:creationId xmlns:a16="http://schemas.microsoft.com/office/drawing/2014/main" id="{0B03A0CA-FF99-1FDE-583E-8FE19DD2204D}"/>
                      </a:ext>
                    </a:extLst>
                  </p:cNvPr>
                  <p:cNvSpPr txBox="1"/>
                  <p:nvPr/>
                </p:nvSpPr>
                <p:spPr>
                  <a:xfrm>
                    <a:off x="229459" y="3248043"/>
                    <a:ext cx="1207402" cy="230832"/>
                  </a:xfrm>
                  <a:prstGeom prst="rect">
                    <a:avLst/>
                  </a:prstGeom>
                  <a:noFill/>
                </p:spPr>
                <p:txBody>
                  <a:bodyPr wrap="square" rtlCol="0">
                    <a:spAutoFit/>
                  </a:bodyPr>
                  <a:lstStyle/>
                  <a:p>
                    <a:r>
                      <a:rPr lang="en-US" sz="900" dirty="0"/>
                      <a:t>- Heating / cooling </a:t>
                    </a:r>
                  </a:p>
                </p:txBody>
              </p:sp>
              <p:sp>
                <p:nvSpPr>
                  <p:cNvPr id="1034" name="TextBox 1033">
                    <a:extLst>
                      <a:ext uri="{FF2B5EF4-FFF2-40B4-BE49-F238E27FC236}">
                        <a16:creationId xmlns:a16="http://schemas.microsoft.com/office/drawing/2014/main" id="{200474E6-5BBA-882A-A072-127C98A79D02}"/>
                      </a:ext>
                    </a:extLst>
                  </p:cNvPr>
                  <p:cNvSpPr txBox="1"/>
                  <p:nvPr/>
                </p:nvSpPr>
                <p:spPr>
                  <a:xfrm>
                    <a:off x="238386" y="3597949"/>
                    <a:ext cx="1299044" cy="230832"/>
                  </a:xfrm>
                  <a:prstGeom prst="rect">
                    <a:avLst/>
                  </a:prstGeom>
                  <a:noFill/>
                </p:spPr>
                <p:txBody>
                  <a:bodyPr wrap="square" rtlCol="0">
                    <a:spAutoFit/>
                  </a:bodyPr>
                  <a:lstStyle/>
                  <a:p>
                    <a:r>
                      <a:rPr lang="en-US" sz="900" dirty="0"/>
                      <a:t>- forklift ops </a:t>
                    </a:r>
                  </a:p>
                </p:txBody>
              </p:sp>
              <p:sp>
                <p:nvSpPr>
                  <p:cNvPr id="1035" name="TextBox 1034">
                    <a:extLst>
                      <a:ext uri="{FF2B5EF4-FFF2-40B4-BE49-F238E27FC236}">
                        <a16:creationId xmlns:a16="http://schemas.microsoft.com/office/drawing/2014/main" id="{23AC776F-1395-C1FD-C630-6F10C2D65D93}"/>
                      </a:ext>
                    </a:extLst>
                  </p:cNvPr>
                  <p:cNvSpPr txBox="1"/>
                  <p:nvPr/>
                </p:nvSpPr>
                <p:spPr>
                  <a:xfrm>
                    <a:off x="237331" y="3712552"/>
                    <a:ext cx="1271812" cy="230832"/>
                  </a:xfrm>
                  <a:prstGeom prst="rect">
                    <a:avLst/>
                  </a:prstGeom>
                  <a:noFill/>
                </p:spPr>
                <p:txBody>
                  <a:bodyPr wrap="square" rtlCol="0">
                    <a:spAutoFit/>
                  </a:bodyPr>
                  <a:lstStyle/>
                  <a:p>
                    <a:r>
                      <a:rPr lang="en-US" sz="900" dirty="0"/>
                      <a:t>- cranes for loading </a:t>
                    </a:r>
                  </a:p>
                </p:txBody>
              </p:sp>
            </p:grpSp>
            <p:sp>
              <p:nvSpPr>
                <p:cNvPr id="1026" name="TextBox 1025">
                  <a:extLst>
                    <a:ext uri="{FF2B5EF4-FFF2-40B4-BE49-F238E27FC236}">
                      <a16:creationId xmlns:a16="http://schemas.microsoft.com/office/drawing/2014/main" id="{4964A14A-8900-6BED-06BD-62F495439DE8}"/>
                    </a:ext>
                  </a:extLst>
                </p:cNvPr>
                <p:cNvSpPr txBox="1"/>
                <p:nvPr/>
              </p:nvSpPr>
              <p:spPr>
                <a:xfrm>
                  <a:off x="130856" y="5142705"/>
                  <a:ext cx="1473562" cy="230832"/>
                </a:xfrm>
                <a:prstGeom prst="rect">
                  <a:avLst/>
                </a:prstGeom>
                <a:noFill/>
              </p:spPr>
              <p:txBody>
                <a:bodyPr wrap="square" rtlCol="0">
                  <a:spAutoFit/>
                </a:bodyPr>
                <a:lstStyle/>
                <a:p>
                  <a:r>
                    <a:rPr lang="en-US" sz="900" b="1" dirty="0"/>
                    <a:t>Utilize GHG credits</a:t>
                  </a:r>
                </a:p>
              </p:txBody>
            </p:sp>
          </p:grpSp>
          <p:grpSp>
            <p:nvGrpSpPr>
              <p:cNvPr id="120" name="Group 119">
                <a:extLst>
                  <a:ext uri="{FF2B5EF4-FFF2-40B4-BE49-F238E27FC236}">
                    <a16:creationId xmlns:a16="http://schemas.microsoft.com/office/drawing/2014/main" id="{8F36388A-4652-C389-68A3-235F15622F6E}"/>
                  </a:ext>
                </a:extLst>
              </p:cNvPr>
              <p:cNvGrpSpPr/>
              <p:nvPr/>
            </p:nvGrpSpPr>
            <p:grpSpPr>
              <a:xfrm>
                <a:off x="904260" y="3376195"/>
                <a:ext cx="576224" cy="2484670"/>
                <a:chOff x="1047209" y="2870716"/>
                <a:chExt cx="834255" cy="2484670"/>
              </a:xfrm>
            </p:grpSpPr>
            <p:sp>
              <p:nvSpPr>
                <p:cNvPr id="123" name="TextBox 122">
                  <a:extLst>
                    <a:ext uri="{FF2B5EF4-FFF2-40B4-BE49-F238E27FC236}">
                      <a16:creationId xmlns:a16="http://schemas.microsoft.com/office/drawing/2014/main" id="{937E7158-0747-B3C1-27F0-69E8BDEA53AD}"/>
                    </a:ext>
                  </a:extLst>
                </p:cNvPr>
                <p:cNvSpPr txBox="1"/>
                <p:nvPr/>
              </p:nvSpPr>
              <p:spPr>
                <a:xfrm>
                  <a:off x="1369305" y="3835871"/>
                  <a:ext cx="445200" cy="230832"/>
                </a:xfrm>
                <a:prstGeom prst="rect">
                  <a:avLst/>
                </a:prstGeom>
                <a:noFill/>
              </p:spPr>
              <p:txBody>
                <a:bodyPr wrap="square" rtlCol="0">
                  <a:spAutoFit/>
                </a:bodyPr>
                <a:lstStyle/>
                <a:p>
                  <a:pPr algn="r"/>
                  <a:r>
                    <a:rPr lang="en-US" sz="900" b="1" dirty="0"/>
                    <a:t>.09</a:t>
                  </a:r>
                </a:p>
              </p:txBody>
            </p:sp>
            <p:sp>
              <p:nvSpPr>
                <p:cNvPr id="124" name="TextBox 123">
                  <a:extLst>
                    <a:ext uri="{FF2B5EF4-FFF2-40B4-BE49-F238E27FC236}">
                      <a16:creationId xmlns:a16="http://schemas.microsoft.com/office/drawing/2014/main" id="{FFB8E44C-7A6F-EE19-E780-CABB0793639F}"/>
                    </a:ext>
                  </a:extLst>
                </p:cNvPr>
                <p:cNvSpPr txBox="1"/>
                <p:nvPr/>
              </p:nvSpPr>
              <p:spPr>
                <a:xfrm>
                  <a:off x="1345260" y="4308522"/>
                  <a:ext cx="478202" cy="230832"/>
                </a:xfrm>
                <a:prstGeom prst="rect">
                  <a:avLst/>
                </a:prstGeom>
                <a:noFill/>
              </p:spPr>
              <p:txBody>
                <a:bodyPr wrap="square" rtlCol="0">
                  <a:spAutoFit/>
                </a:bodyPr>
                <a:lstStyle/>
                <a:p>
                  <a:pPr algn="r"/>
                  <a:r>
                    <a:rPr lang="en-US" sz="900" b="1" dirty="0"/>
                    <a:t>4.4</a:t>
                  </a:r>
                </a:p>
              </p:txBody>
            </p:sp>
            <p:sp>
              <p:nvSpPr>
                <p:cNvPr id="125" name="TextBox 124">
                  <a:extLst>
                    <a:ext uri="{FF2B5EF4-FFF2-40B4-BE49-F238E27FC236}">
                      <a16:creationId xmlns:a16="http://schemas.microsoft.com/office/drawing/2014/main" id="{DE9AE7E4-63AE-457E-9D6C-2C5421AEB209}"/>
                    </a:ext>
                  </a:extLst>
                </p:cNvPr>
                <p:cNvSpPr txBox="1"/>
                <p:nvPr/>
              </p:nvSpPr>
              <p:spPr>
                <a:xfrm>
                  <a:off x="1393844" y="4197434"/>
                  <a:ext cx="436434" cy="230832"/>
                </a:xfrm>
                <a:prstGeom prst="rect">
                  <a:avLst/>
                </a:prstGeom>
                <a:noFill/>
              </p:spPr>
              <p:txBody>
                <a:bodyPr wrap="square" rtlCol="0">
                  <a:spAutoFit/>
                </a:bodyPr>
                <a:lstStyle/>
                <a:p>
                  <a:pPr algn="r"/>
                  <a:r>
                    <a:rPr lang="en-US" sz="900" b="1" dirty="0"/>
                    <a:t>2.4</a:t>
                  </a:r>
                </a:p>
              </p:txBody>
            </p:sp>
            <p:sp>
              <p:nvSpPr>
                <p:cNvPr id="126" name="TextBox 125">
                  <a:extLst>
                    <a:ext uri="{FF2B5EF4-FFF2-40B4-BE49-F238E27FC236}">
                      <a16:creationId xmlns:a16="http://schemas.microsoft.com/office/drawing/2014/main" id="{74BE3DC6-8BB8-C356-1B37-4EB8D9322DE5}"/>
                    </a:ext>
                  </a:extLst>
                </p:cNvPr>
                <p:cNvSpPr txBox="1"/>
                <p:nvPr/>
              </p:nvSpPr>
              <p:spPr>
                <a:xfrm>
                  <a:off x="1208459" y="4838957"/>
                  <a:ext cx="611211" cy="230832"/>
                </a:xfrm>
                <a:prstGeom prst="rect">
                  <a:avLst/>
                </a:prstGeom>
                <a:noFill/>
              </p:spPr>
              <p:txBody>
                <a:bodyPr wrap="square" rtlCol="0">
                  <a:spAutoFit/>
                </a:bodyPr>
                <a:lstStyle/>
                <a:p>
                  <a:pPr algn="r"/>
                  <a:r>
                    <a:rPr lang="en-US" sz="900" b="1" dirty="0"/>
                    <a:t>0.0</a:t>
                  </a:r>
                </a:p>
              </p:txBody>
            </p:sp>
            <p:sp>
              <p:nvSpPr>
                <p:cNvPr id="127" name="TextBox 126">
                  <a:extLst>
                    <a:ext uri="{FF2B5EF4-FFF2-40B4-BE49-F238E27FC236}">
                      <a16:creationId xmlns:a16="http://schemas.microsoft.com/office/drawing/2014/main" id="{CD7050A9-62DE-4983-081B-0D140C2C47C8}"/>
                    </a:ext>
                  </a:extLst>
                </p:cNvPr>
                <p:cNvSpPr txBox="1"/>
                <p:nvPr/>
              </p:nvSpPr>
              <p:spPr>
                <a:xfrm>
                  <a:off x="1324692" y="4524777"/>
                  <a:ext cx="494889" cy="230832"/>
                </a:xfrm>
                <a:prstGeom prst="rect">
                  <a:avLst/>
                </a:prstGeom>
                <a:noFill/>
              </p:spPr>
              <p:txBody>
                <a:bodyPr wrap="square" rtlCol="0">
                  <a:spAutoFit/>
                </a:bodyPr>
                <a:lstStyle/>
                <a:p>
                  <a:pPr algn="r"/>
                  <a:r>
                    <a:rPr lang="en-US" sz="900" b="1" dirty="0"/>
                    <a:t>1.9</a:t>
                  </a:r>
                </a:p>
              </p:txBody>
            </p:sp>
            <p:sp>
              <p:nvSpPr>
                <p:cNvPr id="3227" name="TextBox 3226">
                  <a:extLst>
                    <a:ext uri="{FF2B5EF4-FFF2-40B4-BE49-F238E27FC236}">
                      <a16:creationId xmlns:a16="http://schemas.microsoft.com/office/drawing/2014/main" id="{B221BB32-2E6A-9246-F3C5-F82D9C628923}"/>
                    </a:ext>
                  </a:extLst>
                </p:cNvPr>
                <p:cNvSpPr txBox="1"/>
                <p:nvPr/>
              </p:nvSpPr>
              <p:spPr>
                <a:xfrm>
                  <a:off x="1241094" y="5124554"/>
                  <a:ext cx="585797" cy="230832"/>
                </a:xfrm>
                <a:prstGeom prst="rect">
                  <a:avLst/>
                </a:prstGeom>
                <a:noFill/>
              </p:spPr>
              <p:txBody>
                <a:bodyPr wrap="square" rtlCol="0">
                  <a:spAutoFit/>
                </a:bodyPr>
                <a:lstStyle/>
                <a:p>
                  <a:pPr algn="r"/>
                  <a:r>
                    <a:rPr lang="en-US" sz="900" b="1" dirty="0"/>
                    <a:t>89.7</a:t>
                  </a:r>
                </a:p>
              </p:txBody>
            </p:sp>
            <p:sp>
              <p:nvSpPr>
                <p:cNvPr id="3229" name="TextBox 3228">
                  <a:extLst>
                    <a:ext uri="{FF2B5EF4-FFF2-40B4-BE49-F238E27FC236}">
                      <a16:creationId xmlns:a16="http://schemas.microsoft.com/office/drawing/2014/main" id="{7E275306-6E75-1A7F-8025-7951C47FFD14}"/>
                    </a:ext>
                  </a:extLst>
                </p:cNvPr>
                <p:cNvSpPr txBox="1"/>
                <p:nvPr/>
              </p:nvSpPr>
              <p:spPr>
                <a:xfrm>
                  <a:off x="1047209" y="3041501"/>
                  <a:ext cx="758831" cy="230832"/>
                </a:xfrm>
                <a:prstGeom prst="rect">
                  <a:avLst/>
                </a:prstGeom>
                <a:noFill/>
              </p:spPr>
              <p:txBody>
                <a:bodyPr wrap="square" rtlCol="0">
                  <a:spAutoFit/>
                </a:bodyPr>
                <a:lstStyle/>
                <a:p>
                  <a:pPr algn="r"/>
                  <a:r>
                    <a:rPr lang="en-US" sz="900" b="1" dirty="0"/>
                    <a:t>77.9</a:t>
                  </a:r>
                </a:p>
              </p:txBody>
            </p:sp>
            <p:sp>
              <p:nvSpPr>
                <p:cNvPr id="3239" name="TextBox 3238">
                  <a:extLst>
                    <a:ext uri="{FF2B5EF4-FFF2-40B4-BE49-F238E27FC236}">
                      <a16:creationId xmlns:a16="http://schemas.microsoft.com/office/drawing/2014/main" id="{E80710B1-3E31-B37B-59B9-67578C9AE366}"/>
                    </a:ext>
                  </a:extLst>
                </p:cNvPr>
                <p:cNvSpPr txBox="1"/>
                <p:nvPr/>
              </p:nvSpPr>
              <p:spPr>
                <a:xfrm>
                  <a:off x="1416199" y="3395311"/>
                  <a:ext cx="465265" cy="369332"/>
                </a:xfrm>
                <a:prstGeom prst="rect">
                  <a:avLst/>
                </a:prstGeom>
                <a:noFill/>
              </p:spPr>
              <p:txBody>
                <a:bodyPr wrap="square" rtlCol="0">
                  <a:spAutoFit/>
                </a:bodyPr>
                <a:lstStyle/>
                <a:p>
                  <a:r>
                    <a:rPr lang="en-US" sz="900" b="1" dirty="0"/>
                    <a:t>2.2</a:t>
                  </a:r>
                </a:p>
                <a:p>
                  <a:r>
                    <a:rPr lang="en-US" sz="900" b="1" dirty="0"/>
                    <a:t>.66</a:t>
                  </a:r>
                </a:p>
              </p:txBody>
            </p:sp>
            <p:sp>
              <p:nvSpPr>
                <p:cNvPr id="1024" name="TextBox 1023">
                  <a:extLst>
                    <a:ext uri="{FF2B5EF4-FFF2-40B4-BE49-F238E27FC236}">
                      <a16:creationId xmlns:a16="http://schemas.microsoft.com/office/drawing/2014/main" id="{EF22386B-3341-838F-4C1B-314FAED95AE2}"/>
                    </a:ext>
                  </a:extLst>
                </p:cNvPr>
                <p:cNvSpPr txBox="1"/>
                <p:nvPr/>
              </p:nvSpPr>
              <p:spPr>
                <a:xfrm>
                  <a:off x="1379989" y="2870716"/>
                  <a:ext cx="428679" cy="230832"/>
                </a:xfrm>
                <a:prstGeom prst="rect">
                  <a:avLst/>
                </a:prstGeom>
                <a:noFill/>
              </p:spPr>
              <p:txBody>
                <a:bodyPr wrap="square" rtlCol="0">
                  <a:spAutoFit/>
                </a:bodyPr>
                <a:lstStyle/>
                <a:p>
                  <a:pPr algn="r"/>
                  <a:r>
                    <a:rPr lang="en-US" sz="900" b="1" dirty="0"/>
                    <a:t>.13</a:t>
                  </a:r>
                </a:p>
              </p:txBody>
            </p:sp>
          </p:grpSp>
          <p:cxnSp>
            <p:nvCxnSpPr>
              <p:cNvPr id="121" name="Straight Connector 120">
                <a:extLst>
                  <a:ext uri="{FF2B5EF4-FFF2-40B4-BE49-F238E27FC236}">
                    <a16:creationId xmlns:a16="http://schemas.microsoft.com/office/drawing/2014/main" id="{D21AD99E-9F4F-B624-4CF7-8EE23DD6B957}"/>
                  </a:ext>
                </a:extLst>
              </p:cNvPr>
              <p:cNvCxnSpPr>
                <a:cxnSpLocks/>
              </p:cNvCxnSpPr>
              <p:nvPr/>
            </p:nvCxnSpPr>
            <p:spPr>
              <a:xfrm flipV="1">
                <a:off x="25494" y="3756871"/>
                <a:ext cx="1347348" cy="6817"/>
              </a:xfrm>
              <a:prstGeom prst="line">
                <a:avLst/>
              </a:prstGeom>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81B5437F-63F3-7E27-959C-97A2495B8897}"/>
                  </a:ext>
                </a:extLst>
              </p:cNvPr>
              <p:cNvSpPr txBox="1"/>
              <p:nvPr/>
            </p:nvSpPr>
            <p:spPr>
              <a:xfrm>
                <a:off x="-38978" y="3109739"/>
                <a:ext cx="3185676" cy="230832"/>
              </a:xfrm>
              <a:prstGeom prst="rect">
                <a:avLst/>
              </a:prstGeom>
              <a:noFill/>
            </p:spPr>
            <p:txBody>
              <a:bodyPr wrap="square" rtlCol="0">
                <a:spAutoFit/>
              </a:bodyPr>
              <a:lstStyle/>
              <a:p>
                <a:r>
                  <a:rPr lang="en-US" sz="900" b="1" dirty="0"/>
                  <a:t>Model Results </a:t>
                </a:r>
                <a:r>
                  <a:rPr lang="en-US" sz="900" dirty="0">
                    <a:solidFill>
                      <a:srgbClr val="FF0000"/>
                    </a:solidFill>
                  </a:rPr>
                  <a:t>(</a:t>
                </a:r>
                <a:r>
                  <a:rPr lang="en-US" sz="900" dirty="0" err="1">
                    <a:solidFill>
                      <a:srgbClr val="FF0000"/>
                    </a:solidFill>
                  </a:rPr>
                  <a:t>mtons</a:t>
                </a:r>
                <a:r>
                  <a:rPr lang="en-US" sz="900" dirty="0">
                    <a:solidFill>
                      <a:srgbClr val="FF0000"/>
                    </a:solidFill>
                  </a:rPr>
                  <a:t> of CO2e) </a:t>
                </a:r>
              </a:p>
            </p:txBody>
          </p:sp>
        </p:grpSp>
        <p:sp>
          <p:nvSpPr>
            <p:cNvPr id="118" name="TextBox 117">
              <a:extLst>
                <a:ext uri="{FF2B5EF4-FFF2-40B4-BE49-F238E27FC236}">
                  <a16:creationId xmlns:a16="http://schemas.microsoft.com/office/drawing/2014/main" id="{0E093310-3212-5EAA-F1F6-1F28D3C967C5}"/>
                </a:ext>
              </a:extLst>
            </p:cNvPr>
            <p:cNvSpPr txBox="1"/>
            <p:nvPr/>
          </p:nvSpPr>
          <p:spPr>
            <a:xfrm>
              <a:off x="2834345" y="4005317"/>
              <a:ext cx="668822" cy="230832"/>
            </a:xfrm>
            <a:prstGeom prst="rect">
              <a:avLst/>
            </a:prstGeom>
            <a:noFill/>
          </p:spPr>
          <p:txBody>
            <a:bodyPr wrap="square" rtlCol="0">
              <a:spAutoFit/>
            </a:bodyPr>
            <a:lstStyle/>
            <a:p>
              <a:r>
                <a:rPr lang="en-US" sz="900" b="1" dirty="0"/>
                <a:t>Total</a:t>
              </a:r>
            </a:p>
          </p:txBody>
        </p:sp>
      </p:grpSp>
      <p:grpSp>
        <p:nvGrpSpPr>
          <p:cNvPr id="1036" name="Group 1035">
            <a:extLst>
              <a:ext uri="{FF2B5EF4-FFF2-40B4-BE49-F238E27FC236}">
                <a16:creationId xmlns:a16="http://schemas.microsoft.com/office/drawing/2014/main" id="{7BDC9C2E-6FF9-8298-0AC8-F37796B602A6}"/>
              </a:ext>
            </a:extLst>
          </p:cNvPr>
          <p:cNvGrpSpPr/>
          <p:nvPr/>
        </p:nvGrpSpPr>
        <p:grpSpPr>
          <a:xfrm>
            <a:off x="7742077" y="2524975"/>
            <a:ext cx="3748032" cy="2751126"/>
            <a:chOff x="2778058" y="1506423"/>
            <a:chExt cx="3185676" cy="2751126"/>
          </a:xfrm>
        </p:grpSpPr>
        <p:grpSp>
          <p:nvGrpSpPr>
            <p:cNvPr id="1037" name="Group 1036">
              <a:extLst>
                <a:ext uri="{FF2B5EF4-FFF2-40B4-BE49-F238E27FC236}">
                  <a16:creationId xmlns:a16="http://schemas.microsoft.com/office/drawing/2014/main" id="{785DBA55-BE91-B97F-4027-C274B31806E5}"/>
                </a:ext>
              </a:extLst>
            </p:cNvPr>
            <p:cNvGrpSpPr/>
            <p:nvPr/>
          </p:nvGrpSpPr>
          <p:grpSpPr>
            <a:xfrm>
              <a:off x="2778058" y="1506423"/>
              <a:ext cx="3185676" cy="2751126"/>
              <a:chOff x="-38978" y="3109739"/>
              <a:chExt cx="3185676" cy="2751126"/>
            </a:xfrm>
          </p:grpSpPr>
          <p:grpSp>
            <p:nvGrpSpPr>
              <p:cNvPr id="1039" name="Group 1038">
                <a:extLst>
                  <a:ext uri="{FF2B5EF4-FFF2-40B4-BE49-F238E27FC236}">
                    <a16:creationId xmlns:a16="http://schemas.microsoft.com/office/drawing/2014/main" id="{D6F62D7B-95BA-D014-42E0-4C5AE062653C}"/>
                  </a:ext>
                </a:extLst>
              </p:cNvPr>
              <p:cNvGrpSpPr/>
              <p:nvPr/>
            </p:nvGrpSpPr>
            <p:grpSpPr>
              <a:xfrm>
                <a:off x="-6854" y="3371988"/>
                <a:ext cx="2127437" cy="2209876"/>
                <a:chOff x="116435" y="3163661"/>
                <a:chExt cx="2715023" cy="2209876"/>
              </a:xfrm>
            </p:grpSpPr>
            <p:grpSp>
              <p:nvGrpSpPr>
                <p:cNvPr id="1052" name="Group 1051">
                  <a:extLst>
                    <a:ext uri="{FF2B5EF4-FFF2-40B4-BE49-F238E27FC236}">
                      <a16:creationId xmlns:a16="http://schemas.microsoft.com/office/drawing/2014/main" id="{9861A3D1-6924-DEA5-5463-A8828ECA7577}"/>
                    </a:ext>
                  </a:extLst>
                </p:cNvPr>
                <p:cNvGrpSpPr/>
                <p:nvPr/>
              </p:nvGrpSpPr>
              <p:grpSpPr>
                <a:xfrm>
                  <a:off x="116435" y="3163661"/>
                  <a:ext cx="2715023" cy="1897575"/>
                  <a:chOff x="51410" y="2261711"/>
                  <a:chExt cx="2715023" cy="1897575"/>
                </a:xfrm>
              </p:grpSpPr>
              <p:sp>
                <p:nvSpPr>
                  <p:cNvPr id="1054" name="TextBox 1053">
                    <a:extLst>
                      <a:ext uri="{FF2B5EF4-FFF2-40B4-BE49-F238E27FC236}">
                        <a16:creationId xmlns:a16="http://schemas.microsoft.com/office/drawing/2014/main" id="{13AEB5A7-4681-CE71-C015-3BF814FDB42B}"/>
                      </a:ext>
                    </a:extLst>
                  </p:cNvPr>
                  <p:cNvSpPr txBox="1"/>
                  <p:nvPr/>
                </p:nvSpPr>
                <p:spPr>
                  <a:xfrm>
                    <a:off x="51410" y="2451720"/>
                    <a:ext cx="2332582" cy="230832"/>
                  </a:xfrm>
                  <a:prstGeom prst="rect">
                    <a:avLst/>
                  </a:prstGeom>
                  <a:noFill/>
                </p:spPr>
                <p:txBody>
                  <a:bodyPr wrap="square" rtlCol="0">
                    <a:spAutoFit/>
                  </a:bodyPr>
                  <a:lstStyle/>
                  <a:p>
                    <a:r>
                      <a:rPr lang="en-US" sz="900" dirty="0"/>
                      <a:t>Coffee supplier</a:t>
                    </a:r>
                  </a:p>
                </p:txBody>
              </p:sp>
              <p:sp>
                <p:nvSpPr>
                  <p:cNvPr id="1055" name="TextBox 1054">
                    <a:extLst>
                      <a:ext uri="{FF2B5EF4-FFF2-40B4-BE49-F238E27FC236}">
                        <a16:creationId xmlns:a16="http://schemas.microsoft.com/office/drawing/2014/main" id="{5A3768AC-B6B7-438A-678D-CB3A8DEC46EE}"/>
                      </a:ext>
                    </a:extLst>
                  </p:cNvPr>
                  <p:cNvSpPr txBox="1"/>
                  <p:nvPr/>
                </p:nvSpPr>
                <p:spPr>
                  <a:xfrm>
                    <a:off x="79041" y="3110105"/>
                    <a:ext cx="1474650" cy="230832"/>
                  </a:xfrm>
                  <a:prstGeom prst="rect">
                    <a:avLst/>
                  </a:prstGeom>
                  <a:noFill/>
                </p:spPr>
                <p:txBody>
                  <a:bodyPr wrap="square" rtlCol="0">
                    <a:spAutoFit/>
                  </a:bodyPr>
                  <a:lstStyle/>
                  <a:p>
                    <a:r>
                      <a:rPr lang="en-US" sz="900" dirty="0"/>
                      <a:t>Warehouse ops </a:t>
                    </a:r>
                  </a:p>
                </p:txBody>
              </p:sp>
              <p:sp>
                <p:nvSpPr>
                  <p:cNvPr id="1056" name="TextBox 1055">
                    <a:extLst>
                      <a:ext uri="{FF2B5EF4-FFF2-40B4-BE49-F238E27FC236}">
                        <a16:creationId xmlns:a16="http://schemas.microsoft.com/office/drawing/2014/main" id="{C4E2E327-51D3-8A9C-C27E-1B06D0804F75}"/>
                      </a:ext>
                    </a:extLst>
                  </p:cNvPr>
                  <p:cNvSpPr txBox="1"/>
                  <p:nvPr/>
                </p:nvSpPr>
                <p:spPr>
                  <a:xfrm>
                    <a:off x="54461" y="2261711"/>
                    <a:ext cx="2437293" cy="230832"/>
                  </a:xfrm>
                  <a:prstGeom prst="rect">
                    <a:avLst/>
                  </a:prstGeom>
                  <a:noFill/>
                </p:spPr>
                <p:txBody>
                  <a:bodyPr wrap="square" rtlCol="0">
                    <a:spAutoFit/>
                  </a:bodyPr>
                  <a:lstStyle/>
                  <a:p>
                    <a:r>
                      <a:rPr lang="en-US" sz="900" dirty="0"/>
                      <a:t>Manuf. of coffee bags</a:t>
                    </a:r>
                  </a:p>
                </p:txBody>
              </p:sp>
              <p:sp>
                <p:nvSpPr>
                  <p:cNvPr id="1057" name="TextBox 1056">
                    <a:extLst>
                      <a:ext uri="{FF2B5EF4-FFF2-40B4-BE49-F238E27FC236}">
                        <a16:creationId xmlns:a16="http://schemas.microsoft.com/office/drawing/2014/main" id="{4257F469-EAF9-F112-9506-7EBE406B05D5}"/>
                      </a:ext>
                    </a:extLst>
                  </p:cNvPr>
                  <p:cNvSpPr txBox="1"/>
                  <p:nvPr/>
                </p:nvSpPr>
                <p:spPr>
                  <a:xfrm>
                    <a:off x="75940" y="3928454"/>
                    <a:ext cx="1188249" cy="230832"/>
                  </a:xfrm>
                  <a:prstGeom prst="rect">
                    <a:avLst/>
                  </a:prstGeom>
                  <a:noFill/>
                </p:spPr>
                <p:txBody>
                  <a:bodyPr wrap="square" rtlCol="0">
                    <a:spAutoFit/>
                  </a:bodyPr>
                  <a:lstStyle/>
                  <a:p>
                    <a:r>
                      <a:rPr lang="en-US" sz="900" dirty="0"/>
                      <a:t>Ship to N.Y. harbor</a:t>
                    </a:r>
                    <a:endParaRPr lang="en-US" sz="900" b="1" dirty="0"/>
                  </a:p>
                </p:txBody>
              </p:sp>
              <p:sp>
                <p:nvSpPr>
                  <p:cNvPr id="1058" name="TextBox 1057">
                    <a:extLst>
                      <a:ext uri="{FF2B5EF4-FFF2-40B4-BE49-F238E27FC236}">
                        <a16:creationId xmlns:a16="http://schemas.microsoft.com/office/drawing/2014/main" id="{DC5886AC-6C41-ADB8-5D71-B12D75F97D71}"/>
                      </a:ext>
                    </a:extLst>
                  </p:cNvPr>
                  <p:cNvSpPr txBox="1"/>
                  <p:nvPr/>
                </p:nvSpPr>
                <p:spPr>
                  <a:xfrm>
                    <a:off x="77138" y="3471090"/>
                    <a:ext cx="1817504" cy="230832"/>
                  </a:xfrm>
                  <a:prstGeom prst="rect">
                    <a:avLst/>
                  </a:prstGeom>
                  <a:noFill/>
                </p:spPr>
                <p:txBody>
                  <a:bodyPr wrap="square" rtlCol="0">
                    <a:spAutoFit/>
                  </a:bodyPr>
                  <a:lstStyle/>
                  <a:p>
                    <a:r>
                      <a:rPr lang="en-US" sz="900" dirty="0"/>
                      <a:t>Coffee bag loading on ship</a:t>
                    </a:r>
                  </a:p>
                </p:txBody>
              </p:sp>
              <p:sp>
                <p:nvSpPr>
                  <p:cNvPr id="1059" name="TextBox 1058">
                    <a:extLst>
                      <a:ext uri="{FF2B5EF4-FFF2-40B4-BE49-F238E27FC236}">
                        <a16:creationId xmlns:a16="http://schemas.microsoft.com/office/drawing/2014/main" id="{5683429D-522A-0E06-A30E-223BA142FD87}"/>
                      </a:ext>
                    </a:extLst>
                  </p:cNvPr>
                  <p:cNvSpPr txBox="1"/>
                  <p:nvPr/>
                </p:nvSpPr>
                <p:spPr>
                  <a:xfrm>
                    <a:off x="67300" y="2650383"/>
                    <a:ext cx="2699133" cy="507831"/>
                  </a:xfrm>
                  <a:prstGeom prst="rect">
                    <a:avLst/>
                  </a:prstGeom>
                  <a:noFill/>
                </p:spPr>
                <p:txBody>
                  <a:bodyPr wrap="square" rtlCol="0">
                    <a:spAutoFit/>
                  </a:bodyPr>
                  <a:lstStyle/>
                  <a:p>
                    <a:r>
                      <a:rPr lang="en-US" sz="900" dirty="0"/>
                      <a:t>Trucking to Warehouse</a:t>
                    </a:r>
                  </a:p>
                  <a:p>
                    <a:r>
                      <a:rPr lang="en-US" sz="900" dirty="0"/>
                      <a:t>    - Freight Co. #2</a:t>
                    </a:r>
                  </a:p>
                  <a:p>
                    <a:r>
                      <a:rPr lang="en-US" sz="900" dirty="0"/>
                      <a:t>    - unloading</a:t>
                    </a:r>
                  </a:p>
                </p:txBody>
              </p:sp>
              <p:sp>
                <p:nvSpPr>
                  <p:cNvPr id="1060" name="TextBox 1059">
                    <a:extLst>
                      <a:ext uri="{FF2B5EF4-FFF2-40B4-BE49-F238E27FC236}">
                        <a16:creationId xmlns:a16="http://schemas.microsoft.com/office/drawing/2014/main" id="{86448BE6-5120-6B48-8F0D-4F603F120348}"/>
                      </a:ext>
                    </a:extLst>
                  </p:cNvPr>
                  <p:cNvSpPr txBox="1"/>
                  <p:nvPr/>
                </p:nvSpPr>
                <p:spPr>
                  <a:xfrm>
                    <a:off x="229459" y="3248043"/>
                    <a:ext cx="1207402" cy="230832"/>
                  </a:xfrm>
                  <a:prstGeom prst="rect">
                    <a:avLst/>
                  </a:prstGeom>
                  <a:noFill/>
                </p:spPr>
                <p:txBody>
                  <a:bodyPr wrap="square" rtlCol="0">
                    <a:spAutoFit/>
                  </a:bodyPr>
                  <a:lstStyle/>
                  <a:p>
                    <a:r>
                      <a:rPr lang="en-US" sz="900" dirty="0"/>
                      <a:t>- Heating / cooling </a:t>
                    </a:r>
                  </a:p>
                </p:txBody>
              </p:sp>
              <p:sp>
                <p:nvSpPr>
                  <p:cNvPr id="1061" name="TextBox 1060">
                    <a:extLst>
                      <a:ext uri="{FF2B5EF4-FFF2-40B4-BE49-F238E27FC236}">
                        <a16:creationId xmlns:a16="http://schemas.microsoft.com/office/drawing/2014/main" id="{FF2CD25A-543D-11FD-6969-61AE4C3C1C17}"/>
                      </a:ext>
                    </a:extLst>
                  </p:cNvPr>
                  <p:cNvSpPr txBox="1"/>
                  <p:nvPr/>
                </p:nvSpPr>
                <p:spPr>
                  <a:xfrm>
                    <a:off x="238386" y="3597949"/>
                    <a:ext cx="1299044" cy="230832"/>
                  </a:xfrm>
                  <a:prstGeom prst="rect">
                    <a:avLst/>
                  </a:prstGeom>
                  <a:noFill/>
                </p:spPr>
                <p:txBody>
                  <a:bodyPr wrap="square" rtlCol="0">
                    <a:spAutoFit/>
                  </a:bodyPr>
                  <a:lstStyle/>
                  <a:p>
                    <a:r>
                      <a:rPr lang="en-US" sz="900" dirty="0"/>
                      <a:t>- forklift ops </a:t>
                    </a:r>
                  </a:p>
                </p:txBody>
              </p:sp>
              <p:sp>
                <p:nvSpPr>
                  <p:cNvPr id="1062" name="TextBox 1061">
                    <a:extLst>
                      <a:ext uri="{FF2B5EF4-FFF2-40B4-BE49-F238E27FC236}">
                        <a16:creationId xmlns:a16="http://schemas.microsoft.com/office/drawing/2014/main" id="{438A3D82-A6C8-25EB-3609-1393167BE5EE}"/>
                      </a:ext>
                    </a:extLst>
                  </p:cNvPr>
                  <p:cNvSpPr txBox="1"/>
                  <p:nvPr/>
                </p:nvSpPr>
                <p:spPr>
                  <a:xfrm>
                    <a:off x="237331" y="3712552"/>
                    <a:ext cx="1271812" cy="230832"/>
                  </a:xfrm>
                  <a:prstGeom prst="rect">
                    <a:avLst/>
                  </a:prstGeom>
                  <a:noFill/>
                </p:spPr>
                <p:txBody>
                  <a:bodyPr wrap="square" rtlCol="0">
                    <a:spAutoFit/>
                  </a:bodyPr>
                  <a:lstStyle/>
                  <a:p>
                    <a:r>
                      <a:rPr lang="en-US" sz="900" dirty="0"/>
                      <a:t>- cranes for loading </a:t>
                    </a:r>
                  </a:p>
                </p:txBody>
              </p:sp>
            </p:grpSp>
            <p:sp>
              <p:nvSpPr>
                <p:cNvPr id="1053" name="TextBox 1052">
                  <a:extLst>
                    <a:ext uri="{FF2B5EF4-FFF2-40B4-BE49-F238E27FC236}">
                      <a16:creationId xmlns:a16="http://schemas.microsoft.com/office/drawing/2014/main" id="{9505B039-1743-5ABC-B81E-CFCFD4425BCD}"/>
                    </a:ext>
                  </a:extLst>
                </p:cNvPr>
                <p:cNvSpPr txBox="1"/>
                <p:nvPr/>
              </p:nvSpPr>
              <p:spPr>
                <a:xfrm>
                  <a:off x="130856" y="5142705"/>
                  <a:ext cx="1473562" cy="230832"/>
                </a:xfrm>
                <a:prstGeom prst="rect">
                  <a:avLst/>
                </a:prstGeom>
                <a:noFill/>
              </p:spPr>
              <p:txBody>
                <a:bodyPr wrap="square" rtlCol="0">
                  <a:spAutoFit/>
                </a:bodyPr>
                <a:lstStyle/>
                <a:p>
                  <a:r>
                    <a:rPr lang="en-US" sz="900" b="1" dirty="0"/>
                    <a:t>Utilize RECs</a:t>
                  </a:r>
                </a:p>
              </p:txBody>
            </p:sp>
          </p:grpSp>
          <p:grpSp>
            <p:nvGrpSpPr>
              <p:cNvPr id="1040" name="Group 1039">
                <a:extLst>
                  <a:ext uri="{FF2B5EF4-FFF2-40B4-BE49-F238E27FC236}">
                    <a16:creationId xmlns:a16="http://schemas.microsoft.com/office/drawing/2014/main" id="{803BED85-B174-5B33-EDE8-77ED577B8C2A}"/>
                  </a:ext>
                </a:extLst>
              </p:cNvPr>
              <p:cNvGrpSpPr/>
              <p:nvPr/>
            </p:nvGrpSpPr>
            <p:grpSpPr>
              <a:xfrm>
                <a:off x="904260" y="3376195"/>
                <a:ext cx="576224" cy="2484670"/>
                <a:chOff x="1047209" y="2870716"/>
                <a:chExt cx="834255" cy="2484670"/>
              </a:xfrm>
            </p:grpSpPr>
            <p:sp>
              <p:nvSpPr>
                <p:cNvPr id="1043" name="TextBox 1042">
                  <a:extLst>
                    <a:ext uri="{FF2B5EF4-FFF2-40B4-BE49-F238E27FC236}">
                      <a16:creationId xmlns:a16="http://schemas.microsoft.com/office/drawing/2014/main" id="{3208AD8E-9627-79C5-C3DE-7191F43FD40B}"/>
                    </a:ext>
                  </a:extLst>
                </p:cNvPr>
                <p:cNvSpPr txBox="1"/>
                <p:nvPr/>
              </p:nvSpPr>
              <p:spPr>
                <a:xfrm>
                  <a:off x="1369305" y="3835871"/>
                  <a:ext cx="445200" cy="230832"/>
                </a:xfrm>
                <a:prstGeom prst="rect">
                  <a:avLst/>
                </a:prstGeom>
                <a:noFill/>
              </p:spPr>
              <p:txBody>
                <a:bodyPr wrap="square" rtlCol="0">
                  <a:spAutoFit/>
                </a:bodyPr>
                <a:lstStyle/>
                <a:p>
                  <a:pPr algn="r"/>
                  <a:r>
                    <a:rPr lang="en-US" sz="900" b="1" dirty="0"/>
                    <a:t>.09</a:t>
                  </a:r>
                </a:p>
              </p:txBody>
            </p:sp>
            <p:sp>
              <p:nvSpPr>
                <p:cNvPr id="1044" name="TextBox 1043">
                  <a:extLst>
                    <a:ext uri="{FF2B5EF4-FFF2-40B4-BE49-F238E27FC236}">
                      <a16:creationId xmlns:a16="http://schemas.microsoft.com/office/drawing/2014/main" id="{E8974AFD-D8FA-A5BA-43BD-98F60E724EF8}"/>
                    </a:ext>
                  </a:extLst>
                </p:cNvPr>
                <p:cNvSpPr txBox="1"/>
                <p:nvPr/>
              </p:nvSpPr>
              <p:spPr>
                <a:xfrm>
                  <a:off x="1345260" y="4308522"/>
                  <a:ext cx="478202" cy="230832"/>
                </a:xfrm>
                <a:prstGeom prst="rect">
                  <a:avLst/>
                </a:prstGeom>
                <a:noFill/>
              </p:spPr>
              <p:txBody>
                <a:bodyPr wrap="square" rtlCol="0">
                  <a:spAutoFit/>
                </a:bodyPr>
                <a:lstStyle/>
                <a:p>
                  <a:pPr algn="r"/>
                  <a:r>
                    <a:rPr lang="en-US" sz="900" b="1" dirty="0"/>
                    <a:t>4.4</a:t>
                  </a:r>
                </a:p>
              </p:txBody>
            </p:sp>
            <p:sp>
              <p:nvSpPr>
                <p:cNvPr id="1045" name="TextBox 1044">
                  <a:extLst>
                    <a:ext uri="{FF2B5EF4-FFF2-40B4-BE49-F238E27FC236}">
                      <a16:creationId xmlns:a16="http://schemas.microsoft.com/office/drawing/2014/main" id="{0B2262D9-9CE2-C0AA-7835-A2532E6054EA}"/>
                    </a:ext>
                  </a:extLst>
                </p:cNvPr>
                <p:cNvSpPr txBox="1"/>
                <p:nvPr/>
              </p:nvSpPr>
              <p:spPr>
                <a:xfrm>
                  <a:off x="1387522" y="4197434"/>
                  <a:ext cx="436434" cy="230832"/>
                </a:xfrm>
                <a:prstGeom prst="rect">
                  <a:avLst/>
                </a:prstGeom>
                <a:noFill/>
              </p:spPr>
              <p:txBody>
                <a:bodyPr wrap="square" rtlCol="0">
                  <a:spAutoFit/>
                </a:bodyPr>
                <a:lstStyle/>
                <a:p>
                  <a:pPr algn="r"/>
                  <a:r>
                    <a:rPr lang="en-US" sz="900" b="1" dirty="0"/>
                    <a:t>2.4</a:t>
                  </a:r>
                </a:p>
              </p:txBody>
            </p:sp>
            <p:sp>
              <p:nvSpPr>
                <p:cNvPr id="1046" name="TextBox 1045">
                  <a:extLst>
                    <a:ext uri="{FF2B5EF4-FFF2-40B4-BE49-F238E27FC236}">
                      <a16:creationId xmlns:a16="http://schemas.microsoft.com/office/drawing/2014/main" id="{3815E65D-9E7C-FAF9-3AC7-897CEF98AFC6}"/>
                    </a:ext>
                  </a:extLst>
                </p:cNvPr>
                <p:cNvSpPr txBox="1"/>
                <p:nvPr/>
              </p:nvSpPr>
              <p:spPr>
                <a:xfrm>
                  <a:off x="1246009" y="4838957"/>
                  <a:ext cx="573661" cy="230832"/>
                </a:xfrm>
                <a:prstGeom prst="rect">
                  <a:avLst/>
                </a:prstGeom>
                <a:noFill/>
              </p:spPr>
              <p:txBody>
                <a:bodyPr wrap="square" rtlCol="0">
                  <a:spAutoFit/>
                </a:bodyPr>
                <a:lstStyle/>
                <a:p>
                  <a:pPr algn="r"/>
                  <a:r>
                    <a:rPr lang="en-US" sz="900" b="1" dirty="0"/>
                    <a:t>89.7</a:t>
                  </a:r>
                </a:p>
              </p:txBody>
            </p:sp>
            <p:sp>
              <p:nvSpPr>
                <p:cNvPr id="1047" name="TextBox 1046">
                  <a:extLst>
                    <a:ext uri="{FF2B5EF4-FFF2-40B4-BE49-F238E27FC236}">
                      <a16:creationId xmlns:a16="http://schemas.microsoft.com/office/drawing/2014/main" id="{0E1C1B18-67A5-123A-B297-285C97261B01}"/>
                    </a:ext>
                  </a:extLst>
                </p:cNvPr>
                <p:cNvSpPr txBox="1"/>
                <p:nvPr/>
              </p:nvSpPr>
              <p:spPr>
                <a:xfrm>
                  <a:off x="1324692" y="4524777"/>
                  <a:ext cx="494889" cy="230832"/>
                </a:xfrm>
                <a:prstGeom prst="rect">
                  <a:avLst/>
                </a:prstGeom>
                <a:noFill/>
              </p:spPr>
              <p:txBody>
                <a:bodyPr wrap="square" rtlCol="0">
                  <a:spAutoFit/>
                </a:bodyPr>
                <a:lstStyle/>
                <a:p>
                  <a:pPr algn="r"/>
                  <a:r>
                    <a:rPr lang="en-US" sz="900" b="1" dirty="0"/>
                    <a:t>1.9</a:t>
                  </a:r>
                </a:p>
              </p:txBody>
            </p:sp>
            <p:sp>
              <p:nvSpPr>
                <p:cNvPr id="1048" name="TextBox 1047">
                  <a:extLst>
                    <a:ext uri="{FF2B5EF4-FFF2-40B4-BE49-F238E27FC236}">
                      <a16:creationId xmlns:a16="http://schemas.microsoft.com/office/drawing/2014/main" id="{C1C14727-46D0-7556-4EDF-BA424B17A41B}"/>
                    </a:ext>
                  </a:extLst>
                </p:cNvPr>
                <p:cNvSpPr txBox="1"/>
                <p:nvPr/>
              </p:nvSpPr>
              <p:spPr>
                <a:xfrm>
                  <a:off x="1241094" y="5124554"/>
                  <a:ext cx="585797" cy="230832"/>
                </a:xfrm>
                <a:prstGeom prst="rect">
                  <a:avLst/>
                </a:prstGeom>
                <a:noFill/>
              </p:spPr>
              <p:txBody>
                <a:bodyPr wrap="square" rtlCol="0">
                  <a:spAutoFit/>
                </a:bodyPr>
                <a:lstStyle/>
                <a:p>
                  <a:pPr algn="r"/>
                  <a:r>
                    <a:rPr lang="en-US" sz="900" b="1" dirty="0"/>
                    <a:t>0.0</a:t>
                  </a:r>
                </a:p>
              </p:txBody>
            </p:sp>
            <p:sp>
              <p:nvSpPr>
                <p:cNvPr id="1049" name="TextBox 1048">
                  <a:extLst>
                    <a:ext uri="{FF2B5EF4-FFF2-40B4-BE49-F238E27FC236}">
                      <a16:creationId xmlns:a16="http://schemas.microsoft.com/office/drawing/2014/main" id="{39A8A98A-8213-DFCD-0164-3664D625C869}"/>
                    </a:ext>
                  </a:extLst>
                </p:cNvPr>
                <p:cNvSpPr txBox="1"/>
                <p:nvPr/>
              </p:nvSpPr>
              <p:spPr>
                <a:xfrm>
                  <a:off x="1047209" y="3041501"/>
                  <a:ext cx="758831" cy="230832"/>
                </a:xfrm>
                <a:prstGeom prst="rect">
                  <a:avLst/>
                </a:prstGeom>
                <a:noFill/>
              </p:spPr>
              <p:txBody>
                <a:bodyPr wrap="square" rtlCol="0">
                  <a:spAutoFit/>
                </a:bodyPr>
                <a:lstStyle/>
                <a:p>
                  <a:pPr algn="r"/>
                  <a:r>
                    <a:rPr lang="en-US" sz="900" b="1" dirty="0"/>
                    <a:t>77.9</a:t>
                  </a:r>
                </a:p>
              </p:txBody>
            </p:sp>
            <p:sp>
              <p:nvSpPr>
                <p:cNvPr id="1050" name="TextBox 1049">
                  <a:extLst>
                    <a:ext uri="{FF2B5EF4-FFF2-40B4-BE49-F238E27FC236}">
                      <a16:creationId xmlns:a16="http://schemas.microsoft.com/office/drawing/2014/main" id="{91D6F449-D349-502D-A7FB-9EF51CA6EDA2}"/>
                    </a:ext>
                  </a:extLst>
                </p:cNvPr>
                <p:cNvSpPr txBox="1"/>
                <p:nvPr/>
              </p:nvSpPr>
              <p:spPr>
                <a:xfrm>
                  <a:off x="1416199" y="3395311"/>
                  <a:ext cx="465265" cy="369332"/>
                </a:xfrm>
                <a:prstGeom prst="rect">
                  <a:avLst/>
                </a:prstGeom>
                <a:noFill/>
              </p:spPr>
              <p:txBody>
                <a:bodyPr wrap="square" rtlCol="0">
                  <a:spAutoFit/>
                </a:bodyPr>
                <a:lstStyle/>
                <a:p>
                  <a:r>
                    <a:rPr lang="en-US" sz="900" b="1" dirty="0"/>
                    <a:t>2.2</a:t>
                  </a:r>
                </a:p>
                <a:p>
                  <a:r>
                    <a:rPr lang="en-US" sz="900" b="1" dirty="0"/>
                    <a:t>.66</a:t>
                  </a:r>
                </a:p>
              </p:txBody>
            </p:sp>
            <p:sp>
              <p:nvSpPr>
                <p:cNvPr id="1051" name="TextBox 1050">
                  <a:extLst>
                    <a:ext uri="{FF2B5EF4-FFF2-40B4-BE49-F238E27FC236}">
                      <a16:creationId xmlns:a16="http://schemas.microsoft.com/office/drawing/2014/main" id="{480FF297-820B-D607-1B3C-6C675DFCBE27}"/>
                    </a:ext>
                  </a:extLst>
                </p:cNvPr>
                <p:cNvSpPr txBox="1"/>
                <p:nvPr/>
              </p:nvSpPr>
              <p:spPr>
                <a:xfrm>
                  <a:off x="1379989" y="2870716"/>
                  <a:ext cx="428679" cy="230832"/>
                </a:xfrm>
                <a:prstGeom prst="rect">
                  <a:avLst/>
                </a:prstGeom>
                <a:noFill/>
              </p:spPr>
              <p:txBody>
                <a:bodyPr wrap="square" rtlCol="0">
                  <a:spAutoFit/>
                </a:bodyPr>
                <a:lstStyle/>
                <a:p>
                  <a:pPr algn="r"/>
                  <a:r>
                    <a:rPr lang="en-US" sz="900" b="1" dirty="0"/>
                    <a:t>.13</a:t>
                  </a:r>
                </a:p>
              </p:txBody>
            </p:sp>
          </p:grpSp>
          <p:cxnSp>
            <p:nvCxnSpPr>
              <p:cNvPr id="1041" name="Straight Connector 1040">
                <a:extLst>
                  <a:ext uri="{FF2B5EF4-FFF2-40B4-BE49-F238E27FC236}">
                    <a16:creationId xmlns:a16="http://schemas.microsoft.com/office/drawing/2014/main" id="{6F86B932-F5BB-6D7E-D86B-4DE39E8EF0D1}"/>
                  </a:ext>
                </a:extLst>
              </p:cNvPr>
              <p:cNvCxnSpPr>
                <a:cxnSpLocks/>
              </p:cNvCxnSpPr>
              <p:nvPr/>
            </p:nvCxnSpPr>
            <p:spPr>
              <a:xfrm flipV="1">
                <a:off x="42842" y="3756871"/>
                <a:ext cx="1347348" cy="6817"/>
              </a:xfrm>
              <a:prstGeom prst="line">
                <a:avLst/>
              </a:prstGeom>
            </p:spPr>
            <p:style>
              <a:lnRef idx="1">
                <a:schemeClr val="accent1"/>
              </a:lnRef>
              <a:fillRef idx="0">
                <a:schemeClr val="accent1"/>
              </a:fillRef>
              <a:effectRef idx="0">
                <a:schemeClr val="accent1"/>
              </a:effectRef>
              <a:fontRef idx="minor">
                <a:schemeClr val="tx1"/>
              </a:fontRef>
            </p:style>
          </p:cxnSp>
          <p:sp>
            <p:nvSpPr>
              <p:cNvPr id="1042" name="TextBox 1041">
                <a:extLst>
                  <a:ext uri="{FF2B5EF4-FFF2-40B4-BE49-F238E27FC236}">
                    <a16:creationId xmlns:a16="http://schemas.microsoft.com/office/drawing/2014/main" id="{9089CEA9-9429-64E4-DC7C-139E1D6F7989}"/>
                  </a:ext>
                </a:extLst>
              </p:cNvPr>
              <p:cNvSpPr txBox="1"/>
              <p:nvPr/>
            </p:nvSpPr>
            <p:spPr>
              <a:xfrm>
                <a:off x="-38978" y="3109739"/>
                <a:ext cx="3185676" cy="230832"/>
              </a:xfrm>
              <a:prstGeom prst="rect">
                <a:avLst/>
              </a:prstGeom>
              <a:noFill/>
            </p:spPr>
            <p:txBody>
              <a:bodyPr wrap="square" rtlCol="0">
                <a:spAutoFit/>
              </a:bodyPr>
              <a:lstStyle/>
              <a:p>
                <a:r>
                  <a:rPr lang="en-US" sz="900" b="1" dirty="0"/>
                  <a:t>Net Zero </a:t>
                </a:r>
                <a:r>
                  <a:rPr lang="en-US" sz="900" dirty="0">
                    <a:solidFill>
                      <a:srgbClr val="FF0000"/>
                    </a:solidFill>
                  </a:rPr>
                  <a:t>(tons of CO2e) </a:t>
                </a:r>
              </a:p>
            </p:txBody>
          </p:sp>
        </p:grpSp>
        <p:sp>
          <p:nvSpPr>
            <p:cNvPr id="1038" name="TextBox 1037">
              <a:extLst>
                <a:ext uri="{FF2B5EF4-FFF2-40B4-BE49-F238E27FC236}">
                  <a16:creationId xmlns:a16="http://schemas.microsoft.com/office/drawing/2014/main" id="{62935ABC-D7ED-912C-1B25-82D636E0FF0F}"/>
                </a:ext>
              </a:extLst>
            </p:cNvPr>
            <p:cNvSpPr txBox="1"/>
            <p:nvPr/>
          </p:nvSpPr>
          <p:spPr>
            <a:xfrm>
              <a:off x="2834345" y="4005317"/>
              <a:ext cx="668822" cy="230832"/>
            </a:xfrm>
            <a:prstGeom prst="rect">
              <a:avLst/>
            </a:prstGeom>
            <a:noFill/>
          </p:spPr>
          <p:txBody>
            <a:bodyPr wrap="square" rtlCol="0">
              <a:spAutoFit/>
            </a:bodyPr>
            <a:lstStyle/>
            <a:p>
              <a:r>
                <a:rPr lang="en-US" sz="900" b="1" dirty="0"/>
                <a:t>Total</a:t>
              </a:r>
            </a:p>
          </p:txBody>
        </p:sp>
      </p:grpSp>
      <p:grpSp>
        <p:nvGrpSpPr>
          <p:cNvPr id="3369" name="Group 3368">
            <a:extLst>
              <a:ext uri="{FF2B5EF4-FFF2-40B4-BE49-F238E27FC236}">
                <a16:creationId xmlns:a16="http://schemas.microsoft.com/office/drawing/2014/main" id="{280249C4-CED6-CDB2-9540-436ABE8703CF}"/>
              </a:ext>
            </a:extLst>
          </p:cNvPr>
          <p:cNvGrpSpPr/>
          <p:nvPr/>
        </p:nvGrpSpPr>
        <p:grpSpPr>
          <a:xfrm>
            <a:off x="4661391" y="3017108"/>
            <a:ext cx="1648967" cy="2017020"/>
            <a:chOff x="217180" y="2912518"/>
            <a:chExt cx="1648967" cy="2017020"/>
          </a:xfrm>
        </p:grpSpPr>
        <p:cxnSp>
          <p:nvCxnSpPr>
            <p:cNvPr id="3371" name="Straight Connector 3370">
              <a:extLst>
                <a:ext uri="{FF2B5EF4-FFF2-40B4-BE49-F238E27FC236}">
                  <a16:creationId xmlns:a16="http://schemas.microsoft.com/office/drawing/2014/main" id="{98351778-582E-6ED2-2E31-97A8CCDCF3E8}"/>
                </a:ext>
              </a:extLst>
            </p:cNvPr>
            <p:cNvCxnSpPr>
              <a:cxnSpLocks/>
            </p:cNvCxnSpPr>
            <p:nvPr/>
          </p:nvCxnSpPr>
          <p:spPr>
            <a:xfrm flipV="1">
              <a:off x="217180" y="2912518"/>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72" name="Straight Connector 3371">
              <a:extLst>
                <a:ext uri="{FF2B5EF4-FFF2-40B4-BE49-F238E27FC236}">
                  <a16:creationId xmlns:a16="http://schemas.microsoft.com/office/drawing/2014/main" id="{13DF05BA-941C-AC5E-4E9D-20CA4B58A5EE}"/>
                </a:ext>
              </a:extLst>
            </p:cNvPr>
            <p:cNvCxnSpPr>
              <a:cxnSpLocks/>
            </p:cNvCxnSpPr>
            <p:nvPr/>
          </p:nvCxnSpPr>
          <p:spPr>
            <a:xfrm flipV="1">
              <a:off x="236149" y="3572406"/>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73" name="Straight Connector 3372">
              <a:extLst>
                <a:ext uri="{FF2B5EF4-FFF2-40B4-BE49-F238E27FC236}">
                  <a16:creationId xmlns:a16="http://schemas.microsoft.com/office/drawing/2014/main" id="{958796BB-DBC6-9D43-9089-7BFD7582C422}"/>
                </a:ext>
              </a:extLst>
            </p:cNvPr>
            <p:cNvCxnSpPr>
              <a:cxnSpLocks/>
            </p:cNvCxnSpPr>
            <p:nvPr/>
          </p:nvCxnSpPr>
          <p:spPr>
            <a:xfrm flipV="1">
              <a:off x="236149" y="3896465"/>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74" name="Straight Connector 3373">
              <a:extLst>
                <a:ext uri="{FF2B5EF4-FFF2-40B4-BE49-F238E27FC236}">
                  <a16:creationId xmlns:a16="http://schemas.microsoft.com/office/drawing/2014/main" id="{7549022B-28C0-2810-677D-56C5C44A1BC4}"/>
                </a:ext>
              </a:extLst>
            </p:cNvPr>
            <p:cNvCxnSpPr>
              <a:cxnSpLocks/>
            </p:cNvCxnSpPr>
            <p:nvPr/>
          </p:nvCxnSpPr>
          <p:spPr>
            <a:xfrm flipV="1">
              <a:off x="260113" y="4370941"/>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75" name="Straight Connector 3374">
              <a:extLst>
                <a:ext uri="{FF2B5EF4-FFF2-40B4-BE49-F238E27FC236}">
                  <a16:creationId xmlns:a16="http://schemas.microsoft.com/office/drawing/2014/main" id="{3600FC61-F18A-9C6F-9B80-A067ADA73145}"/>
                </a:ext>
              </a:extLst>
            </p:cNvPr>
            <p:cNvCxnSpPr>
              <a:cxnSpLocks/>
            </p:cNvCxnSpPr>
            <p:nvPr/>
          </p:nvCxnSpPr>
          <p:spPr>
            <a:xfrm flipV="1">
              <a:off x="267517" y="4619593"/>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76" name="Straight Connector 3375">
              <a:extLst>
                <a:ext uri="{FF2B5EF4-FFF2-40B4-BE49-F238E27FC236}">
                  <a16:creationId xmlns:a16="http://schemas.microsoft.com/office/drawing/2014/main" id="{537AE5DE-973B-5EA3-6221-01735FC74D25}"/>
                </a:ext>
              </a:extLst>
            </p:cNvPr>
            <p:cNvCxnSpPr>
              <a:cxnSpLocks/>
            </p:cNvCxnSpPr>
            <p:nvPr/>
          </p:nvCxnSpPr>
          <p:spPr>
            <a:xfrm flipV="1">
              <a:off x="280955" y="4922721"/>
              <a:ext cx="1585192" cy="6817"/>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064" name="Group 2063">
            <a:extLst>
              <a:ext uri="{FF2B5EF4-FFF2-40B4-BE49-F238E27FC236}">
                <a16:creationId xmlns:a16="http://schemas.microsoft.com/office/drawing/2014/main" id="{26D72A21-F720-5531-F6A7-FA91B6E2C8A1}"/>
              </a:ext>
            </a:extLst>
          </p:cNvPr>
          <p:cNvGrpSpPr/>
          <p:nvPr/>
        </p:nvGrpSpPr>
        <p:grpSpPr>
          <a:xfrm>
            <a:off x="7868193" y="2974290"/>
            <a:ext cx="1651524" cy="2017020"/>
            <a:chOff x="214623" y="2912518"/>
            <a:chExt cx="1651524" cy="2017020"/>
          </a:xfrm>
        </p:grpSpPr>
        <p:cxnSp>
          <p:nvCxnSpPr>
            <p:cNvPr id="2066" name="Straight Connector 2065">
              <a:extLst>
                <a:ext uri="{FF2B5EF4-FFF2-40B4-BE49-F238E27FC236}">
                  <a16:creationId xmlns:a16="http://schemas.microsoft.com/office/drawing/2014/main" id="{F9E8B240-58DB-4E7F-D49A-FBB3B296F3A7}"/>
                </a:ext>
              </a:extLst>
            </p:cNvPr>
            <p:cNvCxnSpPr>
              <a:cxnSpLocks/>
            </p:cNvCxnSpPr>
            <p:nvPr/>
          </p:nvCxnSpPr>
          <p:spPr>
            <a:xfrm flipV="1">
              <a:off x="217180" y="2912518"/>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7" name="Straight Connector 2066">
              <a:extLst>
                <a:ext uri="{FF2B5EF4-FFF2-40B4-BE49-F238E27FC236}">
                  <a16:creationId xmlns:a16="http://schemas.microsoft.com/office/drawing/2014/main" id="{9374C829-4ED1-A062-DCCF-223E7C293FB8}"/>
                </a:ext>
              </a:extLst>
            </p:cNvPr>
            <p:cNvCxnSpPr>
              <a:cxnSpLocks/>
            </p:cNvCxnSpPr>
            <p:nvPr/>
          </p:nvCxnSpPr>
          <p:spPr>
            <a:xfrm flipV="1">
              <a:off x="236149" y="3572406"/>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8" name="Straight Connector 2067">
              <a:extLst>
                <a:ext uri="{FF2B5EF4-FFF2-40B4-BE49-F238E27FC236}">
                  <a16:creationId xmlns:a16="http://schemas.microsoft.com/office/drawing/2014/main" id="{D80814A4-C361-D42F-8D66-7F5FC3A89609}"/>
                </a:ext>
              </a:extLst>
            </p:cNvPr>
            <p:cNvCxnSpPr>
              <a:cxnSpLocks/>
            </p:cNvCxnSpPr>
            <p:nvPr/>
          </p:nvCxnSpPr>
          <p:spPr>
            <a:xfrm flipV="1">
              <a:off x="236149" y="3896465"/>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9" name="Straight Connector 2068">
              <a:extLst>
                <a:ext uri="{FF2B5EF4-FFF2-40B4-BE49-F238E27FC236}">
                  <a16:creationId xmlns:a16="http://schemas.microsoft.com/office/drawing/2014/main" id="{CDA673EB-9A9B-EBE3-D40D-8EA5D7B7B5C3}"/>
                </a:ext>
              </a:extLst>
            </p:cNvPr>
            <p:cNvCxnSpPr>
              <a:cxnSpLocks/>
            </p:cNvCxnSpPr>
            <p:nvPr/>
          </p:nvCxnSpPr>
          <p:spPr>
            <a:xfrm flipV="1">
              <a:off x="214623" y="4370941"/>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70" name="Straight Connector 2069">
              <a:extLst>
                <a:ext uri="{FF2B5EF4-FFF2-40B4-BE49-F238E27FC236}">
                  <a16:creationId xmlns:a16="http://schemas.microsoft.com/office/drawing/2014/main" id="{F1742D42-98D0-F674-5FD9-EC6D56DDC339}"/>
                </a:ext>
              </a:extLst>
            </p:cNvPr>
            <p:cNvCxnSpPr>
              <a:cxnSpLocks/>
            </p:cNvCxnSpPr>
            <p:nvPr/>
          </p:nvCxnSpPr>
          <p:spPr>
            <a:xfrm flipV="1">
              <a:off x="267517" y="4619593"/>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71" name="Straight Connector 2070">
              <a:extLst>
                <a:ext uri="{FF2B5EF4-FFF2-40B4-BE49-F238E27FC236}">
                  <a16:creationId xmlns:a16="http://schemas.microsoft.com/office/drawing/2014/main" id="{FC32A921-4876-7128-B54B-1F555098C482}"/>
                </a:ext>
              </a:extLst>
            </p:cNvPr>
            <p:cNvCxnSpPr>
              <a:cxnSpLocks/>
            </p:cNvCxnSpPr>
            <p:nvPr/>
          </p:nvCxnSpPr>
          <p:spPr>
            <a:xfrm flipV="1">
              <a:off x="280955" y="4922721"/>
              <a:ext cx="1585192" cy="6817"/>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072" name="Straight Connector 2071">
            <a:extLst>
              <a:ext uri="{FF2B5EF4-FFF2-40B4-BE49-F238E27FC236}">
                <a16:creationId xmlns:a16="http://schemas.microsoft.com/office/drawing/2014/main" id="{03CF4615-CDC4-AF35-815D-FE8FF99FD719}"/>
              </a:ext>
            </a:extLst>
          </p:cNvPr>
          <p:cNvCxnSpPr>
            <a:cxnSpLocks/>
          </p:cNvCxnSpPr>
          <p:nvPr/>
        </p:nvCxnSpPr>
        <p:spPr>
          <a:xfrm flipV="1">
            <a:off x="4711729" y="2768192"/>
            <a:ext cx="1585191" cy="681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073" name="Straight Connector 2072">
            <a:extLst>
              <a:ext uri="{FF2B5EF4-FFF2-40B4-BE49-F238E27FC236}">
                <a16:creationId xmlns:a16="http://schemas.microsoft.com/office/drawing/2014/main" id="{E3C2FB55-5D1D-AC4B-AF0F-B81D1AE248D1}"/>
              </a:ext>
            </a:extLst>
          </p:cNvPr>
          <p:cNvCxnSpPr>
            <a:cxnSpLocks/>
          </p:cNvCxnSpPr>
          <p:nvPr/>
        </p:nvCxnSpPr>
        <p:spPr>
          <a:xfrm flipV="1">
            <a:off x="7854765" y="2767522"/>
            <a:ext cx="1585191" cy="681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077" name="Connector: Elbow 2076">
            <a:extLst>
              <a:ext uri="{FF2B5EF4-FFF2-40B4-BE49-F238E27FC236}">
                <a16:creationId xmlns:a16="http://schemas.microsoft.com/office/drawing/2014/main" id="{12992F60-1C45-846D-9324-BFE05804589B}"/>
              </a:ext>
            </a:extLst>
          </p:cNvPr>
          <p:cNvCxnSpPr>
            <a:cxnSpLocks/>
            <a:stCxn id="3230" idx="3"/>
          </p:cNvCxnSpPr>
          <p:nvPr/>
        </p:nvCxnSpPr>
        <p:spPr>
          <a:xfrm flipV="1">
            <a:off x="1853766" y="3221695"/>
            <a:ext cx="2783425" cy="606226"/>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084" name="TextBox 2083">
            <a:extLst>
              <a:ext uri="{FF2B5EF4-FFF2-40B4-BE49-F238E27FC236}">
                <a16:creationId xmlns:a16="http://schemas.microsoft.com/office/drawing/2014/main" id="{054476FE-3D70-190E-0FA5-F1676531C82F}"/>
              </a:ext>
            </a:extLst>
          </p:cNvPr>
          <p:cNvSpPr txBox="1"/>
          <p:nvPr/>
        </p:nvSpPr>
        <p:spPr>
          <a:xfrm>
            <a:off x="2576750" y="3438189"/>
            <a:ext cx="1257866" cy="230832"/>
          </a:xfrm>
          <a:prstGeom prst="rect">
            <a:avLst/>
          </a:prstGeom>
          <a:solidFill>
            <a:schemeClr val="bg1"/>
          </a:solidFill>
          <a:ln w="12700">
            <a:solidFill>
              <a:srgbClr val="FF0000"/>
            </a:solidFill>
          </a:ln>
        </p:spPr>
        <p:txBody>
          <a:bodyPr wrap="square" rtlCol="0">
            <a:spAutoFit/>
          </a:bodyPr>
          <a:lstStyle/>
          <a:p>
            <a:pPr algn="ctr"/>
            <a:r>
              <a:rPr lang="en-US" sz="900" dirty="0"/>
              <a:t>Activities</a:t>
            </a:r>
          </a:p>
        </p:txBody>
      </p:sp>
      <p:sp>
        <p:nvSpPr>
          <p:cNvPr id="2091" name="TextBox 2090">
            <a:extLst>
              <a:ext uri="{FF2B5EF4-FFF2-40B4-BE49-F238E27FC236}">
                <a16:creationId xmlns:a16="http://schemas.microsoft.com/office/drawing/2014/main" id="{3E65528A-EB80-2FCF-C409-1867E6275CE9}"/>
              </a:ext>
            </a:extLst>
          </p:cNvPr>
          <p:cNvSpPr txBox="1"/>
          <p:nvPr/>
        </p:nvSpPr>
        <p:spPr>
          <a:xfrm>
            <a:off x="7523170" y="5667735"/>
            <a:ext cx="2885044" cy="369332"/>
          </a:xfrm>
          <a:prstGeom prst="rect">
            <a:avLst/>
          </a:prstGeom>
          <a:solidFill>
            <a:schemeClr val="bg1"/>
          </a:solidFill>
          <a:ln w="12700">
            <a:solidFill>
              <a:schemeClr val="tx1"/>
            </a:solidFill>
          </a:ln>
        </p:spPr>
        <p:txBody>
          <a:bodyPr wrap="square" rtlCol="0">
            <a:spAutoFit/>
          </a:bodyPr>
          <a:lstStyle/>
          <a:p>
            <a:r>
              <a:rPr lang="en-US" sz="900" b="1" dirty="0"/>
              <a:t>89.7 </a:t>
            </a:r>
            <a:r>
              <a:rPr lang="en-US" sz="900" b="1" dirty="0" err="1"/>
              <a:t>mtons</a:t>
            </a:r>
            <a:r>
              <a:rPr lang="en-US" sz="900" b="1" dirty="0"/>
              <a:t> CO2e GHG emission credits applied to reach net zero.  </a:t>
            </a:r>
          </a:p>
        </p:txBody>
      </p:sp>
      <p:cxnSp>
        <p:nvCxnSpPr>
          <p:cNvPr id="2104" name="Straight Arrow Connector 2103">
            <a:extLst>
              <a:ext uri="{FF2B5EF4-FFF2-40B4-BE49-F238E27FC236}">
                <a16:creationId xmlns:a16="http://schemas.microsoft.com/office/drawing/2014/main" id="{3F3A44B6-B4CB-0E43-C670-1509330268B9}"/>
              </a:ext>
            </a:extLst>
          </p:cNvPr>
          <p:cNvCxnSpPr>
            <a:cxnSpLocks/>
          </p:cNvCxnSpPr>
          <p:nvPr/>
        </p:nvCxnSpPr>
        <p:spPr>
          <a:xfrm>
            <a:off x="6398571" y="3907349"/>
            <a:ext cx="1394596" cy="2777"/>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2106" name="TextBox 2105">
            <a:extLst>
              <a:ext uri="{FF2B5EF4-FFF2-40B4-BE49-F238E27FC236}">
                <a16:creationId xmlns:a16="http://schemas.microsoft.com/office/drawing/2014/main" id="{4C306FC1-2895-BEFA-0E2E-6EC3EE51148E}"/>
              </a:ext>
            </a:extLst>
          </p:cNvPr>
          <p:cNvSpPr txBox="1"/>
          <p:nvPr/>
        </p:nvSpPr>
        <p:spPr>
          <a:xfrm>
            <a:off x="4040496" y="5669280"/>
            <a:ext cx="3185492" cy="1169551"/>
          </a:xfrm>
          <a:prstGeom prst="rect">
            <a:avLst/>
          </a:prstGeom>
          <a:solidFill>
            <a:schemeClr val="bg1"/>
          </a:solidFill>
          <a:ln w="12700">
            <a:solidFill>
              <a:schemeClr val="tx1"/>
            </a:solidFill>
          </a:ln>
        </p:spPr>
        <p:txBody>
          <a:bodyPr wrap="square" rtlCol="0">
            <a:spAutoFit/>
          </a:bodyPr>
          <a:lstStyle/>
          <a:p>
            <a:r>
              <a:rPr lang="en-US" sz="1000" b="1" dirty="0">
                <a:solidFill>
                  <a:srgbClr val="FF0000"/>
                </a:solidFill>
              </a:rPr>
              <a:t>GHG emission credits can be gained used from 2 sources.</a:t>
            </a:r>
          </a:p>
          <a:p>
            <a:r>
              <a:rPr lang="en-US" sz="1000" dirty="0">
                <a:solidFill>
                  <a:srgbClr val="FF0000"/>
                </a:solidFill>
              </a:rPr>
              <a:t>1) Internally generated by more efficient</a:t>
            </a:r>
          </a:p>
          <a:p>
            <a:r>
              <a:rPr lang="en-US" sz="1000" dirty="0">
                <a:solidFill>
                  <a:srgbClr val="FF0000"/>
                </a:solidFill>
              </a:rPr>
              <a:t> operations from capital improvements or demands on suppliers.</a:t>
            </a:r>
          </a:p>
          <a:p>
            <a:endParaRPr lang="en-US" sz="1000" dirty="0">
              <a:solidFill>
                <a:srgbClr val="FF0000"/>
              </a:solidFill>
            </a:endParaRPr>
          </a:p>
          <a:p>
            <a:r>
              <a:rPr lang="en-US" sz="1000" dirty="0">
                <a:solidFill>
                  <a:srgbClr val="FF0000"/>
                </a:solidFill>
              </a:rPr>
              <a:t>2) Purchased in the open market from suppliers where emission credits have been audited.</a:t>
            </a:r>
          </a:p>
        </p:txBody>
      </p:sp>
      <p:sp>
        <p:nvSpPr>
          <p:cNvPr id="2107" name="TextBox 2106">
            <a:extLst>
              <a:ext uri="{FF2B5EF4-FFF2-40B4-BE49-F238E27FC236}">
                <a16:creationId xmlns:a16="http://schemas.microsoft.com/office/drawing/2014/main" id="{958823E6-200D-681D-682A-ED44FBE25DE4}"/>
              </a:ext>
            </a:extLst>
          </p:cNvPr>
          <p:cNvSpPr txBox="1"/>
          <p:nvPr/>
        </p:nvSpPr>
        <p:spPr>
          <a:xfrm>
            <a:off x="6522655" y="3000882"/>
            <a:ext cx="1202694" cy="784830"/>
          </a:xfrm>
          <a:prstGeom prst="rect">
            <a:avLst/>
          </a:prstGeom>
          <a:solidFill>
            <a:schemeClr val="bg1"/>
          </a:solidFill>
          <a:ln w="12700">
            <a:solidFill>
              <a:schemeClr val="tx1"/>
            </a:solidFill>
          </a:ln>
        </p:spPr>
        <p:txBody>
          <a:bodyPr wrap="square" rtlCol="0">
            <a:spAutoFit/>
          </a:bodyPr>
          <a:lstStyle/>
          <a:p>
            <a:r>
              <a:rPr lang="en-US" sz="900" dirty="0"/>
              <a:t>Purchase credits in the open market or register and utilize credits from capital improvements.</a:t>
            </a:r>
          </a:p>
        </p:txBody>
      </p:sp>
      <p:sp>
        <p:nvSpPr>
          <p:cNvPr id="5" name="TextBox 4">
            <a:extLst>
              <a:ext uri="{FF2B5EF4-FFF2-40B4-BE49-F238E27FC236}">
                <a16:creationId xmlns:a16="http://schemas.microsoft.com/office/drawing/2014/main" id="{DB17CAF1-7F28-1796-F03D-9498DCA147C7}"/>
              </a:ext>
            </a:extLst>
          </p:cNvPr>
          <p:cNvSpPr txBox="1"/>
          <p:nvPr/>
        </p:nvSpPr>
        <p:spPr>
          <a:xfrm>
            <a:off x="-6732" y="675951"/>
            <a:ext cx="12180896" cy="307777"/>
          </a:xfrm>
          <a:prstGeom prst="rect">
            <a:avLst/>
          </a:prstGeom>
          <a:solidFill>
            <a:schemeClr val="bg1"/>
          </a:solidFill>
          <a:ln w="12700">
            <a:solidFill>
              <a:schemeClr val="tx1"/>
            </a:solidFill>
          </a:ln>
          <a:scene3d>
            <a:camera prst="orthographicFront"/>
            <a:lightRig rig="threePt" dir="t"/>
          </a:scene3d>
          <a:sp3d>
            <a:bevelT/>
          </a:sp3d>
        </p:spPr>
        <p:txBody>
          <a:bodyPr wrap="square" rtlCol="0">
            <a:spAutoFit/>
          </a:bodyPr>
          <a:lstStyle/>
          <a:p>
            <a:r>
              <a:rPr lang="en-US" sz="1400" b="1" dirty="0"/>
              <a:t>To reach a goal of Net Zero GHG emissions in this supply chain example, GHG emission credits are needed to offset emission intensive actions. </a:t>
            </a:r>
          </a:p>
        </p:txBody>
      </p:sp>
      <p:sp>
        <p:nvSpPr>
          <p:cNvPr id="6" name="TextBox 5">
            <a:extLst>
              <a:ext uri="{FF2B5EF4-FFF2-40B4-BE49-F238E27FC236}">
                <a16:creationId xmlns:a16="http://schemas.microsoft.com/office/drawing/2014/main" id="{03050D1A-6AE5-C4A4-68FE-A6B9520794F3}"/>
              </a:ext>
            </a:extLst>
          </p:cNvPr>
          <p:cNvSpPr txBox="1"/>
          <p:nvPr/>
        </p:nvSpPr>
        <p:spPr>
          <a:xfrm>
            <a:off x="4452854" y="1920165"/>
            <a:ext cx="4045005" cy="338554"/>
          </a:xfrm>
          <a:prstGeom prst="rect">
            <a:avLst/>
          </a:prstGeom>
          <a:solidFill>
            <a:schemeClr val="bg1"/>
          </a:solidFill>
          <a:ln w="12700">
            <a:solidFill>
              <a:schemeClr val="tx1"/>
            </a:solidFill>
          </a:ln>
        </p:spPr>
        <p:txBody>
          <a:bodyPr wrap="square" rtlCol="0">
            <a:spAutoFit/>
          </a:bodyPr>
          <a:lstStyle/>
          <a:p>
            <a:pPr algn="ctr"/>
            <a:r>
              <a:rPr lang="en-US" sz="1600" b="1" dirty="0"/>
              <a:t>LFDT Products: Fabric, Indy, Explorer, </a:t>
            </a:r>
            <a:r>
              <a:rPr lang="en-US" sz="1600" b="1" dirty="0" err="1"/>
              <a:t>Besu</a:t>
            </a:r>
            <a:endParaRPr lang="en-US" sz="1600" b="1" dirty="0"/>
          </a:p>
        </p:txBody>
      </p:sp>
      <p:sp>
        <p:nvSpPr>
          <p:cNvPr id="8" name="TextBox 7">
            <a:extLst>
              <a:ext uri="{FF2B5EF4-FFF2-40B4-BE49-F238E27FC236}">
                <a16:creationId xmlns:a16="http://schemas.microsoft.com/office/drawing/2014/main" id="{1B3D86CC-3217-6228-3A09-C03B30C8CCB5}"/>
              </a:ext>
            </a:extLst>
          </p:cNvPr>
          <p:cNvSpPr txBox="1"/>
          <p:nvPr/>
        </p:nvSpPr>
        <p:spPr>
          <a:xfrm>
            <a:off x="-15618" y="1027315"/>
            <a:ext cx="12189782" cy="830997"/>
          </a:xfrm>
          <a:prstGeom prst="rect">
            <a:avLst/>
          </a:prstGeom>
          <a:solidFill>
            <a:schemeClr val="bg1"/>
          </a:solidFill>
          <a:effectLst/>
          <a:scene3d>
            <a:camera prst="orthographicFront"/>
            <a:lightRig rig="threePt" dir="t"/>
          </a:scene3d>
          <a:sp3d>
            <a:bevelT/>
          </a:sp3d>
        </p:spPr>
        <p:txBody>
          <a:bodyPr wrap="square" rtlCol="0">
            <a:spAutoFit/>
          </a:bodyPr>
          <a:lstStyle/>
          <a:p>
            <a:r>
              <a:rPr lang="en-US" sz="1600" dirty="0"/>
              <a:t>Using the African coffee supply chain once again as a demonstration( from the previous slide ), and utilizing the emission reductions from actions already taken through supplier negotiation, GHG credits are the remaining option.</a:t>
            </a:r>
          </a:p>
          <a:p>
            <a:r>
              <a:rPr lang="en-US" sz="1600" b="1" dirty="0"/>
              <a:t>Note: </a:t>
            </a:r>
            <a:r>
              <a:rPr lang="en-US" sz="1600" dirty="0"/>
              <a:t>Actions already taken may have generated credits themselves reducing the number of credits acquired out in the open market.    </a:t>
            </a:r>
          </a:p>
        </p:txBody>
      </p:sp>
      <p:cxnSp>
        <p:nvCxnSpPr>
          <p:cNvPr id="12" name="Straight Arrow Connector 11">
            <a:extLst>
              <a:ext uri="{FF2B5EF4-FFF2-40B4-BE49-F238E27FC236}">
                <a16:creationId xmlns:a16="http://schemas.microsoft.com/office/drawing/2014/main" id="{82FAB1B1-E072-E3CC-4BFF-DDF7787C3EEA}"/>
              </a:ext>
            </a:extLst>
          </p:cNvPr>
          <p:cNvCxnSpPr>
            <a:cxnSpLocks/>
          </p:cNvCxnSpPr>
          <p:nvPr/>
        </p:nvCxnSpPr>
        <p:spPr>
          <a:xfrm flipV="1">
            <a:off x="960743" y="5198056"/>
            <a:ext cx="0" cy="474273"/>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12A17C9-03C3-0304-40D8-25C8B163407A}"/>
              </a:ext>
            </a:extLst>
          </p:cNvPr>
          <p:cNvCxnSpPr>
            <a:cxnSpLocks/>
          </p:cNvCxnSpPr>
          <p:nvPr/>
        </p:nvCxnSpPr>
        <p:spPr>
          <a:xfrm flipV="1">
            <a:off x="5580331" y="5298288"/>
            <a:ext cx="0" cy="369447"/>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5233081-9E94-7986-087F-2C84CC179B99}"/>
              </a:ext>
            </a:extLst>
          </p:cNvPr>
          <p:cNvCxnSpPr>
            <a:cxnSpLocks/>
          </p:cNvCxnSpPr>
          <p:nvPr/>
        </p:nvCxnSpPr>
        <p:spPr>
          <a:xfrm flipV="1">
            <a:off x="8685664" y="5263796"/>
            <a:ext cx="0" cy="369447"/>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F79A53D-98C6-C720-E1F8-08D913554743}"/>
              </a:ext>
            </a:extLst>
          </p:cNvPr>
          <p:cNvSpPr txBox="1"/>
          <p:nvPr/>
        </p:nvSpPr>
        <p:spPr>
          <a:xfrm>
            <a:off x="9703428" y="2968173"/>
            <a:ext cx="1969459" cy="2169825"/>
          </a:xfrm>
          <a:prstGeom prst="rect">
            <a:avLst/>
          </a:prstGeom>
          <a:solidFill>
            <a:schemeClr val="bg1"/>
          </a:solidFill>
          <a:ln w="12700">
            <a:solidFill>
              <a:schemeClr val="tx1"/>
            </a:solidFill>
          </a:ln>
        </p:spPr>
        <p:txBody>
          <a:bodyPr wrap="square" rtlCol="0">
            <a:spAutoFit/>
          </a:bodyPr>
          <a:lstStyle/>
          <a:p>
            <a:r>
              <a:rPr lang="en-US" sz="900" b="1" dirty="0">
                <a:solidFill>
                  <a:srgbClr val="FF0000"/>
                </a:solidFill>
              </a:rPr>
              <a:t>Example: Renewable energy(REC) credits were generated due to operational improvements in this supply chain. Each run of the supply chain generates credits which are then consumed internally during each operation.</a:t>
            </a:r>
          </a:p>
          <a:p>
            <a:r>
              <a:rPr lang="en-US" sz="900" b="1" dirty="0">
                <a:solidFill>
                  <a:srgbClr val="FF0000"/>
                </a:solidFill>
              </a:rPr>
              <a:t>However, the amount of credits generated internally are less than needed during </a:t>
            </a:r>
            <a:r>
              <a:rPr lang="en-US" sz="900" b="1" dirty="0" err="1">
                <a:solidFill>
                  <a:srgbClr val="FF0000"/>
                </a:solidFill>
              </a:rPr>
              <a:t>ecah</a:t>
            </a:r>
            <a:r>
              <a:rPr lang="en-US" sz="900" b="1" dirty="0">
                <a:solidFill>
                  <a:srgbClr val="FF0000"/>
                </a:solidFill>
              </a:rPr>
              <a:t> supply chain run to meet net-zero. </a:t>
            </a:r>
          </a:p>
          <a:p>
            <a:r>
              <a:rPr lang="en-US" sz="900" b="1" dirty="0">
                <a:solidFill>
                  <a:srgbClr val="FF0000"/>
                </a:solidFill>
              </a:rPr>
              <a:t>To reach net-zero, the supply chain owner and partners are required to purchase additional RECs out in the open market. </a:t>
            </a:r>
          </a:p>
        </p:txBody>
      </p:sp>
    </p:spTree>
    <p:extLst>
      <p:ext uri="{BB962C8B-B14F-4D97-AF65-F5344CB8AC3E}">
        <p14:creationId xmlns:p14="http://schemas.microsoft.com/office/powerpoint/2010/main" val="16335609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F3985-2086-B968-1654-8946C1EF353C}"/>
            </a:ext>
          </a:extLst>
        </p:cNvPr>
        <p:cNvGrpSpPr/>
        <p:nvPr/>
      </p:nvGrpSpPr>
      <p:grpSpPr>
        <a:xfrm>
          <a:off x="0" y="0"/>
          <a:ext cx="0" cy="0"/>
          <a:chOff x="0" y="0"/>
          <a:chExt cx="0" cy="0"/>
        </a:xfrm>
      </p:grpSpPr>
      <p:sp>
        <p:nvSpPr>
          <p:cNvPr id="52" name="Rectangle 51">
            <a:extLst>
              <a:ext uri="{FF2B5EF4-FFF2-40B4-BE49-F238E27FC236}">
                <a16:creationId xmlns:a16="http://schemas.microsoft.com/office/drawing/2014/main" id="{EA891A41-F547-A5E5-6F30-2B7F9E49C341}"/>
              </a:ext>
            </a:extLst>
          </p:cNvPr>
          <p:cNvSpPr/>
          <p:nvPr/>
        </p:nvSpPr>
        <p:spPr>
          <a:xfrm>
            <a:off x="-3" y="647912"/>
            <a:ext cx="5227285" cy="621008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DAC0354-B0C4-F947-9D8D-5516841EC4CA}"/>
              </a:ext>
            </a:extLst>
          </p:cNvPr>
          <p:cNvSpPr/>
          <p:nvPr/>
        </p:nvSpPr>
        <p:spPr>
          <a:xfrm>
            <a:off x="8448" y="0"/>
            <a:ext cx="12180896" cy="656492"/>
          </a:xfrm>
          <a:prstGeom prst="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3CAF5A7-7878-E742-ED93-F8654395BBDA}"/>
              </a:ext>
            </a:extLst>
          </p:cNvPr>
          <p:cNvSpPr txBox="1"/>
          <p:nvPr/>
        </p:nvSpPr>
        <p:spPr>
          <a:xfrm>
            <a:off x="96691" y="68099"/>
            <a:ext cx="12058757" cy="523220"/>
          </a:xfrm>
          <a:prstGeom prst="rect">
            <a:avLst/>
          </a:prstGeom>
          <a:solidFill>
            <a:srgbClr val="0099CC"/>
          </a:solidFill>
        </p:spPr>
        <p:txBody>
          <a:bodyPr wrap="square" rtlCol="0">
            <a:spAutoFit/>
          </a:bodyPr>
          <a:lstStyle/>
          <a:p>
            <a:r>
              <a:rPr lang="en-US" sz="2800" b="1" dirty="0">
                <a:solidFill>
                  <a:schemeClr val="bg1">
                    <a:lumMod val="95000"/>
                  </a:schemeClr>
                </a:solidFill>
              </a:rPr>
              <a:t> Create a Granular View of GHG Emissions Within Supply Chain Assets</a:t>
            </a:r>
          </a:p>
        </p:txBody>
      </p:sp>
      <p:sp>
        <p:nvSpPr>
          <p:cNvPr id="65" name="AutoShape 2" descr="Cash Pictures, Cash Stock Photos &amp; Images | Depositphotos®">
            <a:extLst>
              <a:ext uri="{FF2B5EF4-FFF2-40B4-BE49-F238E27FC236}">
                <a16:creationId xmlns:a16="http://schemas.microsoft.com/office/drawing/2014/main" id="{B3EE324E-4E4D-EEF1-C250-C4B1CA1C56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5C8FCE09-441C-6AFE-79DD-F559AD4E985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DB26EF1C-6F24-E1B6-9D33-AE177F963E07}"/>
              </a:ext>
            </a:extLst>
          </p:cNvPr>
          <p:cNvSpPr txBox="1"/>
          <p:nvPr/>
        </p:nvSpPr>
        <p:spPr>
          <a:xfrm>
            <a:off x="36552" y="675631"/>
            <a:ext cx="5175074" cy="6124754"/>
          </a:xfrm>
          <a:prstGeom prst="rect">
            <a:avLst/>
          </a:prstGeom>
          <a:solidFill>
            <a:srgbClr val="CCECFF"/>
          </a:solidFill>
        </p:spPr>
        <p:txBody>
          <a:bodyPr wrap="square" rtlCol="0">
            <a:spAutoFit/>
          </a:bodyPr>
          <a:lstStyle/>
          <a:p>
            <a:r>
              <a:rPr lang="en-US" sz="1400" b="1" dirty="0"/>
              <a:t>      </a:t>
            </a:r>
          </a:p>
          <a:p>
            <a:r>
              <a:rPr lang="en-US" sz="1400" b="1" dirty="0"/>
              <a:t>      Accurate Measurement</a:t>
            </a:r>
            <a:r>
              <a:rPr lang="en-US" sz="1400" dirty="0"/>
              <a:t>: Granular data provides precise insights into where emissions are being generated, enabling more effective identification of high-emission sources and hotspots.</a:t>
            </a:r>
          </a:p>
          <a:p>
            <a:endParaRPr lang="en-US" sz="1400" dirty="0"/>
          </a:p>
          <a:p>
            <a:r>
              <a:rPr lang="en-US" sz="1400" b="1" dirty="0"/>
              <a:t>      Targeted Mitigation</a:t>
            </a:r>
            <a:r>
              <a:rPr lang="en-US" sz="1400" dirty="0"/>
              <a:t>: Organizations can develop focused strategies to reduce emissions in specific areas, processes, or facilities, maximizing the impact of reduction efforts.</a:t>
            </a:r>
          </a:p>
          <a:p>
            <a:endParaRPr lang="en-US" sz="1400" dirty="0"/>
          </a:p>
          <a:p>
            <a:r>
              <a:rPr lang="en-US" sz="1400" b="1" dirty="0"/>
              <a:t>       Improved Accountability</a:t>
            </a:r>
            <a:r>
              <a:rPr lang="en-US" sz="1400" dirty="0"/>
              <a:t>: Detailed tracking enhances transparency, holding individual entities or processes accountable for their emissions.</a:t>
            </a:r>
          </a:p>
          <a:p>
            <a:r>
              <a:rPr lang="en-US" sz="1400" dirty="0"/>
              <a:t> </a:t>
            </a:r>
          </a:p>
          <a:p>
            <a:r>
              <a:rPr lang="en-US" sz="1400" b="1" dirty="0"/>
              <a:t>       Enhanced Reporting</a:t>
            </a:r>
            <a:r>
              <a:rPr lang="en-US" sz="1400" dirty="0"/>
              <a:t>: Granular data supports compliance with regulatory standards and enables detailed reporting for stakeholders and customers.</a:t>
            </a:r>
          </a:p>
          <a:p>
            <a:endParaRPr lang="en-US" sz="1400" dirty="0"/>
          </a:p>
          <a:p>
            <a:r>
              <a:rPr lang="en-US" sz="1400" b="1" dirty="0"/>
              <a:t>      Better Decision-Making</a:t>
            </a:r>
            <a:r>
              <a:rPr lang="en-US" sz="1400" dirty="0"/>
              <a:t>: Access to specific data points enables informed decisions about resource allocation, operational changes, or investments in cleaner technologies.</a:t>
            </a:r>
          </a:p>
          <a:p>
            <a:endParaRPr lang="en-US" sz="1400" dirty="0"/>
          </a:p>
          <a:p>
            <a:r>
              <a:rPr lang="en-US" sz="1400" b="1" dirty="0"/>
              <a:t>      Supply Chain Insights</a:t>
            </a:r>
            <a:r>
              <a:rPr lang="en-US" sz="1400" dirty="0"/>
              <a:t>: </a:t>
            </a:r>
            <a:r>
              <a:rPr kumimoji="0" lang="en-US" altLang="en-US" sz="1400" b="0" i="0" u="none" strike="noStrike" cap="none" normalizeH="0" baseline="0" dirty="0">
                <a:ln>
                  <a:noFill/>
                </a:ln>
                <a:solidFill>
                  <a:schemeClr val="tx1"/>
                </a:solidFill>
                <a:effectLst/>
              </a:rPr>
              <a:t>For organizations with complex supply chains, granular data highlights inefficiencies and emissions across each link, enabling end-to-end optimization.</a:t>
            </a:r>
            <a:endParaRPr lang="en-US" sz="1400" dirty="0"/>
          </a:p>
          <a:p>
            <a:endParaRPr lang="en-US" sz="1400" dirty="0"/>
          </a:p>
          <a:p>
            <a:r>
              <a:rPr lang="en-US" sz="1400" b="1" dirty="0"/>
              <a:t>       Supply Facilitates Innovation</a:t>
            </a:r>
            <a:r>
              <a:rPr lang="en-US" sz="1400" dirty="0"/>
              <a:t>: By understanding emissions at a micro level, companies can innovate with targeted solutions, such as improving energy efficiency</a:t>
            </a:r>
          </a:p>
        </p:txBody>
      </p:sp>
      <p:sp>
        <p:nvSpPr>
          <p:cNvPr id="18" name="TextBox 17">
            <a:extLst>
              <a:ext uri="{FF2B5EF4-FFF2-40B4-BE49-F238E27FC236}">
                <a16:creationId xmlns:a16="http://schemas.microsoft.com/office/drawing/2014/main" id="{D48FE255-5DDC-7106-D628-3AB2FEF0403B}"/>
              </a:ext>
            </a:extLst>
          </p:cNvPr>
          <p:cNvSpPr txBox="1"/>
          <p:nvPr/>
        </p:nvSpPr>
        <p:spPr>
          <a:xfrm>
            <a:off x="5847347" y="780600"/>
            <a:ext cx="4782881" cy="400110"/>
          </a:xfrm>
          <a:prstGeom prst="rect">
            <a:avLst/>
          </a:prstGeom>
          <a:noFill/>
        </p:spPr>
        <p:txBody>
          <a:bodyPr wrap="square" rtlCol="0">
            <a:spAutoFit/>
          </a:bodyPr>
          <a:lstStyle/>
          <a:p>
            <a:pPr algn="ctr"/>
            <a:r>
              <a:rPr lang="en-US" sz="2000" b="1" dirty="0"/>
              <a:t>Digital Twin GHG Emissions Tracking View</a:t>
            </a:r>
          </a:p>
        </p:txBody>
      </p:sp>
      <p:sp>
        <p:nvSpPr>
          <p:cNvPr id="2" name="Oval 1">
            <a:extLst>
              <a:ext uri="{FF2B5EF4-FFF2-40B4-BE49-F238E27FC236}">
                <a16:creationId xmlns:a16="http://schemas.microsoft.com/office/drawing/2014/main" id="{E7EF2A54-5AB3-8B79-65EA-CCCF10A8542D}"/>
              </a:ext>
            </a:extLst>
          </p:cNvPr>
          <p:cNvSpPr/>
          <p:nvPr/>
        </p:nvSpPr>
        <p:spPr>
          <a:xfrm>
            <a:off x="89819" y="931627"/>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endParaRPr lang="en-US" dirty="0">
              <a:solidFill>
                <a:schemeClr val="tx1"/>
              </a:solidFill>
            </a:endParaRPr>
          </a:p>
        </p:txBody>
      </p:sp>
      <p:sp>
        <p:nvSpPr>
          <p:cNvPr id="3" name="Oval 2">
            <a:extLst>
              <a:ext uri="{FF2B5EF4-FFF2-40B4-BE49-F238E27FC236}">
                <a16:creationId xmlns:a16="http://schemas.microsoft.com/office/drawing/2014/main" id="{0109F50E-AEBB-317A-8C41-3156719877B0}"/>
              </a:ext>
            </a:extLst>
          </p:cNvPr>
          <p:cNvSpPr/>
          <p:nvPr/>
        </p:nvSpPr>
        <p:spPr>
          <a:xfrm>
            <a:off x="93100" y="1819709"/>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endParaRPr lang="en-US" dirty="0">
              <a:solidFill>
                <a:schemeClr val="tx1"/>
              </a:solidFill>
            </a:endParaRPr>
          </a:p>
        </p:txBody>
      </p:sp>
      <p:sp>
        <p:nvSpPr>
          <p:cNvPr id="6" name="Oval 5">
            <a:extLst>
              <a:ext uri="{FF2B5EF4-FFF2-40B4-BE49-F238E27FC236}">
                <a16:creationId xmlns:a16="http://schemas.microsoft.com/office/drawing/2014/main" id="{EA9FBB6F-4B3B-1A0A-605D-087BBC3FAE3F}"/>
              </a:ext>
            </a:extLst>
          </p:cNvPr>
          <p:cNvSpPr/>
          <p:nvPr/>
        </p:nvSpPr>
        <p:spPr>
          <a:xfrm>
            <a:off x="105609" y="2654920"/>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endParaRPr lang="en-US" dirty="0">
              <a:solidFill>
                <a:schemeClr val="tx1"/>
              </a:solidFill>
            </a:endParaRPr>
          </a:p>
        </p:txBody>
      </p:sp>
      <p:sp>
        <p:nvSpPr>
          <p:cNvPr id="9" name="Oval 8">
            <a:extLst>
              <a:ext uri="{FF2B5EF4-FFF2-40B4-BE49-F238E27FC236}">
                <a16:creationId xmlns:a16="http://schemas.microsoft.com/office/drawing/2014/main" id="{1A7ADF8A-FEAC-E90C-998F-C389C5F29AF0}"/>
              </a:ext>
            </a:extLst>
          </p:cNvPr>
          <p:cNvSpPr/>
          <p:nvPr/>
        </p:nvSpPr>
        <p:spPr>
          <a:xfrm>
            <a:off x="93100" y="3503817"/>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endParaRPr lang="en-US" dirty="0">
              <a:solidFill>
                <a:schemeClr val="tx1"/>
              </a:solidFill>
            </a:endParaRPr>
          </a:p>
        </p:txBody>
      </p:sp>
      <p:sp>
        <p:nvSpPr>
          <p:cNvPr id="12" name="Oval 11">
            <a:extLst>
              <a:ext uri="{FF2B5EF4-FFF2-40B4-BE49-F238E27FC236}">
                <a16:creationId xmlns:a16="http://schemas.microsoft.com/office/drawing/2014/main" id="{206614FB-E973-9D1F-0198-1FEB0A5F2120}"/>
              </a:ext>
            </a:extLst>
          </p:cNvPr>
          <p:cNvSpPr/>
          <p:nvPr/>
        </p:nvSpPr>
        <p:spPr>
          <a:xfrm>
            <a:off x="93100" y="4352036"/>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endParaRPr lang="en-US" dirty="0">
              <a:solidFill>
                <a:schemeClr val="tx1"/>
              </a:solidFill>
            </a:endParaRPr>
          </a:p>
        </p:txBody>
      </p:sp>
      <p:sp>
        <p:nvSpPr>
          <p:cNvPr id="13" name="Oval 12">
            <a:extLst>
              <a:ext uri="{FF2B5EF4-FFF2-40B4-BE49-F238E27FC236}">
                <a16:creationId xmlns:a16="http://schemas.microsoft.com/office/drawing/2014/main" id="{53540101-276F-484B-8CC5-954160019840}"/>
              </a:ext>
            </a:extLst>
          </p:cNvPr>
          <p:cNvSpPr/>
          <p:nvPr/>
        </p:nvSpPr>
        <p:spPr>
          <a:xfrm>
            <a:off x="89820" y="5200255"/>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endParaRPr lang="en-US" dirty="0">
              <a:solidFill>
                <a:schemeClr val="tx1"/>
              </a:solidFill>
            </a:endParaRPr>
          </a:p>
        </p:txBody>
      </p:sp>
      <p:sp>
        <p:nvSpPr>
          <p:cNvPr id="21" name="Rectangle 20">
            <a:extLst>
              <a:ext uri="{FF2B5EF4-FFF2-40B4-BE49-F238E27FC236}">
                <a16:creationId xmlns:a16="http://schemas.microsoft.com/office/drawing/2014/main" id="{3995FB32-B541-7D44-1F8B-FC0BD3E05A99}"/>
              </a:ext>
            </a:extLst>
          </p:cNvPr>
          <p:cNvSpPr/>
          <p:nvPr/>
        </p:nvSpPr>
        <p:spPr>
          <a:xfrm>
            <a:off x="9886316" y="1215299"/>
            <a:ext cx="1744712" cy="2740271"/>
          </a:xfrm>
          <a:prstGeom prst="rect">
            <a:avLst/>
          </a:prstGeom>
          <a:solidFill>
            <a:srgbClr val="FFFF99"/>
          </a:solidFill>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E171C189-44AA-BF1D-D79A-855847AE0218}"/>
              </a:ext>
            </a:extLst>
          </p:cNvPr>
          <p:cNvGrpSpPr/>
          <p:nvPr/>
        </p:nvGrpSpPr>
        <p:grpSpPr>
          <a:xfrm>
            <a:off x="10981461" y="1498866"/>
            <a:ext cx="677943" cy="2484670"/>
            <a:chOff x="1047209" y="2870716"/>
            <a:chExt cx="834255" cy="2484670"/>
          </a:xfrm>
        </p:grpSpPr>
        <p:sp>
          <p:nvSpPr>
            <p:cNvPr id="23" name="TextBox 22">
              <a:extLst>
                <a:ext uri="{FF2B5EF4-FFF2-40B4-BE49-F238E27FC236}">
                  <a16:creationId xmlns:a16="http://schemas.microsoft.com/office/drawing/2014/main" id="{2A9FC801-521F-D8DD-A953-57DDF45FBEEF}"/>
                </a:ext>
              </a:extLst>
            </p:cNvPr>
            <p:cNvSpPr txBox="1"/>
            <p:nvPr/>
          </p:nvSpPr>
          <p:spPr>
            <a:xfrm>
              <a:off x="1324692" y="3835871"/>
              <a:ext cx="489813" cy="230832"/>
            </a:xfrm>
            <a:prstGeom prst="rect">
              <a:avLst/>
            </a:prstGeom>
            <a:noFill/>
          </p:spPr>
          <p:txBody>
            <a:bodyPr wrap="square" rtlCol="0">
              <a:spAutoFit/>
            </a:bodyPr>
            <a:lstStyle/>
            <a:p>
              <a:pPr algn="r"/>
              <a:r>
                <a:rPr lang="en-US" sz="900" b="1" dirty="0"/>
                <a:t>45.4</a:t>
              </a:r>
            </a:p>
          </p:txBody>
        </p:sp>
        <p:sp>
          <p:nvSpPr>
            <p:cNvPr id="24" name="TextBox 23">
              <a:extLst>
                <a:ext uri="{FF2B5EF4-FFF2-40B4-BE49-F238E27FC236}">
                  <a16:creationId xmlns:a16="http://schemas.microsoft.com/office/drawing/2014/main" id="{165478DF-CAF7-E02C-B78D-E66162CB2A02}"/>
                </a:ext>
              </a:extLst>
            </p:cNvPr>
            <p:cNvSpPr txBox="1"/>
            <p:nvPr/>
          </p:nvSpPr>
          <p:spPr>
            <a:xfrm>
              <a:off x="1345260" y="4308522"/>
              <a:ext cx="478202" cy="230832"/>
            </a:xfrm>
            <a:prstGeom prst="rect">
              <a:avLst/>
            </a:prstGeom>
            <a:noFill/>
          </p:spPr>
          <p:txBody>
            <a:bodyPr wrap="square" rtlCol="0">
              <a:spAutoFit/>
            </a:bodyPr>
            <a:lstStyle/>
            <a:p>
              <a:pPr algn="r"/>
              <a:r>
                <a:rPr lang="en-US" sz="900" b="1" dirty="0"/>
                <a:t>4.4</a:t>
              </a:r>
            </a:p>
          </p:txBody>
        </p:sp>
        <p:sp>
          <p:nvSpPr>
            <p:cNvPr id="25" name="TextBox 24">
              <a:extLst>
                <a:ext uri="{FF2B5EF4-FFF2-40B4-BE49-F238E27FC236}">
                  <a16:creationId xmlns:a16="http://schemas.microsoft.com/office/drawing/2014/main" id="{3CBDA4E9-B342-5F82-92A8-2192CB21DF5E}"/>
                </a:ext>
              </a:extLst>
            </p:cNvPr>
            <p:cNvSpPr txBox="1"/>
            <p:nvPr/>
          </p:nvSpPr>
          <p:spPr>
            <a:xfrm>
              <a:off x="1387522" y="4197434"/>
              <a:ext cx="436434" cy="230832"/>
            </a:xfrm>
            <a:prstGeom prst="rect">
              <a:avLst/>
            </a:prstGeom>
            <a:noFill/>
          </p:spPr>
          <p:txBody>
            <a:bodyPr wrap="square" rtlCol="0">
              <a:spAutoFit/>
            </a:bodyPr>
            <a:lstStyle/>
            <a:p>
              <a:pPr algn="r"/>
              <a:r>
                <a:rPr lang="en-US" sz="900" b="1" dirty="0"/>
                <a:t>2.4</a:t>
              </a:r>
            </a:p>
          </p:txBody>
        </p:sp>
        <p:sp>
          <p:nvSpPr>
            <p:cNvPr id="27" name="TextBox 26">
              <a:extLst>
                <a:ext uri="{FF2B5EF4-FFF2-40B4-BE49-F238E27FC236}">
                  <a16:creationId xmlns:a16="http://schemas.microsoft.com/office/drawing/2014/main" id="{FF5EF30A-5E69-2F19-D1E3-5CF81AE09EC2}"/>
                </a:ext>
              </a:extLst>
            </p:cNvPr>
            <p:cNvSpPr txBox="1"/>
            <p:nvPr/>
          </p:nvSpPr>
          <p:spPr>
            <a:xfrm>
              <a:off x="1370030" y="4838957"/>
              <a:ext cx="449639" cy="230832"/>
            </a:xfrm>
            <a:prstGeom prst="rect">
              <a:avLst/>
            </a:prstGeom>
            <a:noFill/>
          </p:spPr>
          <p:txBody>
            <a:bodyPr wrap="square" rtlCol="0">
              <a:spAutoFit/>
            </a:bodyPr>
            <a:lstStyle/>
            <a:p>
              <a:pPr algn="r"/>
              <a:r>
                <a:rPr lang="en-US" sz="900" b="1" dirty="0"/>
                <a:t>0.0</a:t>
              </a:r>
            </a:p>
          </p:txBody>
        </p:sp>
        <p:sp>
          <p:nvSpPr>
            <p:cNvPr id="28" name="TextBox 27">
              <a:extLst>
                <a:ext uri="{FF2B5EF4-FFF2-40B4-BE49-F238E27FC236}">
                  <a16:creationId xmlns:a16="http://schemas.microsoft.com/office/drawing/2014/main" id="{EE7AC2DB-54FF-86EC-410B-D396AB2E40FE}"/>
                </a:ext>
              </a:extLst>
            </p:cNvPr>
            <p:cNvSpPr txBox="1"/>
            <p:nvPr/>
          </p:nvSpPr>
          <p:spPr>
            <a:xfrm>
              <a:off x="1324692" y="4524777"/>
              <a:ext cx="494889" cy="230832"/>
            </a:xfrm>
            <a:prstGeom prst="rect">
              <a:avLst/>
            </a:prstGeom>
            <a:noFill/>
          </p:spPr>
          <p:txBody>
            <a:bodyPr wrap="square" rtlCol="0">
              <a:spAutoFit/>
            </a:bodyPr>
            <a:lstStyle/>
            <a:p>
              <a:pPr algn="r"/>
              <a:r>
                <a:rPr lang="en-US" sz="900" b="1" dirty="0"/>
                <a:t>1.9</a:t>
              </a:r>
            </a:p>
          </p:txBody>
        </p:sp>
        <p:sp>
          <p:nvSpPr>
            <p:cNvPr id="30" name="TextBox 29">
              <a:extLst>
                <a:ext uri="{FF2B5EF4-FFF2-40B4-BE49-F238E27FC236}">
                  <a16:creationId xmlns:a16="http://schemas.microsoft.com/office/drawing/2014/main" id="{4416DF5C-898C-9D89-6C07-C146402A4D97}"/>
                </a:ext>
              </a:extLst>
            </p:cNvPr>
            <p:cNvSpPr txBox="1"/>
            <p:nvPr/>
          </p:nvSpPr>
          <p:spPr>
            <a:xfrm>
              <a:off x="1241094" y="5124554"/>
              <a:ext cx="585797" cy="230832"/>
            </a:xfrm>
            <a:prstGeom prst="rect">
              <a:avLst/>
            </a:prstGeom>
            <a:noFill/>
          </p:spPr>
          <p:txBody>
            <a:bodyPr wrap="square" rtlCol="0">
              <a:spAutoFit/>
            </a:bodyPr>
            <a:lstStyle/>
            <a:p>
              <a:pPr algn="r"/>
              <a:r>
                <a:rPr lang="en-US" sz="900" b="1" dirty="0"/>
                <a:t>351.3</a:t>
              </a:r>
            </a:p>
          </p:txBody>
        </p:sp>
        <p:sp>
          <p:nvSpPr>
            <p:cNvPr id="31" name="TextBox 30">
              <a:extLst>
                <a:ext uri="{FF2B5EF4-FFF2-40B4-BE49-F238E27FC236}">
                  <a16:creationId xmlns:a16="http://schemas.microsoft.com/office/drawing/2014/main" id="{48E6A560-5685-597C-F08B-86AA3CA280EC}"/>
                </a:ext>
              </a:extLst>
            </p:cNvPr>
            <p:cNvSpPr txBox="1"/>
            <p:nvPr/>
          </p:nvSpPr>
          <p:spPr>
            <a:xfrm>
              <a:off x="1047209" y="3041501"/>
              <a:ext cx="758831" cy="230832"/>
            </a:xfrm>
            <a:prstGeom prst="rect">
              <a:avLst/>
            </a:prstGeom>
            <a:noFill/>
          </p:spPr>
          <p:txBody>
            <a:bodyPr wrap="square" rtlCol="0">
              <a:spAutoFit/>
            </a:bodyPr>
            <a:lstStyle/>
            <a:p>
              <a:pPr algn="r"/>
              <a:r>
                <a:rPr lang="en-US" sz="900" b="1" dirty="0"/>
                <a:t>293</a:t>
              </a:r>
            </a:p>
          </p:txBody>
        </p:sp>
        <p:sp>
          <p:nvSpPr>
            <p:cNvPr id="32" name="TextBox 31">
              <a:extLst>
                <a:ext uri="{FF2B5EF4-FFF2-40B4-BE49-F238E27FC236}">
                  <a16:creationId xmlns:a16="http://schemas.microsoft.com/office/drawing/2014/main" id="{26CDCB1A-2F07-6DCB-55CF-ED48AF3CF836}"/>
                </a:ext>
              </a:extLst>
            </p:cNvPr>
            <p:cNvSpPr txBox="1"/>
            <p:nvPr/>
          </p:nvSpPr>
          <p:spPr>
            <a:xfrm>
              <a:off x="1416199" y="3395311"/>
              <a:ext cx="465265" cy="230832"/>
            </a:xfrm>
            <a:prstGeom prst="rect">
              <a:avLst/>
            </a:prstGeom>
            <a:noFill/>
          </p:spPr>
          <p:txBody>
            <a:bodyPr wrap="square" rtlCol="0">
              <a:spAutoFit/>
            </a:bodyPr>
            <a:lstStyle/>
            <a:p>
              <a:r>
                <a:rPr lang="en-US" sz="900" b="1" dirty="0"/>
                <a:t>2.9</a:t>
              </a:r>
            </a:p>
          </p:txBody>
        </p:sp>
        <p:sp>
          <p:nvSpPr>
            <p:cNvPr id="34" name="TextBox 33">
              <a:extLst>
                <a:ext uri="{FF2B5EF4-FFF2-40B4-BE49-F238E27FC236}">
                  <a16:creationId xmlns:a16="http://schemas.microsoft.com/office/drawing/2014/main" id="{42DFD084-6B85-B5E4-EDCE-59EE9CB0B82F}"/>
                </a:ext>
              </a:extLst>
            </p:cNvPr>
            <p:cNvSpPr txBox="1"/>
            <p:nvPr/>
          </p:nvSpPr>
          <p:spPr>
            <a:xfrm>
              <a:off x="1379989" y="2870716"/>
              <a:ext cx="428679" cy="230832"/>
            </a:xfrm>
            <a:prstGeom prst="rect">
              <a:avLst/>
            </a:prstGeom>
            <a:solidFill>
              <a:srgbClr val="FFFF99"/>
            </a:solidFill>
          </p:spPr>
          <p:txBody>
            <a:bodyPr wrap="square" rtlCol="0">
              <a:spAutoFit/>
            </a:bodyPr>
            <a:lstStyle/>
            <a:p>
              <a:pPr algn="r"/>
              <a:r>
                <a:rPr lang="en-US" sz="900" b="1" dirty="0"/>
                <a:t>.34</a:t>
              </a:r>
            </a:p>
          </p:txBody>
        </p:sp>
      </p:grpSp>
      <p:sp>
        <p:nvSpPr>
          <p:cNvPr id="36" name="TextBox 35">
            <a:extLst>
              <a:ext uri="{FF2B5EF4-FFF2-40B4-BE49-F238E27FC236}">
                <a16:creationId xmlns:a16="http://schemas.microsoft.com/office/drawing/2014/main" id="{89E8C246-1070-5F0C-8924-D44399D5260B}"/>
              </a:ext>
            </a:extLst>
          </p:cNvPr>
          <p:cNvSpPr txBox="1"/>
          <p:nvPr/>
        </p:nvSpPr>
        <p:spPr>
          <a:xfrm>
            <a:off x="9835758" y="1232410"/>
            <a:ext cx="3748032" cy="230832"/>
          </a:xfrm>
          <a:prstGeom prst="rect">
            <a:avLst/>
          </a:prstGeom>
          <a:noFill/>
          <a:scene3d>
            <a:camera prst="orthographicFront"/>
            <a:lightRig rig="threePt" dir="t"/>
          </a:scene3d>
          <a:sp3d>
            <a:bevelT w="152400" h="50800" prst="softRound"/>
          </a:sp3d>
        </p:spPr>
        <p:txBody>
          <a:bodyPr wrap="square" rtlCol="0">
            <a:spAutoFit/>
          </a:bodyPr>
          <a:lstStyle/>
          <a:p>
            <a:r>
              <a:rPr lang="en-US" sz="900" b="1" dirty="0"/>
              <a:t>DT Model Baseline </a:t>
            </a:r>
            <a:r>
              <a:rPr lang="en-US" sz="900" dirty="0">
                <a:solidFill>
                  <a:srgbClr val="FF0000"/>
                </a:solidFill>
              </a:rPr>
              <a:t>(</a:t>
            </a:r>
            <a:r>
              <a:rPr lang="en-US" sz="900" dirty="0" err="1">
                <a:solidFill>
                  <a:srgbClr val="FF0000"/>
                </a:solidFill>
              </a:rPr>
              <a:t>mtons</a:t>
            </a:r>
            <a:r>
              <a:rPr lang="en-US" sz="900" dirty="0">
                <a:solidFill>
                  <a:srgbClr val="FF0000"/>
                </a:solidFill>
              </a:rPr>
              <a:t> of CO2e) </a:t>
            </a:r>
          </a:p>
        </p:txBody>
      </p:sp>
      <p:sp>
        <p:nvSpPr>
          <p:cNvPr id="37" name="TextBox 36">
            <a:extLst>
              <a:ext uri="{FF2B5EF4-FFF2-40B4-BE49-F238E27FC236}">
                <a16:creationId xmlns:a16="http://schemas.microsoft.com/office/drawing/2014/main" id="{439BE3DB-BCE1-3B9D-FC52-AA19C9FFF6FC}"/>
              </a:ext>
            </a:extLst>
          </p:cNvPr>
          <p:cNvSpPr txBox="1"/>
          <p:nvPr/>
        </p:nvSpPr>
        <p:spPr>
          <a:xfrm>
            <a:off x="9976850" y="3731304"/>
            <a:ext cx="786887" cy="230832"/>
          </a:xfrm>
          <a:prstGeom prst="rect">
            <a:avLst/>
          </a:prstGeom>
          <a:noFill/>
        </p:spPr>
        <p:txBody>
          <a:bodyPr wrap="square" rtlCol="0">
            <a:spAutoFit/>
          </a:bodyPr>
          <a:lstStyle/>
          <a:p>
            <a:r>
              <a:rPr lang="en-US" sz="900" b="1" dirty="0"/>
              <a:t>Total</a:t>
            </a:r>
          </a:p>
        </p:txBody>
      </p:sp>
      <p:grpSp>
        <p:nvGrpSpPr>
          <p:cNvPr id="39" name="Group 38">
            <a:extLst>
              <a:ext uri="{FF2B5EF4-FFF2-40B4-BE49-F238E27FC236}">
                <a16:creationId xmlns:a16="http://schemas.microsoft.com/office/drawing/2014/main" id="{E86E2E70-AE3F-70E1-ED3D-0C1D6E3253C6}"/>
              </a:ext>
            </a:extLst>
          </p:cNvPr>
          <p:cNvGrpSpPr/>
          <p:nvPr/>
        </p:nvGrpSpPr>
        <p:grpSpPr>
          <a:xfrm>
            <a:off x="10029821" y="1470489"/>
            <a:ext cx="2488337" cy="2209876"/>
            <a:chOff x="116435" y="3163661"/>
            <a:chExt cx="2699133" cy="2209876"/>
          </a:xfrm>
        </p:grpSpPr>
        <p:grpSp>
          <p:nvGrpSpPr>
            <p:cNvPr id="40" name="Group 39">
              <a:extLst>
                <a:ext uri="{FF2B5EF4-FFF2-40B4-BE49-F238E27FC236}">
                  <a16:creationId xmlns:a16="http://schemas.microsoft.com/office/drawing/2014/main" id="{F1FB8FCD-0BF7-EF4A-799C-3F89181389C9}"/>
                </a:ext>
              </a:extLst>
            </p:cNvPr>
            <p:cNvGrpSpPr/>
            <p:nvPr/>
          </p:nvGrpSpPr>
          <p:grpSpPr>
            <a:xfrm>
              <a:off x="116435" y="3163661"/>
              <a:ext cx="2699133" cy="1897575"/>
              <a:chOff x="51410" y="2261711"/>
              <a:chExt cx="2699133" cy="1897575"/>
            </a:xfrm>
          </p:grpSpPr>
          <p:sp>
            <p:nvSpPr>
              <p:cNvPr id="42" name="TextBox 41">
                <a:extLst>
                  <a:ext uri="{FF2B5EF4-FFF2-40B4-BE49-F238E27FC236}">
                    <a16:creationId xmlns:a16="http://schemas.microsoft.com/office/drawing/2014/main" id="{317BE731-7269-30E3-4166-F5055EA80A32}"/>
                  </a:ext>
                </a:extLst>
              </p:cNvPr>
              <p:cNvSpPr txBox="1"/>
              <p:nvPr/>
            </p:nvSpPr>
            <p:spPr>
              <a:xfrm>
                <a:off x="51410" y="2459313"/>
                <a:ext cx="2332582" cy="230832"/>
              </a:xfrm>
              <a:prstGeom prst="rect">
                <a:avLst/>
              </a:prstGeom>
              <a:noFill/>
            </p:spPr>
            <p:txBody>
              <a:bodyPr wrap="square" rtlCol="0">
                <a:spAutoFit/>
              </a:bodyPr>
              <a:lstStyle/>
              <a:p>
                <a:r>
                  <a:rPr lang="en-US" sz="900" dirty="0"/>
                  <a:t>Coffee supplier</a:t>
                </a:r>
              </a:p>
            </p:txBody>
          </p:sp>
          <p:sp>
            <p:nvSpPr>
              <p:cNvPr id="43" name="TextBox 42">
                <a:extLst>
                  <a:ext uri="{FF2B5EF4-FFF2-40B4-BE49-F238E27FC236}">
                    <a16:creationId xmlns:a16="http://schemas.microsoft.com/office/drawing/2014/main" id="{9F9F6818-DFF9-9762-99A2-2CC3F5FB60A8}"/>
                  </a:ext>
                </a:extLst>
              </p:cNvPr>
              <p:cNvSpPr txBox="1"/>
              <p:nvPr/>
            </p:nvSpPr>
            <p:spPr>
              <a:xfrm>
                <a:off x="79041" y="3110105"/>
                <a:ext cx="1474650" cy="230832"/>
              </a:xfrm>
              <a:prstGeom prst="rect">
                <a:avLst/>
              </a:prstGeom>
              <a:noFill/>
            </p:spPr>
            <p:txBody>
              <a:bodyPr wrap="square" rtlCol="0">
                <a:spAutoFit/>
              </a:bodyPr>
              <a:lstStyle/>
              <a:p>
                <a:r>
                  <a:rPr lang="en-US" sz="900" dirty="0"/>
                  <a:t>Warehouse ops </a:t>
                </a:r>
              </a:p>
            </p:txBody>
          </p:sp>
          <p:sp>
            <p:nvSpPr>
              <p:cNvPr id="44" name="TextBox 43">
                <a:extLst>
                  <a:ext uri="{FF2B5EF4-FFF2-40B4-BE49-F238E27FC236}">
                    <a16:creationId xmlns:a16="http://schemas.microsoft.com/office/drawing/2014/main" id="{4FAA94B4-E03B-C31E-27AB-C15CA1ED368F}"/>
                  </a:ext>
                </a:extLst>
              </p:cNvPr>
              <p:cNvSpPr txBox="1"/>
              <p:nvPr/>
            </p:nvSpPr>
            <p:spPr>
              <a:xfrm>
                <a:off x="54462" y="2261711"/>
                <a:ext cx="2437294" cy="230832"/>
              </a:xfrm>
              <a:prstGeom prst="rect">
                <a:avLst/>
              </a:prstGeom>
              <a:noFill/>
            </p:spPr>
            <p:txBody>
              <a:bodyPr wrap="square" rtlCol="0">
                <a:spAutoFit/>
              </a:bodyPr>
              <a:lstStyle/>
              <a:p>
                <a:r>
                  <a:rPr lang="en-US" sz="900" dirty="0"/>
                  <a:t>Manuf. of coffee bags</a:t>
                </a:r>
              </a:p>
            </p:txBody>
          </p:sp>
          <p:sp>
            <p:nvSpPr>
              <p:cNvPr id="46" name="TextBox 45">
                <a:extLst>
                  <a:ext uri="{FF2B5EF4-FFF2-40B4-BE49-F238E27FC236}">
                    <a16:creationId xmlns:a16="http://schemas.microsoft.com/office/drawing/2014/main" id="{6B4F609C-E985-8333-5DF6-0E25FE5BD235}"/>
                  </a:ext>
                </a:extLst>
              </p:cNvPr>
              <p:cNvSpPr txBox="1"/>
              <p:nvPr/>
            </p:nvSpPr>
            <p:spPr>
              <a:xfrm>
                <a:off x="75940" y="3928454"/>
                <a:ext cx="1188249" cy="230832"/>
              </a:xfrm>
              <a:prstGeom prst="rect">
                <a:avLst/>
              </a:prstGeom>
              <a:noFill/>
            </p:spPr>
            <p:txBody>
              <a:bodyPr wrap="square" rtlCol="0">
                <a:spAutoFit/>
              </a:bodyPr>
              <a:lstStyle/>
              <a:p>
                <a:r>
                  <a:rPr lang="en-US" sz="900" dirty="0"/>
                  <a:t>Ship to N.Y. harbor</a:t>
                </a:r>
                <a:endParaRPr lang="en-US" sz="900" b="1" dirty="0"/>
              </a:p>
            </p:txBody>
          </p:sp>
          <p:sp>
            <p:nvSpPr>
              <p:cNvPr id="47" name="TextBox 46">
                <a:extLst>
                  <a:ext uri="{FF2B5EF4-FFF2-40B4-BE49-F238E27FC236}">
                    <a16:creationId xmlns:a16="http://schemas.microsoft.com/office/drawing/2014/main" id="{53F7D565-EC6A-944C-C5AC-6E4D8D9FB9D6}"/>
                  </a:ext>
                </a:extLst>
              </p:cNvPr>
              <p:cNvSpPr txBox="1"/>
              <p:nvPr/>
            </p:nvSpPr>
            <p:spPr>
              <a:xfrm>
                <a:off x="77138" y="3471090"/>
                <a:ext cx="1817504" cy="230832"/>
              </a:xfrm>
              <a:prstGeom prst="rect">
                <a:avLst/>
              </a:prstGeom>
              <a:noFill/>
            </p:spPr>
            <p:txBody>
              <a:bodyPr wrap="square" rtlCol="0">
                <a:spAutoFit/>
              </a:bodyPr>
              <a:lstStyle/>
              <a:p>
                <a:r>
                  <a:rPr lang="en-US" sz="900" dirty="0"/>
                  <a:t>Coffee bag loading on ship</a:t>
                </a:r>
              </a:p>
            </p:txBody>
          </p:sp>
          <p:sp>
            <p:nvSpPr>
              <p:cNvPr id="48" name="TextBox 47">
                <a:extLst>
                  <a:ext uri="{FF2B5EF4-FFF2-40B4-BE49-F238E27FC236}">
                    <a16:creationId xmlns:a16="http://schemas.microsoft.com/office/drawing/2014/main" id="{188B804E-8AD4-6FE5-9CDE-405212BE3932}"/>
                  </a:ext>
                </a:extLst>
              </p:cNvPr>
              <p:cNvSpPr txBox="1"/>
              <p:nvPr/>
            </p:nvSpPr>
            <p:spPr>
              <a:xfrm>
                <a:off x="51410" y="2676710"/>
                <a:ext cx="2699133" cy="507831"/>
              </a:xfrm>
              <a:prstGeom prst="rect">
                <a:avLst/>
              </a:prstGeom>
              <a:noFill/>
            </p:spPr>
            <p:txBody>
              <a:bodyPr wrap="square" rtlCol="0">
                <a:spAutoFit/>
              </a:bodyPr>
              <a:lstStyle/>
              <a:p>
                <a:r>
                  <a:rPr lang="en-US" sz="900" dirty="0"/>
                  <a:t>Trucking to Warehouse</a:t>
                </a:r>
              </a:p>
              <a:p>
                <a:r>
                  <a:rPr lang="en-US" sz="900" dirty="0"/>
                  <a:t>    - Freight Co. #2</a:t>
                </a:r>
              </a:p>
              <a:p>
                <a:r>
                  <a:rPr lang="en-US" sz="900" dirty="0"/>
                  <a:t>    - unloading</a:t>
                </a:r>
              </a:p>
            </p:txBody>
          </p:sp>
          <p:sp>
            <p:nvSpPr>
              <p:cNvPr id="49" name="TextBox 48">
                <a:extLst>
                  <a:ext uri="{FF2B5EF4-FFF2-40B4-BE49-F238E27FC236}">
                    <a16:creationId xmlns:a16="http://schemas.microsoft.com/office/drawing/2014/main" id="{99E09203-7E24-AD13-84E5-6023A877AAA5}"/>
                  </a:ext>
                </a:extLst>
              </p:cNvPr>
              <p:cNvSpPr txBox="1"/>
              <p:nvPr/>
            </p:nvSpPr>
            <p:spPr>
              <a:xfrm>
                <a:off x="229459" y="3248043"/>
                <a:ext cx="1207402" cy="230832"/>
              </a:xfrm>
              <a:prstGeom prst="rect">
                <a:avLst/>
              </a:prstGeom>
              <a:noFill/>
            </p:spPr>
            <p:txBody>
              <a:bodyPr wrap="square" rtlCol="0">
                <a:spAutoFit/>
              </a:bodyPr>
              <a:lstStyle/>
              <a:p>
                <a:r>
                  <a:rPr lang="en-US" sz="900" dirty="0"/>
                  <a:t>- Heating / cooling </a:t>
                </a:r>
              </a:p>
            </p:txBody>
          </p:sp>
          <p:sp>
            <p:nvSpPr>
              <p:cNvPr id="50" name="TextBox 49">
                <a:extLst>
                  <a:ext uri="{FF2B5EF4-FFF2-40B4-BE49-F238E27FC236}">
                    <a16:creationId xmlns:a16="http://schemas.microsoft.com/office/drawing/2014/main" id="{7057C13C-5F55-86A3-D888-955B77FEE5BE}"/>
                  </a:ext>
                </a:extLst>
              </p:cNvPr>
              <p:cNvSpPr txBox="1"/>
              <p:nvPr/>
            </p:nvSpPr>
            <p:spPr>
              <a:xfrm>
                <a:off x="238386" y="3597949"/>
                <a:ext cx="1299044" cy="230832"/>
              </a:xfrm>
              <a:prstGeom prst="rect">
                <a:avLst/>
              </a:prstGeom>
              <a:noFill/>
            </p:spPr>
            <p:txBody>
              <a:bodyPr wrap="square" rtlCol="0">
                <a:spAutoFit/>
              </a:bodyPr>
              <a:lstStyle/>
              <a:p>
                <a:r>
                  <a:rPr lang="en-US" sz="900" dirty="0"/>
                  <a:t>- forklift ops </a:t>
                </a:r>
              </a:p>
            </p:txBody>
          </p:sp>
          <p:sp>
            <p:nvSpPr>
              <p:cNvPr id="51" name="TextBox 50">
                <a:extLst>
                  <a:ext uri="{FF2B5EF4-FFF2-40B4-BE49-F238E27FC236}">
                    <a16:creationId xmlns:a16="http://schemas.microsoft.com/office/drawing/2014/main" id="{1A0C55BD-F757-0EBE-762F-5A3C08E4E3E3}"/>
                  </a:ext>
                </a:extLst>
              </p:cNvPr>
              <p:cNvSpPr txBox="1"/>
              <p:nvPr/>
            </p:nvSpPr>
            <p:spPr>
              <a:xfrm>
                <a:off x="237331" y="3712552"/>
                <a:ext cx="1271812" cy="230832"/>
              </a:xfrm>
              <a:prstGeom prst="rect">
                <a:avLst/>
              </a:prstGeom>
              <a:noFill/>
            </p:spPr>
            <p:txBody>
              <a:bodyPr wrap="square" rtlCol="0">
                <a:spAutoFit/>
              </a:bodyPr>
              <a:lstStyle/>
              <a:p>
                <a:r>
                  <a:rPr lang="en-US" sz="900" dirty="0"/>
                  <a:t>- cranes for loading </a:t>
                </a:r>
              </a:p>
            </p:txBody>
          </p:sp>
        </p:grpSp>
        <p:sp>
          <p:nvSpPr>
            <p:cNvPr id="41" name="TextBox 40">
              <a:extLst>
                <a:ext uri="{FF2B5EF4-FFF2-40B4-BE49-F238E27FC236}">
                  <a16:creationId xmlns:a16="http://schemas.microsoft.com/office/drawing/2014/main" id="{A2319B58-BBAD-FC88-3C3F-2FB3C102F036}"/>
                </a:ext>
              </a:extLst>
            </p:cNvPr>
            <p:cNvSpPr txBox="1"/>
            <p:nvPr/>
          </p:nvSpPr>
          <p:spPr>
            <a:xfrm>
              <a:off x="130856" y="5142705"/>
              <a:ext cx="1473562" cy="230832"/>
            </a:xfrm>
            <a:prstGeom prst="rect">
              <a:avLst/>
            </a:prstGeom>
            <a:noFill/>
          </p:spPr>
          <p:txBody>
            <a:bodyPr wrap="square" rtlCol="0">
              <a:spAutoFit/>
            </a:bodyPr>
            <a:lstStyle/>
            <a:p>
              <a:r>
                <a:rPr lang="en-US" sz="900" b="1" dirty="0"/>
                <a:t>Utilize GHG credits</a:t>
              </a:r>
            </a:p>
          </p:txBody>
        </p:sp>
      </p:grpSp>
      <p:cxnSp>
        <p:nvCxnSpPr>
          <p:cNvPr id="53" name="Straight Connector 52">
            <a:extLst>
              <a:ext uri="{FF2B5EF4-FFF2-40B4-BE49-F238E27FC236}">
                <a16:creationId xmlns:a16="http://schemas.microsoft.com/office/drawing/2014/main" id="{0F17648B-3F50-204D-7B6A-A211CB2F01E5}"/>
              </a:ext>
            </a:extLst>
          </p:cNvPr>
          <p:cNvCxnSpPr>
            <a:cxnSpLocks/>
          </p:cNvCxnSpPr>
          <p:nvPr/>
        </p:nvCxnSpPr>
        <p:spPr>
          <a:xfrm flipV="1">
            <a:off x="9929760" y="1452397"/>
            <a:ext cx="1585191"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4DCAF23-6386-2637-B943-3F2F645E8399}"/>
              </a:ext>
            </a:extLst>
          </p:cNvPr>
          <p:cNvCxnSpPr>
            <a:cxnSpLocks/>
          </p:cNvCxnSpPr>
          <p:nvPr/>
        </p:nvCxnSpPr>
        <p:spPr>
          <a:xfrm flipV="1">
            <a:off x="9929760" y="1866616"/>
            <a:ext cx="1585191"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072F8BE-60F0-63FE-50DE-ACBB4723D854}"/>
              </a:ext>
            </a:extLst>
          </p:cNvPr>
          <p:cNvCxnSpPr>
            <a:cxnSpLocks/>
          </p:cNvCxnSpPr>
          <p:nvPr/>
        </p:nvCxnSpPr>
        <p:spPr>
          <a:xfrm flipV="1">
            <a:off x="9950110" y="2343665"/>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03033A1-CEB4-F931-0A23-6D43EE918B50}"/>
              </a:ext>
            </a:extLst>
          </p:cNvPr>
          <p:cNvCxnSpPr>
            <a:cxnSpLocks/>
          </p:cNvCxnSpPr>
          <p:nvPr/>
        </p:nvCxnSpPr>
        <p:spPr>
          <a:xfrm flipV="1">
            <a:off x="9950110" y="2667724"/>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BC363E4-FBA0-F780-36C9-5EF416EA660B}"/>
              </a:ext>
            </a:extLst>
          </p:cNvPr>
          <p:cNvCxnSpPr>
            <a:cxnSpLocks/>
          </p:cNvCxnSpPr>
          <p:nvPr/>
        </p:nvCxnSpPr>
        <p:spPr>
          <a:xfrm flipV="1">
            <a:off x="9974074" y="3142200"/>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17AF76D-53F3-82C3-5C9E-FE8F99E6F7D7}"/>
              </a:ext>
            </a:extLst>
          </p:cNvPr>
          <p:cNvCxnSpPr>
            <a:cxnSpLocks/>
          </p:cNvCxnSpPr>
          <p:nvPr/>
        </p:nvCxnSpPr>
        <p:spPr>
          <a:xfrm flipV="1">
            <a:off x="9981478" y="3390852"/>
            <a:ext cx="1585192"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72935F5-A2DE-AA48-1C01-667935DEA4DC}"/>
              </a:ext>
            </a:extLst>
          </p:cNvPr>
          <p:cNvCxnSpPr>
            <a:cxnSpLocks/>
          </p:cNvCxnSpPr>
          <p:nvPr/>
        </p:nvCxnSpPr>
        <p:spPr>
          <a:xfrm flipV="1">
            <a:off x="9988026" y="1685746"/>
            <a:ext cx="1585191" cy="6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A7E28D4-07EF-8359-074B-A750E454CE82}"/>
              </a:ext>
            </a:extLst>
          </p:cNvPr>
          <p:cNvCxnSpPr>
            <a:cxnSpLocks/>
          </p:cNvCxnSpPr>
          <p:nvPr/>
        </p:nvCxnSpPr>
        <p:spPr>
          <a:xfrm flipV="1">
            <a:off x="9967153" y="3700513"/>
            <a:ext cx="1585191" cy="6817"/>
          </a:xfrm>
          <a:prstGeom prst="line">
            <a:avLst/>
          </a:prstGeom>
        </p:spPr>
        <p:style>
          <a:lnRef idx="1">
            <a:schemeClr val="accent1"/>
          </a:lnRef>
          <a:fillRef idx="0">
            <a:schemeClr val="accent1"/>
          </a:fillRef>
          <a:effectRef idx="0">
            <a:schemeClr val="accent1"/>
          </a:effectRef>
          <a:fontRef idx="minor">
            <a:schemeClr val="tx1"/>
          </a:fontRef>
        </p:style>
      </p:cxnSp>
      <p:sp>
        <p:nvSpPr>
          <p:cNvPr id="7168" name="TextBox 7167">
            <a:extLst>
              <a:ext uri="{FF2B5EF4-FFF2-40B4-BE49-F238E27FC236}">
                <a16:creationId xmlns:a16="http://schemas.microsoft.com/office/drawing/2014/main" id="{A5470C32-1071-F1D0-3B00-B92AC3441D4F}"/>
              </a:ext>
            </a:extLst>
          </p:cNvPr>
          <p:cNvSpPr txBox="1"/>
          <p:nvPr/>
        </p:nvSpPr>
        <p:spPr>
          <a:xfrm>
            <a:off x="11265393" y="2157062"/>
            <a:ext cx="378090" cy="230832"/>
          </a:xfrm>
          <a:prstGeom prst="rect">
            <a:avLst/>
          </a:prstGeom>
          <a:noFill/>
        </p:spPr>
        <p:txBody>
          <a:bodyPr wrap="square" rtlCol="0">
            <a:spAutoFit/>
          </a:bodyPr>
          <a:lstStyle/>
          <a:p>
            <a:r>
              <a:rPr lang="en-US" sz="900" b="1" dirty="0"/>
              <a:t> .94</a:t>
            </a:r>
          </a:p>
        </p:txBody>
      </p:sp>
      <p:sp>
        <p:nvSpPr>
          <p:cNvPr id="7169" name="Rectangle 7168">
            <a:extLst>
              <a:ext uri="{FF2B5EF4-FFF2-40B4-BE49-F238E27FC236}">
                <a16:creationId xmlns:a16="http://schemas.microsoft.com/office/drawing/2014/main" id="{638E4EBC-E531-816A-0C10-3385332B011F}"/>
              </a:ext>
            </a:extLst>
          </p:cNvPr>
          <p:cNvSpPr/>
          <p:nvPr/>
        </p:nvSpPr>
        <p:spPr>
          <a:xfrm>
            <a:off x="7269518" y="3345546"/>
            <a:ext cx="1878130" cy="1939139"/>
          </a:xfrm>
          <a:prstGeom prst="rect">
            <a:avLst/>
          </a:prstGeom>
          <a:solidFill>
            <a:srgbClr val="FFFF99"/>
          </a:solidFill>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2" name="TextBox 7171">
            <a:extLst>
              <a:ext uri="{FF2B5EF4-FFF2-40B4-BE49-F238E27FC236}">
                <a16:creationId xmlns:a16="http://schemas.microsoft.com/office/drawing/2014/main" id="{627DF700-8B43-7BFA-70F4-96841F2977BA}"/>
              </a:ext>
            </a:extLst>
          </p:cNvPr>
          <p:cNvSpPr txBox="1"/>
          <p:nvPr/>
        </p:nvSpPr>
        <p:spPr>
          <a:xfrm>
            <a:off x="7302847" y="3591692"/>
            <a:ext cx="1279227" cy="1061829"/>
          </a:xfrm>
          <a:prstGeom prst="rect">
            <a:avLst/>
          </a:prstGeom>
          <a:noFill/>
        </p:spPr>
        <p:txBody>
          <a:bodyPr wrap="square" rtlCol="0">
            <a:spAutoFit/>
          </a:bodyPr>
          <a:lstStyle/>
          <a:p>
            <a:r>
              <a:rPr lang="en-US" sz="900" dirty="0"/>
              <a:t> Heating</a:t>
            </a:r>
          </a:p>
          <a:p>
            <a:r>
              <a:rPr lang="en-US" sz="900" dirty="0"/>
              <a:t>      - air</a:t>
            </a:r>
          </a:p>
          <a:p>
            <a:r>
              <a:rPr lang="en-US" sz="900" dirty="0"/>
              <a:t>      - water</a:t>
            </a:r>
          </a:p>
          <a:p>
            <a:r>
              <a:rPr lang="en-US" sz="900" dirty="0"/>
              <a:t>      - drying</a:t>
            </a:r>
          </a:p>
          <a:p>
            <a:r>
              <a:rPr lang="en-US" sz="900" dirty="0"/>
              <a:t>      - humidity control</a:t>
            </a:r>
          </a:p>
          <a:p>
            <a:endParaRPr lang="en-US" sz="900" dirty="0"/>
          </a:p>
          <a:p>
            <a:endParaRPr lang="en-US" sz="900" dirty="0"/>
          </a:p>
        </p:txBody>
      </p:sp>
      <p:sp>
        <p:nvSpPr>
          <p:cNvPr id="7173" name="TextBox 7172">
            <a:extLst>
              <a:ext uri="{FF2B5EF4-FFF2-40B4-BE49-F238E27FC236}">
                <a16:creationId xmlns:a16="http://schemas.microsoft.com/office/drawing/2014/main" id="{E60513C3-721A-25D1-06F2-B47A5BDA2091}"/>
              </a:ext>
            </a:extLst>
          </p:cNvPr>
          <p:cNvSpPr txBox="1"/>
          <p:nvPr/>
        </p:nvSpPr>
        <p:spPr>
          <a:xfrm>
            <a:off x="7395781" y="3330560"/>
            <a:ext cx="1600318" cy="230832"/>
          </a:xfrm>
          <a:prstGeom prst="rect">
            <a:avLst/>
          </a:prstGeom>
          <a:noFill/>
        </p:spPr>
        <p:txBody>
          <a:bodyPr wrap="square" rtlCol="0">
            <a:spAutoFit/>
          </a:bodyPr>
          <a:lstStyle/>
          <a:p>
            <a:r>
              <a:rPr lang="en-US" sz="900" dirty="0"/>
              <a:t>Warehouse ops (</a:t>
            </a:r>
            <a:r>
              <a:rPr lang="en-US" sz="900" dirty="0" err="1"/>
              <a:t>mtons</a:t>
            </a:r>
            <a:r>
              <a:rPr lang="en-US" sz="900" dirty="0"/>
              <a:t> CO2)</a:t>
            </a:r>
          </a:p>
        </p:txBody>
      </p:sp>
      <p:cxnSp>
        <p:nvCxnSpPr>
          <p:cNvPr id="7174" name="Straight Connector 7173">
            <a:extLst>
              <a:ext uri="{FF2B5EF4-FFF2-40B4-BE49-F238E27FC236}">
                <a16:creationId xmlns:a16="http://schemas.microsoft.com/office/drawing/2014/main" id="{0250EB28-5F11-26AA-A02D-3E8D2272211A}"/>
              </a:ext>
            </a:extLst>
          </p:cNvPr>
          <p:cNvCxnSpPr>
            <a:cxnSpLocks/>
          </p:cNvCxnSpPr>
          <p:nvPr/>
        </p:nvCxnSpPr>
        <p:spPr>
          <a:xfrm flipV="1">
            <a:off x="7325553" y="4352036"/>
            <a:ext cx="1762788" cy="10630"/>
          </a:xfrm>
          <a:prstGeom prst="line">
            <a:avLst/>
          </a:prstGeom>
        </p:spPr>
        <p:style>
          <a:lnRef idx="1">
            <a:schemeClr val="accent1"/>
          </a:lnRef>
          <a:fillRef idx="0">
            <a:schemeClr val="accent1"/>
          </a:fillRef>
          <a:effectRef idx="0">
            <a:schemeClr val="accent1"/>
          </a:effectRef>
          <a:fontRef idx="minor">
            <a:schemeClr val="tx1"/>
          </a:fontRef>
        </p:style>
      </p:cxnSp>
      <p:sp>
        <p:nvSpPr>
          <p:cNvPr id="7178" name="TextBox 7177">
            <a:extLst>
              <a:ext uri="{FF2B5EF4-FFF2-40B4-BE49-F238E27FC236}">
                <a16:creationId xmlns:a16="http://schemas.microsoft.com/office/drawing/2014/main" id="{F794585C-F1E4-B20B-05D9-1FE0CC18C688}"/>
              </a:ext>
            </a:extLst>
          </p:cNvPr>
          <p:cNvSpPr txBox="1"/>
          <p:nvPr/>
        </p:nvSpPr>
        <p:spPr>
          <a:xfrm>
            <a:off x="7284991" y="4403396"/>
            <a:ext cx="1297083" cy="784830"/>
          </a:xfrm>
          <a:prstGeom prst="rect">
            <a:avLst/>
          </a:prstGeom>
          <a:noFill/>
        </p:spPr>
        <p:txBody>
          <a:bodyPr wrap="square" rtlCol="0">
            <a:spAutoFit/>
          </a:bodyPr>
          <a:lstStyle/>
          <a:p>
            <a:r>
              <a:rPr lang="en-US" sz="900" dirty="0"/>
              <a:t>Cooling </a:t>
            </a:r>
          </a:p>
          <a:p>
            <a:r>
              <a:rPr lang="en-US" sz="900" dirty="0"/>
              <a:t>       - air</a:t>
            </a:r>
          </a:p>
          <a:p>
            <a:r>
              <a:rPr lang="en-US" sz="900" dirty="0"/>
              <a:t>       - humidity</a:t>
            </a:r>
          </a:p>
          <a:p>
            <a:r>
              <a:rPr lang="en-US" sz="900" dirty="0"/>
              <a:t>       - water</a:t>
            </a:r>
          </a:p>
          <a:p>
            <a:endParaRPr lang="en-US" sz="900" dirty="0"/>
          </a:p>
        </p:txBody>
      </p:sp>
      <p:cxnSp>
        <p:nvCxnSpPr>
          <p:cNvPr id="5" name="Connector: Elbow 4">
            <a:extLst>
              <a:ext uri="{FF2B5EF4-FFF2-40B4-BE49-F238E27FC236}">
                <a16:creationId xmlns:a16="http://schemas.microsoft.com/office/drawing/2014/main" id="{44A26EC0-E83B-B89E-61B5-CAEFE5CDA8EF}"/>
              </a:ext>
            </a:extLst>
          </p:cNvPr>
          <p:cNvCxnSpPr>
            <a:cxnSpLocks/>
            <a:stCxn id="21" idx="1"/>
            <a:endCxn id="7169" idx="3"/>
          </p:cNvCxnSpPr>
          <p:nvPr/>
        </p:nvCxnSpPr>
        <p:spPr>
          <a:xfrm rot="10800000" flipV="1">
            <a:off x="9147648" y="2585434"/>
            <a:ext cx="738668" cy="172968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38A96AD5-0126-7D02-EFAC-56B82163F955}"/>
              </a:ext>
            </a:extLst>
          </p:cNvPr>
          <p:cNvSpPr/>
          <p:nvPr/>
        </p:nvSpPr>
        <p:spPr>
          <a:xfrm>
            <a:off x="89821" y="6075329"/>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endParaRPr lang="en-US" dirty="0">
              <a:solidFill>
                <a:schemeClr val="tx1"/>
              </a:solidFill>
            </a:endParaRPr>
          </a:p>
        </p:txBody>
      </p:sp>
      <p:sp>
        <p:nvSpPr>
          <p:cNvPr id="35" name="TextBox 34">
            <a:extLst>
              <a:ext uri="{FF2B5EF4-FFF2-40B4-BE49-F238E27FC236}">
                <a16:creationId xmlns:a16="http://schemas.microsoft.com/office/drawing/2014/main" id="{B712B20C-7586-E6D4-4EA1-98E46AE56097}"/>
              </a:ext>
            </a:extLst>
          </p:cNvPr>
          <p:cNvSpPr txBox="1"/>
          <p:nvPr/>
        </p:nvSpPr>
        <p:spPr>
          <a:xfrm>
            <a:off x="5362680" y="1642566"/>
            <a:ext cx="3974430" cy="800219"/>
          </a:xfrm>
          <a:prstGeom prst="rect">
            <a:avLst/>
          </a:prstGeom>
          <a:noFill/>
        </p:spPr>
        <p:txBody>
          <a:bodyPr wrap="square" rtlCol="0">
            <a:spAutoFit/>
          </a:bodyPr>
          <a:lstStyle/>
          <a:p>
            <a:r>
              <a:rPr lang="en-US" sz="1400" dirty="0"/>
              <a:t>Granular views help establish detailed baselines for emissions, making it easier to measure progress and adjust strategies dynamically</a:t>
            </a:r>
            <a:r>
              <a:rPr lang="en-US" sz="1800" dirty="0"/>
              <a:t>.</a:t>
            </a:r>
            <a:endParaRPr lang="en-US" dirty="0"/>
          </a:p>
        </p:txBody>
      </p:sp>
      <p:cxnSp>
        <p:nvCxnSpPr>
          <p:cNvPr id="45" name="Connector: Elbow 44">
            <a:extLst>
              <a:ext uri="{FF2B5EF4-FFF2-40B4-BE49-F238E27FC236}">
                <a16:creationId xmlns:a16="http://schemas.microsoft.com/office/drawing/2014/main" id="{2B3D8A44-2032-4F82-6229-37DE6FC513C2}"/>
              </a:ext>
            </a:extLst>
          </p:cNvPr>
          <p:cNvCxnSpPr>
            <a:cxnSpLocks/>
            <a:stCxn id="35" idx="2"/>
            <a:endCxn id="7173" idx="0"/>
          </p:cNvCxnSpPr>
          <p:nvPr/>
        </p:nvCxnSpPr>
        <p:spPr>
          <a:xfrm rot="16200000" flipH="1">
            <a:off x="7329030" y="2463649"/>
            <a:ext cx="887775" cy="84604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184" name="TextBox 7183">
            <a:extLst>
              <a:ext uri="{FF2B5EF4-FFF2-40B4-BE49-F238E27FC236}">
                <a16:creationId xmlns:a16="http://schemas.microsoft.com/office/drawing/2014/main" id="{F1117809-0412-1369-7C1A-47A84A99CC73}"/>
              </a:ext>
            </a:extLst>
          </p:cNvPr>
          <p:cNvSpPr txBox="1"/>
          <p:nvPr/>
        </p:nvSpPr>
        <p:spPr>
          <a:xfrm>
            <a:off x="8318277" y="3725882"/>
            <a:ext cx="453076" cy="230832"/>
          </a:xfrm>
          <a:prstGeom prst="rect">
            <a:avLst/>
          </a:prstGeom>
          <a:noFill/>
        </p:spPr>
        <p:txBody>
          <a:bodyPr wrap="square" rtlCol="0">
            <a:spAutoFit/>
          </a:bodyPr>
          <a:lstStyle/>
          <a:p>
            <a:pPr algn="r"/>
            <a:r>
              <a:rPr lang="en-US" sz="900" b="1" dirty="0"/>
              <a:t>11.2</a:t>
            </a:r>
          </a:p>
        </p:txBody>
      </p:sp>
      <p:sp>
        <p:nvSpPr>
          <p:cNvPr id="7185" name="TextBox 7184">
            <a:extLst>
              <a:ext uri="{FF2B5EF4-FFF2-40B4-BE49-F238E27FC236}">
                <a16:creationId xmlns:a16="http://schemas.microsoft.com/office/drawing/2014/main" id="{4711D421-132E-4F42-703C-7A6A0AB837D1}"/>
              </a:ext>
            </a:extLst>
          </p:cNvPr>
          <p:cNvSpPr txBox="1"/>
          <p:nvPr/>
        </p:nvSpPr>
        <p:spPr>
          <a:xfrm>
            <a:off x="8402757" y="3868296"/>
            <a:ext cx="365391" cy="230832"/>
          </a:xfrm>
          <a:prstGeom prst="rect">
            <a:avLst/>
          </a:prstGeom>
          <a:noFill/>
        </p:spPr>
        <p:txBody>
          <a:bodyPr wrap="square" rtlCol="0">
            <a:spAutoFit/>
          </a:bodyPr>
          <a:lstStyle/>
          <a:p>
            <a:pPr algn="r"/>
            <a:r>
              <a:rPr lang="en-US" sz="900" b="1" dirty="0"/>
              <a:t>1.5</a:t>
            </a:r>
          </a:p>
        </p:txBody>
      </p:sp>
      <p:sp>
        <p:nvSpPr>
          <p:cNvPr id="7186" name="TextBox 7185">
            <a:extLst>
              <a:ext uri="{FF2B5EF4-FFF2-40B4-BE49-F238E27FC236}">
                <a16:creationId xmlns:a16="http://schemas.microsoft.com/office/drawing/2014/main" id="{63E24072-BF70-645F-FDDC-C713732FA897}"/>
              </a:ext>
            </a:extLst>
          </p:cNvPr>
          <p:cNvSpPr txBox="1"/>
          <p:nvPr/>
        </p:nvSpPr>
        <p:spPr>
          <a:xfrm>
            <a:off x="8405611" y="4014500"/>
            <a:ext cx="365391" cy="230832"/>
          </a:xfrm>
          <a:prstGeom prst="rect">
            <a:avLst/>
          </a:prstGeom>
          <a:noFill/>
        </p:spPr>
        <p:txBody>
          <a:bodyPr wrap="square" rtlCol="0">
            <a:spAutoFit/>
          </a:bodyPr>
          <a:lstStyle/>
          <a:p>
            <a:pPr algn="r"/>
            <a:r>
              <a:rPr lang="en-US" sz="900" b="1" dirty="0"/>
              <a:t>5.4</a:t>
            </a:r>
          </a:p>
        </p:txBody>
      </p:sp>
      <p:sp>
        <p:nvSpPr>
          <p:cNvPr id="7187" name="TextBox 7186">
            <a:extLst>
              <a:ext uri="{FF2B5EF4-FFF2-40B4-BE49-F238E27FC236}">
                <a16:creationId xmlns:a16="http://schemas.microsoft.com/office/drawing/2014/main" id="{717E720F-374D-69E5-2248-D2A16C51B62E}"/>
              </a:ext>
            </a:extLst>
          </p:cNvPr>
          <p:cNvSpPr txBox="1"/>
          <p:nvPr/>
        </p:nvSpPr>
        <p:spPr>
          <a:xfrm>
            <a:off x="8404259" y="4156112"/>
            <a:ext cx="365391" cy="230832"/>
          </a:xfrm>
          <a:prstGeom prst="rect">
            <a:avLst/>
          </a:prstGeom>
          <a:noFill/>
        </p:spPr>
        <p:txBody>
          <a:bodyPr wrap="square" rtlCol="0">
            <a:spAutoFit/>
          </a:bodyPr>
          <a:lstStyle/>
          <a:p>
            <a:pPr algn="r"/>
            <a:r>
              <a:rPr lang="en-US" sz="900" b="1" dirty="0"/>
              <a:t>0.5</a:t>
            </a:r>
          </a:p>
        </p:txBody>
      </p:sp>
      <p:sp>
        <p:nvSpPr>
          <p:cNvPr id="7188" name="TextBox 7187">
            <a:extLst>
              <a:ext uri="{FF2B5EF4-FFF2-40B4-BE49-F238E27FC236}">
                <a16:creationId xmlns:a16="http://schemas.microsoft.com/office/drawing/2014/main" id="{B8C7F290-AE39-F8D9-F0E0-FC96ABC79D16}"/>
              </a:ext>
            </a:extLst>
          </p:cNvPr>
          <p:cNvSpPr txBox="1"/>
          <p:nvPr/>
        </p:nvSpPr>
        <p:spPr>
          <a:xfrm>
            <a:off x="8187003" y="4495791"/>
            <a:ext cx="593342" cy="230832"/>
          </a:xfrm>
          <a:prstGeom prst="rect">
            <a:avLst/>
          </a:prstGeom>
          <a:noFill/>
        </p:spPr>
        <p:txBody>
          <a:bodyPr wrap="square" rtlCol="0">
            <a:spAutoFit/>
          </a:bodyPr>
          <a:lstStyle/>
          <a:p>
            <a:pPr algn="r"/>
            <a:r>
              <a:rPr lang="en-US" sz="900" b="1" dirty="0"/>
              <a:t>24.2</a:t>
            </a:r>
          </a:p>
        </p:txBody>
      </p:sp>
      <p:sp>
        <p:nvSpPr>
          <p:cNvPr id="7189" name="TextBox 7188">
            <a:extLst>
              <a:ext uri="{FF2B5EF4-FFF2-40B4-BE49-F238E27FC236}">
                <a16:creationId xmlns:a16="http://schemas.microsoft.com/office/drawing/2014/main" id="{5B966119-1468-49AC-07DE-690993421E9F}"/>
              </a:ext>
            </a:extLst>
          </p:cNvPr>
          <p:cNvSpPr txBox="1"/>
          <p:nvPr/>
        </p:nvSpPr>
        <p:spPr>
          <a:xfrm>
            <a:off x="8409811" y="4668835"/>
            <a:ext cx="365391" cy="230832"/>
          </a:xfrm>
          <a:prstGeom prst="rect">
            <a:avLst/>
          </a:prstGeom>
          <a:noFill/>
        </p:spPr>
        <p:txBody>
          <a:bodyPr wrap="square" rtlCol="0">
            <a:spAutoFit/>
          </a:bodyPr>
          <a:lstStyle/>
          <a:p>
            <a:pPr algn="r"/>
            <a:r>
              <a:rPr lang="en-US" sz="900" b="1" dirty="0"/>
              <a:t>2.3</a:t>
            </a:r>
          </a:p>
        </p:txBody>
      </p:sp>
      <p:sp>
        <p:nvSpPr>
          <p:cNvPr id="7190" name="TextBox 7189">
            <a:extLst>
              <a:ext uri="{FF2B5EF4-FFF2-40B4-BE49-F238E27FC236}">
                <a16:creationId xmlns:a16="http://schemas.microsoft.com/office/drawing/2014/main" id="{0012B722-AE0D-8A20-99BA-033C56CF4FE1}"/>
              </a:ext>
            </a:extLst>
          </p:cNvPr>
          <p:cNvSpPr txBox="1"/>
          <p:nvPr/>
        </p:nvSpPr>
        <p:spPr>
          <a:xfrm>
            <a:off x="8409811" y="4861344"/>
            <a:ext cx="365391" cy="230832"/>
          </a:xfrm>
          <a:prstGeom prst="rect">
            <a:avLst/>
          </a:prstGeom>
          <a:noFill/>
        </p:spPr>
        <p:txBody>
          <a:bodyPr wrap="square" rtlCol="0">
            <a:spAutoFit/>
          </a:bodyPr>
          <a:lstStyle/>
          <a:p>
            <a:pPr algn="r"/>
            <a:r>
              <a:rPr lang="en-US" sz="900" b="1" dirty="0"/>
              <a:t>0.3</a:t>
            </a:r>
          </a:p>
        </p:txBody>
      </p:sp>
      <p:sp>
        <p:nvSpPr>
          <p:cNvPr id="4" name="TextBox 3">
            <a:extLst>
              <a:ext uri="{FF2B5EF4-FFF2-40B4-BE49-F238E27FC236}">
                <a16:creationId xmlns:a16="http://schemas.microsoft.com/office/drawing/2014/main" id="{FCA64E55-F26C-6ECA-EAA2-FB7BA31F49E8}"/>
              </a:ext>
            </a:extLst>
          </p:cNvPr>
          <p:cNvSpPr txBox="1"/>
          <p:nvPr/>
        </p:nvSpPr>
        <p:spPr>
          <a:xfrm>
            <a:off x="5515080" y="5560154"/>
            <a:ext cx="6144324" cy="1169551"/>
          </a:xfrm>
          <a:prstGeom prst="rect">
            <a:avLst/>
          </a:prstGeom>
          <a:noFill/>
        </p:spPr>
        <p:txBody>
          <a:bodyPr wrap="square" rtlCol="0">
            <a:spAutoFit/>
          </a:bodyPr>
          <a:lstStyle/>
          <a:p>
            <a:r>
              <a:rPr lang="en-US" sz="1400" dirty="0"/>
              <a:t>The entire GHG emission footprint associated with the storage warehouse is only an example of a facility lacking any renewable energy source. If however, capital investment for renewable sources of energy such as solar panels, live-market purchases of renewable electricity and any other actions can produce “carbon-offset” / credits to offset other emissions emanating from this supply chain.</a:t>
            </a:r>
            <a:endParaRPr lang="en-US" dirty="0"/>
          </a:p>
        </p:txBody>
      </p:sp>
    </p:spTree>
    <p:extLst>
      <p:ext uri="{BB962C8B-B14F-4D97-AF65-F5344CB8AC3E}">
        <p14:creationId xmlns:p14="http://schemas.microsoft.com/office/powerpoint/2010/main" val="1162533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829F4-423F-289F-2CC3-059FF080ED6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4DE0CC9-EF67-A048-4174-C6E3E6495065}"/>
              </a:ext>
            </a:extLst>
          </p:cNvPr>
          <p:cNvSpPr/>
          <p:nvPr/>
        </p:nvSpPr>
        <p:spPr>
          <a:xfrm rot="5400000">
            <a:off x="-381000" y="359108"/>
            <a:ext cx="6858000" cy="6096000"/>
          </a:xfrm>
          <a:prstGeom prst="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8080"/>
              </a:highlight>
            </a:endParaRPr>
          </a:p>
        </p:txBody>
      </p:sp>
      <p:sp>
        <p:nvSpPr>
          <p:cNvPr id="10" name="TextBox 9">
            <a:extLst>
              <a:ext uri="{FF2B5EF4-FFF2-40B4-BE49-F238E27FC236}">
                <a16:creationId xmlns:a16="http://schemas.microsoft.com/office/drawing/2014/main" id="{3E3C44DF-FD51-2D85-39FE-239A037477B7}"/>
              </a:ext>
            </a:extLst>
          </p:cNvPr>
          <p:cNvSpPr txBox="1"/>
          <p:nvPr/>
        </p:nvSpPr>
        <p:spPr>
          <a:xfrm>
            <a:off x="-1" y="769950"/>
            <a:ext cx="6102473" cy="6678751"/>
          </a:xfrm>
          <a:prstGeom prst="rect">
            <a:avLst/>
          </a:prstGeom>
          <a:solidFill>
            <a:srgbClr val="0099CC"/>
          </a:solidFill>
        </p:spPr>
        <p:txBody>
          <a:bodyPr wrap="square" rtlCol="0">
            <a:spAutoFit/>
          </a:bodyPr>
          <a:lstStyle/>
          <a:p>
            <a:pPr algn="ctr"/>
            <a:r>
              <a:rPr lang="en-US" sz="4000" b="1" dirty="0">
                <a:solidFill>
                  <a:schemeClr val="bg1">
                    <a:lumMod val="95000"/>
                  </a:schemeClr>
                </a:solidFill>
              </a:rPr>
              <a:t> LFDT Blockchain</a:t>
            </a:r>
          </a:p>
          <a:p>
            <a:pPr algn="ctr"/>
            <a:endParaRPr lang="en-US" sz="4000" b="1" dirty="0">
              <a:solidFill>
                <a:schemeClr val="bg1">
                  <a:lumMod val="95000"/>
                </a:schemeClr>
              </a:solidFill>
            </a:endParaRPr>
          </a:p>
          <a:p>
            <a:pPr algn="ctr"/>
            <a:r>
              <a:rPr lang="en-US" sz="4000" b="1" dirty="0">
                <a:solidFill>
                  <a:srgbClr val="FFFF00"/>
                </a:solidFill>
              </a:rPr>
              <a:t>Solution  </a:t>
            </a:r>
          </a:p>
          <a:p>
            <a:pPr algn="ctr"/>
            <a:r>
              <a:rPr lang="en-US" sz="4000" b="1" dirty="0">
                <a:solidFill>
                  <a:srgbClr val="FFFF00"/>
                </a:solidFill>
              </a:rPr>
              <a:t>Architecture</a:t>
            </a:r>
          </a:p>
          <a:p>
            <a:pPr algn="ctr"/>
            <a:r>
              <a:rPr lang="en-US" sz="4000" b="1" dirty="0">
                <a:solidFill>
                  <a:schemeClr val="bg1">
                    <a:lumMod val="95000"/>
                  </a:schemeClr>
                </a:solidFill>
              </a:rPr>
              <a:t>for a Digital Twin</a:t>
            </a:r>
          </a:p>
          <a:p>
            <a:pPr algn="ctr"/>
            <a:r>
              <a:rPr lang="en-US" sz="4000" b="1" dirty="0">
                <a:solidFill>
                  <a:schemeClr val="bg1">
                    <a:lumMod val="95000"/>
                  </a:schemeClr>
                </a:solidFill>
              </a:rPr>
              <a:t>to</a:t>
            </a:r>
          </a:p>
          <a:p>
            <a:pPr algn="ctr"/>
            <a:r>
              <a:rPr lang="en-US" sz="4000" b="1" dirty="0">
                <a:solidFill>
                  <a:schemeClr val="bg1">
                    <a:lumMod val="95000"/>
                  </a:schemeClr>
                </a:solidFill>
              </a:rPr>
              <a:t>Track and Model</a:t>
            </a:r>
          </a:p>
          <a:p>
            <a:pPr algn="ctr"/>
            <a:r>
              <a:rPr lang="en-US" sz="4000" b="1" dirty="0">
                <a:solidFill>
                  <a:schemeClr val="bg1">
                    <a:lumMod val="95000"/>
                  </a:schemeClr>
                </a:solidFill>
              </a:rPr>
              <a:t>GHG Emissions</a:t>
            </a:r>
          </a:p>
          <a:p>
            <a:pPr algn="ctr"/>
            <a:endParaRPr lang="en-US" sz="4000" b="1" dirty="0">
              <a:solidFill>
                <a:schemeClr val="bg1">
                  <a:lumMod val="95000"/>
                </a:schemeClr>
              </a:solidFill>
            </a:endParaRPr>
          </a:p>
          <a:p>
            <a:r>
              <a:rPr lang="en-US" sz="2800" b="1" dirty="0">
                <a:solidFill>
                  <a:schemeClr val="bg1">
                    <a:lumMod val="95000"/>
                  </a:schemeClr>
                </a:solidFill>
              </a:rPr>
              <a:t>(Technical with Processes)</a:t>
            </a:r>
          </a:p>
          <a:p>
            <a:pPr algn="ctr"/>
            <a:endParaRPr lang="en-US" sz="4000" b="1" dirty="0">
              <a:solidFill>
                <a:srgbClr val="FFFF00"/>
              </a:solidFill>
            </a:endParaRPr>
          </a:p>
        </p:txBody>
      </p:sp>
      <p:sp>
        <p:nvSpPr>
          <p:cNvPr id="65" name="AutoShape 2" descr="Cash Pictures, Cash Stock Photos &amp; Images | Depositphotos®">
            <a:extLst>
              <a:ext uri="{FF2B5EF4-FFF2-40B4-BE49-F238E27FC236}">
                <a16:creationId xmlns:a16="http://schemas.microsoft.com/office/drawing/2014/main" id="{B58CD9A3-C819-308B-60EF-977AD25F979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36F24430-7D91-BDCE-0209-E22957B1DEC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6">
            <a:extLst>
              <a:ext uri="{FF2B5EF4-FFF2-40B4-BE49-F238E27FC236}">
                <a16:creationId xmlns:a16="http://schemas.microsoft.com/office/drawing/2014/main" id="{D52F0240-8A68-45C4-97A8-E36239C2D7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2050" y="-21892"/>
            <a:ext cx="6089950" cy="366156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What is the Blockchain and Why is it So Important?">
            <a:extLst>
              <a:ext uri="{FF2B5EF4-FFF2-40B4-BE49-F238E27FC236}">
                <a16:creationId xmlns:a16="http://schemas.microsoft.com/office/drawing/2014/main" id="{D3A5BECB-40A8-5D03-00D9-124B87A996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2474" y="3581400"/>
            <a:ext cx="6089525" cy="329568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01F9666-18D4-C531-066E-1E14C4491AF4}"/>
              </a:ext>
            </a:extLst>
          </p:cNvPr>
          <p:cNvPicPr>
            <a:picLocks noChangeAspect="1"/>
          </p:cNvPicPr>
          <p:nvPr/>
        </p:nvPicPr>
        <p:blipFill>
          <a:blip r:embed="rId4"/>
          <a:stretch>
            <a:fillRect/>
          </a:stretch>
        </p:blipFill>
        <p:spPr>
          <a:xfrm>
            <a:off x="0" y="0"/>
            <a:ext cx="4638906" cy="436641"/>
          </a:xfrm>
          <a:prstGeom prst="rect">
            <a:avLst/>
          </a:prstGeom>
        </p:spPr>
      </p:pic>
    </p:spTree>
    <p:extLst>
      <p:ext uri="{BB962C8B-B14F-4D97-AF65-F5344CB8AC3E}">
        <p14:creationId xmlns:p14="http://schemas.microsoft.com/office/powerpoint/2010/main" val="30764776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DD073-C05E-3FF2-63D0-D72E7D0AAF6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BC0CD0B-CDD1-A7CD-9EEA-1323077BD5D6}"/>
              </a:ext>
            </a:extLst>
          </p:cNvPr>
          <p:cNvSpPr/>
          <p:nvPr/>
        </p:nvSpPr>
        <p:spPr>
          <a:xfrm>
            <a:off x="-7859" y="6442"/>
            <a:ext cx="12192000" cy="7010400"/>
          </a:xfrm>
          <a:prstGeom prst="rect">
            <a:avLst/>
          </a:prstGeom>
          <a:gradFill flip="none" rotWithShape="1">
            <a:gsLst>
              <a:gs pos="100000">
                <a:schemeClr val="accent5">
                  <a:lumMod val="50000"/>
                </a:schemeClr>
              </a:gs>
              <a:gs pos="20000">
                <a:schemeClr val="accent1">
                  <a:lumMod val="45000"/>
                  <a:lumOff val="55000"/>
                </a:schemeClr>
              </a:gs>
              <a:gs pos="100000">
                <a:schemeClr val="accent1">
                  <a:lumMod val="30000"/>
                  <a:lumOff val="7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2351C2D-CE6B-EC12-A420-A2944E882B51}"/>
              </a:ext>
            </a:extLst>
          </p:cNvPr>
          <p:cNvSpPr txBox="1"/>
          <p:nvPr/>
        </p:nvSpPr>
        <p:spPr>
          <a:xfrm>
            <a:off x="-3184" y="567157"/>
            <a:ext cx="12144782" cy="707886"/>
          </a:xfrm>
          <a:prstGeom prst="rect">
            <a:avLst/>
          </a:prstGeom>
          <a:noFill/>
          <a:ln>
            <a:noFill/>
          </a:ln>
        </p:spPr>
        <p:txBody>
          <a:bodyPr wrap="square" rtlCol="0">
            <a:spAutoFit/>
          </a:bodyPr>
          <a:lstStyle/>
          <a:p>
            <a:r>
              <a:rPr lang="en-US" sz="2000" b="1" dirty="0">
                <a:solidFill>
                  <a:schemeClr val="bg1"/>
                </a:solidFill>
              </a:rPr>
              <a:t>With no reference architecture in place, as it relates to the management of greenhouse gas emissions, a first step in the design of the net-zero digital twin is development of a reference architecture to guide all solutions.                   </a:t>
            </a:r>
            <a:endParaRPr lang="en-US" sz="2000" b="1" u="sng" dirty="0">
              <a:solidFill>
                <a:schemeClr val="bg1"/>
              </a:solidFill>
            </a:endParaRPr>
          </a:p>
        </p:txBody>
      </p:sp>
      <p:sp>
        <p:nvSpPr>
          <p:cNvPr id="7" name="Rectangle 6">
            <a:extLst>
              <a:ext uri="{FF2B5EF4-FFF2-40B4-BE49-F238E27FC236}">
                <a16:creationId xmlns:a16="http://schemas.microsoft.com/office/drawing/2014/main" id="{17C97079-CD60-C662-BE4A-E2FB572E4948}"/>
              </a:ext>
            </a:extLst>
          </p:cNvPr>
          <p:cNvSpPr/>
          <p:nvPr/>
        </p:nvSpPr>
        <p:spPr>
          <a:xfrm>
            <a:off x="2512503" y="1938528"/>
            <a:ext cx="2535282" cy="461665"/>
          </a:xfrm>
          <a:prstGeom prst="rect">
            <a:avLst/>
          </a:prstGeom>
          <a:noFill/>
          <a:ln>
            <a:solidFill>
              <a:schemeClr val="bg1"/>
            </a:solidFill>
          </a:ln>
        </p:spPr>
        <p:txBody>
          <a:bodyPr wrap="square" lIns="91440" tIns="45720" rIns="91440" bIns="45720">
            <a:spAutoFit/>
          </a:bodyPr>
          <a:lstStyle/>
          <a:p>
            <a:pPr marL="342900" indent="-342900">
              <a:buFont typeface="Courier New" panose="02070309020205020404" pitchFamily="49" charset="0"/>
              <a:buChar char="o"/>
            </a:pPr>
            <a:r>
              <a:rPr lang="en-US" sz="1200" b="1" dirty="0" err="1">
                <a:solidFill>
                  <a:schemeClr val="bg1"/>
                </a:solidFill>
                <a:latin typeface="Titillium Web Light" panose="00000400000000000000" pitchFamily="2" charset="0"/>
              </a:rPr>
              <a:t>ethereum</a:t>
            </a:r>
            <a:endParaRPr lang="en-US" sz="1200" b="1" dirty="0">
              <a:solidFill>
                <a:schemeClr val="bg1"/>
              </a:solidFill>
              <a:latin typeface="Titillium Web Light" panose="00000400000000000000" pitchFamily="2" charset="0"/>
            </a:endParaRP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Hyperledger Fabric</a:t>
            </a:r>
            <a:r>
              <a:rPr lang="en-US" sz="1200" b="1" cap="none" spc="0" dirty="0">
                <a:ln w="0"/>
                <a:solidFill>
                  <a:schemeClr val="bg1"/>
                </a:solidFill>
                <a:effectLst>
                  <a:outerShdw blurRad="38100" dist="19050" dir="2700000" algn="tl" rotWithShape="0">
                    <a:schemeClr val="dk1">
                      <a:alpha val="40000"/>
                    </a:schemeClr>
                  </a:outerShdw>
                </a:effectLst>
                <a:latin typeface="Titillium Web Light" panose="00000400000000000000" pitchFamily="2" charset="0"/>
              </a:rPr>
              <a:t> </a:t>
            </a:r>
            <a:endParaRPr lang="en-US" sz="1200" b="1" cap="none" spc="0" dirty="0">
              <a:ln w="0"/>
              <a:solidFill>
                <a:schemeClr val="bg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5D0F2656-F2CD-F78B-5745-1C71CC825EC5}"/>
              </a:ext>
            </a:extLst>
          </p:cNvPr>
          <p:cNvSpPr/>
          <p:nvPr/>
        </p:nvSpPr>
        <p:spPr>
          <a:xfrm>
            <a:off x="134223" y="1950425"/>
            <a:ext cx="1778466" cy="532395"/>
          </a:xfrm>
          <a:prstGeom prst="rect">
            <a:avLst/>
          </a:prstGeom>
          <a:solidFill>
            <a:srgbClr val="CCEC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Blockchain</a:t>
            </a:r>
          </a:p>
        </p:txBody>
      </p:sp>
      <p:sp>
        <p:nvSpPr>
          <p:cNvPr id="8" name="Rectangle 7">
            <a:extLst>
              <a:ext uri="{FF2B5EF4-FFF2-40B4-BE49-F238E27FC236}">
                <a16:creationId xmlns:a16="http://schemas.microsoft.com/office/drawing/2014/main" id="{D5A5AC68-600A-6FE0-A973-14616FF3D7CE}"/>
              </a:ext>
            </a:extLst>
          </p:cNvPr>
          <p:cNvSpPr/>
          <p:nvPr/>
        </p:nvSpPr>
        <p:spPr>
          <a:xfrm>
            <a:off x="5746598" y="1899566"/>
            <a:ext cx="5497585" cy="646331"/>
          </a:xfrm>
          <a:prstGeom prst="rect">
            <a:avLst/>
          </a:prstGeom>
          <a:noFill/>
          <a:ln>
            <a:solidFill>
              <a:schemeClr val="bg1"/>
            </a:solidFill>
          </a:ln>
        </p:spPr>
        <p:txBody>
          <a:bodyPr wrap="square" lIns="91440" tIns="45720" rIns="91440" bIns="45720">
            <a:spAutoFit/>
          </a:bodyPr>
          <a:lstStyle/>
          <a:p>
            <a:r>
              <a:rPr lang="en-US" sz="1200" b="1" dirty="0">
                <a:solidFill>
                  <a:schemeClr val="bg1"/>
                </a:solidFill>
                <a:latin typeface="Titillium Web Light" panose="00000400000000000000" pitchFamily="2" charset="0"/>
              </a:rPr>
              <a:t>LFDT platforms superior processing speed on large volumes of GHG emission IoT data through the use of Fabric channels and Iroha. </a:t>
            </a:r>
            <a:r>
              <a:rPr lang="en-US" sz="1200" b="1" dirty="0" err="1">
                <a:solidFill>
                  <a:schemeClr val="bg1"/>
                </a:solidFill>
                <a:latin typeface="Titillium Web Light" panose="00000400000000000000" pitchFamily="2" charset="0"/>
              </a:rPr>
              <a:t>Chaincode</a:t>
            </a:r>
            <a:r>
              <a:rPr lang="en-US" sz="1200" b="1" dirty="0">
                <a:solidFill>
                  <a:schemeClr val="bg1"/>
                </a:solidFill>
                <a:latin typeface="Titillium Web Light" panose="00000400000000000000" pitchFamily="2" charset="0"/>
              </a:rPr>
              <a:t>(smart contract) provides logic to define the digital twin through objects(struct).</a:t>
            </a:r>
            <a:endParaRPr lang="en-US" sz="1200" b="1" cap="none" spc="0" dirty="0">
              <a:ln w="0"/>
              <a:solidFill>
                <a:schemeClr val="bg1"/>
              </a:solidFill>
              <a:effectLst>
                <a:outerShdw blurRad="38100" dist="19050" dir="2700000" algn="tl" rotWithShape="0">
                  <a:schemeClr val="dk1">
                    <a:alpha val="40000"/>
                  </a:schemeClr>
                </a:outerShdw>
              </a:effectLst>
              <a:latin typeface="Titillium Web Light" panose="00000400000000000000" pitchFamily="2" charset="0"/>
            </a:endParaRPr>
          </a:p>
        </p:txBody>
      </p:sp>
      <p:sp>
        <p:nvSpPr>
          <p:cNvPr id="15" name="Rectangle 14">
            <a:extLst>
              <a:ext uri="{FF2B5EF4-FFF2-40B4-BE49-F238E27FC236}">
                <a16:creationId xmlns:a16="http://schemas.microsoft.com/office/drawing/2014/main" id="{2F92A40E-2D62-18C1-974A-CE58D84DD410}"/>
              </a:ext>
            </a:extLst>
          </p:cNvPr>
          <p:cNvSpPr/>
          <p:nvPr/>
        </p:nvSpPr>
        <p:spPr>
          <a:xfrm>
            <a:off x="134224" y="1388420"/>
            <a:ext cx="11109958" cy="46325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u="sng" dirty="0">
                <a:solidFill>
                  <a:schemeClr val="tx1"/>
                </a:solidFill>
              </a:rPr>
              <a:t>Component  </a:t>
            </a:r>
            <a:r>
              <a:rPr lang="en-US" b="1" dirty="0">
                <a:solidFill>
                  <a:schemeClr val="tx1"/>
                </a:solidFill>
              </a:rPr>
              <a:t>                              </a:t>
            </a:r>
            <a:r>
              <a:rPr lang="en-US" b="1" u="sng" dirty="0">
                <a:solidFill>
                  <a:schemeClr val="tx1"/>
                </a:solidFill>
              </a:rPr>
              <a:t>Options</a:t>
            </a:r>
            <a:r>
              <a:rPr lang="en-US" b="1" dirty="0">
                <a:solidFill>
                  <a:schemeClr val="tx1"/>
                </a:solidFill>
              </a:rPr>
              <a:t>                                       </a:t>
            </a:r>
            <a:r>
              <a:rPr lang="en-US" b="1" u="sng" dirty="0">
                <a:solidFill>
                  <a:schemeClr val="tx1"/>
                </a:solidFill>
              </a:rPr>
              <a:t>Architecture Selection</a:t>
            </a:r>
            <a:endParaRPr lang="en-US" u="sng" dirty="0">
              <a:solidFill>
                <a:schemeClr val="tx1"/>
              </a:solidFill>
            </a:endParaRPr>
          </a:p>
        </p:txBody>
      </p:sp>
      <p:sp>
        <p:nvSpPr>
          <p:cNvPr id="20" name="Rectangle 19">
            <a:extLst>
              <a:ext uri="{FF2B5EF4-FFF2-40B4-BE49-F238E27FC236}">
                <a16:creationId xmlns:a16="http://schemas.microsoft.com/office/drawing/2014/main" id="{3E2EA1AF-E1E1-C9DD-2889-231F1D962823}"/>
              </a:ext>
            </a:extLst>
          </p:cNvPr>
          <p:cNvSpPr/>
          <p:nvPr/>
        </p:nvSpPr>
        <p:spPr>
          <a:xfrm>
            <a:off x="134224" y="2873205"/>
            <a:ext cx="1778466" cy="532395"/>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Infrastructure</a:t>
            </a:r>
          </a:p>
        </p:txBody>
      </p:sp>
      <p:sp>
        <p:nvSpPr>
          <p:cNvPr id="24" name="Rectangle 23">
            <a:extLst>
              <a:ext uri="{FF2B5EF4-FFF2-40B4-BE49-F238E27FC236}">
                <a16:creationId xmlns:a16="http://schemas.microsoft.com/office/drawing/2014/main" id="{F74A689F-AE37-E5A9-E254-FE604F6CC08C}"/>
              </a:ext>
            </a:extLst>
          </p:cNvPr>
          <p:cNvSpPr/>
          <p:nvPr/>
        </p:nvSpPr>
        <p:spPr>
          <a:xfrm>
            <a:off x="2495724" y="2779726"/>
            <a:ext cx="2552061" cy="646331"/>
          </a:xfrm>
          <a:prstGeom prst="rect">
            <a:avLst/>
          </a:prstGeom>
          <a:noFill/>
          <a:ln>
            <a:solidFill>
              <a:schemeClr val="bg1"/>
            </a:solidFill>
          </a:ln>
        </p:spPr>
        <p:txBody>
          <a:bodyPr wrap="square" lIns="91440" tIns="45720" rIns="91440" bIns="45720">
            <a:spAutoFit/>
          </a:bodyPr>
          <a:lstStyle/>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on premises </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cloud hosting (AWS, Azure)</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Hybrid hosting model</a:t>
            </a:r>
            <a:endParaRPr lang="en-US" sz="1200" b="1" cap="none" spc="0" dirty="0">
              <a:ln w="0"/>
              <a:solidFill>
                <a:schemeClr val="bg1"/>
              </a:solidFill>
              <a:effectLst>
                <a:outerShdw blurRad="38100" dist="19050" dir="2700000" algn="tl" rotWithShape="0">
                  <a:schemeClr val="dk1">
                    <a:alpha val="40000"/>
                  </a:schemeClr>
                </a:outerShdw>
              </a:effectLst>
            </a:endParaRPr>
          </a:p>
        </p:txBody>
      </p:sp>
      <p:sp>
        <p:nvSpPr>
          <p:cNvPr id="25" name="Rectangle 24">
            <a:extLst>
              <a:ext uri="{FF2B5EF4-FFF2-40B4-BE49-F238E27FC236}">
                <a16:creationId xmlns:a16="http://schemas.microsoft.com/office/drawing/2014/main" id="{0CD82596-B01C-8DBB-D5C0-D4F648668BF9}"/>
              </a:ext>
            </a:extLst>
          </p:cNvPr>
          <p:cNvSpPr/>
          <p:nvPr/>
        </p:nvSpPr>
        <p:spPr>
          <a:xfrm>
            <a:off x="5746598" y="2782110"/>
            <a:ext cx="5497585" cy="646331"/>
          </a:xfrm>
          <a:prstGeom prst="rect">
            <a:avLst/>
          </a:prstGeom>
          <a:noFill/>
          <a:ln>
            <a:solidFill>
              <a:schemeClr val="bg1"/>
            </a:solidFill>
          </a:ln>
        </p:spPr>
        <p:txBody>
          <a:bodyPr wrap="square" lIns="91440" tIns="45720" rIns="91440" bIns="45720">
            <a:spAutoFit/>
          </a:bodyPr>
          <a:lstStyle/>
          <a:p>
            <a:r>
              <a:rPr lang="en-US" sz="1200" b="1" dirty="0">
                <a:solidFill>
                  <a:schemeClr val="bg1"/>
                </a:solidFill>
                <a:latin typeface="Titillium Web Light" panose="00000400000000000000" pitchFamily="2" charset="0"/>
              </a:rPr>
              <a:t>Off prem cloud hosting has low cost, scalability, and reliability advantages over on-prem hosting.  Dependent upon the security demand on this solution(data and access) an on-prem infrastructure would be required as a second choice.</a:t>
            </a:r>
            <a:endParaRPr lang="en-US" sz="1200" b="1" cap="none" spc="0" dirty="0">
              <a:ln w="0"/>
              <a:solidFill>
                <a:schemeClr val="bg1"/>
              </a:solidFill>
              <a:effectLst>
                <a:outerShdw blurRad="38100" dist="19050" dir="2700000" algn="tl" rotWithShape="0">
                  <a:schemeClr val="dk1">
                    <a:alpha val="40000"/>
                  </a:schemeClr>
                </a:outerShdw>
              </a:effectLst>
            </a:endParaRPr>
          </a:p>
        </p:txBody>
      </p:sp>
      <p:sp>
        <p:nvSpPr>
          <p:cNvPr id="26" name="Rectangle 25">
            <a:extLst>
              <a:ext uri="{FF2B5EF4-FFF2-40B4-BE49-F238E27FC236}">
                <a16:creationId xmlns:a16="http://schemas.microsoft.com/office/drawing/2014/main" id="{640DB2A9-948B-36E6-5CD0-5E3219126DDD}"/>
              </a:ext>
            </a:extLst>
          </p:cNvPr>
          <p:cNvSpPr/>
          <p:nvPr/>
        </p:nvSpPr>
        <p:spPr>
          <a:xfrm>
            <a:off x="134224" y="3839886"/>
            <a:ext cx="1778466" cy="532395"/>
          </a:xfrm>
          <a:prstGeom prst="rect">
            <a:avLst/>
          </a:prstGeom>
          <a:solidFill>
            <a:srgbClr val="CCEC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security</a:t>
            </a:r>
          </a:p>
        </p:txBody>
      </p:sp>
      <p:sp>
        <p:nvSpPr>
          <p:cNvPr id="30" name="Rectangle 29">
            <a:extLst>
              <a:ext uri="{FF2B5EF4-FFF2-40B4-BE49-F238E27FC236}">
                <a16:creationId xmlns:a16="http://schemas.microsoft.com/office/drawing/2014/main" id="{14AD985F-6AF7-E155-6F74-965EE0B5D961}"/>
              </a:ext>
            </a:extLst>
          </p:cNvPr>
          <p:cNvSpPr/>
          <p:nvPr/>
        </p:nvSpPr>
        <p:spPr>
          <a:xfrm>
            <a:off x="2495724" y="3736672"/>
            <a:ext cx="2552061" cy="646331"/>
          </a:xfrm>
          <a:prstGeom prst="rect">
            <a:avLst/>
          </a:prstGeom>
          <a:noFill/>
          <a:ln>
            <a:solidFill>
              <a:schemeClr val="bg1"/>
            </a:solidFill>
          </a:ln>
        </p:spPr>
        <p:txBody>
          <a:bodyPr wrap="square" lIns="91440" tIns="45720" rIns="91440" bIns="45720">
            <a:spAutoFit/>
          </a:bodyPr>
          <a:lstStyle/>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private/public key pair </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hash algorithm</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wallet</a:t>
            </a:r>
            <a:endParaRPr lang="en-US" sz="1200" b="1" cap="none" spc="0" dirty="0">
              <a:ln w="0"/>
              <a:solidFill>
                <a:schemeClr val="bg1"/>
              </a:solidFill>
              <a:effectLst>
                <a:outerShdw blurRad="38100" dist="19050" dir="2700000" algn="tl" rotWithShape="0">
                  <a:schemeClr val="dk1">
                    <a:alpha val="40000"/>
                  </a:schemeClr>
                </a:outerShdw>
              </a:effectLst>
            </a:endParaRPr>
          </a:p>
        </p:txBody>
      </p:sp>
      <p:sp>
        <p:nvSpPr>
          <p:cNvPr id="31" name="Rectangle 30">
            <a:extLst>
              <a:ext uri="{FF2B5EF4-FFF2-40B4-BE49-F238E27FC236}">
                <a16:creationId xmlns:a16="http://schemas.microsoft.com/office/drawing/2014/main" id="{6B7B6538-B1AF-78FB-CDC3-25FE4CB3B62E}"/>
              </a:ext>
            </a:extLst>
          </p:cNvPr>
          <p:cNvSpPr/>
          <p:nvPr/>
        </p:nvSpPr>
        <p:spPr>
          <a:xfrm>
            <a:off x="5746598" y="3712494"/>
            <a:ext cx="5497585" cy="646331"/>
          </a:xfrm>
          <a:prstGeom prst="rect">
            <a:avLst/>
          </a:prstGeom>
          <a:noFill/>
          <a:ln>
            <a:solidFill>
              <a:schemeClr val="bg1"/>
            </a:solidFill>
          </a:ln>
        </p:spPr>
        <p:txBody>
          <a:bodyPr wrap="square" lIns="91440" tIns="45720" rIns="91440" bIns="45720">
            <a:spAutoFit/>
          </a:bodyPr>
          <a:lstStyle/>
          <a:p>
            <a:r>
              <a:rPr lang="en-US" sz="1200" b="1" dirty="0">
                <a:solidFill>
                  <a:schemeClr val="bg1"/>
                </a:solidFill>
                <a:latin typeface="Titillium Web Light" panose="00000400000000000000" pitchFamily="2" charset="0"/>
              </a:rPr>
              <a:t>…..there are multiple areas to highlight from user access to data integration. How are data received from corporate end points into a gateway for the blockchain into a smart contract……..</a:t>
            </a:r>
            <a:endParaRPr lang="en-US" sz="1200" b="1" cap="none" spc="0" dirty="0">
              <a:ln w="0"/>
              <a:solidFill>
                <a:schemeClr val="bg1"/>
              </a:solidFill>
              <a:effectLst>
                <a:outerShdw blurRad="38100" dist="19050" dir="2700000" algn="tl" rotWithShape="0">
                  <a:schemeClr val="dk1">
                    <a:alpha val="40000"/>
                  </a:schemeClr>
                </a:outerShdw>
              </a:effectLst>
            </a:endParaRPr>
          </a:p>
        </p:txBody>
      </p:sp>
      <p:sp>
        <p:nvSpPr>
          <p:cNvPr id="32" name="Rectangle 31">
            <a:extLst>
              <a:ext uri="{FF2B5EF4-FFF2-40B4-BE49-F238E27FC236}">
                <a16:creationId xmlns:a16="http://schemas.microsoft.com/office/drawing/2014/main" id="{15E4C804-18FE-05F2-F71F-B1A0F1B26193}"/>
              </a:ext>
            </a:extLst>
          </p:cNvPr>
          <p:cNvSpPr/>
          <p:nvPr/>
        </p:nvSpPr>
        <p:spPr>
          <a:xfrm>
            <a:off x="134223" y="4821192"/>
            <a:ext cx="1778466" cy="532395"/>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application pattern</a:t>
            </a:r>
          </a:p>
        </p:txBody>
      </p:sp>
      <p:sp>
        <p:nvSpPr>
          <p:cNvPr id="33" name="Rectangle 32">
            <a:extLst>
              <a:ext uri="{FF2B5EF4-FFF2-40B4-BE49-F238E27FC236}">
                <a16:creationId xmlns:a16="http://schemas.microsoft.com/office/drawing/2014/main" id="{CAA2308F-1A30-C0B4-00F0-8478A366240E}"/>
              </a:ext>
            </a:extLst>
          </p:cNvPr>
          <p:cNvSpPr/>
          <p:nvPr/>
        </p:nvSpPr>
        <p:spPr>
          <a:xfrm>
            <a:off x="134223" y="5765328"/>
            <a:ext cx="1778466" cy="532395"/>
          </a:xfrm>
          <a:prstGeom prst="rect">
            <a:avLst/>
          </a:prstGeom>
          <a:solidFill>
            <a:srgbClr val="CCEC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data integration</a:t>
            </a:r>
          </a:p>
        </p:txBody>
      </p:sp>
      <p:sp>
        <p:nvSpPr>
          <p:cNvPr id="34" name="Rectangle 33">
            <a:extLst>
              <a:ext uri="{FF2B5EF4-FFF2-40B4-BE49-F238E27FC236}">
                <a16:creationId xmlns:a16="http://schemas.microsoft.com/office/drawing/2014/main" id="{EBDE8211-1251-6CD9-605C-C3ADA1BF67BF}"/>
              </a:ext>
            </a:extLst>
          </p:cNvPr>
          <p:cNvSpPr/>
          <p:nvPr/>
        </p:nvSpPr>
        <p:spPr>
          <a:xfrm>
            <a:off x="2495723" y="4702436"/>
            <a:ext cx="2552061" cy="830997"/>
          </a:xfrm>
          <a:prstGeom prst="rect">
            <a:avLst/>
          </a:prstGeom>
          <a:noFill/>
          <a:ln>
            <a:solidFill>
              <a:schemeClr val="bg1"/>
            </a:solidFill>
          </a:ln>
        </p:spPr>
        <p:txBody>
          <a:bodyPr wrap="square" lIns="91440" tIns="45720" rIns="91440" bIns="45720">
            <a:spAutoFit/>
          </a:bodyPr>
          <a:lstStyle/>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microservices</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event driven</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serverless</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smart contract / </a:t>
            </a:r>
            <a:r>
              <a:rPr lang="en-US" sz="1200" b="1" dirty="0" err="1">
                <a:solidFill>
                  <a:schemeClr val="bg1"/>
                </a:solidFill>
                <a:latin typeface="Titillium Web Light" panose="00000400000000000000" pitchFamily="2" charset="0"/>
              </a:rPr>
              <a:t>chaincode</a:t>
            </a:r>
            <a:endParaRPr lang="en-US" sz="1200" b="1" dirty="0">
              <a:solidFill>
                <a:schemeClr val="bg1"/>
              </a:solidFill>
              <a:latin typeface="Titillium Web Light" panose="00000400000000000000" pitchFamily="2" charset="0"/>
            </a:endParaRPr>
          </a:p>
        </p:txBody>
      </p:sp>
      <p:sp>
        <p:nvSpPr>
          <p:cNvPr id="35" name="Rectangle 34">
            <a:extLst>
              <a:ext uri="{FF2B5EF4-FFF2-40B4-BE49-F238E27FC236}">
                <a16:creationId xmlns:a16="http://schemas.microsoft.com/office/drawing/2014/main" id="{4041372E-B3DE-9E4D-5EA4-E84CEE31E6E8}"/>
              </a:ext>
            </a:extLst>
          </p:cNvPr>
          <p:cNvSpPr/>
          <p:nvPr/>
        </p:nvSpPr>
        <p:spPr>
          <a:xfrm>
            <a:off x="5746597" y="4739605"/>
            <a:ext cx="5497585" cy="830997"/>
          </a:xfrm>
          <a:prstGeom prst="rect">
            <a:avLst/>
          </a:prstGeom>
          <a:noFill/>
          <a:ln>
            <a:solidFill>
              <a:schemeClr val="bg1"/>
            </a:solidFill>
          </a:ln>
        </p:spPr>
        <p:txBody>
          <a:bodyPr wrap="square" lIns="91440" tIns="45720" rIns="91440" bIns="45720">
            <a:spAutoFit/>
          </a:bodyPr>
          <a:lstStyle/>
          <a:p>
            <a:r>
              <a:rPr lang="en-US" sz="1200" b="1" dirty="0">
                <a:solidFill>
                  <a:schemeClr val="bg1"/>
                </a:solidFill>
                <a:latin typeface="Titillium Web Light" panose="00000400000000000000" pitchFamily="2" charset="0"/>
              </a:rPr>
              <a:t>…..selection is based on requirements mostly – not the non-functional requirements. For this business case, multiple integration patterns most likely due to varied need on handling data and user alerts……..</a:t>
            </a:r>
          </a:p>
          <a:p>
            <a:endParaRPr lang="en-US" sz="1200" b="1" cap="none" spc="0" dirty="0">
              <a:ln w="0"/>
              <a:solidFill>
                <a:schemeClr val="bg1"/>
              </a:solidFill>
              <a:effectLst>
                <a:outerShdw blurRad="38100" dist="19050" dir="2700000" algn="tl" rotWithShape="0">
                  <a:schemeClr val="dk1">
                    <a:alpha val="40000"/>
                  </a:schemeClr>
                </a:outerShdw>
              </a:effectLst>
            </a:endParaRPr>
          </a:p>
        </p:txBody>
      </p:sp>
      <p:sp>
        <p:nvSpPr>
          <p:cNvPr id="39" name="Rectangle 38">
            <a:extLst>
              <a:ext uri="{FF2B5EF4-FFF2-40B4-BE49-F238E27FC236}">
                <a16:creationId xmlns:a16="http://schemas.microsoft.com/office/drawing/2014/main" id="{117121FD-269A-22CC-D97D-33E2D7711452}"/>
              </a:ext>
            </a:extLst>
          </p:cNvPr>
          <p:cNvSpPr/>
          <p:nvPr/>
        </p:nvSpPr>
        <p:spPr>
          <a:xfrm>
            <a:off x="2495723" y="5671968"/>
            <a:ext cx="2552061" cy="830997"/>
          </a:xfrm>
          <a:prstGeom prst="rect">
            <a:avLst/>
          </a:prstGeom>
          <a:noFill/>
          <a:ln>
            <a:solidFill>
              <a:schemeClr val="bg1"/>
            </a:solidFill>
          </a:ln>
        </p:spPr>
        <p:txBody>
          <a:bodyPr wrap="square" lIns="91440" tIns="45720" rIns="91440" bIns="45720">
            <a:spAutoFit/>
          </a:bodyPr>
          <a:lstStyle/>
          <a:p>
            <a:pPr marL="342900" indent="-342900">
              <a:buFont typeface="Courier New" panose="02070309020205020404" pitchFamily="49" charset="0"/>
              <a:buChar char="o"/>
            </a:pPr>
            <a:r>
              <a:rPr lang="en-US" sz="1200" b="1" dirty="0" err="1">
                <a:solidFill>
                  <a:schemeClr val="bg1"/>
                </a:solidFill>
                <a:latin typeface="Titillium Web Light" panose="00000400000000000000" pitchFamily="2" charset="0"/>
              </a:rPr>
              <a:t>gRPC</a:t>
            </a:r>
            <a:endParaRPr lang="en-US" sz="1200" b="1" dirty="0">
              <a:solidFill>
                <a:schemeClr val="bg1"/>
              </a:solidFill>
              <a:latin typeface="Titillium Web Light" panose="00000400000000000000" pitchFamily="2" charset="0"/>
            </a:endParaRP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SDK</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REST API</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hybrid</a:t>
            </a:r>
          </a:p>
        </p:txBody>
      </p:sp>
      <p:sp>
        <p:nvSpPr>
          <p:cNvPr id="40" name="Rectangle 39">
            <a:extLst>
              <a:ext uri="{FF2B5EF4-FFF2-40B4-BE49-F238E27FC236}">
                <a16:creationId xmlns:a16="http://schemas.microsoft.com/office/drawing/2014/main" id="{0D34A7D1-6A17-5796-7939-F39DBE1D5870}"/>
              </a:ext>
            </a:extLst>
          </p:cNvPr>
          <p:cNvSpPr/>
          <p:nvPr/>
        </p:nvSpPr>
        <p:spPr>
          <a:xfrm>
            <a:off x="5746597" y="5671968"/>
            <a:ext cx="5497585" cy="830997"/>
          </a:xfrm>
          <a:prstGeom prst="rect">
            <a:avLst/>
          </a:prstGeom>
          <a:noFill/>
          <a:ln>
            <a:solidFill>
              <a:schemeClr val="bg1"/>
            </a:solidFill>
          </a:ln>
        </p:spPr>
        <p:txBody>
          <a:bodyPr wrap="square" lIns="91440" tIns="45720" rIns="91440" bIns="45720">
            <a:spAutoFit/>
          </a:bodyPr>
          <a:lstStyle/>
          <a:p>
            <a:r>
              <a:rPr lang="en-US" sz="1200" b="1" dirty="0">
                <a:solidFill>
                  <a:schemeClr val="bg1"/>
                </a:solidFill>
                <a:latin typeface="Google Sans"/>
              </a:rPr>
              <a:t>MQTT is the selected protocol due to its standardization and ubiquitous ecosystem. Standardize on the use of SDKs when establishing connections to the Fabric Gateway, which internally uses </a:t>
            </a:r>
            <a:r>
              <a:rPr lang="en-US" sz="1200" b="1" dirty="0" err="1">
                <a:solidFill>
                  <a:schemeClr val="bg1"/>
                </a:solidFill>
                <a:latin typeface="Google Sans"/>
              </a:rPr>
              <a:t>gRPC</a:t>
            </a:r>
            <a:r>
              <a:rPr lang="en-US" sz="1200" b="1" dirty="0">
                <a:solidFill>
                  <a:schemeClr val="bg1"/>
                </a:solidFill>
                <a:latin typeface="Google Sans"/>
              </a:rPr>
              <a:t>. Besu provides direct integration to the Ethereum blockchain. </a:t>
            </a:r>
            <a:endParaRPr lang="en-US" sz="1200" b="1" cap="none" spc="0" dirty="0">
              <a:ln w="0"/>
              <a:solidFill>
                <a:schemeClr val="bg1"/>
              </a:solidFill>
              <a:effectLst>
                <a:outerShdw blurRad="38100" dist="19050" dir="2700000" algn="tl" rotWithShape="0">
                  <a:schemeClr val="dk1">
                    <a:alpha val="40000"/>
                  </a:schemeClr>
                </a:outerShdw>
              </a:effectLst>
            </a:endParaRPr>
          </a:p>
        </p:txBody>
      </p:sp>
      <p:cxnSp>
        <p:nvCxnSpPr>
          <p:cNvPr id="41" name="Straight Connector 40">
            <a:extLst>
              <a:ext uri="{FF2B5EF4-FFF2-40B4-BE49-F238E27FC236}">
                <a16:creationId xmlns:a16="http://schemas.microsoft.com/office/drawing/2014/main" id="{89E0C888-2CFE-0AD4-FD5D-0B3F87B509DC}"/>
              </a:ext>
            </a:extLst>
          </p:cNvPr>
          <p:cNvCxnSpPr>
            <a:cxnSpLocks/>
          </p:cNvCxnSpPr>
          <p:nvPr/>
        </p:nvCxnSpPr>
        <p:spPr>
          <a:xfrm flipV="1">
            <a:off x="2221032" y="2400193"/>
            <a:ext cx="0" cy="372893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9FD9ACD-60A5-C4F9-D4B4-65B6838DC86B}"/>
              </a:ext>
            </a:extLst>
          </p:cNvPr>
          <p:cNvCxnSpPr>
            <a:cxnSpLocks/>
          </p:cNvCxnSpPr>
          <p:nvPr/>
        </p:nvCxnSpPr>
        <p:spPr>
          <a:xfrm flipV="1">
            <a:off x="5365111" y="2420513"/>
            <a:ext cx="0" cy="372893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57EA03E-AA8B-DCF1-D76E-104A62587EE4}"/>
              </a:ext>
            </a:extLst>
          </p:cNvPr>
          <p:cNvSpPr txBox="1"/>
          <p:nvPr/>
        </p:nvSpPr>
        <p:spPr>
          <a:xfrm>
            <a:off x="153465" y="4748"/>
            <a:ext cx="11773492" cy="523220"/>
          </a:xfrm>
          <a:prstGeom prst="rect">
            <a:avLst/>
          </a:prstGeom>
          <a:noFill/>
        </p:spPr>
        <p:txBody>
          <a:bodyPr wrap="square" rtlCol="0">
            <a:spAutoFit/>
          </a:bodyPr>
          <a:lstStyle/>
          <a:p>
            <a:r>
              <a:rPr lang="en-US" sz="2800" b="1" dirty="0">
                <a:solidFill>
                  <a:schemeClr val="bg1"/>
                </a:solidFill>
                <a:latin typeface="Abadi Extra Light" panose="020B0204020104020204" pitchFamily="34" charset="0"/>
              </a:rPr>
              <a:t>Digital Twin Technical Architecture Design Decisions (1 of 2) </a:t>
            </a:r>
          </a:p>
        </p:txBody>
      </p:sp>
      <p:cxnSp>
        <p:nvCxnSpPr>
          <p:cNvPr id="6" name="Straight Connector 5">
            <a:extLst>
              <a:ext uri="{FF2B5EF4-FFF2-40B4-BE49-F238E27FC236}">
                <a16:creationId xmlns:a16="http://schemas.microsoft.com/office/drawing/2014/main" id="{74780449-756D-5B4E-0C80-F1DD61DF0124}"/>
              </a:ext>
            </a:extLst>
          </p:cNvPr>
          <p:cNvCxnSpPr>
            <a:cxnSpLocks/>
          </p:cNvCxnSpPr>
          <p:nvPr/>
        </p:nvCxnSpPr>
        <p:spPr>
          <a:xfrm>
            <a:off x="153465" y="506226"/>
            <a:ext cx="1109071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09717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92211-CFB2-DF1E-CBE4-DD893DFD573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6A53F57-C87F-2463-FDE8-66C2CE771A2F}"/>
              </a:ext>
            </a:extLst>
          </p:cNvPr>
          <p:cNvSpPr/>
          <p:nvPr/>
        </p:nvSpPr>
        <p:spPr>
          <a:xfrm>
            <a:off x="-7859" y="-8467"/>
            <a:ext cx="12192000" cy="7010400"/>
          </a:xfrm>
          <a:prstGeom prst="rect">
            <a:avLst/>
          </a:prstGeom>
          <a:gradFill flip="none" rotWithShape="1">
            <a:gsLst>
              <a:gs pos="100000">
                <a:schemeClr val="accent5">
                  <a:lumMod val="50000"/>
                </a:schemeClr>
              </a:gs>
              <a:gs pos="20000">
                <a:schemeClr val="accent1">
                  <a:lumMod val="45000"/>
                  <a:lumOff val="55000"/>
                </a:schemeClr>
              </a:gs>
              <a:gs pos="100000">
                <a:schemeClr val="accent1">
                  <a:lumMod val="30000"/>
                  <a:lumOff val="7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1948672-3EEA-3120-D2AC-19B0E4E45984}"/>
              </a:ext>
            </a:extLst>
          </p:cNvPr>
          <p:cNvSpPr/>
          <p:nvPr/>
        </p:nvSpPr>
        <p:spPr>
          <a:xfrm>
            <a:off x="2512503" y="1938528"/>
            <a:ext cx="2535282" cy="646331"/>
          </a:xfrm>
          <a:prstGeom prst="rect">
            <a:avLst/>
          </a:prstGeom>
          <a:noFill/>
          <a:ln>
            <a:solidFill>
              <a:schemeClr val="bg1"/>
            </a:solidFill>
          </a:ln>
        </p:spPr>
        <p:txBody>
          <a:bodyPr wrap="square" lIns="91440" tIns="45720" rIns="91440" bIns="45720">
            <a:spAutoFit/>
          </a:bodyPr>
          <a:lstStyle/>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horizontal</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auto-scaling</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caching </a:t>
            </a:r>
            <a:r>
              <a:rPr lang="en-US" sz="1200" b="1" cap="none" spc="0" dirty="0">
                <a:ln w="0"/>
                <a:solidFill>
                  <a:schemeClr val="bg1"/>
                </a:solidFill>
                <a:effectLst>
                  <a:outerShdw blurRad="38100" dist="19050" dir="2700000" algn="tl" rotWithShape="0">
                    <a:schemeClr val="dk1">
                      <a:alpha val="40000"/>
                    </a:schemeClr>
                  </a:outerShdw>
                </a:effectLst>
                <a:latin typeface="Titillium Web Light" panose="00000400000000000000" pitchFamily="2" charset="0"/>
              </a:rPr>
              <a:t> </a:t>
            </a:r>
            <a:endParaRPr lang="en-US" sz="1200" b="1" cap="none" spc="0" dirty="0">
              <a:ln w="0"/>
              <a:solidFill>
                <a:schemeClr val="bg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BF6D6381-5D89-8F31-C5D5-87275C9E39CC}"/>
              </a:ext>
            </a:extLst>
          </p:cNvPr>
          <p:cNvSpPr/>
          <p:nvPr/>
        </p:nvSpPr>
        <p:spPr>
          <a:xfrm>
            <a:off x="134223" y="1950425"/>
            <a:ext cx="1778466" cy="532395"/>
          </a:xfrm>
          <a:prstGeom prst="rect">
            <a:avLst/>
          </a:prstGeom>
          <a:solidFill>
            <a:srgbClr val="CCEC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scalability strategy</a:t>
            </a:r>
          </a:p>
        </p:txBody>
      </p:sp>
      <p:sp>
        <p:nvSpPr>
          <p:cNvPr id="8" name="Rectangle 7">
            <a:extLst>
              <a:ext uri="{FF2B5EF4-FFF2-40B4-BE49-F238E27FC236}">
                <a16:creationId xmlns:a16="http://schemas.microsoft.com/office/drawing/2014/main" id="{FAE0FC35-695B-A637-C3C8-D789EEB37EA0}"/>
              </a:ext>
            </a:extLst>
          </p:cNvPr>
          <p:cNvSpPr/>
          <p:nvPr/>
        </p:nvSpPr>
        <p:spPr>
          <a:xfrm>
            <a:off x="5746598" y="1918028"/>
            <a:ext cx="5497585" cy="646331"/>
          </a:xfrm>
          <a:prstGeom prst="rect">
            <a:avLst/>
          </a:prstGeom>
          <a:noFill/>
          <a:ln>
            <a:solidFill>
              <a:schemeClr val="bg1"/>
            </a:solidFill>
          </a:ln>
        </p:spPr>
        <p:txBody>
          <a:bodyPr wrap="square" lIns="91440" tIns="45720" rIns="91440" bIns="45720">
            <a:spAutoFit/>
          </a:bodyPr>
          <a:lstStyle/>
          <a:p>
            <a:r>
              <a:rPr lang="en-US" sz="1200" b="1" dirty="0">
                <a:solidFill>
                  <a:schemeClr val="bg1"/>
                </a:solidFill>
                <a:latin typeface="Titillium Web Light" panose="00000400000000000000" pitchFamily="2" charset="0"/>
              </a:rPr>
              <a:t>….load balancing….serverless computing(</a:t>
            </a:r>
            <a:r>
              <a:rPr lang="en-US" sz="1200" b="1" dirty="0" err="1">
                <a:solidFill>
                  <a:schemeClr val="bg1"/>
                </a:solidFill>
                <a:latin typeface="Titillium Web Light" panose="00000400000000000000" pitchFamily="2" charset="0"/>
              </a:rPr>
              <a:t>FaaS</a:t>
            </a:r>
            <a:r>
              <a:rPr lang="en-US" sz="1200" b="1" dirty="0">
                <a:solidFill>
                  <a:schemeClr val="bg1"/>
                </a:solidFill>
                <a:latin typeface="Titillium Web Light" panose="00000400000000000000" pitchFamily="2" charset="0"/>
              </a:rPr>
              <a:t>)…use of microservices…containerization and orchestration….provide architecture justification for use of the selected tool set.</a:t>
            </a:r>
            <a:endParaRPr lang="en-US" sz="1200" b="1" cap="none" spc="0" dirty="0">
              <a:ln w="0"/>
              <a:solidFill>
                <a:schemeClr val="bg1"/>
              </a:solidFill>
              <a:effectLst>
                <a:outerShdw blurRad="38100" dist="19050" dir="2700000" algn="tl" rotWithShape="0">
                  <a:schemeClr val="dk1">
                    <a:alpha val="40000"/>
                  </a:schemeClr>
                </a:outerShdw>
              </a:effectLst>
            </a:endParaRPr>
          </a:p>
        </p:txBody>
      </p:sp>
      <p:sp>
        <p:nvSpPr>
          <p:cNvPr id="20" name="Rectangle 19">
            <a:extLst>
              <a:ext uri="{FF2B5EF4-FFF2-40B4-BE49-F238E27FC236}">
                <a16:creationId xmlns:a16="http://schemas.microsoft.com/office/drawing/2014/main" id="{4103E767-81F1-4390-816F-12FA7A9E582C}"/>
              </a:ext>
            </a:extLst>
          </p:cNvPr>
          <p:cNvSpPr/>
          <p:nvPr/>
        </p:nvSpPr>
        <p:spPr>
          <a:xfrm>
            <a:off x="134224" y="2873205"/>
            <a:ext cx="1778466" cy="532395"/>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storage</a:t>
            </a:r>
          </a:p>
        </p:txBody>
      </p:sp>
      <p:sp>
        <p:nvSpPr>
          <p:cNvPr id="24" name="Rectangle 23">
            <a:extLst>
              <a:ext uri="{FF2B5EF4-FFF2-40B4-BE49-F238E27FC236}">
                <a16:creationId xmlns:a16="http://schemas.microsoft.com/office/drawing/2014/main" id="{8FED9551-1701-1CE5-BC53-E8CFF5EFDF14}"/>
              </a:ext>
            </a:extLst>
          </p:cNvPr>
          <p:cNvSpPr/>
          <p:nvPr/>
        </p:nvSpPr>
        <p:spPr>
          <a:xfrm>
            <a:off x="2495724" y="2763398"/>
            <a:ext cx="2552061" cy="830997"/>
          </a:xfrm>
          <a:prstGeom prst="rect">
            <a:avLst/>
          </a:prstGeom>
          <a:noFill/>
          <a:ln>
            <a:solidFill>
              <a:schemeClr val="bg1"/>
            </a:solidFill>
          </a:ln>
        </p:spPr>
        <p:txBody>
          <a:bodyPr wrap="square" lIns="91440" tIns="45720" rIns="91440" bIns="45720">
            <a:spAutoFit/>
          </a:bodyPr>
          <a:lstStyle/>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World State </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L2 needed</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IPFS</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NoSQL</a:t>
            </a:r>
            <a:endParaRPr lang="en-US" sz="1200" b="1" cap="none" spc="0" dirty="0">
              <a:ln w="0"/>
              <a:solidFill>
                <a:schemeClr val="bg1"/>
              </a:solidFill>
              <a:effectLst>
                <a:outerShdw blurRad="38100" dist="19050" dir="2700000" algn="tl" rotWithShape="0">
                  <a:schemeClr val="dk1">
                    <a:alpha val="40000"/>
                  </a:schemeClr>
                </a:outerShdw>
              </a:effectLst>
            </a:endParaRPr>
          </a:p>
        </p:txBody>
      </p:sp>
      <p:sp>
        <p:nvSpPr>
          <p:cNvPr id="25" name="Rectangle 24">
            <a:extLst>
              <a:ext uri="{FF2B5EF4-FFF2-40B4-BE49-F238E27FC236}">
                <a16:creationId xmlns:a16="http://schemas.microsoft.com/office/drawing/2014/main" id="{B7593A9B-8DF4-ADF0-C5C9-9E582901F0D0}"/>
              </a:ext>
            </a:extLst>
          </p:cNvPr>
          <p:cNvSpPr/>
          <p:nvPr/>
        </p:nvSpPr>
        <p:spPr>
          <a:xfrm>
            <a:off x="5746598" y="2724962"/>
            <a:ext cx="5497585" cy="830997"/>
          </a:xfrm>
          <a:prstGeom prst="rect">
            <a:avLst/>
          </a:prstGeom>
          <a:noFill/>
          <a:ln>
            <a:solidFill>
              <a:schemeClr val="bg1"/>
            </a:solidFill>
          </a:ln>
        </p:spPr>
        <p:txBody>
          <a:bodyPr wrap="square" lIns="91440" tIns="45720" rIns="91440" bIns="45720">
            <a:spAutoFit/>
          </a:bodyPr>
          <a:lstStyle/>
          <a:p>
            <a:r>
              <a:rPr lang="en-US" sz="1200" b="1" dirty="0">
                <a:solidFill>
                  <a:schemeClr val="bg1"/>
                </a:solidFill>
                <a:latin typeface="Titillium Web Light" panose="00000400000000000000" pitchFamily="2" charset="0"/>
              </a:rPr>
              <a:t>Utilize a world state database to provide a fast, query view of the latest values of all assets and records. Utilize a relational database alongside the blockchain to collect large volumes of real-time data (NoSQL - CouchDB). Supply Chain configuration detail is stored on a blockchain. </a:t>
            </a:r>
            <a:endParaRPr lang="en-US" sz="1200" b="1" cap="none" spc="0" dirty="0">
              <a:ln w="0"/>
              <a:solidFill>
                <a:schemeClr val="bg1"/>
              </a:solidFill>
              <a:effectLst>
                <a:outerShdw blurRad="38100" dist="19050" dir="2700000" algn="tl" rotWithShape="0">
                  <a:schemeClr val="dk1">
                    <a:alpha val="40000"/>
                  </a:schemeClr>
                </a:outerShdw>
              </a:effectLst>
              <a:latin typeface="Titillium Web Light" panose="00000400000000000000" pitchFamily="2" charset="0"/>
            </a:endParaRPr>
          </a:p>
        </p:txBody>
      </p:sp>
      <p:sp>
        <p:nvSpPr>
          <p:cNvPr id="26" name="Rectangle 25">
            <a:extLst>
              <a:ext uri="{FF2B5EF4-FFF2-40B4-BE49-F238E27FC236}">
                <a16:creationId xmlns:a16="http://schemas.microsoft.com/office/drawing/2014/main" id="{EC046B70-BDB5-E040-750F-4BFC02988D76}"/>
              </a:ext>
            </a:extLst>
          </p:cNvPr>
          <p:cNvSpPr/>
          <p:nvPr/>
        </p:nvSpPr>
        <p:spPr>
          <a:xfrm>
            <a:off x="134224" y="3913362"/>
            <a:ext cx="1778466" cy="532395"/>
          </a:xfrm>
          <a:prstGeom prst="rect">
            <a:avLst/>
          </a:prstGeom>
          <a:solidFill>
            <a:srgbClr val="CCEC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AI integration</a:t>
            </a:r>
          </a:p>
        </p:txBody>
      </p:sp>
      <p:sp>
        <p:nvSpPr>
          <p:cNvPr id="30" name="Rectangle 29">
            <a:extLst>
              <a:ext uri="{FF2B5EF4-FFF2-40B4-BE49-F238E27FC236}">
                <a16:creationId xmlns:a16="http://schemas.microsoft.com/office/drawing/2014/main" id="{E05DD239-68E6-4587-F92A-9D6E04E8E6AE}"/>
              </a:ext>
            </a:extLst>
          </p:cNvPr>
          <p:cNvSpPr/>
          <p:nvPr/>
        </p:nvSpPr>
        <p:spPr>
          <a:xfrm>
            <a:off x="2495724" y="3810148"/>
            <a:ext cx="2552061" cy="646331"/>
          </a:xfrm>
          <a:prstGeom prst="rect">
            <a:avLst/>
          </a:prstGeom>
          <a:noFill/>
          <a:ln>
            <a:solidFill>
              <a:schemeClr val="bg1"/>
            </a:solidFill>
          </a:ln>
        </p:spPr>
        <p:txBody>
          <a:bodyPr wrap="square" lIns="91440" tIns="45720" rIns="91440" bIns="45720">
            <a:spAutoFit/>
          </a:bodyPr>
          <a:lstStyle/>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MCP standard </a:t>
            </a:r>
          </a:p>
          <a:p>
            <a:pPr marL="342900" indent="-342900">
              <a:buFont typeface="Courier New" panose="02070309020205020404" pitchFamily="49" charset="0"/>
              <a:buChar char="o"/>
            </a:pPr>
            <a:r>
              <a:rPr lang="en-US" sz="1200" b="1" dirty="0" err="1">
                <a:solidFill>
                  <a:schemeClr val="bg1"/>
                </a:solidFill>
                <a:latin typeface="Titillium Web Light" panose="00000400000000000000" pitchFamily="2" charset="0"/>
              </a:rPr>
              <a:t>db</a:t>
            </a:r>
            <a:r>
              <a:rPr lang="en-US" sz="1200" b="1" dirty="0">
                <a:solidFill>
                  <a:schemeClr val="bg1"/>
                </a:solidFill>
                <a:latin typeface="Titillium Web Light" panose="00000400000000000000" pitchFamily="2" charset="0"/>
              </a:rPr>
              <a:t> access direct</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augment LLM data set</a:t>
            </a:r>
            <a:endParaRPr lang="en-US" sz="1200" b="1" cap="none" spc="0" dirty="0">
              <a:ln w="0"/>
              <a:solidFill>
                <a:schemeClr val="bg1"/>
              </a:solidFill>
              <a:effectLst>
                <a:outerShdw blurRad="38100" dist="19050" dir="2700000" algn="tl" rotWithShape="0">
                  <a:schemeClr val="dk1">
                    <a:alpha val="40000"/>
                  </a:schemeClr>
                </a:outerShdw>
              </a:effectLst>
            </a:endParaRPr>
          </a:p>
        </p:txBody>
      </p:sp>
      <p:sp>
        <p:nvSpPr>
          <p:cNvPr id="31" name="Rectangle 30">
            <a:extLst>
              <a:ext uri="{FF2B5EF4-FFF2-40B4-BE49-F238E27FC236}">
                <a16:creationId xmlns:a16="http://schemas.microsoft.com/office/drawing/2014/main" id="{A6F543DB-8E27-A40F-0E1B-CD8D60B6A8B8}"/>
              </a:ext>
            </a:extLst>
          </p:cNvPr>
          <p:cNvSpPr/>
          <p:nvPr/>
        </p:nvSpPr>
        <p:spPr>
          <a:xfrm>
            <a:off x="5746598" y="3785970"/>
            <a:ext cx="5497585" cy="646331"/>
          </a:xfrm>
          <a:prstGeom prst="rect">
            <a:avLst/>
          </a:prstGeom>
          <a:noFill/>
          <a:ln>
            <a:solidFill>
              <a:schemeClr val="bg1"/>
            </a:solidFill>
          </a:ln>
        </p:spPr>
        <p:txBody>
          <a:bodyPr wrap="square" lIns="91440" tIns="45720" rIns="91440" bIns="45720">
            <a:spAutoFit/>
          </a:bodyPr>
          <a:lstStyle/>
          <a:p>
            <a:r>
              <a:rPr lang="en-US" sz="1200" b="1" dirty="0">
                <a:solidFill>
                  <a:schemeClr val="bg1"/>
                </a:solidFill>
                <a:latin typeface="Titillium Web Light" panose="00000400000000000000" pitchFamily="2" charset="0"/>
              </a:rPr>
              <a:t>…. (MCP) is an open standard designed to streamline AI integration by providing a universal way for AI models to connect with external data sources, tools, and services. Applies to carbon credit market and logistics(supply chain)</a:t>
            </a:r>
            <a:r>
              <a:rPr lang="en-US" sz="1200" b="1" dirty="0" err="1">
                <a:solidFill>
                  <a:schemeClr val="bg1"/>
                </a:solidFill>
                <a:latin typeface="Titillium Web Light" panose="00000400000000000000" pitchFamily="2" charset="0"/>
              </a:rPr>
              <a:t>realtime</a:t>
            </a:r>
            <a:r>
              <a:rPr lang="en-US" sz="1200" b="1" dirty="0">
                <a:solidFill>
                  <a:schemeClr val="bg1"/>
                </a:solidFill>
                <a:latin typeface="Titillium Web Light" panose="00000400000000000000" pitchFamily="2" charset="0"/>
              </a:rPr>
              <a:t> data…</a:t>
            </a:r>
            <a:endParaRPr lang="en-US" sz="1200" b="1" cap="none" spc="0" dirty="0">
              <a:ln w="0"/>
              <a:solidFill>
                <a:schemeClr val="bg1"/>
              </a:solidFill>
              <a:effectLst>
                <a:outerShdw blurRad="38100" dist="19050" dir="2700000" algn="tl" rotWithShape="0">
                  <a:schemeClr val="dk1">
                    <a:alpha val="40000"/>
                  </a:schemeClr>
                </a:outerShdw>
              </a:effectLst>
              <a:latin typeface="Titillium Web Light" panose="00000400000000000000" pitchFamily="2" charset="0"/>
            </a:endParaRPr>
          </a:p>
        </p:txBody>
      </p:sp>
      <p:sp>
        <p:nvSpPr>
          <p:cNvPr id="32" name="Rectangle 31">
            <a:extLst>
              <a:ext uri="{FF2B5EF4-FFF2-40B4-BE49-F238E27FC236}">
                <a16:creationId xmlns:a16="http://schemas.microsoft.com/office/drawing/2014/main" id="{3DAA9FC7-E39C-BFA2-FFB3-7C501F4F66CD}"/>
              </a:ext>
            </a:extLst>
          </p:cNvPr>
          <p:cNvSpPr/>
          <p:nvPr/>
        </p:nvSpPr>
        <p:spPr>
          <a:xfrm>
            <a:off x="134223" y="4821192"/>
            <a:ext cx="1778466" cy="532395"/>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cryptography</a:t>
            </a:r>
          </a:p>
        </p:txBody>
      </p:sp>
      <p:sp>
        <p:nvSpPr>
          <p:cNvPr id="33" name="Rectangle 32">
            <a:extLst>
              <a:ext uri="{FF2B5EF4-FFF2-40B4-BE49-F238E27FC236}">
                <a16:creationId xmlns:a16="http://schemas.microsoft.com/office/drawing/2014/main" id="{3E9E7DE7-E5D1-6FAA-9710-1E3B215F6C3D}"/>
              </a:ext>
            </a:extLst>
          </p:cNvPr>
          <p:cNvSpPr/>
          <p:nvPr/>
        </p:nvSpPr>
        <p:spPr>
          <a:xfrm>
            <a:off x="134223" y="5765328"/>
            <a:ext cx="1778466" cy="532395"/>
          </a:xfrm>
          <a:prstGeom prst="rect">
            <a:avLst/>
          </a:prstGeom>
          <a:solidFill>
            <a:srgbClr val="CCEC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lightweight </a:t>
            </a:r>
          </a:p>
          <a:p>
            <a:pPr algn="ctr"/>
            <a:r>
              <a:rPr lang="en-US" sz="1400" b="1" dirty="0">
                <a:solidFill>
                  <a:schemeClr val="tx1"/>
                </a:solidFill>
              </a:rPr>
              <a:t>virtualization</a:t>
            </a:r>
          </a:p>
        </p:txBody>
      </p:sp>
      <p:sp>
        <p:nvSpPr>
          <p:cNvPr id="34" name="Rectangle 33">
            <a:extLst>
              <a:ext uri="{FF2B5EF4-FFF2-40B4-BE49-F238E27FC236}">
                <a16:creationId xmlns:a16="http://schemas.microsoft.com/office/drawing/2014/main" id="{BDEDDEAA-7DE0-EB03-FDAB-410703073037}"/>
              </a:ext>
            </a:extLst>
          </p:cNvPr>
          <p:cNvSpPr/>
          <p:nvPr/>
        </p:nvSpPr>
        <p:spPr>
          <a:xfrm>
            <a:off x="2495723" y="4702436"/>
            <a:ext cx="2552061" cy="830997"/>
          </a:xfrm>
          <a:prstGeom prst="rect">
            <a:avLst/>
          </a:prstGeom>
          <a:noFill/>
          <a:ln>
            <a:solidFill>
              <a:schemeClr val="bg1"/>
            </a:solidFill>
          </a:ln>
        </p:spPr>
        <p:txBody>
          <a:bodyPr wrap="square" lIns="91440" tIns="45720" rIns="91440" bIns="45720">
            <a:spAutoFit/>
          </a:bodyPr>
          <a:lstStyle/>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hash algorithm method</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digital certificates(access)</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signed transactions</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off-chain storage hash method </a:t>
            </a:r>
          </a:p>
        </p:txBody>
      </p:sp>
      <p:sp>
        <p:nvSpPr>
          <p:cNvPr id="35" name="Rectangle 34">
            <a:extLst>
              <a:ext uri="{FF2B5EF4-FFF2-40B4-BE49-F238E27FC236}">
                <a16:creationId xmlns:a16="http://schemas.microsoft.com/office/drawing/2014/main" id="{8E29B7B7-E972-A89A-D6B7-155E1627C110}"/>
              </a:ext>
            </a:extLst>
          </p:cNvPr>
          <p:cNvSpPr/>
          <p:nvPr/>
        </p:nvSpPr>
        <p:spPr>
          <a:xfrm>
            <a:off x="5746597" y="4739605"/>
            <a:ext cx="5497585" cy="646331"/>
          </a:xfrm>
          <a:prstGeom prst="rect">
            <a:avLst/>
          </a:prstGeom>
          <a:noFill/>
          <a:ln>
            <a:solidFill>
              <a:schemeClr val="bg1"/>
            </a:solidFill>
          </a:ln>
        </p:spPr>
        <p:txBody>
          <a:bodyPr wrap="square" lIns="91440" tIns="45720" rIns="91440" bIns="45720">
            <a:spAutoFit/>
          </a:bodyPr>
          <a:lstStyle/>
          <a:p>
            <a:r>
              <a:rPr lang="en-US" sz="1200" b="1" dirty="0">
                <a:solidFill>
                  <a:schemeClr val="bg1"/>
                </a:solidFill>
                <a:latin typeface="Titillium Web Light" panose="00000400000000000000" pitchFamily="2" charset="0"/>
              </a:rPr>
              <a:t>…..SHAXXX…. Every actor in the network (applications, peers, </a:t>
            </a:r>
            <a:r>
              <a:rPr lang="en-US" sz="1200" b="1" dirty="0" err="1">
                <a:solidFill>
                  <a:schemeClr val="bg1"/>
                </a:solidFill>
                <a:latin typeface="Titillium Web Light" panose="00000400000000000000" pitchFamily="2" charset="0"/>
              </a:rPr>
              <a:t>orderers</a:t>
            </a:r>
            <a:r>
              <a:rPr lang="en-US" sz="1200" b="1" dirty="0">
                <a:solidFill>
                  <a:schemeClr val="bg1"/>
                </a:solidFill>
                <a:latin typeface="Titillium Web Light" panose="00000400000000000000" pitchFamily="2" charset="0"/>
              </a:rPr>
              <a:t>) has a digital identity represented by an X.509 certificate issued by a trusted Certificate Authority…..hash all data when stored off-chain….external data private/pub key..</a:t>
            </a:r>
            <a:endParaRPr lang="en-US" sz="1200" b="1" cap="none" spc="0" dirty="0">
              <a:ln w="0"/>
              <a:solidFill>
                <a:schemeClr val="bg1"/>
              </a:solidFill>
              <a:effectLst>
                <a:outerShdw blurRad="38100" dist="19050" dir="2700000" algn="tl" rotWithShape="0">
                  <a:schemeClr val="dk1">
                    <a:alpha val="40000"/>
                  </a:schemeClr>
                </a:outerShdw>
              </a:effectLst>
            </a:endParaRPr>
          </a:p>
        </p:txBody>
      </p:sp>
      <p:sp>
        <p:nvSpPr>
          <p:cNvPr id="39" name="Rectangle 38">
            <a:extLst>
              <a:ext uri="{FF2B5EF4-FFF2-40B4-BE49-F238E27FC236}">
                <a16:creationId xmlns:a16="http://schemas.microsoft.com/office/drawing/2014/main" id="{A4DC4C14-496A-14E8-439E-19D6E2C143F2}"/>
              </a:ext>
            </a:extLst>
          </p:cNvPr>
          <p:cNvSpPr/>
          <p:nvPr/>
        </p:nvSpPr>
        <p:spPr>
          <a:xfrm>
            <a:off x="2495723" y="5778100"/>
            <a:ext cx="2552061" cy="646331"/>
          </a:xfrm>
          <a:prstGeom prst="rect">
            <a:avLst/>
          </a:prstGeom>
          <a:noFill/>
          <a:ln>
            <a:solidFill>
              <a:schemeClr val="bg1"/>
            </a:solidFill>
          </a:ln>
        </p:spPr>
        <p:txBody>
          <a:bodyPr wrap="square" lIns="91440" tIns="45720" rIns="91440" bIns="45720">
            <a:spAutoFit/>
          </a:bodyPr>
          <a:lstStyle/>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containerization</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orchestration </a:t>
            </a:r>
          </a:p>
          <a:p>
            <a:pPr marL="342900" indent="-342900">
              <a:buFont typeface="Courier New" panose="02070309020205020404" pitchFamily="49" charset="0"/>
              <a:buChar char="o"/>
            </a:pPr>
            <a:r>
              <a:rPr lang="en-US" sz="1200" b="1" dirty="0">
                <a:solidFill>
                  <a:schemeClr val="bg1"/>
                </a:solidFill>
                <a:latin typeface="Titillium Web Light" panose="00000400000000000000" pitchFamily="2" charset="0"/>
              </a:rPr>
              <a:t>virtual machines</a:t>
            </a:r>
          </a:p>
        </p:txBody>
      </p:sp>
      <p:sp>
        <p:nvSpPr>
          <p:cNvPr id="40" name="Rectangle 39">
            <a:extLst>
              <a:ext uri="{FF2B5EF4-FFF2-40B4-BE49-F238E27FC236}">
                <a16:creationId xmlns:a16="http://schemas.microsoft.com/office/drawing/2014/main" id="{A9B428A0-1716-1A59-A8A2-4DBF3D25AA47}"/>
              </a:ext>
            </a:extLst>
          </p:cNvPr>
          <p:cNvSpPr/>
          <p:nvPr/>
        </p:nvSpPr>
        <p:spPr>
          <a:xfrm>
            <a:off x="5746597" y="5671968"/>
            <a:ext cx="5497585" cy="923330"/>
          </a:xfrm>
          <a:prstGeom prst="rect">
            <a:avLst/>
          </a:prstGeom>
          <a:noFill/>
          <a:ln>
            <a:solidFill>
              <a:schemeClr val="bg1"/>
            </a:solidFill>
          </a:ln>
        </p:spPr>
        <p:txBody>
          <a:bodyPr wrap="square" lIns="91440" tIns="45720" rIns="91440" bIns="45720">
            <a:spAutoFit/>
          </a:bodyPr>
          <a:lstStyle/>
          <a:p>
            <a:r>
              <a:rPr lang="en-US" sz="1200" b="1" dirty="0">
                <a:solidFill>
                  <a:schemeClr val="bg1"/>
                </a:solidFill>
                <a:latin typeface="Titillium Web Light" panose="00000400000000000000" pitchFamily="2" charset="0"/>
              </a:rPr>
              <a:t>….. key technology for modern cloud-native applications, enabling portability, scalability, and rapid deployment.…..Docker and Kubernetes most popular and stable….</a:t>
            </a:r>
            <a:r>
              <a:rPr lang="en-US" b="1" dirty="0">
                <a:solidFill>
                  <a:schemeClr val="bg1"/>
                </a:solidFill>
              </a:rPr>
              <a:t> </a:t>
            </a:r>
            <a:r>
              <a:rPr lang="en-US" sz="1200" b="1" dirty="0">
                <a:solidFill>
                  <a:schemeClr val="bg1"/>
                </a:solidFill>
                <a:latin typeface="Titillium Web Light" panose="00000400000000000000" pitchFamily="2" charset="0"/>
              </a:rPr>
              <a:t>Containers are well-suited for </a:t>
            </a:r>
            <a:r>
              <a:rPr lang="en-US" sz="1200" b="1" dirty="0">
                <a:solidFill>
                  <a:schemeClr val="bg1"/>
                </a:solidFill>
                <a:latin typeface="Titillium Web Light" panose="00000400000000000000" pitchFamily="2" charset="0"/>
                <a:hlinkClick r:id="rId2">
                  <a:extLst>
                    <a:ext uri="{A12FA001-AC4F-418D-AE19-62706E023703}">
                      <ahyp:hlinkClr xmlns:ahyp="http://schemas.microsoft.com/office/drawing/2018/hyperlinkcolor" val="tx"/>
                    </a:ext>
                  </a:extLst>
                </a:hlinkClick>
              </a:rPr>
              <a:t>microservices</a:t>
            </a:r>
            <a:r>
              <a:rPr lang="en-US" sz="1200" b="1" dirty="0">
                <a:solidFill>
                  <a:schemeClr val="bg1"/>
                </a:solidFill>
                <a:latin typeface="Titillium Web Light" panose="00000400000000000000" pitchFamily="2" charset="0"/>
              </a:rPr>
              <a:t> architectures, allowing for independent deployment and scaling of individual services. </a:t>
            </a:r>
            <a:endParaRPr lang="en-US" sz="1200" b="1" cap="none" spc="0" dirty="0">
              <a:ln w="0"/>
              <a:solidFill>
                <a:schemeClr val="bg1"/>
              </a:solidFill>
              <a:effectLst>
                <a:outerShdw blurRad="38100" dist="19050" dir="2700000" algn="tl" rotWithShape="0">
                  <a:schemeClr val="dk1">
                    <a:alpha val="40000"/>
                  </a:schemeClr>
                </a:outerShdw>
              </a:effectLst>
            </a:endParaRPr>
          </a:p>
        </p:txBody>
      </p:sp>
      <p:cxnSp>
        <p:nvCxnSpPr>
          <p:cNvPr id="41" name="Straight Connector 40">
            <a:extLst>
              <a:ext uri="{FF2B5EF4-FFF2-40B4-BE49-F238E27FC236}">
                <a16:creationId xmlns:a16="http://schemas.microsoft.com/office/drawing/2014/main" id="{7F579FC3-E619-DB86-E3CA-A646320E6E12}"/>
              </a:ext>
            </a:extLst>
          </p:cNvPr>
          <p:cNvCxnSpPr>
            <a:cxnSpLocks/>
          </p:cNvCxnSpPr>
          <p:nvPr/>
        </p:nvCxnSpPr>
        <p:spPr>
          <a:xfrm flipV="1">
            <a:off x="2221032" y="2400193"/>
            <a:ext cx="0" cy="372893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026263D-CCD2-FE57-172F-669B7A61178D}"/>
              </a:ext>
            </a:extLst>
          </p:cNvPr>
          <p:cNvCxnSpPr>
            <a:cxnSpLocks/>
          </p:cNvCxnSpPr>
          <p:nvPr/>
        </p:nvCxnSpPr>
        <p:spPr>
          <a:xfrm flipV="1">
            <a:off x="5365111" y="2420513"/>
            <a:ext cx="0" cy="372893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FA47690-7B96-FA72-0C61-E1BAE38F06FC}"/>
              </a:ext>
            </a:extLst>
          </p:cNvPr>
          <p:cNvSpPr txBox="1"/>
          <p:nvPr/>
        </p:nvSpPr>
        <p:spPr>
          <a:xfrm>
            <a:off x="153465" y="4748"/>
            <a:ext cx="11773492" cy="523220"/>
          </a:xfrm>
          <a:prstGeom prst="rect">
            <a:avLst/>
          </a:prstGeom>
          <a:noFill/>
        </p:spPr>
        <p:txBody>
          <a:bodyPr wrap="square" rtlCol="0">
            <a:spAutoFit/>
          </a:bodyPr>
          <a:lstStyle/>
          <a:p>
            <a:r>
              <a:rPr lang="en-US" sz="2800" b="1" dirty="0">
                <a:solidFill>
                  <a:schemeClr val="bg1"/>
                </a:solidFill>
                <a:latin typeface="Abadi Extra Light" panose="020B0204020104020204" pitchFamily="34" charset="0"/>
              </a:rPr>
              <a:t>Digital Twin Technical Architecture Design Decisions (2 of 2) </a:t>
            </a:r>
          </a:p>
        </p:txBody>
      </p:sp>
      <p:cxnSp>
        <p:nvCxnSpPr>
          <p:cNvPr id="9" name="Straight Connector 8">
            <a:extLst>
              <a:ext uri="{FF2B5EF4-FFF2-40B4-BE49-F238E27FC236}">
                <a16:creationId xmlns:a16="http://schemas.microsoft.com/office/drawing/2014/main" id="{261195BA-66B0-E6D7-63B5-6ED58FFE8AB2}"/>
              </a:ext>
            </a:extLst>
          </p:cNvPr>
          <p:cNvCxnSpPr>
            <a:cxnSpLocks/>
          </p:cNvCxnSpPr>
          <p:nvPr/>
        </p:nvCxnSpPr>
        <p:spPr>
          <a:xfrm>
            <a:off x="153465" y="506226"/>
            <a:ext cx="1109071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22E52A0-835C-67B9-9DFF-505CADEA68C0}"/>
              </a:ext>
            </a:extLst>
          </p:cNvPr>
          <p:cNvSpPr txBox="1"/>
          <p:nvPr/>
        </p:nvSpPr>
        <p:spPr>
          <a:xfrm>
            <a:off x="-3184" y="567157"/>
            <a:ext cx="12144782" cy="707886"/>
          </a:xfrm>
          <a:prstGeom prst="rect">
            <a:avLst/>
          </a:prstGeom>
          <a:noFill/>
          <a:ln>
            <a:noFill/>
          </a:ln>
        </p:spPr>
        <p:txBody>
          <a:bodyPr wrap="square" rtlCol="0">
            <a:spAutoFit/>
          </a:bodyPr>
          <a:lstStyle/>
          <a:p>
            <a:r>
              <a:rPr lang="en-US" sz="2000" b="1" dirty="0">
                <a:solidFill>
                  <a:schemeClr val="bg1"/>
                </a:solidFill>
              </a:rPr>
              <a:t>With no reference architecture in place, as it relates to the management of greenhouse gas emissions, a first step in the design of the net-zero digital twin is development of a reference architecture to guide all solutions.                   </a:t>
            </a:r>
            <a:endParaRPr lang="en-US" sz="2000" b="1" u="sng" dirty="0">
              <a:solidFill>
                <a:schemeClr val="bg1"/>
              </a:solidFill>
            </a:endParaRPr>
          </a:p>
        </p:txBody>
      </p:sp>
      <p:sp>
        <p:nvSpPr>
          <p:cNvPr id="11" name="Rectangle 10">
            <a:extLst>
              <a:ext uri="{FF2B5EF4-FFF2-40B4-BE49-F238E27FC236}">
                <a16:creationId xmlns:a16="http://schemas.microsoft.com/office/drawing/2014/main" id="{3E2849FE-542E-748F-9B18-0D4A07D1DD5B}"/>
              </a:ext>
            </a:extLst>
          </p:cNvPr>
          <p:cNvSpPr/>
          <p:nvPr/>
        </p:nvSpPr>
        <p:spPr>
          <a:xfrm>
            <a:off x="134224" y="1388420"/>
            <a:ext cx="11109958" cy="46325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u="sng" dirty="0">
                <a:solidFill>
                  <a:schemeClr val="tx1"/>
                </a:solidFill>
              </a:rPr>
              <a:t>Component  </a:t>
            </a:r>
            <a:r>
              <a:rPr lang="en-US" b="1" dirty="0">
                <a:solidFill>
                  <a:schemeClr val="tx1"/>
                </a:solidFill>
              </a:rPr>
              <a:t>                              </a:t>
            </a:r>
            <a:r>
              <a:rPr lang="en-US" b="1" u="sng" dirty="0">
                <a:solidFill>
                  <a:schemeClr val="tx1"/>
                </a:solidFill>
              </a:rPr>
              <a:t>Options</a:t>
            </a:r>
            <a:r>
              <a:rPr lang="en-US" b="1" dirty="0">
                <a:solidFill>
                  <a:schemeClr val="tx1"/>
                </a:solidFill>
              </a:rPr>
              <a:t>                                       </a:t>
            </a:r>
            <a:r>
              <a:rPr lang="en-US" b="1" u="sng" dirty="0">
                <a:solidFill>
                  <a:schemeClr val="tx1"/>
                </a:solidFill>
              </a:rPr>
              <a:t>Architecture Selection</a:t>
            </a:r>
            <a:endParaRPr lang="en-US" u="sng" dirty="0">
              <a:solidFill>
                <a:schemeClr val="tx1"/>
              </a:solidFill>
            </a:endParaRPr>
          </a:p>
        </p:txBody>
      </p:sp>
    </p:spTree>
    <p:extLst>
      <p:ext uri="{BB962C8B-B14F-4D97-AF65-F5344CB8AC3E}">
        <p14:creationId xmlns:p14="http://schemas.microsoft.com/office/powerpoint/2010/main" val="253786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4007B-B97C-6841-0110-54575AC18611}"/>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E43BC00F-5E98-F9F6-7E7E-62E68CCAEFF7}"/>
              </a:ext>
            </a:extLst>
          </p:cNvPr>
          <p:cNvSpPr/>
          <p:nvPr/>
        </p:nvSpPr>
        <p:spPr>
          <a:xfrm>
            <a:off x="-7859" y="0"/>
            <a:ext cx="12192000" cy="7010400"/>
          </a:xfrm>
          <a:prstGeom prst="rect">
            <a:avLst/>
          </a:prstGeom>
          <a:gradFill flip="none" rotWithShape="1">
            <a:gsLst>
              <a:gs pos="47000">
                <a:srgbClr val="008080"/>
              </a:gs>
              <a:gs pos="20000">
                <a:schemeClr val="accent6">
                  <a:lumMod val="50000"/>
                </a:schemeClr>
              </a:gs>
              <a:gs pos="0">
                <a:schemeClr val="accent3">
                  <a:lumMod val="20000"/>
                  <a:lumOff val="80000"/>
                </a:schemeClr>
              </a:gs>
              <a:gs pos="34000">
                <a:srgbClr val="008080"/>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4467D08-CC1B-535E-D35F-10C8CECAD2FD}"/>
              </a:ext>
            </a:extLst>
          </p:cNvPr>
          <p:cNvSpPr txBox="1"/>
          <p:nvPr/>
        </p:nvSpPr>
        <p:spPr>
          <a:xfrm>
            <a:off x="5681136" y="1382595"/>
            <a:ext cx="6370451" cy="523220"/>
          </a:xfrm>
          <a:prstGeom prst="rect">
            <a:avLst/>
          </a:prstGeom>
          <a:noFill/>
        </p:spPr>
        <p:txBody>
          <a:bodyPr wrap="square" rtlCol="0">
            <a:spAutoFit/>
          </a:bodyPr>
          <a:lstStyle/>
          <a:p>
            <a:r>
              <a:rPr lang="en-US" sz="2800" b="1" u="sng" dirty="0">
                <a:solidFill>
                  <a:schemeClr val="bg1"/>
                </a:solidFill>
              </a:rPr>
              <a:t>Blockchain</a:t>
            </a:r>
            <a:r>
              <a:rPr lang="en-US" sz="2800" b="1" dirty="0">
                <a:solidFill>
                  <a:schemeClr val="bg1"/>
                </a:solidFill>
              </a:rPr>
              <a:t>   </a:t>
            </a:r>
          </a:p>
        </p:txBody>
      </p:sp>
      <p:sp>
        <p:nvSpPr>
          <p:cNvPr id="12" name="Rectangle 11">
            <a:extLst>
              <a:ext uri="{FF2B5EF4-FFF2-40B4-BE49-F238E27FC236}">
                <a16:creationId xmlns:a16="http://schemas.microsoft.com/office/drawing/2014/main" id="{816B4904-73CF-1643-64FA-5E708C8EFD23}"/>
              </a:ext>
            </a:extLst>
          </p:cNvPr>
          <p:cNvSpPr/>
          <p:nvPr/>
        </p:nvSpPr>
        <p:spPr>
          <a:xfrm>
            <a:off x="3720466" y="0"/>
            <a:ext cx="1920688" cy="6858000"/>
          </a:xfrm>
          <a:prstGeom prst="rect">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AC5350F-6076-86B0-7829-C36476A06781}"/>
              </a:ext>
            </a:extLst>
          </p:cNvPr>
          <p:cNvSpPr txBox="1"/>
          <p:nvPr/>
        </p:nvSpPr>
        <p:spPr>
          <a:xfrm>
            <a:off x="4231130" y="732221"/>
            <a:ext cx="3906106" cy="646331"/>
          </a:xfrm>
          <a:prstGeom prst="rect">
            <a:avLst/>
          </a:prstGeom>
          <a:noFill/>
        </p:spPr>
        <p:txBody>
          <a:bodyPr wrap="square" rtlCol="0">
            <a:spAutoFit/>
          </a:bodyPr>
          <a:lstStyle/>
          <a:p>
            <a:r>
              <a:rPr lang="en-US" sz="3600" b="1" dirty="0">
                <a:solidFill>
                  <a:schemeClr val="bg1"/>
                </a:solidFill>
              </a:rPr>
              <a:t>Table of Contents</a:t>
            </a:r>
          </a:p>
        </p:txBody>
      </p:sp>
      <p:sp>
        <p:nvSpPr>
          <p:cNvPr id="17" name="Rectangle 16">
            <a:extLst>
              <a:ext uri="{FF2B5EF4-FFF2-40B4-BE49-F238E27FC236}">
                <a16:creationId xmlns:a16="http://schemas.microsoft.com/office/drawing/2014/main" id="{BA925BA9-E32E-64CF-40F0-846B2C0942E3}"/>
              </a:ext>
            </a:extLst>
          </p:cNvPr>
          <p:cNvSpPr/>
          <p:nvPr/>
        </p:nvSpPr>
        <p:spPr>
          <a:xfrm>
            <a:off x="3845923" y="1436150"/>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19" name="Straight Connector 18">
            <a:extLst>
              <a:ext uri="{FF2B5EF4-FFF2-40B4-BE49-F238E27FC236}">
                <a16:creationId xmlns:a16="http://schemas.microsoft.com/office/drawing/2014/main" id="{3E35E5A6-FCEB-D1C8-5CF3-2CBAE726DE3C}"/>
              </a:ext>
            </a:extLst>
          </p:cNvPr>
          <p:cNvCxnSpPr>
            <a:cxnSpLocks/>
          </p:cNvCxnSpPr>
          <p:nvPr/>
        </p:nvCxnSpPr>
        <p:spPr>
          <a:xfrm>
            <a:off x="3847778" y="1942984"/>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sp>
        <p:nvSpPr>
          <p:cNvPr id="22" name="Isosceles Triangle 21">
            <a:extLst>
              <a:ext uri="{FF2B5EF4-FFF2-40B4-BE49-F238E27FC236}">
                <a16:creationId xmlns:a16="http://schemas.microsoft.com/office/drawing/2014/main" id="{07A62719-D399-3F69-C9DC-9592A650D3CD}"/>
              </a:ext>
            </a:extLst>
          </p:cNvPr>
          <p:cNvSpPr/>
          <p:nvPr/>
        </p:nvSpPr>
        <p:spPr>
          <a:xfrm rot="5400000">
            <a:off x="4888693" y="1539829"/>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2D7E67D2-B771-65DD-611B-C751C0666D11}"/>
              </a:ext>
            </a:extLst>
          </p:cNvPr>
          <p:cNvCxnSpPr>
            <a:cxnSpLocks/>
          </p:cNvCxnSpPr>
          <p:nvPr/>
        </p:nvCxnSpPr>
        <p:spPr>
          <a:xfrm>
            <a:off x="5657528" y="1940147"/>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825371AB-C59B-5A22-3F06-46EFAA4CD5BE}"/>
              </a:ext>
            </a:extLst>
          </p:cNvPr>
          <p:cNvGrpSpPr/>
          <p:nvPr/>
        </p:nvGrpSpPr>
        <p:grpSpPr>
          <a:xfrm>
            <a:off x="3853591" y="1963727"/>
            <a:ext cx="8436281" cy="554988"/>
            <a:chOff x="3853591" y="1963727"/>
            <a:chExt cx="8436281" cy="554988"/>
          </a:xfrm>
        </p:grpSpPr>
        <p:sp>
          <p:nvSpPr>
            <p:cNvPr id="32" name="Rectangle 31">
              <a:extLst>
                <a:ext uri="{FF2B5EF4-FFF2-40B4-BE49-F238E27FC236}">
                  <a16:creationId xmlns:a16="http://schemas.microsoft.com/office/drawing/2014/main" id="{88EC2D89-DABF-041A-E686-56EA8D4ABF5A}"/>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3" name="Isosceles Triangle 32">
              <a:extLst>
                <a:ext uri="{FF2B5EF4-FFF2-40B4-BE49-F238E27FC236}">
                  <a16:creationId xmlns:a16="http://schemas.microsoft.com/office/drawing/2014/main" id="{26FFF06F-0579-84A1-1CE6-8EB653FCEA6A}"/>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3E55D9E0-723A-12E6-C89B-5167E576782C}"/>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D60C680-39BC-E398-D2E8-9EA5CB0BC0B2}"/>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5CE4B0E-C273-7E9B-47FF-702D688F65C3}"/>
                </a:ext>
              </a:extLst>
            </p:cNvPr>
            <p:cNvSpPr txBox="1"/>
            <p:nvPr/>
          </p:nvSpPr>
          <p:spPr>
            <a:xfrm>
              <a:off x="5714997" y="1963727"/>
              <a:ext cx="6574875" cy="523220"/>
            </a:xfrm>
            <a:prstGeom prst="rect">
              <a:avLst/>
            </a:prstGeom>
            <a:noFill/>
          </p:spPr>
          <p:txBody>
            <a:bodyPr wrap="square" rtlCol="0">
              <a:spAutoFit/>
            </a:bodyPr>
            <a:lstStyle/>
            <a:p>
              <a:r>
                <a:rPr lang="en-US" sz="2800" b="1" u="sng" dirty="0">
                  <a:solidFill>
                    <a:schemeClr val="bg1"/>
                  </a:solidFill>
                </a:rPr>
                <a:t>Infrastructure</a:t>
              </a:r>
            </a:p>
          </p:txBody>
        </p:sp>
      </p:grpSp>
      <p:grpSp>
        <p:nvGrpSpPr>
          <p:cNvPr id="39" name="Group 38">
            <a:extLst>
              <a:ext uri="{FF2B5EF4-FFF2-40B4-BE49-F238E27FC236}">
                <a16:creationId xmlns:a16="http://schemas.microsoft.com/office/drawing/2014/main" id="{4918448A-56FB-46E9-E712-951B11319E78}"/>
              </a:ext>
            </a:extLst>
          </p:cNvPr>
          <p:cNvGrpSpPr/>
          <p:nvPr/>
        </p:nvGrpSpPr>
        <p:grpSpPr>
          <a:xfrm>
            <a:off x="3853585" y="2539456"/>
            <a:ext cx="7956272" cy="554988"/>
            <a:chOff x="3853591" y="1963727"/>
            <a:chExt cx="7956272" cy="554988"/>
          </a:xfrm>
        </p:grpSpPr>
        <p:sp>
          <p:nvSpPr>
            <p:cNvPr id="40" name="Rectangle 39">
              <a:extLst>
                <a:ext uri="{FF2B5EF4-FFF2-40B4-BE49-F238E27FC236}">
                  <a16:creationId xmlns:a16="http://schemas.microsoft.com/office/drawing/2014/main" id="{8A764EA8-5C49-74A2-600B-6F784E82D1B9}"/>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1" name="Isosceles Triangle 40">
              <a:extLst>
                <a:ext uri="{FF2B5EF4-FFF2-40B4-BE49-F238E27FC236}">
                  <a16:creationId xmlns:a16="http://schemas.microsoft.com/office/drawing/2014/main" id="{FD8432B7-4901-869D-D387-30F70A1C5D68}"/>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10337EE9-D518-B8CA-384C-FC2215DAB09D}"/>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E2C8A7E-DFAB-1F8A-36A6-032D7B43F951}"/>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C15E7068-5203-1AEB-7E73-DF3F67D586CA}"/>
                </a:ext>
              </a:extLst>
            </p:cNvPr>
            <p:cNvSpPr txBox="1"/>
            <p:nvPr/>
          </p:nvSpPr>
          <p:spPr>
            <a:xfrm>
              <a:off x="5714997" y="1963727"/>
              <a:ext cx="5713863" cy="523220"/>
            </a:xfrm>
            <a:prstGeom prst="rect">
              <a:avLst/>
            </a:prstGeom>
            <a:noFill/>
          </p:spPr>
          <p:txBody>
            <a:bodyPr wrap="square" rtlCol="0">
              <a:spAutoFit/>
            </a:bodyPr>
            <a:lstStyle/>
            <a:p>
              <a:r>
                <a:rPr lang="en-US" sz="2800" b="1" u="sng" dirty="0">
                  <a:solidFill>
                    <a:schemeClr val="bg1"/>
                  </a:solidFill>
                </a:rPr>
                <a:t>Data Integration</a:t>
              </a:r>
              <a:endParaRPr lang="en-US" sz="2800" dirty="0"/>
            </a:p>
          </p:txBody>
        </p:sp>
      </p:grpSp>
      <p:grpSp>
        <p:nvGrpSpPr>
          <p:cNvPr id="45" name="Group 44">
            <a:extLst>
              <a:ext uri="{FF2B5EF4-FFF2-40B4-BE49-F238E27FC236}">
                <a16:creationId xmlns:a16="http://schemas.microsoft.com/office/drawing/2014/main" id="{F522B89A-03A3-6BBC-6B42-B2B5100797CA}"/>
              </a:ext>
            </a:extLst>
          </p:cNvPr>
          <p:cNvGrpSpPr/>
          <p:nvPr/>
        </p:nvGrpSpPr>
        <p:grpSpPr>
          <a:xfrm>
            <a:off x="3853582" y="3149054"/>
            <a:ext cx="7956272" cy="554988"/>
            <a:chOff x="3853591" y="1963727"/>
            <a:chExt cx="7956272" cy="554988"/>
          </a:xfrm>
        </p:grpSpPr>
        <p:sp>
          <p:nvSpPr>
            <p:cNvPr id="46" name="Rectangle 45">
              <a:extLst>
                <a:ext uri="{FF2B5EF4-FFF2-40B4-BE49-F238E27FC236}">
                  <a16:creationId xmlns:a16="http://schemas.microsoft.com/office/drawing/2014/main" id="{FC8D47C3-F954-08F4-5FF6-999362B61697}"/>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7" name="Isosceles Triangle 46">
              <a:extLst>
                <a:ext uri="{FF2B5EF4-FFF2-40B4-BE49-F238E27FC236}">
                  <a16:creationId xmlns:a16="http://schemas.microsoft.com/office/drawing/2014/main" id="{DEAA8AED-B016-A5A0-D018-C65CCC3EAFA5}"/>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3C3D09DF-59E2-3248-BBA3-FFBD9F76A37B}"/>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03DD3A6-D6C6-EDB0-74B2-809AA0284AD0}"/>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670A1FB0-94D6-C484-6FE1-F1939F161D47}"/>
                </a:ext>
              </a:extLst>
            </p:cNvPr>
            <p:cNvSpPr txBox="1"/>
            <p:nvPr/>
          </p:nvSpPr>
          <p:spPr>
            <a:xfrm>
              <a:off x="5714997" y="1963727"/>
              <a:ext cx="5713863" cy="523220"/>
            </a:xfrm>
            <a:prstGeom prst="rect">
              <a:avLst/>
            </a:prstGeom>
            <a:noFill/>
          </p:spPr>
          <p:txBody>
            <a:bodyPr wrap="square" rtlCol="0">
              <a:spAutoFit/>
            </a:bodyPr>
            <a:lstStyle/>
            <a:p>
              <a:r>
                <a:rPr lang="en-US" sz="2800" b="1" u="sng" dirty="0">
                  <a:solidFill>
                    <a:schemeClr val="bg1"/>
                  </a:solidFill>
                </a:rPr>
                <a:t>Security</a:t>
              </a:r>
              <a:endParaRPr lang="en-US" sz="2800" dirty="0"/>
            </a:p>
          </p:txBody>
        </p:sp>
      </p:grpSp>
      <p:grpSp>
        <p:nvGrpSpPr>
          <p:cNvPr id="57" name="Group 56">
            <a:extLst>
              <a:ext uri="{FF2B5EF4-FFF2-40B4-BE49-F238E27FC236}">
                <a16:creationId xmlns:a16="http://schemas.microsoft.com/office/drawing/2014/main" id="{F6121D5E-4BC9-0FF1-19FB-C1D70FD27C90}"/>
              </a:ext>
            </a:extLst>
          </p:cNvPr>
          <p:cNvGrpSpPr/>
          <p:nvPr/>
        </p:nvGrpSpPr>
        <p:grpSpPr>
          <a:xfrm>
            <a:off x="3868054" y="3802499"/>
            <a:ext cx="8030106" cy="554988"/>
            <a:chOff x="3853591" y="1963727"/>
            <a:chExt cx="8030106" cy="554988"/>
          </a:xfrm>
        </p:grpSpPr>
        <p:sp>
          <p:nvSpPr>
            <p:cNvPr id="58" name="Rectangle 57">
              <a:extLst>
                <a:ext uri="{FF2B5EF4-FFF2-40B4-BE49-F238E27FC236}">
                  <a16:creationId xmlns:a16="http://schemas.microsoft.com/office/drawing/2014/main" id="{D6CDCF9A-A0FB-08B7-38B5-67D344CCE15A}"/>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9" name="Isosceles Triangle 58">
              <a:extLst>
                <a:ext uri="{FF2B5EF4-FFF2-40B4-BE49-F238E27FC236}">
                  <a16:creationId xmlns:a16="http://schemas.microsoft.com/office/drawing/2014/main" id="{32009415-814B-E9EA-B659-C6F05ECAA32F}"/>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F67E47F2-CE7D-9BE4-1714-FCF7D0AC216A}"/>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86817D3-D191-6010-8D9E-FBEDDE579954}"/>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FEA9886C-3288-1F50-280D-F00C16D65C38}"/>
                </a:ext>
              </a:extLst>
            </p:cNvPr>
            <p:cNvSpPr txBox="1"/>
            <p:nvPr/>
          </p:nvSpPr>
          <p:spPr>
            <a:xfrm>
              <a:off x="5714997" y="1963727"/>
              <a:ext cx="6168700" cy="523220"/>
            </a:xfrm>
            <a:prstGeom prst="rect">
              <a:avLst/>
            </a:prstGeom>
            <a:noFill/>
          </p:spPr>
          <p:txBody>
            <a:bodyPr wrap="square" rtlCol="0">
              <a:spAutoFit/>
            </a:bodyPr>
            <a:lstStyle/>
            <a:p>
              <a:r>
                <a:rPr lang="en-US" sz="2800" b="1" u="sng" dirty="0">
                  <a:solidFill>
                    <a:schemeClr val="bg1"/>
                  </a:solidFill>
                </a:rPr>
                <a:t>Data Storage</a:t>
              </a:r>
            </a:p>
          </p:txBody>
        </p:sp>
      </p:grpSp>
      <p:grpSp>
        <p:nvGrpSpPr>
          <p:cNvPr id="63" name="Group 62">
            <a:extLst>
              <a:ext uri="{FF2B5EF4-FFF2-40B4-BE49-F238E27FC236}">
                <a16:creationId xmlns:a16="http://schemas.microsoft.com/office/drawing/2014/main" id="{1EF17236-CD44-BE74-0E75-EB86E5E6C3FE}"/>
              </a:ext>
            </a:extLst>
          </p:cNvPr>
          <p:cNvGrpSpPr/>
          <p:nvPr/>
        </p:nvGrpSpPr>
        <p:grpSpPr>
          <a:xfrm>
            <a:off x="3882526" y="4426167"/>
            <a:ext cx="8169061" cy="554988"/>
            <a:chOff x="3853591" y="1963727"/>
            <a:chExt cx="8169061" cy="554988"/>
          </a:xfrm>
        </p:grpSpPr>
        <p:sp>
          <p:nvSpPr>
            <p:cNvPr id="64" name="Rectangle 63">
              <a:extLst>
                <a:ext uri="{FF2B5EF4-FFF2-40B4-BE49-F238E27FC236}">
                  <a16:creationId xmlns:a16="http://schemas.microsoft.com/office/drawing/2014/main" id="{449F17E1-21FB-9A82-0C9F-B270DD4F407E}"/>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5" name="Isosceles Triangle 64">
              <a:extLst>
                <a:ext uri="{FF2B5EF4-FFF2-40B4-BE49-F238E27FC236}">
                  <a16:creationId xmlns:a16="http://schemas.microsoft.com/office/drawing/2014/main" id="{B38DCFB9-7E81-9705-BB76-DFBFF450AD8F}"/>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96AF7575-056E-3059-1FDF-51A2EEB525B3}"/>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9DFB58A3-9A97-A685-10F4-5D1D3545665D}"/>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9028383-C85C-9D3D-F0F6-65C799A5DCFA}"/>
                </a:ext>
              </a:extLst>
            </p:cNvPr>
            <p:cNvSpPr txBox="1"/>
            <p:nvPr/>
          </p:nvSpPr>
          <p:spPr>
            <a:xfrm>
              <a:off x="5714997" y="1963727"/>
              <a:ext cx="6307655" cy="523220"/>
            </a:xfrm>
            <a:prstGeom prst="rect">
              <a:avLst/>
            </a:prstGeom>
            <a:noFill/>
          </p:spPr>
          <p:txBody>
            <a:bodyPr wrap="square" rtlCol="0">
              <a:spAutoFit/>
            </a:bodyPr>
            <a:lstStyle/>
            <a:p>
              <a:r>
                <a:rPr lang="en-US" sz="2800" b="1" u="sng" dirty="0">
                  <a:solidFill>
                    <a:schemeClr val="bg1"/>
                  </a:solidFill>
                </a:rPr>
                <a:t>Application</a:t>
              </a:r>
            </a:p>
          </p:txBody>
        </p:sp>
      </p:grpSp>
      <p:grpSp>
        <p:nvGrpSpPr>
          <p:cNvPr id="69" name="Group 68">
            <a:extLst>
              <a:ext uri="{FF2B5EF4-FFF2-40B4-BE49-F238E27FC236}">
                <a16:creationId xmlns:a16="http://schemas.microsoft.com/office/drawing/2014/main" id="{09F1174A-1450-6D44-09AB-BF338C4CC2C9}"/>
              </a:ext>
            </a:extLst>
          </p:cNvPr>
          <p:cNvGrpSpPr/>
          <p:nvPr/>
        </p:nvGrpSpPr>
        <p:grpSpPr>
          <a:xfrm>
            <a:off x="3896998" y="5037917"/>
            <a:ext cx="7956272" cy="554988"/>
            <a:chOff x="3853591" y="1963727"/>
            <a:chExt cx="7956272" cy="554988"/>
          </a:xfrm>
        </p:grpSpPr>
        <p:sp>
          <p:nvSpPr>
            <p:cNvPr id="70" name="Rectangle 69">
              <a:extLst>
                <a:ext uri="{FF2B5EF4-FFF2-40B4-BE49-F238E27FC236}">
                  <a16:creationId xmlns:a16="http://schemas.microsoft.com/office/drawing/2014/main" id="{0DED3A9A-7740-5B33-6A94-D8A5EB20E328}"/>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2" name="Isosceles Triangle 71">
              <a:extLst>
                <a:ext uri="{FF2B5EF4-FFF2-40B4-BE49-F238E27FC236}">
                  <a16:creationId xmlns:a16="http://schemas.microsoft.com/office/drawing/2014/main" id="{6377AB48-8AE2-75C5-BDAD-6847B4B98F6E}"/>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a:extLst>
                <a:ext uri="{FF2B5EF4-FFF2-40B4-BE49-F238E27FC236}">
                  <a16:creationId xmlns:a16="http://schemas.microsoft.com/office/drawing/2014/main" id="{C5042C72-9ED5-0A6E-30F4-8BDE2F177080}"/>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F6FE4BD-C5F7-D217-5AC1-622D5F4A17F0}"/>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05D1FB35-F24F-36C8-59AB-BA3107B397CE}"/>
                </a:ext>
              </a:extLst>
            </p:cNvPr>
            <p:cNvSpPr txBox="1"/>
            <p:nvPr/>
          </p:nvSpPr>
          <p:spPr>
            <a:xfrm>
              <a:off x="5714997" y="1963727"/>
              <a:ext cx="5713863" cy="523220"/>
            </a:xfrm>
            <a:prstGeom prst="rect">
              <a:avLst/>
            </a:prstGeom>
            <a:noFill/>
          </p:spPr>
          <p:txBody>
            <a:bodyPr wrap="square" rtlCol="0">
              <a:spAutoFit/>
            </a:bodyPr>
            <a:lstStyle/>
            <a:p>
              <a:r>
                <a:rPr lang="en-US" sz="2800" b="1" u="sng" dirty="0">
                  <a:solidFill>
                    <a:schemeClr val="bg1"/>
                  </a:solidFill>
                </a:rPr>
                <a:t>AI Links to LLMs</a:t>
              </a:r>
            </a:p>
          </p:txBody>
        </p:sp>
      </p:grpSp>
      <p:grpSp>
        <p:nvGrpSpPr>
          <p:cNvPr id="78" name="Group 77">
            <a:extLst>
              <a:ext uri="{FF2B5EF4-FFF2-40B4-BE49-F238E27FC236}">
                <a16:creationId xmlns:a16="http://schemas.microsoft.com/office/drawing/2014/main" id="{5C9C59F8-E1E5-A1D7-705F-583FA01581B8}"/>
              </a:ext>
            </a:extLst>
          </p:cNvPr>
          <p:cNvGrpSpPr/>
          <p:nvPr/>
        </p:nvGrpSpPr>
        <p:grpSpPr>
          <a:xfrm>
            <a:off x="3896998" y="5645469"/>
            <a:ext cx="7956272" cy="554988"/>
            <a:chOff x="3853591" y="1963727"/>
            <a:chExt cx="7956272" cy="554988"/>
          </a:xfrm>
        </p:grpSpPr>
        <p:sp>
          <p:nvSpPr>
            <p:cNvPr id="79" name="Rectangle 78">
              <a:extLst>
                <a:ext uri="{FF2B5EF4-FFF2-40B4-BE49-F238E27FC236}">
                  <a16:creationId xmlns:a16="http://schemas.microsoft.com/office/drawing/2014/main" id="{ED32A641-AA92-8C88-517D-26A0B8B0295F}"/>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0" name="Isosceles Triangle 79">
              <a:extLst>
                <a:ext uri="{FF2B5EF4-FFF2-40B4-BE49-F238E27FC236}">
                  <a16:creationId xmlns:a16="http://schemas.microsoft.com/office/drawing/2014/main" id="{759C4FEA-1C2D-E3CC-F5F7-1F7365DB6118}"/>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A585C576-BC9E-19DE-5A09-45AA1F8DAF31}"/>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CEE7B1A-D282-9870-F93B-A6082FFAFA3A}"/>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74A31CF7-F335-7E5E-2AA2-597E2AC76F72}"/>
                </a:ext>
              </a:extLst>
            </p:cNvPr>
            <p:cNvSpPr txBox="1"/>
            <p:nvPr/>
          </p:nvSpPr>
          <p:spPr>
            <a:xfrm>
              <a:off x="5714997" y="1963727"/>
              <a:ext cx="6065922" cy="523220"/>
            </a:xfrm>
            <a:prstGeom prst="rect">
              <a:avLst/>
            </a:prstGeom>
            <a:noFill/>
          </p:spPr>
          <p:txBody>
            <a:bodyPr wrap="square" rtlCol="0">
              <a:spAutoFit/>
            </a:bodyPr>
            <a:lstStyle/>
            <a:p>
              <a:r>
                <a:rPr lang="en-US" sz="2800" b="1" dirty="0">
                  <a:solidFill>
                    <a:schemeClr val="bg1"/>
                  </a:solidFill>
                </a:rPr>
                <a:t>Nothing Here…..</a:t>
              </a:r>
            </a:p>
          </p:txBody>
        </p:sp>
      </p:grpSp>
      <p:grpSp>
        <p:nvGrpSpPr>
          <p:cNvPr id="85" name="Group 84">
            <a:extLst>
              <a:ext uri="{FF2B5EF4-FFF2-40B4-BE49-F238E27FC236}">
                <a16:creationId xmlns:a16="http://schemas.microsoft.com/office/drawing/2014/main" id="{9335B582-F44B-57AB-AEBC-5C48CAF6AE3E}"/>
              </a:ext>
            </a:extLst>
          </p:cNvPr>
          <p:cNvGrpSpPr/>
          <p:nvPr/>
        </p:nvGrpSpPr>
        <p:grpSpPr>
          <a:xfrm>
            <a:off x="3911470" y="6204483"/>
            <a:ext cx="7956272" cy="954107"/>
            <a:chOff x="3853591" y="1963727"/>
            <a:chExt cx="7956272" cy="954107"/>
          </a:xfrm>
        </p:grpSpPr>
        <p:sp>
          <p:nvSpPr>
            <p:cNvPr id="86" name="Rectangle 85">
              <a:extLst>
                <a:ext uri="{FF2B5EF4-FFF2-40B4-BE49-F238E27FC236}">
                  <a16:creationId xmlns:a16="http://schemas.microsoft.com/office/drawing/2014/main" id="{38A6C3DC-9BF9-7979-3D3D-35E78FC3FB0A}"/>
                </a:ext>
              </a:extLst>
            </p:cNvPr>
            <p:cNvSpPr/>
            <p:nvPr/>
          </p:nvSpPr>
          <p:spPr>
            <a:xfrm>
              <a:off x="3853591" y="1996281"/>
              <a:ext cx="523498" cy="438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7" name="Isosceles Triangle 86">
              <a:extLst>
                <a:ext uri="{FF2B5EF4-FFF2-40B4-BE49-F238E27FC236}">
                  <a16:creationId xmlns:a16="http://schemas.microsoft.com/office/drawing/2014/main" id="{12891A17-4738-1FA5-5A9E-84807F805F15}"/>
                </a:ext>
              </a:extLst>
            </p:cNvPr>
            <p:cNvSpPr/>
            <p:nvPr/>
          </p:nvSpPr>
          <p:spPr>
            <a:xfrm rot="5400000">
              <a:off x="4896011" y="2105635"/>
              <a:ext cx="454764" cy="22752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Connector 87">
              <a:extLst>
                <a:ext uri="{FF2B5EF4-FFF2-40B4-BE49-F238E27FC236}">
                  <a16:creationId xmlns:a16="http://schemas.microsoft.com/office/drawing/2014/main" id="{EE0D1478-1E31-3A0E-8D59-17C3F8AC074B}"/>
                </a:ext>
              </a:extLst>
            </p:cNvPr>
            <p:cNvCxnSpPr>
              <a:cxnSpLocks/>
            </p:cNvCxnSpPr>
            <p:nvPr/>
          </p:nvCxnSpPr>
          <p:spPr>
            <a:xfrm>
              <a:off x="3868063" y="2518715"/>
              <a:ext cx="1625493"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2326331-0E37-DF25-93EE-6D9F6F1B1306}"/>
                </a:ext>
              </a:extLst>
            </p:cNvPr>
            <p:cNvCxnSpPr>
              <a:cxnSpLocks/>
            </p:cNvCxnSpPr>
            <p:nvPr/>
          </p:nvCxnSpPr>
          <p:spPr>
            <a:xfrm>
              <a:off x="5657528" y="2503062"/>
              <a:ext cx="61523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85ACD61C-490F-970A-2E59-546A9A684098}"/>
                </a:ext>
              </a:extLst>
            </p:cNvPr>
            <p:cNvSpPr txBox="1"/>
            <p:nvPr/>
          </p:nvSpPr>
          <p:spPr>
            <a:xfrm>
              <a:off x="5714997" y="1963727"/>
              <a:ext cx="5713863" cy="954107"/>
            </a:xfrm>
            <a:prstGeom prst="rect">
              <a:avLst/>
            </a:prstGeom>
            <a:noFill/>
          </p:spPr>
          <p:txBody>
            <a:bodyPr wrap="square" rtlCol="0">
              <a:spAutoFit/>
            </a:bodyPr>
            <a:lstStyle/>
            <a:p>
              <a:endParaRPr lang="en-US" sz="2800" dirty="0"/>
            </a:p>
            <a:p>
              <a:endParaRPr lang="en-US" sz="2800" dirty="0"/>
            </a:p>
          </p:txBody>
        </p:sp>
      </p:grpSp>
      <p:sp>
        <p:nvSpPr>
          <p:cNvPr id="11" name="Rectangle 10">
            <a:extLst>
              <a:ext uri="{FF2B5EF4-FFF2-40B4-BE49-F238E27FC236}">
                <a16:creationId xmlns:a16="http://schemas.microsoft.com/office/drawing/2014/main" id="{6EA42FC3-2B1B-FEB3-33AE-42CDA2C334CD}"/>
              </a:ext>
            </a:extLst>
          </p:cNvPr>
          <p:cNvSpPr/>
          <p:nvPr/>
        </p:nvSpPr>
        <p:spPr>
          <a:xfrm>
            <a:off x="2974161" y="698302"/>
            <a:ext cx="9199367" cy="637340"/>
          </a:xfrm>
          <a:prstGeom prst="rect">
            <a:avLst/>
          </a:prstGeom>
          <a:solidFill>
            <a:srgbClr val="33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608D3B31-1D0E-11B2-3E52-1F9FE5C0CADB}"/>
              </a:ext>
            </a:extLst>
          </p:cNvPr>
          <p:cNvSpPr/>
          <p:nvPr/>
        </p:nvSpPr>
        <p:spPr>
          <a:xfrm rot="2640629">
            <a:off x="3025413" y="1245813"/>
            <a:ext cx="1167055" cy="582932"/>
          </a:xfrm>
          <a:prstGeom prst="triangle">
            <a:avLst>
              <a:gd name="adj" fmla="val 517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2F2D2B8-4D55-16D8-24D7-276FED1539A8}"/>
              </a:ext>
            </a:extLst>
          </p:cNvPr>
          <p:cNvSpPr txBox="1"/>
          <p:nvPr/>
        </p:nvSpPr>
        <p:spPr>
          <a:xfrm>
            <a:off x="5700935" y="730249"/>
            <a:ext cx="4710031" cy="800219"/>
          </a:xfrm>
          <a:prstGeom prst="rect">
            <a:avLst/>
          </a:prstGeom>
          <a:noFill/>
        </p:spPr>
        <p:txBody>
          <a:bodyPr wrap="square" rtlCol="0">
            <a:spAutoFit/>
          </a:bodyPr>
          <a:lstStyle/>
          <a:p>
            <a:r>
              <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Table of Contents</a:t>
            </a:r>
            <a:endPar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endParaRPr lang="en-US" dirty="0"/>
          </a:p>
        </p:txBody>
      </p:sp>
      <p:sp>
        <p:nvSpPr>
          <p:cNvPr id="9" name="TextBox 8">
            <a:extLst>
              <a:ext uri="{FF2B5EF4-FFF2-40B4-BE49-F238E27FC236}">
                <a16:creationId xmlns:a16="http://schemas.microsoft.com/office/drawing/2014/main" id="{E216E3AA-14D6-ED91-A40E-64EF8CA88A41}"/>
              </a:ext>
            </a:extLst>
          </p:cNvPr>
          <p:cNvSpPr txBox="1"/>
          <p:nvPr/>
        </p:nvSpPr>
        <p:spPr>
          <a:xfrm>
            <a:off x="5688882" y="6279645"/>
            <a:ext cx="4623517" cy="369332"/>
          </a:xfrm>
          <a:prstGeom prst="rect">
            <a:avLst/>
          </a:prstGeom>
          <a:solidFill>
            <a:srgbClr val="002060"/>
          </a:solidFill>
        </p:spPr>
        <p:txBody>
          <a:bodyPr wrap="square" rtlCol="0">
            <a:spAutoFit/>
          </a:bodyPr>
          <a:lstStyle/>
          <a:p>
            <a:endParaRPr lang="en-US" dirty="0">
              <a:solidFill>
                <a:schemeClr val="bg1"/>
              </a:solidFill>
            </a:endParaRPr>
          </a:p>
        </p:txBody>
      </p:sp>
      <p:pic>
        <p:nvPicPr>
          <p:cNvPr id="6" name="Picture 5" descr="A sphere with white text and dots&#10;&#10;Description automatically generated">
            <a:extLst>
              <a:ext uri="{FF2B5EF4-FFF2-40B4-BE49-F238E27FC236}">
                <a16:creationId xmlns:a16="http://schemas.microsoft.com/office/drawing/2014/main" id="{32BF4AFB-C3A9-45EF-70F4-82261C7D4B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93" y="27591"/>
            <a:ext cx="2464782" cy="2443894"/>
          </a:xfrm>
          <a:prstGeom prst="rect">
            <a:avLst/>
          </a:prstGeom>
        </p:spPr>
      </p:pic>
      <p:sp>
        <p:nvSpPr>
          <p:cNvPr id="7" name="TextBox 6">
            <a:extLst>
              <a:ext uri="{FF2B5EF4-FFF2-40B4-BE49-F238E27FC236}">
                <a16:creationId xmlns:a16="http://schemas.microsoft.com/office/drawing/2014/main" id="{19E04D01-1800-4D57-D31F-4F4399651D18}"/>
              </a:ext>
            </a:extLst>
          </p:cNvPr>
          <p:cNvSpPr txBox="1"/>
          <p:nvPr/>
        </p:nvSpPr>
        <p:spPr>
          <a:xfrm>
            <a:off x="5772875" y="6241553"/>
            <a:ext cx="6359969" cy="523220"/>
          </a:xfrm>
          <a:prstGeom prst="rect">
            <a:avLst/>
          </a:prstGeom>
          <a:noFill/>
        </p:spPr>
        <p:txBody>
          <a:bodyPr wrap="square" rtlCol="0">
            <a:spAutoFit/>
          </a:bodyPr>
          <a:lstStyle/>
          <a:p>
            <a:r>
              <a:rPr lang="en-US" sz="2800" b="1" dirty="0">
                <a:solidFill>
                  <a:schemeClr val="bg1"/>
                </a:solidFill>
              </a:rPr>
              <a:t>Also Empty………</a:t>
            </a:r>
          </a:p>
        </p:txBody>
      </p:sp>
      <p:sp>
        <p:nvSpPr>
          <p:cNvPr id="16" name="TextBox 15">
            <a:extLst>
              <a:ext uri="{FF2B5EF4-FFF2-40B4-BE49-F238E27FC236}">
                <a16:creationId xmlns:a16="http://schemas.microsoft.com/office/drawing/2014/main" id="{EBD57BFB-8FF6-A5A0-BA76-962B52346C42}"/>
              </a:ext>
            </a:extLst>
          </p:cNvPr>
          <p:cNvSpPr txBox="1"/>
          <p:nvPr/>
        </p:nvSpPr>
        <p:spPr>
          <a:xfrm>
            <a:off x="5700935" y="27591"/>
            <a:ext cx="6197225" cy="584775"/>
          </a:xfrm>
          <a:prstGeom prst="rect">
            <a:avLst/>
          </a:prstGeom>
          <a:noFill/>
          <a:ln>
            <a:noFill/>
          </a:ln>
        </p:spPr>
        <p:txBody>
          <a:bodyPr wrap="square" rtlCol="0">
            <a:spAutoFit/>
          </a:bodyPr>
          <a:lstStyle/>
          <a:p>
            <a:pPr algn="ctr"/>
            <a:r>
              <a:rPr lang="en-US" sz="3200" b="1" u="sng" dirty="0">
                <a:solidFill>
                  <a:schemeClr val="bg1"/>
                </a:solidFill>
              </a:rPr>
              <a:t>Solution Architecture</a:t>
            </a:r>
          </a:p>
        </p:txBody>
      </p:sp>
    </p:spTree>
    <p:extLst>
      <p:ext uri="{BB962C8B-B14F-4D97-AF65-F5344CB8AC3E}">
        <p14:creationId xmlns:p14="http://schemas.microsoft.com/office/powerpoint/2010/main" val="17159107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123DD-340B-88AD-B624-C9B2053BD788}"/>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B0D90E7B-A653-5110-8640-4A38BB7CC332}"/>
              </a:ext>
            </a:extLst>
          </p:cNvPr>
          <p:cNvSpPr/>
          <p:nvPr/>
        </p:nvSpPr>
        <p:spPr>
          <a:xfrm>
            <a:off x="-7859" y="-8467"/>
            <a:ext cx="12192000" cy="7010400"/>
          </a:xfrm>
          <a:prstGeom prst="rect">
            <a:avLst/>
          </a:prstGeom>
          <a:gradFill flip="none" rotWithShape="1">
            <a:gsLst>
              <a:gs pos="100000">
                <a:schemeClr val="accent5">
                  <a:lumMod val="50000"/>
                </a:schemeClr>
              </a:gs>
              <a:gs pos="20000">
                <a:schemeClr val="accent1">
                  <a:lumMod val="45000"/>
                  <a:lumOff val="55000"/>
                </a:schemeClr>
              </a:gs>
              <a:gs pos="100000">
                <a:schemeClr val="accent1">
                  <a:lumMod val="30000"/>
                  <a:lumOff val="7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F6F57AA-7517-AC40-3FB2-E179A343D6EF}"/>
              </a:ext>
            </a:extLst>
          </p:cNvPr>
          <p:cNvSpPr txBox="1"/>
          <p:nvPr/>
        </p:nvSpPr>
        <p:spPr>
          <a:xfrm>
            <a:off x="79112" y="548303"/>
            <a:ext cx="11773492" cy="830997"/>
          </a:xfrm>
          <a:prstGeom prst="rect">
            <a:avLst/>
          </a:prstGeom>
          <a:noFill/>
          <a:ln>
            <a:noFill/>
          </a:ln>
        </p:spPr>
        <p:txBody>
          <a:bodyPr wrap="square" rtlCol="0">
            <a:spAutoFit/>
          </a:bodyPr>
          <a:lstStyle/>
          <a:p>
            <a:r>
              <a:rPr lang="en-US" sz="1600" dirty="0">
                <a:solidFill>
                  <a:schemeClr val="bg1"/>
                </a:solidFill>
              </a:rPr>
              <a:t>Blockchain and relational databases (SQL and no-SQL) overlap in some ways (both store and query data), but they’re designed for different problems. Here are the </a:t>
            </a:r>
            <a:r>
              <a:rPr lang="en-US" sz="1600" b="1" dirty="0">
                <a:solidFill>
                  <a:schemeClr val="bg1"/>
                </a:solidFill>
              </a:rPr>
              <a:t>advantages of blockchain technology over SQL databases </a:t>
            </a:r>
            <a:r>
              <a:rPr lang="en-US" sz="1600" dirty="0">
                <a:solidFill>
                  <a:schemeClr val="bg1"/>
                </a:solidFill>
              </a:rPr>
              <a:t>for the tracking, modeling, and reporting greenhouse gas emissions from supply chains :                   </a:t>
            </a:r>
            <a:endParaRPr lang="en-US" sz="1600" u="sng" dirty="0">
              <a:solidFill>
                <a:schemeClr val="bg1"/>
              </a:solidFill>
            </a:endParaRPr>
          </a:p>
        </p:txBody>
      </p:sp>
      <p:sp>
        <p:nvSpPr>
          <p:cNvPr id="5" name="TextBox 4">
            <a:extLst>
              <a:ext uri="{FF2B5EF4-FFF2-40B4-BE49-F238E27FC236}">
                <a16:creationId xmlns:a16="http://schemas.microsoft.com/office/drawing/2014/main" id="{D82A565E-1F01-DEB1-18A1-D699B06E4486}"/>
              </a:ext>
            </a:extLst>
          </p:cNvPr>
          <p:cNvSpPr txBox="1"/>
          <p:nvPr/>
        </p:nvSpPr>
        <p:spPr>
          <a:xfrm>
            <a:off x="153465" y="4748"/>
            <a:ext cx="11773492" cy="523220"/>
          </a:xfrm>
          <a:prstGeom prst="rect">
            <a:avLst/>
          </a:prstGeom>
          <a:noFill/>
        </p:spPr>
        <p:txBody>
          <a:bodyPr wrap="square" rtlCol="0">
            <a:spAutoFit/>
          </a:bodyPr>
          <a:lstStyle/>
          <a:p>
            <a:r>
              <a:rPr lang="en-US" sz="2800" b="1" dirty="0">
                <a:solidFill>
                  <a:schemeClr val="bg1"/>
                </a:solidFill>
                <a:latin typeface="Abadi Extra Light" panose="020B0204020104020204" pitchFamily="34" charset="0"/>
              </a:rPr>
              <a:t>Architecture Design Decisions – Use Blockchain Technology  </a:t>
            </a:r>
          </a:p>
        </p:txBody>
      </p:sp>
      <p:cxnSp>
        <p:nvCxnSpPr>
          <p:cNvPr id="6" name="Straight Connector 5">
            <a:extLst>
              <a:ext uri="{FF2B5EF4-FFF2-40B4-BE49-F238E27FC236}">
                <a16:creationId xmlns:a16="http://schemas.microsoft.com/office/drawing/2014/main" id="{CB7962B3-9854-0B1D-F3ED-1598F468CA53}"/>
              </a:ext>
            </a:extLst>
          </p:cNvPr>
          <p:cNvCxnSpPr>
            <a:cxnSpLocks/>
          </p:cNvCxnSpPr>
          <p:nvPr/>
        </p:nvCxnSpPr>
        <p:spPr>
          <a:xfrm>
            <a:off x="153465" y="506226"/>
            <a:ext cx="1109071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7287DE9-57AF-DCAE-495C-9A43023101C0}"/>
              </a:ext>
            </a:extLst>
          </p:cNvPr>
          <p:cNvSpPr/>
          <p:nvPr/>
        </p:nvSpPr>
        <p:spPr>
          <a:xfrm>
            <a:off x="447259" y="1517307"/>
            <a:ext cx="11660871" cy="64633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     Blockchain data is immutable. Key attribute when data is subject to auditing such as GHG emissions. Immutability &amp; Tamper Resistance - Data,  once written</a:t>
            </a:r>
          </a:p>
          <a:p>
            <a:r>
              <a:rPr lang="en-US" sz="1400" dirty="0"/>
              <a:t>     and confirmed, cannot  be modified or deleted without consensus. Needed for emissions auditing.</a:t>
            </a:r>
          </a:p>
        </p:txBody>
      </p:sp>
      <p:sp>
        <p:nvSpPr>
          <p:cNvPr id="9" name="Hexagon 8">
            <a:extLst>
              <a:ext uri="{FF2B5EF4-FFF2-40B4-BE49-F238E27FC236}">
                <a16:creationId xmlns:a16="http://schemas.microsoft.com/office/drawing/2014/main" id="{CBD505D5-1BCD-F9C9-CA40-34A6D129F952}"/>
              </a:ext>
            </a:extLst>
          </p:cNvPr>
          <p:cNvSpPr/>
          <p:nvPr/>
        </p:nvSpPr>
        <p:spPr>
          <a:xfrm>
            <a:off x="0" y="1499147"/>
            <a:ext cx="569814" cy="664491"/>
          </a:xfrm>
          <a:prstGeom prst="hexagon">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2" name="Rectangle 11">
            <a:extLst>
              <a:ext uri="{FF2B5EF4-FFF2-40B4-BE49-F238E27FC236}">
                <a16:creationId xmlns:a16="http://schemas.microsoft.com/office/drawing/2014/main" id="{02834330-A8E1-1EA7-A674-A0A7C11C2CE3}"/>
              </a:ext>
            </a:extLst>
          </p:cNvPr>
          <p:cNvSpPr/>
          <p:nvPr/>
        </p:nvSpPr>
        <p:spPr>
          <a:xfrm>
            <a:off x="448056" y="2341257"/>
            <a:ext cx="11650931" cy="646331"/>
          </a:xfrm>
          <a:prstGeom prst="rect">
            <a:avLst/>
          </a:prstGeom>
          <a:solidFill>
            <a:srgbClr val="008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t>
            </a:r>
            <a:r>
              <a:rPr lang="en-US" sz="1400" dirty="0"/>
              <a:t>A key factor when measuring GHG emissions is Transparency &amp; Auditability of the data. All transactions are timestamped, traceable, and visible (either</a:t>
            </a:r>
          </a:p>
          <a:p>
            <a:r>
              <a:rPr lang="en-US" sz="1400" dirty="0"/>
              <a:t>     publicly or within a permissioned network). </a:t>
            </a:r>
          </a:p>
        </p:txBody>
      </p:sp>
      <p:sp>
        <p:nvSpPr>
          <p:cNvPr id="13" name="Hexagon 12">
            <a:extLst>
              <a:ext uri="{FF2B5EF4-FFF2-40B4-BE49-F238E27FC236}">
                <a16:creationId xmlns:a16="http://schemas.microsoft.com/office/drawing/2014/main" id="{351E8BD9-59B8-C779-899E-D403DBCE223F}"/>
              </a:ext>
            </a:extLst>
          </p:cNvPr>
          <p:cNvSpPr/>
          <p:nvPr/>
        </p:nvSpPr>
        <p:spPr>
          <a:xfrm>
            <a:off x="0" y="2333724"/>
            <a:ext cx="562049" cy="664492"/>
          </a:xfrm>
          <a:prstGeom prst="hexagon">
            <a:avLst/>
          </a:prstGeom>
          <a:solidFill>
            <a:srgbClr val="008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6" name="Rectangle 15">
            <a:extLst>
              <a:ext uri="{FF2B5EF4-FFF2-40B4-BE49-F238E27FC236}">
                <a16:creationId xmlns:a16="http://schemas.microsoft.com/office/drawing/2014/main" id="{925ECA02-360B-C2D1-4403-F324D1882AB3}"/>
              </a:ext>
            </a:extLst>
          </p:cNvPr>
          <p:cNvSpPr/>
          <p:nvPr/>
        </p:nvSpPr>
        <p:spPr>
          <a:xfrm>
            <a:off x="448056" y="3168559"/>
            <a:ext cx="11650931" cy="64633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t>
            </a:r>
            <a:r>
              <a:rPr lang="en-US" sz="1400" dirty="0"/>
              <a:t>Supply chain configurations at a particular point in time are saved in the blockchain( as a transaction ) , linked with GHG  emissions over the configuration</a:t>
            </a:r>
          </a:p>
          <a:p>
            <a:r>
              <a:rPr lang="en-US" sz="1400" dirty="0"/>
              <a:t>     time period resulting in an immutable view of supply chain GHG emissions over time.</a:t>
            </a:r>
          </a:p>
        </p:txBody>
      </p:sp>
      <p:sp>
        <p:nvSpPr>
          <p:cNvPr id="14" name="Hexagon 13">
            <a:extLst>
              <a:ext uri="{FF2B5EF4-FFF2-40B4-BE49-F238E27FC236}">
                <a16:creationId xmlns:a16="http://schemas.microsoft.com/office/drawing/2014/main" id="{F09C17C2-6EE2-E4C3-A7EE-6C730CEF8AD7}"/>
              </a:ext>
            </a:extLst>
          </p:cNvPr>
          <p:cNvSpPr/>
          <p:nvPr/>
        </p:nvSpPr>
        <p:spPr>
          <a:xfrm>
            <a:off x="0" y="3169111"/>
            <a:ext cx="562049" cy="646331"/>
          </a:xfrm>
          <a:prstGeom prst="hexagon">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8" name="Rectangle 17">
            <a:extLst>
              <a:ext uri="{FF2B5EF4-FFF2-40B4-BE49-F238E27FC236}">
                <a16:creationId xmlns:a16="http://schemas.microsoft.com/office/drawing/2014/main" id="{143C3FF7-D2A4-F846-5D62-D86E838BCF02}"/>
              </a:ext>
            </a:extLst>
          </p:cNvPr>
          <p:cNvSpPr/>
          <p:nvPr/>
        </p:nvSpPr>
        <p:spPr>
          <a:xfrm>
            <a:off x="440775" y="4038057"/>
            <a:ext cx="11645601" cy="64633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     </a:t>
            </a:r>
          </a:p>
          <a:p>
            <a:r>
              <a:rPr lang="en-US" sz="1400" b="1" dirty="0">
                <a:solidFill>
                  <a:schemeClr val="tx1"/>
                </a:solidFill>
              </a:rPr>
              <a:t>     Security by Design : </a:t>
            </a:r>
            <a:r>
              <a:rPr lang="en-US" sz="1400" dirty="0">
                <a:solidFill>
                  <a:schemeClr val="tx1"/>
                </a:solidFill>
              </a:rPr>
              <a:t>Blockchains use cryptographic techniques (hashing, digital signatures, consensus) to secure  transactions.</a:t>
            </a:r>
            <a:endParaRPr lang="en-US" sz="1400" b="1" dirty="0">
              <a:solidFill>
                <a:schemeClr val="tx1"/>
              </a:solidFill>
            </a:endParaRPr>
          </a:p>
          <a:p>
            <a:endParaRPr lang="en-US" dirty="0"/>
          </a:p>
        </p:txBody>
      </p:sp>
      <p:sp>
        <p:nvSpPr>
          <p:cNvPr id="17" name="Hexagon 16">
            <a:extLst>
              <a:ext uri="{FF2B5EF4-FFF2-40B4-BE49-F238E27FC236}">
                <a16:creationId xmlns:a16="http://schemas.microsoft.com/office/drawing/2014/main" id="{52176D6A-11A6-14CA-901C-919DD95AB553}"/>
              </a:ext>
            </a:extLst>
          </p:cNvPr>
          <p:cNvSpPr/>
          <p:nvPr/>
        </p:nvSpPr>
        <p:spPr>
          <a:xfrm>
            <a:off x="0" y="4038058"/>
            <a:ext cx="562049" cy="646331"/>
          </a:xfrm>
          <a:prstGeom prst="hexagon">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1" name="Rectangle 20">
            <a:extLst>
              <a:ext uri="{FF2B5EF4-FFF2-40B4-BE49-F238E27FC236}">
                <a16:creationId xmlns:a16="http://schemas.microsoft.com/office/drawing/2014/main" id="{9980AED2-DA48-F611-A410-D10850A0FCA7}"/>
              </a:ext>
            </a:extLst>
          </p:cNvPr>
          <p:cNvSpPr/>
          <p:nvPr/>
        </p:nvSpPr>
        <p:spPr>
          <a:xfrm>
            <a:off x="429825" y="4909521"/>
            <a:ext cx="11645601" cy="89157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t>
            </a:r>
          </a:p>
          <a:p>
            <a:r>
              <a:rPr lang="en-US" sz="1400" b="1" dirty="0"/>
              <a:t>   Trust Across Organizations : </a:t>
            </a:r>
            <a:r>
              <a:rPr lang="en-US" sz="1400" dirty="0"/>
              <a:t>Supply chains are comprised of a significant number of partners. </a:t>
            </a:r>
            <a:r>
              <a:rPr lang="en-US" sz="1400" b="1" dirty="0"/>
              <a:t>Blockchain:</a:t>
            </a:r>
            <a:r>
              <a:rPr lang="en-US" sz="1400" dirty="0"/>
              <a:t> Enables  multiple independent parties (suppliers,</a:t>
            </a:r>
          </a:p>
          <a:p>
            <a:r>
              <a:rPr lang="en-US" sz="1400" dirty="0"/>
              <a:t>    regulators, banks) to share and verify data without needing to trust a central   authority. </a:t>
            </a:r>
          </a:p>
          <a:p>
            <a:endParaRPr lang="en-US" dirty="0"/>
          </a:p>
        </p:txBody>
      </p:sp>
      <p:sp>
        <p:nvSpPr>
          <p:cNvPr id="19" name="Hexagon 18">
            <a:extLst>
              <a:ext uri="{FF2B5EF4-FFF2-40B4-BE49-F238E27FC236}">
                <a16:creationId xmlns:a16="http://schemas.microsoft.com/office/drawing/2014/main" id="{2D41BCC1-9328-B753-1ED2-570956606776}"/>
              </a:ext>
            </a:extLst>
          </p:cNvPr>
          <p:cNvSpPr/>
          <p:nvPr/>
        </p:nvSpPr>
        <p:spPr>
          <a:xfrm>
            <a:off x="0" y="4926884"/>
            <a:ext cx="562049" cy="874212"/>
          </a:xfrm>
          <a:prstGeom prst="hexagon">
            <a:avLst/>
          </a:prstGeom>
          <a:solidFill>
            <a:schemeClr val="accent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2" name="Rectangle 21">
            <a:extLst>
              <a:ext uri="{FF2B5EF4-FFF2-40B4-BE49-F238E27FC236}">
                <a16:creationId xmlns:a16="http://schemas.microsoft.com/office/drawing/2014/main" id="{5D5F971A-EC22-AB84-E59D-E0B0E7005C39}"/>
              </a:ext>
            </a:extLst>
          </p:cNvPr>
          <p:cNvSpPr/>
          <p:nvPr/>
        </p:nvSpPr>
        <p:spPr>
          <a:xfrm>
            <a:off x="418875" y="6044295"/>
            <a:ext cx="11618226" cy="646331"/>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t>
            </a:r>
            <a:r>
              <a:rPr lang="en-US" sz="1400" dirty="0"/>
              <a:t>  </a:t>
            </a:r>
            <a:r>
              <a:rPr lang="en-US" sz="1400" b="1" dirty="0"/>
              <a:t>Smart Contracts (</a:t>
            </a:r>
            <a:r>
              <a:rPr lang="en-US" sz="1400" b="1" dirty="0" err="1"/>
              <a:t>chaincode</a:t>
            </a:r>
            <a:r>
              <a:rPr lang="en-US" sz="1400" b="1" dirty="0"/>
              <a:t>) : </a:t>
            </a:r>
            <a:r>
              <a:rPr lang="en-US" sz="1400" dirty="0"/>
              <a:t>Blockchains embed rules that automatically execute when conditions are met (e.g.,  release payment once shipment</a:t>
            </a:r>
          </a:p>
          <a:p>
            <a:r>
              <a:rPr lang="en-US" sz="1400" dirty="0"/>
              <a:t>      arrives).</a:t>
            </a:r>
          </a:p>
        </p:txBody>
      </p:sp>
      <p:sp>
        <p:nvSpPr>
          <p:cNvPr id="23" name="Hexagon 22">
            <a:extLst>
              <a:ext uri="{FF2B5EF4-FFF2-40B4-BE49-F238E27FC236}">
                <a16:creationId xmlns:a16="http://schemas.microsoft.com/office/drawing/2014/main" id="{285F4A3D-CFE6-4D07-9366-7C19C1441162}"/>
              </a:ext>
            </a:extLst>
          </p:cNvPr>
          <p:cNvSpPr/>
          <p:nvPr/>
        </p:nvSpPr>
        <p:spPr>
          <a:xfrm>
            <a:off x="0" y="6038043"/>
            <a:ext cx="562049" cy="646331"/>
          </a:xfrm>
          <a:prstGeom prst="hexagon">
            <a:avLst/>
          </a:prstGeom>
          <a:solidFill>
            <a:schemeClr val="tx2">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cxnSp>
        <p:nvCxnSpPr>
          <p:cNvPr id="27" name="Straight Connector 26">
            <a:extLst>
              <a:ext uri="{FF2B5EF4-FFF2-40B4-BE49-F238E27FC236}">
                <a16:creationId xmlns:a16="http://schemas.microsoft.com/office/drawing/2014/main" id="{EB16DD46-5121-978E-0A92-D35091F9E4F6}"/>
              </a:ext>
            </a:extLst>
          </p:cNvPr>
          <p:cNvCxnSpPr>
            <a:cxnSpLocks/>
          </p:cNvCxnSpPr>
          <p:nvPr/>
        </p:nvCxnSpPr>
        <p:spPr>
          <a:xfrm>
            <a:off x="153465" y="1365051"/>
            <a:ext cx="1109071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96150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100000">
              <a:srgbClr val="FFFFCC"/>
            </a:gs>
            <a:gs pos="20000">
              <a:schemeClr val="accent1">
                <a:lumMod val="45000"/>
                <a:lumOff val="55000"/>
              </a:schemeClr>
            </a:gs>
            <a:gs pos="100000">
              <a:schemeClr val="accent1">
                <a:lumMod val="30000"/>
                <a:lumOff val="70000"/>
              </a:schemeClr>
            </a:gs>
          </a:gsLst>
          <a:path path="circle">
            <a:fillToRect l="100000" t="100000"/>
          </a:path>
        </a:gradFill>
        <a:effectLst/>
      </p:bgPr>
    </p:bg>
    <p:spTree>
      <p:nvGrpSpPr>
        <p:cNvPr id="1" name="">
          <a:extLst>
            <a:ext uri="{FF2B5EF4-FFF2-40B4-BE49-F238E27FC236}">
              <a16:creationId xmlns:a16="http://schemas.microsoft.com/office/drawing/2014/main" id="{DD628B6C-78BD-2117-719C-B45C7DC5BD2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0DF7BDC-5205-C28B-9DD3-72C6EDFF1C92}"/>
              </a:ext>
            </a:extLst>
          </p:cNvPr>
          <p:cNvSpPr/>
          <p:nvPr/>
        </p:nvSpPr>
        <p:spPr>
          <a:xfrm>
            <a:off x="-7859" y="-8467"/>
            <a:ext cx="12192000" cy="7010400"/>
          </a:xfrm>
          <a:prstGeom prst="rect">
            <a:avLst/>
          </a:prstGeom>
          <a:gradFill flip="none" rotWithShape="1">
            <a:gsLst>
              <a:gs pos="100000">
                <a:schemeClr val="accent5">
                  <a:lumMod val="50000"/>
                </a:schemeClr>
              </a:gs>
              <a:gs pos="20000">
                <a:schemeClr val="accent1">
                  <a:lumMod val="45000"/>
                  <a:lumOff val="55000"/>
                </a:schemeClr>
              </a:gs>
              <a:gs pos="100000">
                <a:schemeClr val="accent1">
                  <a:lumMod val="30000"/>
                  <a:lumOff val="7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0D36BA7-7C23-8899-8405-FB39869C5424}"/>
              </a:ext>
            </a:extLst>
          </p:cNvPr>
          <p:cNvSpPr txBox="1"/>
          <p:nvPr/>
        </p:nvSpPr>
        <p:spPr>
          <a:xfrm>
            <a:off x="77362" y="622752"/>
            <a:ext cx="12072168" cy="646331"/>
          </a:xfrm>
          <a:prstGeom prst="rect">
            <a:avLst/>
          </a:prstGeom>
          <a:noFill/>
          <a:ln>
            <a:noFill/>
          </a:ln>
        </p:spPr>
        <p:txBody>
          <a:bodyPr wrap="square">
            <a:spAutoFit/>
          </a:bodyPr>
          <a:lstStyle/>
          <a:p>
            <a:r>
              <a:rPr lang="en-US" b="1" dirty="0">
                <a:solidFill>
                  <a:schemeClr val="bg1"/>
                </a:solidFill>
              </a:rPr>
              <a:t>Source: Data modelling team. </a:t>
            </a:r>
            <a:r>
              <a:rPr lang="en-US" dirty="0">
                <a:solidFill>
                  <a:schemeClr val="bg1"/>
                </a:solidFill>
              </a:rPr>
              <a:t>The </a:t>
            </a:r>
            <a:r>
              <a:rPr lang="en-US" b="1" dirty="0">
                <a:solidFill>
                  <a:srgbClr val="FFFF00"/>
                </a:solidFill>
              </a:rPr>
              <a:t>digital twin </a:t>
            </a:r>
            <a:r>
              <a:rPr lang="en-US" dirty="0">
                <a:solidFill>
                  <a:schemeClr val="bg1"/>
                </a:solidFill>
              </a:rPr>
              <a:t>is represented as a set of structures(struct) within a smart contract. The diagram below details the structures and relationships. Supply chains are represented as “segments” having emission sources.</a:t>
            </a:r>
            <a:endParaRPr lang="en-US" dirty="0">
              <a:solidFill>
                <a:schemeClr val="bg1"/>
              </a:solidFill>
              <a:latin typeface="Google Sans"/>
            </a:endParaRPr>
          </a:p>
        </p:txBody>
      </p:sp>
      <p:sp>
        <p:nvSpPr>
          <p:cNvPr id="9" name="Rectangle: Folded Corner 8">
            <a:extLst>
              <a:ext uri="{FF2B5EF4-FFF2-40B4-BE49-F238E27FC236}">
                <a16:creationId xmlns:a16="http://schemas.microsoft.com/office/drawing/2014/main" id="{225CCE6D-AA48-72DE-F7E8-26E72398AF7C}"/>
              </a:ext>
            </a:extLst>
          </p:cNvPr>
          <p:cNvSpPr/>
          <p:nvPr/>
        </p:nvSpPr>
        <p:spPr>
          <a:xfrm>
            <a:off x="77363" y="1684530"/>
            <a:ext cx="4531870" cy="4809260"/>
          </a:xfrm>
          <a:prstGeom prst="foldedCorner">
            <a:avLst>
              <a:gd name="adj" fmla="val 15966"/>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tIns="9144" bIns="9144" rtlCol="0" anchor="ctr"/>
          <a:lstStyle/>
          <a:p>
            <a:endParaRPr lang="en-US" sz="1100" dirty="0">
              <a:solidFill>
                <a:srgbClr val="001D35"/>
              </a:solidFill>
              <a:latin typeface="Google Sans"/>
            </a:endParaRPr>
          </a:p>
          <a:p>
            <a:endParaRPr lang="en-US" sz="1100" dirty="0">
              <a:solidFill>
                <a:srgbClr val="001D35"/>
              </a:solidFill>
              <a:latin typeface="Google Sans"/>
            </a:endParaRPr>
          </a:p>
          <a:p>
            <a:endParaRPr lang="en-US" sz="1100" dirty="0">
              <a:solidFill>
                <a:srgbClr val="001D35"/>
              </a:solidFill>
              <a:latin typeface="Google Sans"/>
            </a:endParaRPr>
          </a:p>
          <a:p>
            <a:endParaRPr lang="en-US" sz="900" dirty="0">
              <a:solidFill>
                <a:srgbClr val="001D35"/>
              </a:solidFill>
              <a:latin typeface="Google Sans"/>
            </a:endParaRPr>
          </a:p>
          <a:p>
            <a:endParaRPr lang="en-US" sz="900" dirty="0">
              <a:solidFill>
                <a:srgbClr val="001D35"/>
              </a:solidFill>
              <a:latin typeface="Google Sans"/>
            </a:endParaRPr>
          </a:p>
          <a:p>
            <a:endParaRPr lang="en-US" sz="900" dirty="0">
              <a:solidFill>
                <a:srgbClr val="001D35"/>
              </a:solidFill>
              <a:latin typeface="Google Sans"/>
            </a:endParaRPr>
          </a:p>
          <a:p>
            <a:r>
              <a:rPr lang="en-US" sz="900" dirty="0">
                <a:solidFill>
                  <a:srgbClr val="001D35"/>
                </a:solidFill>
                <a:latin typeface="Google Sans"/>
              </a:rPr>
              <a:t>\\ data model implemented in structures</a:t>
            </a:r>
          </a:p>
          <a:p>
            <a:r>
              <a:rPr lang="en-US" sz="900" b="1" dirty="0">
                <a:solidFill>
                  <a:schemeClr val="tx1"/>
                </a:solidFill>
                <a:latin typeface="Google Sans"/>
              </a:rPr>
              <a:t>contract </a:t>
            </a:r>
            <a:r>
              <a:rPr lang="en-US" sz="900" b="1" dirty="0" err="1">
                <a:solidFill>
                  <a:schemeClr val="tx1"/>
                </a:solidFill>
                <a:latin typeface="Google Sans"/>
              </a:rPr>
              <a:t>netzero</a:t>
            </a:r>
            <a:r>
              <a:rPr lang="en-US" sz="900" b="1" dirty="0">
                <a:solidFill>
                  <a:schemeClr val="tx1"/>
                </a:solidFill>
                <a:latin typeface="Google Sans"/>
              </a:rPr>
              <a:t> {</a:t>
            </a:r>
          </a:p>
          <a:p>
            <a:endParaRPr lang="en-US" sz="900" dirty="0">
              <a:solidFill>
                <a:srgbClr val="001D35"/>
              </a:solidFill>
              <a:latin typeface="Google Sans"/>
            </a:endParaRPr>
          </a:p>
          <a:p>
            <a:r>
              <a:rPr lang="en-US" sz="900" b="0" i="0" dirty="0">
                <a:solidFill>
                  <a:srgbClr val="001D35"/>
                </a:solidFill>
                <a:effectLst/>
                <a:latin typeface="Google Sans"/>
              </a:rPr>
              <a:t>     struct </a:t>
            </a:r>
            <a:r>
              <a:rPr lang="en-US" sz="900" b="1" i="0" dirty="0">
                <a:solidFill>
                  <a:srgbClr val="001D35"/>
                </a:solidFill>
                <a:effectLst/>
                <a:latin typeface="Google Sans"/>
              </a:rPr>
              <a:t>digitaltwin</a:t>
            </a:r>
            <a:r>
              <a:rPr lang="en-US" sz="900" b="0" i="0" dirty="0">
                <a:solidFill>
                  <a:srgbClr val="001D35"/>
                </a:solidFill>
                <a:effectLst/>
                <a:latin typeface="Google Sans"/>
              </a:rPr>
              <a:t>  {</a:t>
            </a:r>
          </a:p>
          <a:p>
            <a:r>
              <a:rPr lang="en-US" sz="900" dirty="0">
                <a:solidFill>
                  <a:srgbClr val="001D35"/>
                </a:solidFill>
                <a:latin typeface="Google Sans"/>
              </a:rPr>
              <a:t>         string </a:t>
            </a:r>
            <a:r>
              <a:rPr lang="en-US" sz="900" dirty="0" err="1">
                <a:solidFill>
                  <a:srgbClr val="001D35"/>
                </a:solidFill>
                <a:latin typeface="Google Sans"/>
              </a:rPr>
              <a:t>twinname</a:t>
            </a:r>
            <a:r>
              <a:rPr lang="en-US" sz="900" dirty="0">
                <a:solidFill>
                  <a:srgbClr val="001D35"/>
                </a:solidFill>
                <a:latin typeface="Google Sans"/>
              </a:rPr>
              <a:t>; </a:t>
            </a:r>
          </a:p>
          <a:p>
            <a:r>
              <a:rPr lang="en-US" sz="900" dirty="0">
                <a:solidFill>
                  <a:srgbClr val="001D35"/>
                </a:solidFill>
                <a:latin typeface="Google Sans"/>
              </a:rPr>
              <a:t>         string </a:t>
            </a:r>
            <a:r>
              <a:rPr lang="en-US" sz="900" dirty="0" err="1">
                <a:solidFill>
                  <a:srgbClr val="001D35"/>
                </a:solidFill>
                <a:latin typeface="Google Sans"/>
              </a:rPr>
              <a:t>twinowner</a:t>
            </a:r>
            <a:r>
              <a:rPr lang="en-US" sz="900" dirty="0">
                <a:solidFill>
                  <a:srgbClr val="001D35"/>
                </a:solidFill>
                <a:latin typeface="Google Sans"/>
              </a:rPr>
              <a:t>;</a:t>
            </a:r>
          </a:p>
          <a:p>
            <a:r>
              <a:rPr lang="en-US" sz="900" dirty="0">
                <a:solidFill>
                  <a:srgbClr val="001D35"/>
                </a:solidFill>
                <a:latin typeface="Google Sans"/>
              </a:rPr>
              <a:t>         uint256 timestamp;</a:t>
            </a:r>
          </a:p>
          <a:p>
            <a:r>
              <a:rPr lang="en-US" sz="900" b="1" dirty="0">
                <a:solidFill>
                  <a:srgbClr val="001D35"/>
                </a:solidFill>
                <a:latin typeface="Google Sans"/>
              </a:rPr>
              <a:t>         supplychainseg[]  segments</a:t>
            </a:r>
            <a:r>
              <a:rPr lang="en-US" sz="900" dirty="0">
                <a:solidFill>
                  <a:srgbClr val="001D35"/>
                </a:solidFill>
                <a:latin typeface="Google Sans"/>
              </a:rPr>
              <a:t>; </a:t>
            </a:r>
          </a:p>
          <a:p>
            <a:r>
              <a:rPr lang="en-US" sz="900" dirty="0">
                <a:solidFill>
                  <a:srgbClr val="001D35"/>
                </a:solidFill>
                <a:latin typeface="Google Sans"/>
              </a:rPr>
              <a:t>         </a:t>
            </a:r>
            <a:r>
              <a:rPr lang="en-US" sz="900" b="1" dirty="0">
                <a:solidFill>
                  <a:srgbClr val="001D35"/>
                </a:solidFill>
                <a:latin typeface="Google Sans"/>
              </a:rPr>
              <a:t>uint256 </a:t>
            </a:r>
            <a:r>
              <a:rPr lang="en-US" sz="900" b="1" dirty="0" err="1">
                <a:solidFill>
                  <a:srgbClr val="001D35"/>
                </a:solidFill>
                <a:latin typeface="Google Sans"/>
              </a:rPr>
              <a:t>twinID</a:t>
            </a:r>
            <a:r>
              <a:rPr lang="en-US" sz="900" b="1" dirty="0">
                <a:solidFill>
                  <a:srgbClr val="001D35"/>
                </a:solidFill>
                <a:latin typeface="Google Sans"/>
              </a:rPr>
              <a:t>;</a:t>
            </a:r>
          </a:p>
          <a:p>
            <a:r>
              <a:rPr lang="en-US" sz="900" dirty="0">
                <a:solidFill>
                  <a:srgbClr val="001D35"/>
                </a:solidFill>
                <a:latin typeface="Google Sans"/>
              </a:rPr>
              <a:t>         bool </a:t>
            </a:r>
            <a:r>
              <a:rPr lang="en-US" sz="900" dirty="0" err="1">
                <a:solidFill>
                  <a:srgbClr val="001D35"/>
                </a:solidFill>
                <a:latin typeface="Google Sans"/>
              </a:rPr>
              <a:t>isModel</a:t>
            </a:r>
            <a:r>
              <a:rPr lang="en-US" sz="900" dirty="0">
                <a:solidFill>
                  <a:srgbClr val="001D35"/>
                </a:solidFill>
                <a:latin typeface="Google Sans"/>
              </a:rPr>
              <a:t>;</a:t>
            </a:r>
          </a:p>
          <a:p>
            <a:r>
              <a:rPr lang="en-US" sz="900" dirty="0">
                <a:solidFill>
                  <a:srgbClr val="001D35"/>
                </a:solidFill>
                <a:latin typeface="Google Sans"/>
              </a:rPr>
              <a:t>         bool </a:t>
            </a:r>
            <a:r>
              <a:rPr lang="en-US" sz="900" dirty="0" err="1">
                <a:solidFill>
                  <a:srgbClr val="001D35"/>
                </a:solidFill>
                <a:latin typeface="Google Sans"/>
              </a:rPr>
              <a:t>isActive</a:t>
            </a:r>
            <a:r>
              <a:rPr lang="en-US" sz="900" dirty="0">
                <a:solidFill>
                  <a:srgbClr val="001D35"/>
                </a:solidFill>
                <a:latin typeface="Google Sans"/>
              </a:rPr>
              <a:t>    }</a:t>
            </a:r>
          </a:p>
          <a:p>
            <a:endParaRPr lang="en-US" sz="900" dirty="0">
              <a:solidFill>
                <a:srgbClr val="001D35"/>
              </a:solidFill>
              <a:latin typeface="Google Sans"/>
            </a:endParaRPr>
          </a:p>
          <a:p>
            <a:r>
              <a:rPr lang="en-US" sz="900" dirty="0">
                <a:solidFill>
                  <a:srgbClr val="001D35"/>
                </a:solidFill>
                <a:latin typeface="Google Sans"/>
              </a:rPr>
              <a:t>     // where GHG emissions originate</a:t>
            </a:r>
          </a:p>
          <a:p>
            <a:r>
              <a:rPr lang="en-US" sz="900" dirty="0">
                <a:solidFill>
                  <a:srgbClr val="001D35"/>
                </a:solidFill>
                <a:latin typeface="Google Sans"/>
              </a:rPr>
              <a:t>     struct </a:t>
            </a:r>
            <a:r>
              <a:rPr lang="en-US" sz="900" b="1" dirty="0">
                <a:solidFill>
                  <a:srgbClr val="001D35"/>
                </a:solidFill>
                <a:latin typeface="Google Sans"/>
              </a:rPr>
              <a:t>Segment</a:t>
            </a:r>
            <a:r>
              <a:rPr lang="en-US" sz="900" dirty="0">
                <a:solidFill>
                  <a:srgbClr val="001D35"/>
                </a:solidFill>
                <a:latin typeface="Google Sans"/>
              </a:rPr>
              <a:t> {</a:t>
            </a:r>
          </a:p>
          <a:p>
            <a:r>
              <a:rPr lang="en-US" sz="900" dirty="0">
                <a:solidFill>
                  <a:srgbClr val="001D35"/>
                </a:solidFill>
                <a:latin typeface="Google Sans"/>
              </a:rPr>
              <a:t>          </a:t>
            </a:r>
            <a:r>
              <a:rPr lang="en-US" sz="900" b="1" dirty="0">
                <a:solidFill>
                  <a:srgbClr val="001D35"/>
                </a:solidFill>
                <a:latin typeface="Google Sans"/>
              </a:rPr>
              <a:t>uint256 </a:t>
            </a:r>
            <a:r>
              <a:rPr lang="en-US" sz="900" b="1" dirty="0" err="1">
                <a:solidFill>
                  <a:srgbClr val="001D35"/>
                </a:solidFill>
                <a:latin typeface="Google Sans"/>
              </a:rPr>
              <a:t>twinID</a:t>
            </a:r>
            <a:r>
              <a:rPr lang="en-US" sz="900" b="1" dirty="0">
                <a:solidFill>
                  <a:srgbClr val="001D35"/>
                </a:solidFill>
                <a:latin typeface="Google Sans"/>
              </a:rPr>
              <a:t>;</a:t>
            </a:r>
          </a:p>
          <a:p>
            <a:r>
              <a:rPr lang="en-US" sz="900" dirty="0">
                <a:solidFill>
                  <a:srgbClr val="001D35"/>
                </a:solidFill>
                <a:latin typeface="Google Sans"/>
              </a:rPr>
              <a:t>          </a:t>
            </a:r>
            <a:r>
              <a:rPr lang="en-US" sz="900" b="1" dirty="0">
                <a:solidFill>
                  <a:srgbClr val="001D35"/>
                </a:solidFill>
                <a:latin typeface="Google Sans"/>
              </a:rPr>
              <a:t>uint256 </a:t>
            </a:r>
            <a:r>
              <a:rPr lang="en-US" sz="900" b="1" dirty="0" err="1">
                <a:solidFill>
                  <a:srgbClr val="001D35"/>
                </a:solidFill>
                <a:latin typeface="Google Sans"/>
              </a:rPr>
              <a:t>segnum</a:t>
            </a:r>
            <a:r>
              <a:rPr lang="en-US" sz="900" b="1" dirty="0">
                <a:solidFill>
                  <a:srgbClr val="001D35"/>
                </a:solidFill>
                <a:latin typeface="Google Sans"/>
              </a:rPr>
              <a:t>;</a:t>
            </a:r>
          </a:p>
          <a:p>
            <a:r>
              <a:rPr lang="en-US" sz="900" dirty="0">
                <a:solidFill>
                  <a:srgbClr val="001D35"/>
                </a:solidFill>
                <a:latin typeface="Google Sans"/>
              </a:rPr>
              <a:t>          string </a:t>
            </a:r>
            <a:r>
              <a:rPr lang="en-US" sz="900" dirty="0" err="1">
                <a:solidFill>
                  <a:srgbClr val="001D35"/>
                </a:solidFill>
                <a:latin typeface="Google Sans"/>
              </a:rPr>
              <a:t>segmentName</a:t>
            </a:r>
            <a:r>
              <a:rPr lang="en-US" sz="900" dirty="0">
                <a:solidFill>
                  <a:srgbClr val="001D35"/>
                </a:solidFill>
                <a:latin typeface="Google Sans"/>
              </a:rPr>
              <a:t>;</a:t>
            </a:r>
          </a:p>
          <a:p>
            <a:r>
              <a:rPr lang="en-US" sz="900" dirty="0">
                <a:solidFill>
                  <a:srgbClr val="001D35"/>
                </a:solidFill>
                <a:latin typeface="Google Sans"/>
              </a:rPr>
              <a:t>          uint256 </a:t>
            </a:r>
            <a:r>
              <a:rPr lang="en-US" sz="900" dirty="0" err="1">
                <a:solidFill>
                  <a:srgbClr val="001D35"/>
                </a:solidFill>
                <a:latin typeface="Google Sans"/>
              </a:rPr>
              <a:t>ghgBaseline</a:t>
            </a:r>
            <a:r>
              <a:rPr lang="en-US" sz="900" dirty="0">
                <a:solidFill>
                  <a:srgbClr val="001D35"/>
                </a:solidFill>
                <a:latin typeface="Google Sans"/>
              </a:rPr>
              <a:t>;</a:t>
            </a:r>
          </a:p>
          <a:p>
            <a:r>
              <a:rPr lang="en-US" sz="900" dirty="0">
                <a:solidFill>
                  <a:srgbClr val="001D35"/>
                </a:solidFill>
                <a:latin typeface="Google Sans"/>
              </a:rPr>
              <a:t>          </a:t>
            </a:r>
            <a:r>
              <a:rPr lang="en-US" sz="900" b="1" dirty="0" err="1">
                <a:solidFill>
                  <a:srgbClr val="001D35"/>
                </a:solidFill>
                <a:latin typeface="Google Sans"/>
              </a:rPr>
              <a:t>segEmissionSource</a:t>
            </a:r>
            <a:r>
              <a:rPr lang="en-US" sz="900" b="1" dirty="0">
                <a:solidFill>
                  <a:srgbClr val="001D35"/>
                </a:solidFill>
                <a:latin typeface="Google Sans"/>
              </a:rPr>
              <a:t>[] sources;</a:t>
            </a:r>
          </a:p>
          <a:p>
            <a:r>
              <a:rPr lang="en-US" sz="900" dirty="0">
                <a:solidFill>
                  <a:srgbClr val="001D35"/>
                </a:solidFill>
                <a:latin typeface="Google Sans"/>
              </a:rPr>
              <a:t>          string </a:t>
            </a:r>
            <a:r>
              <a:rPr lang="en-US" sz="900" dirty="0" err="1">
                <a:solidFill>
                  <a:srgbClr val="001D35"/>
                </a:solidFill>
                <a:latin typeface="Google Sans"/>
              </a:rPr>
              <a:t>emissionUnits</a:t>
            </a:r>
            <a:r>
              <a:rPr lang="en-US" sz="900" dirty="0">
                <a:solidFill>
                  <a:srgbClr val="001D35"/>
                </a:solidFill>
                <a:latin typeface="Google Sans"/>
              </a:rPr>
              <a:t>;</a:t>
            </a:r>
          </a:p>
          <a:p>
            <a:r>
              <a:rPr lang="en-US" sz="900" dirty="0">
                <a:solidFill>
                  <a:srgbClr val="001D35"/>
                </a:solidFill>
                <a:latin typeface="Google Sans"/>
              </a:rPr>
              <a:t>          uint256 </a:t>
            </a:r>
            <a:r>
              <a:rPr lang="en-US" sz="900" dirty="0" err="1">
                <a:solidFill>
                  <a:srgbClr val="001D35"/>
                </a:solidFill>
                <a:latin typeface="Google Sans"/>
              </a:rPr>
              <a:t>ghgFromSupplier</a:t>
            </a:r>
            <a:r>
              <a:rPr lang="en-US" sz="900" dirty="0">
                <a:solidFill>
                  <a:srgbClr val="001D35"/>
                </a:solidFill>
                <a:latin typeface="Google Sans"/>
              </a:rPr>
              <a:t>; </a:t>
            </a:r>
          </a:p>
          <a:p>
            <a:r>
              <a:rPr lang="en-US" sz="900" dirty="0">
                <a:solidFill>
                  <a:srgbClr val="001D35"/>
                </a:solidFill>
                <a:latin typeface="Google Sans"/>
              </a:rPr>
              <a:t>          uint256 scope;</a:t>
            </a:r>
          </a:p>
          <a:p>
            <a:r>
              <a:rPr lang="en-US" sz="900" dirty="0">
                <a:solidFill>
                  <a:srgbClr val="001D35"/>
                </a:solidFill>
                <a:latin typeface="Google Sans"/>
              </a:rPr>
              <a:t>          uint256 length;</a:t>
            </a:r>
          </a:p>
          <a:p>
            <a:r>
              <a:rPr lang="en-US" sz="900" dirty="0">
                <a:solidFill>
                  <a:srgbClr val="001D35"/>
                </a:solidFill>
                <a:latin typeface="Google Sans"/>
              </a:rPr>
              <a:t>          uint256 </a:t>
            </a:r>
            <a:r>
              <a:rPr lang="en-US" sz="900" dirty="0" err="1">
                <a:solidFill>
                  <a:srgbClr val="001D35"/>
                </a:solidFill>
                <a:latin typeface="Google Sans"/>
              </a:rPr>
              <a:t>lengthUnits</a:t>
            </a:r>
            <a:r>
              <a:rPr lang="en-US" sz="900" dirty="0">
                <a:solidFill>
                  <a:srgbClr val="001D35"/>
                </a:solidFill>
                <a:latin typeface="Google Sans"/>
              </a:rPr>
              <a:t>   }</a:t>
            </a:r>
          </a:p>
          <a:p>
            <a:endParaRPr lang="en-US" sz="900" dirty="0">
              <a:solidFill>
                <a:srgbClr val="001D35"/>
              </a:solidFill>
              <a:latin typeface="Google Sans"/>
            </a:endParaRPr>
          </a:p>
          <a:p>
            <a:r>
              <a:rPr lang="en-US" sz="900" b="0" i="0" dirty="0">
                <a:solidFill>
                  <a:srgbClr val="001D35"/>
                </a:solidFill>
                <a:effectLst/>
                <a:latin typeface="Google Sans"/>
              </a:rPr>
              <a:t>     // what equip / device caused GHG emissions</a:t>
            </a:r>
          </a:p>
          <a:p>
            <a:r>
              <a:rPr lang="en-US" sz="900" dirty="0">
                <a:solidFill>
                  <a:srgbClr val="001D35"/>
                </a:solidFill>
                <a:latin typeface="Google Sans"/>
              </a:rPr>
              <a:t>     </a:t>
            </a:r>
            <a:r>
              <a:rPr lang="en-US" sz="900" b="0" i="0" dirty="0">
                <a:solidFill>
                  <a:srgbClr val="001D35"/>
                </a:solidFill>
                <a:effectLst/>
                <a:latin typeface="Google Sans"/>
              </a:rPr>
              <a:t>struct </a:t>
            </a:r>
            <a:r>
              <a:rPr lang="en-US" sz="900" b="1" i="0" dirty="0" err="1">
                <a:solidFill>
                  <a:srgbClr val="001D35"/>
                </a:solidFill>
                <a:effectLst/>
                <a:latin typeface="Google Sans"/>
              </a:rPr>
              <a:t>segEmissionSource</a:t>
            </a:r>
            <a:r>
              <a:rPr lang="en-US" sz="900" b="0" i="0" dirty="0">
                <a:solidFill>
                  <a:srgbClr val="001D35"/>
                </a:solidFill>
                <a:effectLst/>
                <a:latin typeface="Google Sans"/>
              </a:rPr>
              <a:t> {     </a:t>
            </a:r>
          </a:p>
          <a:p>
            <a:r>
              <a:rPr lang="en-US" sz="900" dirty="0">
                <a:solidFill>
                  <a:srgbClr val="001D35"/>
                </a:solidFill>
                <a:latin typeface="Google Sans"/>
              </a:rPr>
              <a:t>          </a:t>
            </a:r>
            <a:r>
              <a:rPr lang="en-US" sz="900" b="1" dirty="0">
                <a:solidFill>
                  <a:srgbClr val="001D35"/>
                </a:solidFill>
                <a:latin typeface="Google Sans"/>
              </a:rPr>
              <a:t>uint256 </a:t>
            </a:r>
            <a:r>
              <a:rPr lang="en-US" sz="900" b="1" dirty="0" err="1">
                <a:solidFill>
                  <a:srgbClr val="001D35"/>
                </a:solidFill>
                <a:latin typeface="Google Sans"/>
              </a:rPr>
              <a:t>segnum</a:t>
            </a:r>
            <a:r>
              <a:rPr lang="en-US" sz="900" b="1" dirty="0">
                <a:solidFill>
                  <a:srgbClr val="001D35"/>
                </a:solidFill>
                <a:latin typeface="Google Sans"/>
              </a:rPr>
              <a:t>;</a:t>
            </a:r>
          </a:p>
          <a:p>
            <a:r>
              <a:rPr lang="en-US" sz="900" dirty="0">
                <a:solidFill>
                  <a:srgbClr val="001D35"/>
                </a:solidFill>
                <a:latin typeface="Google Sans"/>
              </a:rPr>
              <a:t>          string </a:t>
            </a:r>
            <a:r>
              <a:rPr lang="en-US" sz="900" dirty="0" err="1">
                <a:solidFill>
                  <a:srgbClr val="001D35"/>
                </a:solidFill>
                <a:latin typeface="Google Sans"/>
              </a:rPr>
              <a:t>emissionSource_describe</a:t>
            </a:r>
            <a:r>
              <a:rPr lang="en-US" sz="900" dirty="0">
                <a:solidFill>
                  <a:srgbClr val="001D35"/>
                </a:solidFill>
                <a:latin typeface="Google Sans"/>
              </a:rPr>
              <a:t>,    // (truck, plane, warehouse heat, cold, water)</a:t>
            </a:r>
          </a:p>
          <a:p>
            <a:r>
              <a:rPr lang="en-US" sz="900" b="1" dirty="0">
                <a:solidFill>
                  <a:srgbClr val="001D35"/>
                </a:solidFill>
                <a:latin typeface="Google Sans"/>
              </a:rPr>
              <a:t>          </a:t>
            </a:r>
            <a:r>
              <a:rPr lang="en-US" sz="900" b="1" dirty="0" err="1">
                <a:solidFill>
                  <a:srgbClr val="001D35"/>
                </a:solidFill>
                <a:latin typeface="Google Sans"/>
              </a:rPr>
              <a:t>IoTDevice</a:t>
            </a:r>
            <a:r>
              <a:rPr lang="en-US" sz="900" b="1" dirty="0">
                <a:solidFill>
                  <a:srgbClr val="001D35"/>
                </a:solidFill>
                <a:latin typeface="Google Sans"/>
              </a:rPr>
              <a:t> [] devices,        </a:t>
            </a:r>
            <a:r>
              <a:rPr lang="en-US" sz="900" dirty="0">
                <a:solidFill>
                  <a:srgbClr val="001D35"/>
                </a:solidFill>
                <a:latin typeface="Google Sans"/>
              </a:rPr>
              <a:t>// if IoT device emission source</a:t>
            </a:r>
          </a:p>
          <a:p>
            <a:r>
              <a:rPr lang="en-US" sz="900" dirty="0">
                <a:solidFill>
                  <a:srgbClr val="001D35"/>
                </a:solidFill>
                <a:latin typeface="Google Sans"/>
              </a:rPr>
              <a:t>          uint256 </a:t>
            </a:r>
            <a:r>
              <a:rPr lang="en-US" sz="900" dirty="0" err="1">
                <a:solidFill>
                  <a:srgbClr val="001D35"/>
                </a:solidFill>
                <a:latin typeface="Google Sans"/>
              </a:rPr>
              <a:t>ghgBaselineAmount</a:t>
            </a:r>
            <a:r>
              <a:rPr lang="en-US" sz="900" dirty="0">
                <a:solidFill>
                  <a:srgbClr val="001D35"/>
                </a:solidFill>
                <a:latin typeface="Google Sans"/>
              </a:rPr>
              <a:t>;</a:t>
            </a:r>
          </a:p>
          <a:p>
            <a:r>
              <a:rPr lang="en-US" sz="900" dirty="0">
                <a:solidFill>
                  <a:srgbClr val="001D35"/>
                </a:solidFill>
                <a:latin typeface="Google Sans"/>
              </a:rPr>
              <a:t>          string </a:t>
            </a:r>
            <a:r>
              <a:rPr lang="en-US" sz="900" dirty="0" err="1">
                <a:solidFill>
                  <a:srgbClr val="001D35"/>
                </a:solidFill>
                <a:latin typeface="Google Sans"/>
              </a:rPr>
              <a:t>emissionUnits</a:t>
            </a:r>
            <a:r>
              <a:rPr lang="en-US" sz="900" dirty="0">
                <a:solidFill>
                  <a:srgbClr val="001D35"/>
                </a:solidFill>
                <a:latin typeface="Google Sans"/>
              </a:rPr>
              <a:t>;   }</a:t>
            </a:r>
          </a:p>
          <a:p>
            <a:endParaRPr lang="en-US" sz="900" dirty="0">
              <a:solidFill>
                <a:srgbClr val="001D35"/>
              </a:solidFill>
              <a:latin typeface="Google Sans"/>
            </a:endParaRPr>
          </a:p>
          <a:p>
            <a:r>
              <a:rPr lang="en-US" sz="1200" b="1" dirty="0">
                <a:solidFill>
                  <a:srgbClr val="001D35"/>
                </a:solidFill>
                <a:latin typeface="Google Sans"/>
              </a:rPr>
              <a:t>// Continued on next slide…….           </a:t>
            </a:r>
          </a:p>
          <a:p>
            <a:endParaRPr lang="en-US" sz="900" dirty="0">
              <a:solidFill>
                <a:schemeClr val="tx1"/>
              </a:solidFill>
            </a:endParaRPr>
          </a:p>
          <a:p>
            <a:endParaRPr lang="en-US" sz="900" dirty="0">
              <a:solidFill>
                <a:schemeClr val="tx1"/>
              </a:solidFill>
            </a:endParaRPr>
          </a:p>
        </p:txBody>
      </p:sp>
      <p:sp>
        <p:nvSpPr>
          <p:cNvPr id="11" name="TextBox 10">
            <a:extLst>
              <a:ext uri="{FF2B5EF4-FFF2-40B4-BE49-F238E27FC236}">
                <a16:creationId xmlns:a16="http://schemas.microsoft.com/office/drawing/2014/main" id="{37B7BD23-8045-320D-7C98-57F41081CCEC}"/>
              </a:ext>
            </a:extLst>
          </p:cNvPr>
          <p:cNvSpPr txBox="1"/>
          <p:nvPr/>
        </p:nvSpPr>
        <p:spPr>
          <a:xfrm>
            <a:off x="696417" y="1303115"/>
            <a:ext cx="9992850" cy="369332"/>
          </a:xfrm>
          <a:prstGeom prst="rect">
            <a:avLst/>
          </a:prstGeom>
          <a:noFill/>
        </p:spPr>
        <p:txBody>
          <a:bodyPr wrap="square" rtlCol="0">
            <a:spAutoFit/>
          </a:bodyPr>
          <a:lstStyle/>
          <a:p>
            <a:r>
              <a:rPr lang="en-US" b="1" dirty="0">
                <a:solidFill>
                  <a:schemeClr val="bg1"/>
                </a:solidFill>
              </a:rPr>
              <a:t>The Supply Chain digital twin is represented by a smart contract  (pseudo code similar to Solidity)</a:t>
            </a:r>
          </a:p>
        </p:txBody>
      </p:sp>
      <p:sp>
        <p:nvSpPr>
          <p:cNvPr id="12" name="TextBox 11">
            <a:extLst>
              <a:ext uri="{FF2B5EF4-FFF2-40B4-BE49-F238E27FC236}">
                <a16:creationId xmlns:a16="http://schemas.microsoft.com/office/drawing/2014/main" id="{6E15B8EC-73E2-40A7-2CDF-AAAEB4FB5416}"/>
              </a:ext>
            </a:extLst>
          </p:cNvPr>
          <p:cNvSpPr txBox="1"/>
          <p:nvPr/>
        </p:nvSpPr>
        <p:spPr>
          <a:xfrm>
            <a:off x="4877074" y="1713849"/>
            <a:ext cx="7237563" cy="4955203"/>
          </a:xfrm>
          <a:prstGeom prst="rect">
            <a:avLst/>
          </a:prstGeom>
          <a:noFill/>
        </p:spPr>
        <p:txBody>
          <a:bodyPr wrap="square" rtlCol="0">
            <a:spAutoFit/>
          </a:bodyPr>
          <a:lstStyle/>
          <a:p>
            <a:r>
              <a:rPr lang="en-US" dirty="0"/>
              <a:t>   </a:t>
            </a:r>
          </a:p>
          <a:p>
            <a:r>
              <a:rPr lang="en-US" b="1" dirty="0">
                <a:solidFill>
                  <a:schemeClr val="bg1"/>
                </a:solidFill>
              </a:rPr>
              <a:t>  a “struct” data structure in the smart contract defines the digital twin. </a:t>
            </a:r>
          </a:p>
          <a:p>
            <a:r>
              <a:rPr lang="en-US" sz="1400" b="1" dirty="0">
                <a:solidFill>
                  <a:schemeClr val="bg1"/>
                </a:solidFill>
                <a:latin typeface="Google Sans"/>
              </a:rPr>
              <a:t> </a:t>
            </a:r>
          </a:p>
          <a:p>
            <a:r>
              <a:rPr lang="en-US" b="1" dirty="0">
                <a:solidFill>
                  <a:schemeClr val="bg1"/>
                </a:solidFill>
              </a:rPr>
              <a:t>   a supply chain consists of a single or multiple segments, with the</a:t>
            </a:r>
          </a:p>
          <a:p>
            <a:r>
              <a:rPr lang="en-US" b="1" dirty="0">
                <a:solidFill>
                  <a:schemeClr val="bg1"/>
                </a:solidFill>
              </a:rPr>
              <a:t>   segments defined in a related “struct” data structure.</a:t>
            </a:r>
          </a:p>
          <a:p>
            <a:endParaRPr lang="en-US" b="1" dirty="0">
              <a:solidFill>
                <a:schemeClr val="bg1"/>
              </a:solidFill>
            </a:endParaRPr>
          </a:p>
          <a:p>
            <a:r>
              <a:rPr lang="en-US" b="1" dirty="0">
                <a:solidFill>
                  <a:schemeClr val="bg1"/>
                </a:solidFill>
              </a:rPr>
              <a:t>   each supply chain </a:t>
            </a:r>
            <a:r>
              <a:rPr lang="en-US" b="1" u="sng" dirty="0">
                <a:solidFill>
                  <a:schemeClr val="bg1"/>
                </a:solidFill>
              </a:rPr>
              <a:t>segment definition </a:t>
            </a:r>
            <a:r>
              <a:rPr lang="en-US" b="1" dirty="0">
                <a:solidFill>
                  <a:schemeClr val="bg1"/>
                </a:solidFill>
              </a:rPr>
              <a:t>is contained in this “struct”. Forms</a:t>
            </a:r>
          </a:p>
          <a:p>
            <a:r>
              <a:rPr lang="en-US" b="1" dirty="0">
                <a:solidFill>
                  <a:schemeClr val="bg1"/>
                </a:solidFill>
              </a:rPr>
              <a:t>   a one to many relationship of segments to a digital twin.</a:t>
            </a:r>
            <a:r>
              <a:rPr lang="en-US" sz="1400" b="1" dirty="0">
                <a:solidFill>
                  <a:schemeClr val="bg1"/>
                </a:solidFill>
                <a:latin typeface="Google Sans"/>
              </a:rPr>
              <a:t>          </a:t>
            </a:r>
          </a:p>
          <a:p>
            <a:endParaRPr lang="en-US" sz="1400" b="1" dirty="0">
              <a:solidFill>
                <a:schemeClr val="bg1"/>
              </a:solidFill>
              <a:latin typeface="Google Sans"/>
            </a:endParaRPr>
          </a:p>
          <a:p>
            <a:r>
              <a:rPr lang="en-US" b="1" dirty="0">
                <a:solidFill>
                  <a:schemeClr val="bg1"/>
                </a:solidFill>
                <a:latin typeface="Google Sans"/>
              </a:rPr>
              <a:t>   a supply chain segment has multiple ghg emission sources. Must have at</a:t>
            </a:r>
          </a:p>
          <a:p>
            <a:r>
              <a:rPr lang="en-US" b="1" dirty="0">
                <a:solidFill>
                  <a:schemeClr val="bg1"/>
                </a:solidFill>
                <a:latin typeface="Google Sans"/>
              </a:rPr>
              <a:t>   least 1 emission source for each supply chain segment.</a:t>
            </a:r>
          </a:p>
          <a:p>
            <a:endParaRPr lang="en-US" b="1" dirty="0">
              <a:solidFill>
                <a:schemeClr val="bg1"/>
              </a:solidFill>
              <a:latin typeface="Google Sans"/>
            </a:endParaRPr>
          </a:p>
          <a:p>
            <a:r>
              <a:rPr lang="en-US" b="1" dirty="0">
                <a:solidFill>
                  <a:schemeClr val="bg1"/>
                </a:solidFill>
                <a:latin typeface="Google Sans"/>
              </a:rPr>
              <a:t>   “struct” definition for segment ghg emission sources and its baseline</a:t>
            </a:r>
          </a:p>
          <a:p>
            <a:r>
              <a:rPr lang="en-US" b="1" dirty="0">
                <a:solidFill>
                  <a:schemeClr val="bg1"/>
                </a:solidFill>
                <a:latin typeface="Google Sans"/>
              </a:rPr>
              <a:t>   “devices” is the reference object for gathering emission data</a:t>
            </a:r>
          </a:p>
          <a:p>
            <a:endParaRPr lang="en-US" dirty="0">
              <a:solidFill>
                <a:srgbClr val="001D35"/>
              </a:solidFill>
              <a:latin typeface="Google Sans"/>
            </a:endParaRPr>
          </a:p>
          <a:p>
            <a:r>
              <a:rPr lang="en-US" dirty="0">
                <a:solidFill>
                  <a:srgbClr val="001D35"/>
                </a:solidFill>
                <a:latin typeface="Google Sans"/>
              </a:rPr>
              <a:t>   </a:t>
            </a:r>
            <a:endParaRPr lang="en-US" dirty="0"/>
          </a:p>
          <a:p>
            <a:endParaRPr lang="en-US" dirty="0"/>
          </a:p>
          <a:p>
            <a:r>
              <a:rPr lang="en-US" dirty="0"/>
              <a:t>     </a:t>
            </a:r>
          </a:p>
        </p:txBody>
      </p:sp>
      <p:cxnSp>
        <p:nvCxnSpPr>
          <p:cNvPr id="14" name="Straight Arrow Connector 13">
            <a:extLst>
              <a:ext uri="{FF2B5EF4-FFF2-40B4-BE49-F238E27FC236}">
                <a16:creationId xmlns:a16="http://schemas.microsoft.com/office/drawing/2014/main" id="{0434832E-141B-ADE2-442B-2093AF167C98}"/>
              </a:ext>
            </a:extLst>
          </p:cNvPr>
          <p:cNvCxnSpPr>
            <a:cxnSpLocks/>
          </p:cNvCxnSpPr>
          <p:nvPr/>
        </p:nvCxnSpPr>
        <p:spPr>
          <a:xfrm flipH="1">
            <a:off x="1770887" y="2268281"/>
            <a:ext cx="270896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CB60BFDD-8EA6-5C61-1091-7363ECE710B0}"/>
              </a:ext>
            </a:extLst>
          </p:cNvPr>
          <p:cNvCxnSpPr>
            <a:cxnSpLocks/>
          </p:cNvCxnSpPr>
          <p:nvPr/>
        </p:nvCxnSpPr>
        <p:spPr>
          <a:xfrm>
            <a:off x="200891" y="1288546"/>
            <a:ext cx="11161376" cy="14569"/>
          </a:xfrm>
          <a:prstGeom prst="line">
            <a:avLst/>
          </a:prstGeom>
          <a:ln w="19050">
            <a:solidFill>
              <a:srgbClr val="FFFF00"/>
            </a:solidFill>
          </a:ln>
        </p:spPr>
        <p:style>
          <a:lnRef idx="1">
            <a:schemeClr val="accent1"/>
          </a:lnRef>
          <a:fillRef idx="0">
            <a:schemeClr val="accent1"/>
          </a:fillRef>
          <a:effectRef idx="0">
            <a:schemeClr val="accent1"/>
          </a:effectRef>
          <a:fontRef idx="minor">
            <a:schemeClr val="tx1"/>
          </a:fontRef>
        </p:style>
      </p:cxnSp>
      <p:sp>
        <p:nvSpPr>
          <p:cNvPr id="26" name="Arrow: Right 25">
            <a:extLst>
              <a:ext uri="{FF2B5EF4-FFF2-40B4-BE49-F238E27FC236}">
                <a16:creationId xmlns:a16="http://schemas.microsoft.com/office/drawing/2014/main" id="{577B1F7B-C96D-9BE1-0D42-2283651ECE5D}"/>
              </a:ext>
            </a:extLst>
          </p:cNvPr>
          <p:cNvSpPr/>
          <p:nvPr/>
        </p:nvSpPr>
        <p:spPr>
          <a:xfrm>
            <a:off x="148578" y="1381819"/>
            <a:ext cx="569104" cy="218596"/>
          </a:xfrm>
          <a:prstGeom prst="right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CA09377F-29CF-4311-FDF1-E10653AC98B4}"/>
              </a:ext>
            </a:extLst>
          </p:cNvPr>
          <p:cNvSpPr/>
          <p:nvPr/>
        </p:nvSpPr>
        <p:spPr>
          <a:xfrm rot="10800000">
            <a:off x="10051790" y="1380744"/>
            <a:ext cx="569104" cy="218596"/>
          </a:xfrm>
          <a:prstGeom prst="right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9FA9C38-00B5-FC7D-DF3B-564E632C3111}"/>
              </a:ext>
            </a:extLst>
          </p:cNvPr>
          <p:cNvSpPr/>
          <p:nvPr/>
        </p:nvSpPr>
        <p:spPr>
          <a:xfrm>
            <a:off x="4738361" y="2155748"/>
            <a:ext cx="254000" cy="18822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BBD40A26-FB78-2280-64AA-AD2CAF01AE0F}"/>
              </a:ext>
            </a:extLst>
          </p:cNvPr>
          <p:cNvSpPr/>
          <p:nvPr/>
        </p:nvSpPr>
        <p:spPr>
          <a:xfrm>
            <a:off x="4750074" y="2703503"/>
            <a:ext cx="254000" cy="18822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557B7BA-A78A-6BB9-90D9-4B017B1B54E3}"/>
              </a:ext>
            </a:extLst>
          </p:cNvPr>
          <p:cNvSpPr/>
          <p:nvPr/>
        </p:nvSpPr>
        <p:spPr>
          <a:xfrm>
            <a:off x="4747946" y="3515755"/>
            <a:ext cx="254000" cy="18822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D3BB003-6AA6-9F18-4160-C4B4F53A76F8}"/>
              </a:ext>
            </a:extLst>
          </p:cNvPr>
          <p:cNvSpPr/>
          <p:nvPr/>
        </p:nvSpPr>
        <p:spPr>
          <a:xfrm>
            <a:off x="4747946" y="4179409"/>
            <a:ext cx="254000" cy="18822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558E7487-AC75-4B70-9805-532DA7A47DA5}"/>
              </a:ext>
            </a:extLst>
          </p:cNvPr>
          <p:cNvSpPr/>
          <p:nvPr/>
        </p:nvSpPr>
        <p:spPr>
          <a:xfrm>
            <a:off x="4738361" y="5275172"/>
            <a:ext cx="254000" cy="18822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222A245-3318-C83B-17BE-52091F0E099B}"/>
              </a:ext>
            </a:extLst>
          </p:cNvPr>
          <p:cNvSpPr/>
          <p:nvPr/>
        </p:nvSpPr>
        <p:spPr>
          <a:xfrm>
            <a:off x="4738361" y="4946944"/>
            <a:ext cx="254000" cy="18822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5312F3E0-4E06-6EA3-6100-DA16840631B5}"/>
              </a:ext>
            </a:extLst>
          </p:cNvPr>
          <p:cNvCxnSpPr>
            <a:cxnSpLocks/>
          </p:cNvCxnSpPr>
          <p:nvPr/>
        </p:nvCxnSpPr>
        <p:spPr>
          <a:xfrm flipH="1">
            <a:off x="1760260" y="2794407"/>
            <a:ext cx="270896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7D39D07-E6D8-EBCF-4729-AFB2A46A81B1}"/>
              </a:ext>
            </a:extLst>
          </p:cNvPr>
          <p:cNvCxnSpPr>
            <a:cxnSpLocks/>
          </p:cNvCxnSpPr>
          <p:nvPr/>
        </p:nvCxnSpPr>
        <p:spPr>
          <a:xfrm flipH="1">
            <a:off x="1795708" y="4232972"/>
            <a:ext cx="270896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043EC4F-3EAC-4F58-36F8-37818F28D4EF}"/>
              </a:ext>
            </a:extLst>
          </p:cNvPr>
          <p:cNvCxnSpPr>
            <a:cxnSpLocks/>
          </p:cNvCxnSpPr>
          <p:nvPr/>
        </p:nvCxnSpPr>
        <p:spPr>
          <a:xfrm flipH="1">
            <a:off x="3820602" y="5057300"/>
            <a:ext cx="67343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EB400BC-9679-608C-F65D-6072A1859ADF}"/>
              </a:ext>
            </a:extLst>
          </p:cNvPr>
          <p:cNvCxnSpPr>
            <a:cxnSpLocks/>
          </p:cNvCxnSpPr>
          <p:nvPr/>
        </p:nvCxnSpPr>
        <p:spPr>
          <a:xfrm flipH="1">
            <a:off x="1776925" y="3685302"/>
            <a:ext cx="270896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9F547AA-A66A-8E28-3D2F-6984EC08C5D1}"/>
              </a:ext>
            </a:extLst>
          </p:cNvPr>
          <p:cNvSpPr txBox="1"/>
          <p:nvPr/>
        </p:nvSpPr>
        <p:spPr>
          <a:xfrm>
            <a:off x="77362" y="-44347"/>
            <a:ext cx="12106779" cy="584775"/>
          </a:xfrm>
          <a:prstGeom prst="rect">
            <a:avLst/>
          </a:prstGeom>
          <a:noFill/>
        </p:spPr>
        <p:txBody>
          <a:bodyPr wrap="square" rtlCol="0">
            <a:spAutoFit/>
          </a:bodyPr>
          <a:lstStyle/>
          <a:p>
            <a:r>
              <a:rPr lang="en-US" sz="3200" b="1" dirty="0">
                <a:solidFill>
                  <a:schemeClr val="bg1"/>
                </a:solidFill>
                <a:latin typeface="Abadi Extra Light" panose="020B0204020104020204" pitchFamily="34" charset="0"/>
              </a:rPr>
              <a:t>Digital Twin Instantiation and Data Architecture (1 of 2)</a:t>
            </a:r>
          </a:p>
        </p:txBody>
      </p:sp>
      <p:cxnSp>
        <p:nvCxnSpPr>
          <p:cNvPr id="20" name="Straight Arrow Connector 19">
            <a:extLst>
              <a:ext uri="{FF2B5EF4-FFF2-40B4-BE49-F238E27FC236}">
                <a16:creationId xmlns:a16="http://schemas.microsoft.com/office/drawing/2014/main" id="{EE41C648-2ABC-1106-D1A5-D6482305933D}"/>
              </a:ext>
            </a:extLst>
          </p:cNvPr>
          <p:cNvCxnSpPr/>
          <p:nvPr/>
        </p:nvCxnSpPr>
        <p:spPr>
          <a:xfrm>
            <a:off x="148578" y="3693032"/>
            <a:ext cx="2620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C8233F2-450B-0F79-90A2-4477DFA5767D}"/>
              </a:ext>
            </a:extLst>
          </p:cNvPr>
          <p:cNvCxnSpPr>
            <a:cxnSpLocks/>
          </p:cNvCxnSpPr>
          <p:nvPr/>
        </p:nvCxnSpPr>
        <p:spPr>
          <a:xfrm>
            <a:off x="143102" y="2859851"/>
            <a:ext cx="0" cy="833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9B69978-90C6-F6F9-B752-5F759D395BAA}"/>
              </a:ext>
            </a:extLst>
          </p:cNvPr>
          <p:cNvCxnSpPr/>
          <p:nvPr/>
        </p:nvCxnSpPr>
        <p:spPr>
          <a:xfrm>
            <a:off x="143102" y="2859851"/>
            <a:ext cx="2620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1A1FC11-F216-1364-07CC-9659C29D24C4}"/>
              </a:ext>
            </a:extLst>
          </p:cNvPr>
          <p:cNvCxnSpPr>
            <a:cxnSpLocks/>
          </p:cNvCxnSpPr>
          <p:nvPr/>
        </p:nvCxnSpPr>
        <p:spPr>
          <a:xfrm>
            <a:off x="143102" y="3827793"/>
            <a:ext cx="0" cy="1504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D9FDF71-9525-11B5-329F-2316BA4D6141}"/>
              </a:ext>
            </a:extLst>
          </p:cNvPr>
          <p:cNvCxnSpPr/>
          <p:nvPr/>
        </p:nvCxnSpPr>
        <p:spPr>
          <a:xfrm>
            <a:off x="144589" y="3827793"/>
            <a:ext cx="2620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6164C56-3D43-77C4-0AE3-4B717E250297}"/>
              </a:ext>
            </a:extLst>
          </p:cNvPr>
          <p:cNvCxnSpPr/>
          <p:nvPr/>
        </p:nvCxnSpPr>
        <p:spPr>
          <a:xfrm>
            <a:off x="143102" y="5332682"/>
            <a:ext cx="2620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73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A8A8B-5380-C906-5B35-0E6DDCE51D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80D9E97-07DD-07E9-F302-B171625C032F}"/>
              </a:ext>
            </a:extLst>
          </p:cNvPr>
          <p:cNvSpPr/>
          <p:nvPr/>
        </p:nvSpPr>
        <p:spPr>
          <a:xfrm>
            <a:off x="-7859" y="-33868"/>
            <a:ext cx="12192000" cy="7010400"/>
          </a:xfrm>
          <a:prstGeom prst="rect">
            <a:avLst/>
          </a:prstGeom>
          <a:gradFill flip="none" rotWithShape="1">
            <a:gsLst>
              <a:gs pos="100000">
                <a:schemeClr val="accent5">
                  <a:lumMod val="50000"/>
                </a:schemeClr>
              </a:gs>
              <a:gs pos="20000">
                <a:schemeClr val="accent1">
                  <a:lumMod val="45000"/>
                  <a:lumOff val="55000"/>
                </a:schemeClr>
              </a:gs>
              <a:gs pos="100000">
                <a:schemeClr val="accent1">
                  <a:lumMod val="30000"/>
                  <a:lumOff val="7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Folded Corner 8">
            <a:extLst>
              <a:ext uri="{FF2B5EF4-FFF2-40B4-BE49-F238E27FC236}">
                <a16:creationId xmlns:a16="http://schemas.microsoft.com/office/drawing/2014/main" id="{9013D976-217E-6450-7E46-CACC60793CA7}"/>
              </a:ext>
            </a:extLst>
          </p:cNvPr>
          <p:cNvSpPr/>
          <p:nvPr/>
        </p:nvSpPr>
        <p:spPr>
          <a:xfrm>
            <a:off x="7559355" y="1499616"/>
            <a:ext cx="4531870" cy="5273027"/>
          </a:xfrm>
          <a:prstGeom prst="foldedCorner">
            <a:avLst>
              <a:gd name="adj" fmla="val 15966"/>
            </a:avLst>
          </a:prstGeom>
          <a:solidFill>
            <a:srgbClr val="CCECFF"/>
          </a:solid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tIns="9144" bIns="9144" rtlCol="0" anchor="ctr"/>
          <a:lstStyle/>
          <a:p>
            <a:endParaRPr lang="en-US" sz="1100" dirty="0">
              <a:solidFill>
                <a:srgbClr val="001D35"/>
              </a:solidFill>
              <a:latin typeface="Google Sans"/>
            </a:endParaRPr>
          </a:p>
          <a:p>
            <a:r>
              <a:rPr lang="en-US" sz="1100" dirty="0">
                <a:solidFill>
                  <a:srgbClr val="001D35"/>
                </a:solidFill>
                <a:latin typeface="Google Sans"/>
              </a:rPr>
              <a:t> </a:t>
            </a:r>
          </a:p>
          <a:p>
            <a:endParaRPr lang="en-US" sz="1100" dirty="0">
              <a:solidFill>
                <a:srgbClr val="001D35"/>
              </a:solidFill>
              <a:latin typeface="Google Sans"/>
            </a:endParaRPr>
          </a:p>
          <a:p>
            <a:endParaRPr lang="en-US" sz="1100" dirty="0">
              <a:solidFill>
                <a:srgbClr val="001D35"/>
              </a:solidFill>
              <a:latin typeface="Google Sans"/>
            </a:endParaRPr>
          </a:p>
          <a:p>
            <a:endParaRPr lang="en-US" sz="1100" dirty="0">
              <a:solidFill>
                <a:srgbClr val="001D35"/>
              </a:solidFill>
              <a:latin typeface="Google Sans"/>
            </a:endParaRPr>
          </a:p>
          <a:p>
            <a:endParaRPr lang="en-US" sz="1400" dirty="0">
              <a:solidFill>
                <a:srgbClr val="001D35"/>
              </a:solidFill>
              <a:latin typeface="Google Sans"/>
            </a:endParaRPr>
          </a:p>
          <a:p>
            <a:r>
              <a:rPr lang="en-US" sz="1400" dirty="0">
                <a:solidFill>
                  <a:schemeClr val="tx1"/>
                </a:solidFill>
                <a:latin typeface="Google Sans"/>
              </a:rPr>
              <a:t>…..</a:t>
            </a:r>
            <a:r>
              <a:rPr lang="en-US" sz="1400" dirty="0" err="1">
                <a:solidFill>
                  <a:schemeClr val="tx1"/>
                </a:solidFill>
                <a:latin typeface="Google Sans"/>
              </a:rPr>
              <a:t>netzero</a:t>
            </a:r>
            <a:r>
              <a:rPr lang="en-US" sz="1400" dirty="0">
                <a:solidFill>
                  <a:schemeClr val="tx1"/>
                </a:solidFill>
                <a:latin typeface="Google Sans"/>
              </a:rPr>
              <a:t> smart contract continued</a:t>
            </a:r>
          </a:p>
          <a:p>
            <a:endParaRPr lang="en-US" sz="1400" dirty="0">
              <a:solidFill>
                <a:srgbClr val="C00000"/>
              </a:solidFill>
              <a:latin typeface="Google Sans"/>
            </a:endParaRPr>
          </a:p>
          <a:p>
            <a:r>
              <a:rPr lang="en-US" sz="1400" b="0" i="0" dirty="0">
                <a:solidFill>
                  <a:srgbClr val="001D35"/>
                </a:solidFill>
                <a:effectLst/>
                <a:latin typeface="Google Sans"/>
              </a:rPr>
              <a:t>     </a:t>
            </a:r>
            <a:r>
              <a:rPr lang="en-US" sz="1200" b="0" i="0" dirty="0">
                <a:solidFill>
                  <a:srgbClr val="001D35"/>
                </a:solidFill>
                <a:effectLst/>
                <a:latin typeface="Google Sans"/>
              </a:rPr>
              <a:t>struct </a:t>
            </a:r>
            <a:r>
              <a:rPr lang="en-US" sz="1200" b="0" i="0" dirty="0" err="1">
                <a:solidFill>
                  <a:srgbClr val="001D35"/>
                </a:solidFill>
                <a:effectLst/>
                <a:latin typeface="Google Sans"/>
              </a:rPr>
              <a:t>IoTDevice</a:t>
            </a:r>
            <a:r>
              <a:rPr lang="en-US" sz="1200" b="0" i="0" dirty="0">
                <a:solidFill>
                  <a:srgbClr val="001D35"/>
                </a:solidFill>
                <a:effectLst/>
                <a:latin typeface="Google Sans"/>
              </a:rPr>
              <a:t>               {</a:t>
            </a:r>
          </a:p>
          <a:p>
            <a:r>
              <a:rPr lang="en-US" sz="1200" dirty="0">
                <a:solidFill>
                  <a:srgbClr val="001D35"/>
                </a:solidFill>
                <a:latin typeface="Google Sans"/>
              </a:rPr>
              <a:t>         string owner ; </a:t>
            </a:r>
          </a:p>
          <a:p>
            <a:r>
              <a:rPr lang="en-US" sz="1200" dirty="0">
                <a:solidFill>
                  <a:srgbClr val="001D35"/>
                </a:solidFill>
                <a:latin typeface="Google Sans"/>
              </a:rPr>
              <a:t>         </a:t>
            </a:r>
            <a:r>
              <a:rPr lang="en-US" sz="1200" b="1" dirty="0">
                <a:solidFill>
                  <a:srgbClr val="001D35"/>
                </a:solidFill>
                <a:latin typeface="Google Sans"/>
              </a:rPr>
              <a:t>string UUID;</a:t>
            </a:r>
          </a:p>
          <a:p>
            <a:r>
              <a:rPr lang="en-US" sz="1200" dirty="0">
                <a:solidFill>
                  <a:srgbClr val="001D35"/>
                </a:solidFill>
                <a:latin typeface="Google Sans"/>
              </a:rPr>
              <a:t>         string </a:t>
            </a:r>
            <a:r>
              <a:rPr lang="en-US" sz="1200" dirty="0" err="1">
                <a:solidFill>
                  <a:srgbClr val="001D35"/>
                </a:solidFill>
                <a:latin typeface="Google Sans"/>
              </a:rPr>
              <a:t>device_type</a:t>
            </a:r>
            <a:r>
              <a:rPr lang="en-US" sz="1200" dirty="0">
                <a:solidFill>
                  <a:srgbClr val="001D35"/>
                </a:solidFill>
                <a:latin typeface="Google Sans"/>
              </a:rPr>
              <a:t>;</a:t>
            </a:r>
          </a:p>
          <a:p>
            <a:r>
              <a:rPr lang="en-US" sz="1200" dirty="0">
                <a:solidFill>
                  <a:srgbClr val="001D35"/>
                </a:solidFill>
                <a:latin typeface="Google Sans"/>
              </a:rPr>
              <a:t>         </a:t>
            </a:r>
            <a:r>
              <a:rPr lang="en-US" sz="1200" b="1" dirty="0" err="1">
                <a:solidFill>
                  <a:srgbClr val="001D35"/>
                </a:solidFill>
                <a:latin typeface="Google Sans"/>
              </a:rPr>
              <a:t>EmissionData</a:t>
            </a:r>
            <a:r>
              <a:rPr lang="en-US" sz="1200" b="1" dirty="0">
                <a:solidFill>
                  <a:srgbClr val="001D35"/>
                </a:solidFill>
                <a:latin typeface="Google Sans"/>
              </a:rPr>
              <a:t>[] </a:t>
            </a:r>
            <a:r>
              <a:rPr lang="en-US" sz="1200" b="1" dirty="0" err="1">
                <a:solidFill>
                  <a:srgbClr val="001D35"/>
                </a:solidFill>
                <a:latin typeface="Google Sans"/>
              </a:rPr>
              <a:t>emmissionsbyDevice</a:t>
            </a:r>
            <a:r>
              <a:rPr lang="en-US" sz="1200" b="1" dirty="0">
                <a:solidFill>
                  <a:srgbClr val="001D35"/>
                </a:solidFill>
                <a:latin typeface="Google Sans"/>
              </a:rPr>
              <a:t>;</a:t>
            </a:r>
          </a:p>
          <a:p>
            <a:r>
              <a:rPr lang="en-US" sz="1200" dirty="0">
                <a:solidFill>
                  <a:srgbClr val="001D35"/>
                </a:solidFill>
                <a:latin typeface="Google Sans"/>
              </a:rPr>
              <a:t>         string capability; </a:t>
            </a:r>
          </a:p>
          <a:p>
            <a:r>
              <a:rPr lang="en-US" sz="1200" dirty="0">
                <a:solidFill>
                  <a:srgbClr val="001D35"/>
                </a:solidFill>
                <a:latin typeface="Google Sans"/>
              </a:rPr>
              <a:t>         Boolean </a:t>
            </a:r>
            <a:r>
              <a:rPr lang="en-US" sz="1200" dirty="0" err="1">
                <a:solidFill>
                  <a:srgbClr val="001D35"/>
                </a:solidFill>
                <a:latin typeface="Google Sans"/>
              </a:rPr>
              <a:t>isActive</a:t>
            </a:r>
            <a:r>
              <a:rPr lang="en-US" sz="1200" dirty="0">
                <a:solidFill>
                  <a:srgbClr val="001D35"/>
                </a:solidFill>
                <a:latin typeface="Google Sans"/>
              </a:rPr>
              <a:t>; </a:t>
            </a:r>
          </a:p>
          <a:p>
            <a:r>
              <a:rPr lang="en-US" sz="1200" dirty="0">
                <a:solidFill>
                  <a:srgbClr val="001D35"/>
                </a:solidFill>
                <a:latin typeface="Google Sans"/>
              </a:rPr>
              <a:t>         string </a:t>
            </a:r>
            <a:r>
              <a:rPr lang="en-US" sz="1200" dirty="0" err="1">
                <a:solidFill>
                  <a:srgbClr val="001D35"/>
                </a:solidFill>
                <a:latin typeface="Google Sans"/>
              </a:rPr>
              <a:t>data_stream_link</a:t>
            </a:r>
            <a:r>
              <a:rPr lang="en-US" sz="1200" dirty="0">
                <a:solidFill>
                  <a:srgbClr val="001D35"/>
                </a:solidFill>
                <a:latin typeface="Google Sans"/>
              </a:rPr>
              <a:t>    }</a:t>
            </a:r>
          </a:p>
          <a:p>
            <a:endParaRPr lang="en-US" sz="1200" dirty="0">
              <a:solidFill>
                <a:srgbClr val="001D35"/>
              </a:solidFill>
              <a:latin typeface="Google Sans"/>
            </a:endParaRPr>
          </a:p>
          <a:p>
            <a:r>
              <a:rPr lang="en-US" sz="1200" dirty="0">
                <a:solidFill>
                  <a:srgbClr val="001D35"/>
                </a:solidFill>
                <a:latin typeface="Google Sans"/>
              </a:rPr>
              <a:t>      struct </a:t>
            </a:r>
            <a:r>
              <a:rPr lang="en-US" sz="1200" dirty="0" err="1">
                <a:solidFill>
                  <a:srgbClr val="001D35"/>
                </a:solidFill>
                <a:latin typeface="Google Sans"/>
              </a:rPr>
              <a:t>EmissionData</a:t>
            </a:r>
            <a:r>
              <a:rPr lang="en-US" sz="1200" dirty="0">
                <a:solidFill>
                  <a:srgbClr val="001D35"/>
                </a:solidFill>
                <a:latin typeface="Google Sans"/>
              </a:rPr>
              <a:t> {</a:t>
            </a:r>
          </a:p>
          <a:p>
            <a:r>
              <a:rPr lang="en-US" sz="1200" dirty="0">
                <a:solidFill>
                  <a:srgbClr val="001D35"/>
                </a:solidFill>
                <a:latin typeface="Google Sans"/>
              </a:rPr>
              <a:t>         </a:t>
            </a:r>
            <a:r>
              <a:rPr lang="en-US" sz="1200" b="1" dirty="0">
                <a:solidFill>
                  <a:srgbClr val="001D35"/>
                </a:solidFill>
                <a:latin typeface="Google Sans"/>
              </a:rPr>
              <a:t>string UUID;            </a:t>
            </a:r>
            <a:r>
              <a:rPr lang="en-US" sz="1200" dirty="0">
                <a:solidFill>
                  <a:srgbClr val="001D35"/>
                </a:solidFill>
                <a:latin typeface="Google Sans"/>
              </a:rPr>
              <a:t>//  device this emission came from</a:t>
            </a:r>
          </a:p>
          <a:p>
            <a:r>
              <a:rPr lang="en-US" sz="1200" dirty="0">
                <a:solidFill>
                  <a:srgbClr val="001D35"/>
                </a:solidFill>
                <a:latin typeface="Google Sans"/>
              </a:rPr>
              <a:t>         uint256 timestamp;         // When it was recorded</a:t>
            </a:r>
          </a:p>
          <a:p>
            <a:r>
              <a:rPr lang="en-US" sz="1200" dirty="0">
                <a:solidFill>
                  <a:srgbClr val="001D35"/>
                </a:solidFill>
                <a:latin typeface="Google Sans"/>
              </a:rPr>
              <a:t>         uint256 </a:t>
            </a:r>
            <a:r>
              <a:rPr lang="en-US" sz="1200" dirty="0" err="1">
                <a:solidFill>
                  <a:srgbClr val="001D35"/>
                </a:solidFill>
                <a:latin typeface="Google Sans"/>
              </a:rPr>
              <a:t>emissionfactor</a:t>
            </a:r>
            <a:r>
              <a:rPr lang="en-US" sz="1200" dirty="0">
                <a:solidFill>
                  <a:srgbClr val="001D35"/>
                </a:solidFill>
                <a:latin typeface="Google Sans"/>
              </a:rPr>
              <a:t>  // 0.0 – 1.0</a:t>
            </a:r>
          </a:p>
          <a:p>
            <a:r>
              <a:rPr lang="en-US" sz="1200" dirty="0">
                <a:solidFill>
                  <a:srgbClr val="001D35"/>
                </a:solidFill>
                <a:latin typeface="Google Sans"/>
              </a:rPr>
              <a:t>         uint256 </a:t>
            </a:r>
            <a:r>
              <a:rPr lang="en-US" sz="1200" dirty="0" err="1">
                <a:solidFill>
                  <a:srgbClr val="001D35"/>
                </a:solidFill>
                <a:latin typeface="Google Sans"/>
              </a:rPr>
              <a:t>emissionValue</a:t>
            </a:r>
            <a:r>
              <a:rPr lang="en-US" sz="1200" dirty="0">
                <a:solidFill>
                  <a:srgbClr val="001D35"/>
                </a:solidFill>
                <a:latin typeface="Google Sans"/>
              </a:rPr>
              <a:t>;  // e.g., 420</a:t>
            </a:r>
          </a:p>
          <a:p>
            <a:r>
              <a:rPr lang="en-US" sz="1200" dirty="0">
                <a:solidFill>
                  <a:srgbClr val="001D35"/>
                </a:solidFill>
                <a:latin typeface="Google Sans"/>
              </a:rPr>
              <a:t>         string units;                      // e.g., "gCO2/km“ }</a:t>
            </a:r>
          </a:p>
          <a:p>
            <a:r>
              <a:rPr lang="en-US" sz="1200" dirty="0">
                <a:solidFill>
                  <a:srgbClr val="001D35"/>
                </a:solidFill>
                <a:latin typeface="Google Sans"/>
              </a:rPr>
              <a:t>                </a:t>
            </a:r>
          </a:p>
          <a:p>
            <a:r>
              <a:rPr lang="en-US" sz="1200" dirty="0">
                <a:solidFill>
                  <a:srgbClr val="001D35"/>
                </a:solidFill>
                <a:latin typeface="Google Sans"/>
              </a:rPr>
              <a:t>       struct </a:t>
            </a:r>
            <a:r>
              <a:rPr lang="en-US" sz="1200" dirty="0" err="1">
                <a:solidFill>
                  <a:srgbClr val="001D35"/>
                </a:solidFill>
                <a:latin typeface="Google Sans"/>
              </a:rPr>
              <a:t>exceed_actions</a:t>
            </a:r>
            <a:r>
              <a:rPr lang="en-US" sz="1200" dirty="0">
                <a:solidFill>
                  <a:srgbClr val="001D35"/>
                </a:solidFill>
                <a:latin typeface="Google Sans"/>
              </a:rPr>
              <a:t>  {</a:t>
            </a:r>
          </a:p>
          <a:p>
            <a:r>
              <a:rPr lang="en-US" sz="1200" dirty="0">
                <a:solidFill>
                  <a:srgbClr val="001D35"/>
                </a:solidFill>
                <a:latin typeface="Google Sans"/>
              </a:rPr>
              <a:t>          number baseline;</a:t>
            </a:r>
          </a:p>
          <a:p>
            <a:r>
              <a:rPr lang="en-US" sz="1200" dirty="0">
                <a:solidFill>
                  <a:srgbClr val="001D35"/>
                </a:solidFill>
                <a:latin typeface="Google Sans"/>
              </a:rPr>
              <a:t>          string msg;</a:t>
            </a:r>
          </a:p>
          <a:p>
            <a:r>
              <a:rPr lang="en-US" sz="1200" dirty="0">
                <a:solidFill>
                  <a:srgbClr val="001D35"/>
                </a:solidFill>
                <a:latin typeface="Google Sans"/>
              </a:rPr>
              <a:t>          string </a:t>
            </a:r>
            <a:r>
              <a:rPr lang="en-US" sz="1200" dirty="0" err="1">
                <a:solidFill>
                  <a:srgbClr val="001D35"/>
                </a:solidFill>
                <a:latin typeface="Google Sans"/>
              </a:rPr>
              <a:t>action_options</a:t>
            </a:r>
            <a:r>
              <a:rPr lang="en-US" sz="1200" dirty="0">
                <a:solidFill>
                  <a:srgbClr val="001D35"/>
                </a:solidFill>
                <a:latin typeface="Google Sans"/>
              </a:rPr>
              <a:t>;</a:t>
            </a:r>
          </a:p>
          <a:p>
            <a:r>
              <a:rPr lang="en-US" sz="1200" dirty="0">
                <a:solidFill>
                  <a:srgbClr val="001D35"/>
                </a:solidFill>
                <a:latin typeface="Google Sans"/>
              </a:rPr>
              <a:t>          //* perform smart contract defined actions</a:t>
            </a:r>
          </a:p>
          <a:p>
            <a:r>
              <a:rPr lang="en-US" sz="1200" dirty="0">
                <a:solidFill>
                  <a:srgbClr val="001D35"/>
                </a:solidFill>
                <a:latin typeface="Google Sans"/>
              </a:rPr>
              <a:t>             if (exceed _high) – logic here</a:t>
            </a:r>
          </a:p>
          <a:p>
            <a:r>
              <a:rPr lang="en-US" sz="1400" dirty="0">
                <a:solidFill>
                  <a:srgbClr val="001D35"/>
                </a:solidFill>
                <a:latin typeface="Google Sans"/>
              </a:rPr>
              <a:t>             if (problem) – logic here </a:t>
            </a:r>
          </a:p>
          <a:p>
            <a:r>
              <a:rPr lang="en-US" sz="1400" dirty="0">
                <a:solidFill>
                  <a:srgbClr val="001D35"/>
                </a:solidFill>
                <a:latin typeface="Google Sans"/>
              </a:rPr>
              <a:t>                                                   }</a:t>
            </a:r>
          </a:p>
          <a:p>
            <a:r>
              <a:rPr lang="en-US" sz="1400" dirty="0">
                <a:solidFill>
                  <a:srgbClr val="001D35"/>
                </a:solidFill>
                <a:latin typeface="Google Sans"/>
              </a:rPr>
              <a:t>// end </a:t>
            </a:r>
            <a:r>
              <a:rPr lang="en-US" sz="1400" dirty="0" err="1">
                <a:solidFill>
                  <a:srgbClr val="001D35"/>
                </a:solidFill>
                <a:latin typeface="Google Sans"/>
              </a:rPr>
              <a:t>netzero</a:t>
            </a:r>
            <a:r>
              <a:rPr lang="en-US" sz="1400" dirty="0">
                <a:solidFill>
                  <a:srgbClr val="001D35"/>
                </a:solidFill>
                <a:latin typeface="Google Sans"/>
              </a:rPr>
              <a:t> contract</a:t>
            </a:r>
          </a:p>
          <a:p>
            <a:endParaRPr lang="en-US" sz="1400" dirty="0">
              <a:solidFill>
                <a:srgbClr val="001D35"/>
              </a:solidFill>
              <a:latin typeface="Google Sans"/>
            </a:endParaRPr>
          </a:p>
          <a:p>
            <a:endParaRPr lang="en-US" sz="1100" dirty="0">
              <a:solidFill>
                <a:srgbClr val="001D35"/>
              </a:solidFill>
              <a:latin typeface="Google Sans"/>
            </a:endParaRPr>
          </a:p>
          <a:p>
            <a:endParaRPr lang="en-US" sz="1100" dirty="0">
              <a:solidFill>
                <a:srgbClr val="C00000"/>
              </a:solidFill>
            </a:endParaRPr>
          </a:p>
        </p:txBody>
      </p:sp>
      <p:sp>
        <p:nvSpPr>
          <p:cNvPr id="11" name="TextBox 10">
            <a:extLst>
              <a:ext uri="{FF2B5EF4-FFF2-40B4-BE49-F238E27FC236}">
                <a16:creationId xmlns:a16="http://schemas.microsoft.com/office/drawing/2014/main" id="{866CFCF1-DC68-032A-DEBF-5F8B1692145A}"/>
              </a:ext>
            </a:extLst>
          </p:cNvPr>
          <p:cNvSpPr txBox="1"/>
          <p:nvPr/>
        </p:nvSpPr>
        <p:spPr>
          <a:xfrm>
            <a:off x="-4155" y="1292492"/>
            <a:ext cx="7133087" cy="369332"/>
          </a:xfrm>
          <a:prstGeom prst="rect">
            <a:avLst/>
          </a:prstGeom>
          <a:noFill/>
        </p:spPr>
        <p:txBody>
          <a:bodyPr wrap="square" rtlCol="0">
            <a:spAutoFit/>
          </a:bodyPr>
          <a:lstStyle/>
          <a:p>
            <a:r>
              <a:rPr lang="en-US" b="1" dirty="0">
                <a:solidFill>
                  <a:schemeClr val="bg1"/>
                </a:solidFill>
              </a:rPr>
              <a:t>IoT device and Emissions Data representation (pseudo code)</a:t>
            </a:r>
          </a:p>
        </p:txBody>
      </p:sp>
      <p:sp>
        <p:nvSpPr>
          <p:cNvPr id="12" name="TextBox 11">
            <a:extLst>
              <a:ext uri="{FF2B5EF4-FFF2-40B4-BE49-F238E27FC236}">
                <a16:creationId xmlns:a16="http://schemas.microsoft.com/office/drawing/2014/main" id="{A08CD89F-94E8-DE43-AA8A-40ABF0901077}"/>
              </a:ext>
            </a:extLst>
          </p:cNvPr>
          <p:cNvSpPr txBox="1"/>
          <p:nvPr/>
        </p:nvSpPr>
        <p:spPr>
          <a:xfrm>
            <a:off x="8890" y="1680372"/>
            <a:ext cx="7220417" cy="5139869"/>
          </a:xfrm>
          <a:prstGeom prst="rect">
            <a:avLst/>
          </a:prstGeom>
          <a:noFill/>
        </p:spPr>
        <p:txBody>
          <a:bodyPr wrap="square" rtlCol="0">
            <a:spAutoFit/>
          </a:bodyPr>
          <a:lstStyle/>
          <a:p>
            <a:pPr marL="342900" indent="-342900">
              <a:buAutoNum type="arabicParenR"/>
            </a:pPr>
            <a:r>
              <a:rPr lang="en-US" b="1" dirty="0">
                <a:solidFill>
                  <a:schemeClr val="bg1"/>
                </a:solidFill>
              </a:rPr>
              <a:t>Collect IoT device identifiers</a:t>
            </a:r>
          </a:p>
          <a:p>
            <a:r>
              <a:rPr lang="en-US" sz="1400" b="1" dirty="0">
                <a:solidFill>
                  <a:schemeClr val="bg1"/>
                </a:solidFill>
                <a:latin typeface="Google Sans"/>
              </a:rPr>
              <a:t>            a) create a unique identity using the IoT UUID or the device’s MAC address.</a:t>
            </a:r>
          </a:p>
          <a:p>
            <a:r>
              <a:rPr lang="en-US" sz="1400" b="1" dirty="0">
                <a:solidFill>
                  <a:schemeClr val="bg1"/>
                </a:solidFill>
                <a:latin typeface="Google Sans"/>
              </a:rPr>
              <a:t>            b) This structure is used to register devices such as CO2 sensors, water flow monitors,</a:t>
            </a:r>
          </a:p>
          <a:p>
            <a:r>
              <a:rPr lang="en-US" sz="1400" b="1" dirty="0">
                <a:solidFill>
                  <a:schemeClr val="bg1"/>
                </a:solidFill>
                <a:latin typeface="Google Sans"/>
              </a:rPr>
              <a:t>                 and  fuel burn trackers.</a:t>
            </a:r>
            <a:endParaRPr lang="en-US" sz="1400" b="1" dirty="0">
              <a:solidFill>
                <a:schemeClr val="bg1"/>
              </a:solidFill>
            </a:endParaRPr>
          </a:p>
          <a:p>
            <a:endParaRPr lang="en-US" b="1" dirty="0">
              <a:solidFill>
                <a:schemeClr val="bg1"/>
              </a:solidFill>
            </a:endParaRPr>
          </a:p>
          <a:p>
            <a:r>
              <a:rPr lang="en-US" b="1" dirty="0">
                <a:solidFill>
                  <a:schemeClr val="bg1"/>
                </a:solidFill>
              </a:rPr>
              <a:t>2)   Define smart contracts on the selected blockchain</a:t>
            </a:r>
          </a:p>
          <a:p>
            <a:r>
              <a:rPr lang="en-US" sz="1400" b="1" dirty="0">
                <a:solidFill>
                  <a:schemeClr val="bg1"/>
                </a:solidFill>
                <a:latin typeface="Google Sans"/>
              </a:rPr>
              <a:t>            a) define the logic in a smart contract to be associated with the IoT device(if the</a:t>
            </a:r>
          </a:p>
          <a:p>
            <a:r>
              <a:rPr lang="en-US" sz="1400" b="1" dirty="0">
                <a:solidFill>
                  <a:schemeClr val="bg1"/>
                </a:solidFill>
                <a:latin typeface="Google Sans"/>
              </a:rPr>
              <a:t>                measurement is out of range perform some action triggering activity).</a:t>
            </a:r>
          </a:p>
          <a:p>
            <a:r>
              <a:rPr lang="en-US" sz="1400" b="1" dirty="0">
                <a:solidFill>
                  <a:schemeClr val="bg1"/>
                </a:solidFill>
                <a:latin typeface="Google Sans"/>
              </a:rPr>
              <a:t>            b) code a struct in the smart contract for IoT information.</a:t>
            </a:r>
          </a:p>
          <a:p>
            <a:r>
              <a:rPr lang="en-US" sz="1400" b="1" dirty="0">
                <a:solidFill>
                  <a:schemeClr val="bg1"/>
                </a:solidFill>
                <a:latin typeface="Google Sans"/>
              </a:rPr>
              <a:t>            c)  code the smart contract blockchain actions to be performed when exceeding</a:t>
            </a:r>
          </a:p>
          <a:p>
            <a:r>
              <a:rPr lang="en-US" sz="1400" b="1" dirty="0">
                <a:solidFill>
                  <a:schemeClr val="bg1"/>
                </a:solidFill>
                <a:latin typeface="Google Sans"/>
              </a:rPr>
              <a:t>                 thresholds.</a:t>
            </a:r>
          </a:p>
          <a:p>
            <a:r>
              <a:rPr lang="en-US" sz="1400" b="1" dirty="0">
                <a:solidFill>
                  <a:schemeClr val="bg1"/>
                </a:solidFill>
                <a:latin typeface="Google Sans"/>
              </a:rPr>
              <a:t>            d) “units” to record emissions per km, timeframe, unit of production</a:t>
            </a:r>
          </a:p>
          <a:p>
            <a:r>
              <a:rPr lang="en-US" sz="1400" b="1" dirty="0">
                <a:solidFill>
                  <a:schemeClr val="bg1"/>
                </a:solidFill>
                <a:latin typeface="Google Sans"/>
              </a:rPr>
              <a:t>          </a:t>
            </a:r>
          </a:p>
          <a:p>
            <a:r>
              <a:rPr lang="en-US" b="1" dirty="0">
                <a:solidFill>
                  <a:schemeClr val="bg1"/>
                </a:solidFill>
              </a:rPr>
              <a:t>3)    Add the device to the blockchain’s smart contract</a:t>
            </a:r>
          </a:p>
          <a:p>
            <a:r>
              <a:rPr lang="en-US" sz="1400" b="1" dirty="0">
                <a:solidFill>
                  <a:schemeClr val="bg1"/>
                </a:solidFill>
                <a:latin typeface="Google Sans"/>
              </a:rPr>
              <a:t>            a) through a blockchain transaction, add the device to the target smart contract entering</a:t>
            </a:r>
          </a:p>
          <a:p>
            <a:r>
              <a:rPr lang="en-US" sz="1400" b="1" dirty="0">
                <a:solidFill>
                  <a:schemeClr val="bg1"/>
                </a:solidFill>
                <a:latin typeface="Google Sans"/>
              </a:rPr>
              <a:t>                its unique identifier linking the data stream to the smart contract.</a:t>
            </a:r>
          </a:p>
          <a:p>
            <a:r>
              <a:rPr lang="en-US" sz="1400" b="1" dirty="0">
                <a:solidFill>
                  <a:schemeClr val="bg1"/>
                </a:solidFill>
                <a:latin typeface="Google Sans"/>
              </a:rPr>
              <a:t>                </a:t>
            </a:r>
            <a:r>
              <a:rPr lang="en-US" sz="1400" b="1" dirty="0" err="1">
                <a:solidFill>
                  <a:schemeClr val="bg1"/>
                </a:solidFill>
                <a:latin typeface="Google Sans"/>
              </a:rPr>
              <a:t>ctx</a:t>
            </a:r>
            <a:r>
              <a:rPr lang="en-US" sz="1400" b="1" dirty="0">
                <a:solidFill>
                  <a:schemeClr val="bg1"/>
                </a:solidFill>
                <a:latin typeface="Google Sans"/>
              </a:rPr>
              <a:t>  = </a:t>
            </a:r>
            <a:r>
              <a:rPr lang="en-US" sz="1400" b="1" dirty="0" err="1">
                <a:solidFill>
                  <a:schemeClr val="bg1"/>
                </a:solidFill>
                <a:latin typeface="Google Sans"/>
              </a:rPr>
              <a:t>IoTDevice_register</a:t>
            </a:r>
            <a:r>
              <a:rPr lang="en-US" sz="1400" b="1" dirty="0">
                <a:solidFill>
                  <a:schemeClr val="bg1"/>
                </a:solidFill>
                <a:latin typeface="Google Sans"/>
              </a:rPr>
              <a:t>( </a:t>
            </a:r>
            <a:r>
              <a:rPr lang="en-US" sz="1400" b="1" dirty="0" err="1">
                <a:solidFill>
                  <a:schemeClr val="bg1"/>
                </a:solidFill>
                <a:latin typeface="Google Sans"/>
              </a:rPr>
              <a:t>data_stream_id</a:t>
            </a:r>
            <a:r>
              <a:rPr lang="en-US" sz="1400" b="1" dirty="0">
                <a:solidFill>
                  <a:schemeClr val="bg1"/>
                </a:solidFill>
                <a:latin typeface="Google Sans"/>
              </a:rPr>
              <a:t>, owner, UUID)</a:t>
            </a:r>
          </a:p>
          <a:p>
            <a:r>
              <a:rPr lang="en-US" sz="1400" b="1" dirty="0">
                <a:solidFill>
                  <a:schemeClr val="bg1"/>
                </a:solidFill>
                <a:latin typeface="Google Sans"/>
              </a:rPr>
              <a:t>             b) link the IoT device identifier with metadata such as owner, device type, capabilities</a:t>
            </a:r>
          </a:p>
          <a:p>
            <a:r>
              <a:rPr lang="en-US" sz="1400" b="1" dirty="0">
                <a:solidFill>
                  <a:schemeClr val="bg1"/>
                </a:solidFill>
                <a:latin typeface="Google Sans"/>
              </a:rPr>
              <a:t>              </a:t>
            </a:r>
          </a:p>
          <a:p>
            <a:pPr marL="342900" indent="-342900">
              <a:buAutoNum type="arabicParenR" startAt="4"/>
            </a:pPr>
            <a:r>
              <a:rPr lang="en-US" b="1" dirty="0">
                <a:solidFill>
                  <a:schemeClr val="bg1"/>
                </a:solidFill>
              </a:rPr>
              <a:t>Cryptographically sign transactions for blockchain or off-chain storage</a:t>
            </a:r>
          </a:p>
          <a:p>
            <a:r>
              <a:rPr lang="en-US" sz="1400" b="1" dirty="0">
                <a:solidFill>
                  <a:schemeClr val="bg1"/>
                </a:solidFill>
                <a:latin typeface="Google Sans"/>
              </a:rPr>
              <a:t>             a) </a:t>
            </a:r>
            <a:r>
              <a:rPr lang="en-US" sz="1400" b="1" dirty="0">
                <a:solidFill>
                  <a:schemeClr val="bg1"/>
                </a:solidFill>
              </a:rPr>
              <a:t>Data Transmission: IoT device sends signed temperature data via a gateway, API or</a:t>
            </a:r>
          </a:p>
          <a:p>
            <a:r>
              <a:rPr lang="en-US" sz="1400" b="1" dirty="0">
                <a:solidFill>
                  <a:schemeClr val="bg1"/>
                </a:solidFill>
              </a:rPr>
              <a:t>                 other middleware to the smart contract on a blockchain node.</a:t>
            </a:r>
            <a:r>
              <a:rPr lang="en-US" sz="1400" b="1" dirty="0">
                <a:solidFill>
                  <a:schemeClr val="bg1"/>
                </a:solidFill>
                <a:latin typeface="Google Sans"/>
              </a:rPr>
              <a:t>                </a:t>
            </a:r>
            <a:endParaRPr lang="en-US" b="1" dirty="0">
              <a:solidFill>
                <a:schemeClr val="bg1"/>
              </a:solidFill>
            </a:endParaRPr>
          </a:p>
        </p:txBody>
      </p:sp>
      <p:sp>
        <p:nvSpPr>
          <p:cNvPr id="2" name="AutoShape 2" descr="A detailed infographic illustrating the process of defining an IoT device on a blockchain. The image includes a flow from an IoT device (e.g., a sensor) to its integration with a blockchain system. Key elements include (1) Device Identity Registration with unique IDs and cryptographic keys, (2) Secure Communication using encryption, (3) Data Validation through blockchain nodes and oracles, (4) Integration with Smart Contracts showing automated triggers, (5) Off-Chain Data Storage connected to the blockchain using systems like IPFS, and (6) Scalability with Layer 2 solutions. The design is clean and professional, with arrows connecting each step, labeled sections, and a modern tech aesthetic.">
            <a:extLst>
              <a:ext uri="{FF2B5EF4-FFF2-40B4-BE49-F238E27FC236}">
                <a16:creationId xmlns:a16="http://schemas.microsoft.com/office/drawing/2014/main" id="{E1C268EB-1995-2286-418F-CB190D735A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13" name="Connector: Elbow 12">
            <a:extLst>
              <a:ext uri="{FF2B5EF4-FFF2-40B4-BE49-F238E27FC236}">
                <a16:creationId xmlns:a16="http://schemas.microsoft.com/office/drawing/2014/main" id="{B35D6C33-3135-B879-0478-158F6434AC13}"/>
              </a:ext>
            </a:extLst>
          </p:cNvPr>
          <p:cNvCxnSpPr>
            <a:cxnSpLocks/>
          </p:cNvCxnSpPr>
          <p:nvPr/>
        </p:nvCxnSpPr>
        <p:spPr>
          <a:xfrm rot="10800000">
            <a:off x="6163136" y="2134791"/>
            <a:ext cx="1691561" cy="220483"/>
          </a:xfrm>
          <a:prstGeom prst="bentConnector3">
            <a:avLst>
              <a:gd name="adj1" fmla="val 41146"/>
            </a:avLst>
          </a:prstGeom>
          <a:ln w="22225">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4D27FCE0-B5CC-0D1C-3B25-D086D79315BC}"/>
              </a:ext>
            </a:extLst>
          </p:cNvPr>
          <p:cNvCxnSpPr>
            <a:cxnSpLocks/>
          </p:cNvCxnSpPr>
          <p:nvPr/>
        </p:nvCxnSpPr>
        <p:spPr>
          <a:xfrm rot="10800000">
            <a:off x="1639615" y="4136132"/>
            <a:ext cx="6314089" cy="1405761"/>
          </a:xfrm>
          <a:prstGeom prst="bentConnector3">
            <a:avLst>
              <a:gd name="adj1" fmla="val 43758"/>
            </a:avLst>
          </a:prstGeom>
          <a:ln w="22225">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318E3EC-FF16-E876-5873-B43AED68B8DA}"/>
              </a:ext>
            </a:extLst>
          </p:cNvPr>
          <p:cNvSpPr txBox="1"/>
          <p:nvPr/>
        </p:nvSpPr>
        <p:spPr>
          <a:xfrm>
            <a:off x="110942" y="517060"/>
            <a:ext cx="12072168" cy="646331"/>
          </a:xfrm>
          <a:prstGeom prst="rect">
            <a:avLst/>
          </a:prstGeom>
          <a:noFill/>
          <a:ln>
            <a:noFill/>
          </a:ln>
        </p:spPr>
        <p:txBody>
          <a:bodyPr wrap="square">
            <a:spAutoFit/>
          </a:bodyPr>
          <a:lstStyle/>
          <a:p>
            <a:r>
              <a:rPr lang="en-US" b="1" dirty="0">
                <a:solidFill>
                  <a:schemeClr val="bg1"/>
                </a:solidFill>
              </a:rPr>
              <a:t>Source: Data modelling team. Each </a:t>
            </a:r>
            <a:r>
              <a:rPr lang="en-US" b="1" dirty="0">
                <a:solidFill>
                  <a:srgbClr val="FFFF00"/>
                </a:solidFill>
              </a:rPr>
              <a:t>IoT device </a:t>
            </a:r>
            <a:r>
              <a:rPr lang="en-US" b="1" dirty="0">
                <a:solidFill>
                  <a:schemeClr val="bg1"/>
                </a:solidFill>
              </a:rPr>
              <a:t>is defined as a data object(struct) in a smart contract associated with emission data represented as a structure(struct) within a smart contract. The diagram below details the structures.</a:t>
            </a:r>
            <a:endParaRPr lang="en-US" b="1" dirty="0">
              <a:solidFill>
                <a:schemeClr val="bg1"/>
              </a:solidFill>
              <a:latin typeface="Google Sans"/>
            </a:endParaRPr>
          </a:p>
        </p:txBody>
      </p:sp>
      <p:cxnSp>
        <p:nvCxnSpPr>
          <p:cNvPr id="3" name="Connector: Elbow 2">
            <a:extLst>
              <a:ext uri="{FF2B5EF4-FFF2-40B4-BE49-F238E27FC236}">
                <a16:creationId xmlns:a16="http://schemas.microsoft.com/office/drawing/2014/main" id="{FE568AE7-1333-3C27-7F2A-15021B100C45}"/>
              </a:ext>
            </a:extLst>
          </p:cNvPr>
          <p:cNvCxnSpPr>
            <a:cxnSpLocks/>
          </p:cNvCxnSpPr>
          <p:nvPr/>
        </p:nvCxnSpPr>
        <p:spPr>
          <a:xfrm rot="10800000">
            <a:off x="5604682" y="4371833"/>
            <a:ext cx="2250017" cy="217948"/>
          </a:xfrm>
          <a:prstGeom prst="bentConnector3">
            <a:avLst/>
          </a:prstGeom>
          <a:ln w="22225">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0993300-4157-B66E-5A19-AC89DAE65283}"/>
              </a:ext>
            </a:extLst>
          </p:cNvPr>
          <p:cNvSpPr txBox="1"/>
          <p:nvPr/>
        </p:nvSpPr>
        <p:spPr>
          <a:xfrm>
            <a:off x="77362" y="-44347"/>
            <a:ext cx="12114638" cy="584775"/>
          </a:xfrm>
          <a:prstGeom prst="rect">
            <a:avLst/>
          </a:prstGeom>
          <a:noFill/>
        </p:spPr>
        <p:txBody>
          <a:bodyPr wrap="square" rtlCol="0">
            <a:spAutoFit/>
          </a:bodyPr>
          <a:lstStyle/>
          <a:p>
            <a:r>
              <a:rPr lang="en-US" sz="3200" b="1" dirty="0">
                <a:solidFill>
                  <a:schemeClr val="bg1"/>
                </a:solidFill>
                <a:latin typeface="Abadi Extra Light" panose="020B0204020104020204" pitchFamily="34" charset="0"/>
              </a:rPr>
              <a:t>Digital Twin Instantiation and Data Architecture (2 of 2)</a:t>
            </a:r>
          </a:p>
        </p:txBody>
      </p:sp>
      <p:cxnSp>
        <p:nvCxnSpPr>
          <p:cNvPr id="6" name="Straight Connector 5">
            <a:extLst>
              <a:ext uri="{FF2B5EF4-FFF2-40B4-BE49-F238E27FC236}">
                <a16:creationId xmlns:a16="http://schemas.microsoft.com/office/drawing/2014/main" id="{9C61E988-D616-4D55-6F33-39E50BE5A43D}"/>
              </a:ext>
            </a:extLst>
          </p:cNvPr>
          <p:cNvCxnSpPr>
            <a:cxnSpLocks/>
          </p:cNvCxnSpPr>
          <p:nvPr/>
        </p:nvCxnSpPr>
        <p:spPr>
          <a:xfrm>
            <a:off x="200891" y="1263607"/>
            <a:ext cx="11161376" cy="14569"/>
          </a:xfrm>
          <a:prstGeom prst="line">
            <a:avLst/>
          </a:prstGeom>
          <a:ln w="19050">
            <a:solidFill>
              <a:srgbClr val="FFF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44521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F32EA-BD1A-772B-431E-DAD9B781544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9B2C371-3B30-C985-3DF6-B0A4CC87044E}"/>
              </a:ext>
            </a:extLst>
          </p:cNvPr>
          <p:cNvSpPr/>
          <p:nvPr/>
        </p:nvSpPr>
        <p:spPr>
          <a:xfrm>
            <a:off x="-7859" y="-8467"/>
            <a:ext cx="12192000" cy="7010400"/>
          </a:xfrm>
          <a:prstGeom prst="rect">
            <a:avLst/>
          </a:prstGeom>
          <a:gradFill flip="none" rotWithShape="1">
            <a:gsLst>
              <a:gs pos="100000">
                <a:schemeClr val="accent5">
                  <a:lumMod val="50000"/>
                </a:schemeClr>
              </a:gs>
              <a:gs pos="20000">
                <a:schemeClr val="accent1">
                  <a:lumMod val="45000"/>
                  <a:lumOff val="55000"/>
                </a:schemeClr>
              </a:gs>
              <a:gs pos="100000">
                <a:schemeClr val="accent1">
                  <a:lumMod val="30000"/>
                  <a:lumOff val="7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Folded Corner 8">
            <a:extLst>
              <a:ext uri="{FF2B5EF4-FFF2-40B4-BE49-F238E27FC236}">
                <a16:creationId xmlns:a16="http://schemas.microsoft.com/office/drawing/2014/main" id="{F6EA1579-3CA9-B6D6-5769-A996E69D4392}"/>
              </a:ext>
            </a:extLst>
          </p:cNvPr>
          <p:cNvSpPr/>
          <p:nvPr/>
        </p:nvSpPr>
        <p:spPr>
          <a:xfrm>
            <a:off x="96715" y="1084697"/>
            <a:ext cx="4824575" cy="5721089"/>
          </a:xfrm>
          <a:prstGeom prst="foldedCorner">
            <a:avLst>
              <a:gd name="adj" fmla="val 15966"/>
            </a:avLst>
          </a:prstGeom>
          <a:solidFill>
            <a:srgbClr val="CCECFF"/>
          </a:solidFill>
        </p:spPr>
        <p:style>
          <a:lnRef idx="2">
            <a:schemeClr val="accent1">
              <a:shade val="15000"/>
            </a:schemeClr>
          </a:lnRef>
          <a:fillRef idx="1">
            <a:schemeClr val="accent1"/>
          </a:fillRef>
          <a:effectRef idx="0">
            <a:schemeClr val="accent1"/>
          </a:effectRef>
          <a:fontRef idx="minor">
            <a:schemeClr val="lt1"/>
          </a:fontRef>
        </p:style>
        <p:txBody>
          <a:bodyPr tIns="9144" bIns="9144" rtlCol="0" anchor="ctr"/>
          <a:lstStyle/>
          <a:p>
            <a:endParaRPr lang="en-US" sz="1100" dirty="0">
              <a:solidFill>
                <a:schemeClr val="tx1"/>
              </a:solidFill>
            </a:endParaRPr>
          </a:p>
          <a:p>
            <a:endParaRPr lang="en-US" sz="900" b="1" dirty="0">
              <a:solidFill>
                <a:schemeClr val="tx1"/>
              </a:solidFill>
            </a:endParaRPr>
          </a:p>
          <a:p>
            <a:r>
              <a:rPr lang="en-US" sz="900" b="1" dirty="0" err="1">
                <a:solidFill>
                  <a:schemeClr val="tx1"/>
                </a:solidFill>
              </a:rPr>
              <a:t>digitaltwin</a:t>
            </a:r>
            <a:r>
              <a:rPr lang="en-US" sz="900" dirty="0">
                <a:solidFill>
                  <a:schemeClr val="tx1"/>
                </a:solidFill>
              </a:rPr>
              <a:t>[] public twins;</a:t>
            </a:r>
          </a:p>
          <a:p>
            <a:r>
              <a:rPr lang="en-US" sz="900" dirty="0">
                <a:solidFill>
                  <a:schemeClr val="tx1"/>
                </a:solidFill>
              </a:rPr>
              <a:t>uint256 public </a:t>
            </a:r>
            <a:r>
              <a:rPr lang="en-US" sz="900" dirty="0" err="1">
                <a:solidFill>
                  <a:schemeClr val="tx1"/>
                </a:solidFill>
              </a:rPr>
              <a:t>nextTwinID</a:t>
            </a:r>
            <a:r>
              <a:rPr lang="en-US" sz="900" dirty="0">
                <a:solidFill>
                  <a:schemeClr val="tx1"/>
                </a:solidFill>
              </a:rPr>
              <a:t> = 1;</a:t>
            </a:r>
          </a:p>
          <a:p>
            <a:endParaRPr lang="en-US" sz="900" dirty="0">
              <a:solidFill>
                <a:schemeClr val="tx1"/>
              </a:solidFill>
            </a:endParaRPr>
          </a:p>
          <a:p>
            <a:r>
              <a:rPr lang="en-US" sz="900" dirty="0">
                <a:solidFill>
                  <a:schemeClr val="tx1"/>
                </a:solidFill>
              </a:rPr>
              <a:t>function </a:t>
            </a:r>
            <a:r>
              <a:rPr lang="en-US" sz="900" b="1" dirty="0" err="1">
                <a:solidFill>
                  <a:schemeClr val="tx1"/>
                </a:solidFill>
              </a:rPr>
              <a:t>addDigitalTwin</a:t>
            </a:r>
            <a:r>
              <a:rPr lang="en-US" sz="900" dirty="0">
                <a:solidFill>
                  <a:schemeClr val="tx1"/>
                </a:solidFill>
              </a:rPr>
              <a:t>(string memory _</a:t>
            </a:r>
            <a:r>
              <a:rPr lang="en-US" sz="900" dirty="0" err="1">
                <a:solidFill>
                  <a:schemeClr val="tx1"/>
                </a:solidFill>
              </a:rPr>
              <a:t>twinname</a:t>
            </a:r>
            <a:r>
              <a:rPr lang="en-US" sz="900" dirty="0">
                <a:solidFill>
                  <a:schemeClr val="tx1"/>
                </a:solidFill>
              </a:rPr>
              <a:t>, string memory _</a:t>
            </a:r>
            <a:r>
              <a:rPr lang="en-US" sz="900" dirty="0" err="1">
                <a:solidFill>
                  <a:schemeClr val="tx1"/>
                </a:solidFill>
              </a:rPr>
              <a:t>twinowner</a:t>
            </a:r>
            <a:r>
              <a:rPr lang="en-US" sz="900" dirty="0">
                <a:solidFill>
                  <a:schemeClr val="tx1"/>
                </a:solidFill>
              </a:rPr>
              <a:t>) public {</a:t>
            </a:r>
          </a:p>
          <a:p>
            <a:r>
              <a:rPr lang="en-US" sz="900" dirty="0">
                <a:solidFill>
                  <a:schemeClr val="tx1"/>
                </a:solidFill>
              </a:rPr>
              <a:t>        </a:t>
            </a:r>
            <a:r>
              <a:rPr lang="en-US" sz="900" dirty="0" err="1">
                <a:solidFill>
                  <a:schemeClr val="tx1"/>
                </a:solidFill>
              </a:rPr>
              <a:t>digitaltwin</a:t>
            </a:r>
            <a:r>
              <a:rPr lang="en-US" sz="900" dirty="0">
                <a:solidFill>
                  <a:schemeClr val="tx1"/>
                </a:solidFill>
              </a:rPr>
              <a:t> memory </a:t>
            </a:r>
            <a:r>
              <a:rPr lang="en-US" sz="900" dirty="0" err="1">
                <a:solidFill>
                  <a:schemeClr val="tx1"/>
                </a:solidFill>
              </a:rPr>
              <a:t>newTwin</a:t>
            </a:r>
            <a:r>
              <a:rPr lang="en-US" sz="900" dirty="0">
                <a:solidFill>
                  <a:schemeClr val="tx1"/>
                </a:solidFill>
              </a:rPr>
              <a:t> = </a:t>
            </a:r>
            <a:r>
              <a:rPr lang="en-US" sz="900" dirty="0" err="1">
                <a:solidFill>
                  <a:schemeClr val="tx1"/>
                </a:solidFill>
              </a:rPr>
              <a:t>digitaltwin</a:t>
            </a:r>
            <a:r>
              <a:rPr lang="en-US" sz="900" dirty="0">
                <a:solidFill>
                  <a:schemeClr val="tx1"/>
                </a:solidFill>
              </a:rPr>
              <a:t>({</a:t>
            </a:r>
          </a:p>
          <a:p>
            <a:r>
              <a:rPr lang="en-US" sz="900" dirty="0">
                <a:solidFill>
                  <a:schemeClr val="tx1"/>
                </a:solidFill>
              </a:rPr>
              <a:t>            </a:t>
            </a:r>
            <a:r>
              <a:rPr lang="en-US" sz="900" dirty="0" err="1">
                <a:solidFill>
                  <a:schemeClr val="tx1"/>
                </a:solidFill>
              </a:rPr>
              <a:t>twinname</a:t>
            </a:r>
            <a:r>
              <a:rPr lang="en-US" sz="900" dirty="0">
                <a:solidFill>
                  <a:schemeClr val="tx1"/>
                </a:solidFill>
              </a:rPr>
              <a:t>: _</a:t>
            </a:r>
            <a:r>
              <a:rPr lang="en-US" sz="900" dirty="0" err="1">
                <a:solidFill>
                  <a:schemeClr val="tx1"/>
                </a:solidFill>
              </a:rPr>
              <a:t>twinname</a:t>
            </a:r>
            <a:r>
              <a:rPr lang="en-US" sz="900" dirty="0">
                <a:solidFill>
                  <a:schemeClr val="tx1"/>
                </a:solidFill>
              </a:rPr>
              <a:t>,</a:t>
            </a:r>
          </a:p>
          <a:p>
            <a:r>
              <a:rPr lang="en-US" sz="900" dirty="0">
                <a:solidFill>
                  <a:schemeClr val="tx1"/>
                </a:solidFill>
              </a:rPr>
              <a:t>            </a:t>
            </a:r>
            <a:r>
              <a:rPr lang="en-US" sz="900" dirty="0" err="1">
                <a:solidFill>
                  <a:schemeClr val="tx1"/>
                </a:solidFill>
              </a:rPr>
              <a:t>twinowner</a:t>
            </a:r>
            <a:r>
              <a:rPr lang="en-US" sz="900" dirty="0">
                <a:solidFill>
                  <a:schemeClr val="tx1"/>
                </a:solidFill>
              </a:rPr>
              <a:t>: _</a:t>
            </a:r>
            <a:r>
              <a:rPr lang="en-US" sz="900" dirty="0" err="1">
                <a:solidFill>
                  <a:schemeClr val="tx1"/>
                </a:solidFill>
              </a:rPr>
              <a:t>twinowner</a:t>
            </a:r>
            <a:r>
              <a:rPr lang="en-US" sz="900" dirty="0">
                <a:solidFill>
                  <a:schemeClr val="tx1"/>
                </a:solidFill>
              </a:rPr>
              <a:t>,</a:t>
            </a:r>
          </a:p>
          <a:p>
            <a:r>
              <a:rPr lang="en-US" sz="900" dirty="0">
                <a:solidFill>
                  <a:schemeClr val="tx1"/>
                </a:solidFill>
              </a:rPr>
              <a:t>            timestamp: </a:t>
            </a:r>
            <a:r>
              <a:rPr lang="en-US" sz="900" dirty="0" err="1">
                <a:solidFill>
                  <a:schemeClr val="tx1"/>
                </a:solidFill>
              </a:rPr>
              <a:t>block.timestamp</a:t>
            </a:r>
            <a:r>
              <a:rPr lang="en-US" sz="900" dirty="0">
                <a:solidFill>
                  <a:schemeClr val="tx1"/>
                </a:solidFill>
              </a:rPr>
              <a:t>,</a:t>
            </a:r>
          </a:p>
          <a:p>
            <a:r>
              <a:rPr lang="en-US" sz="900" dirty="0">
                <a:solidFill>
                  <a:schemeClr val="tx1"/>
                </a:solidFill>
              </a:rPr>
              <a:t>            segments: new Segment ,</a:t>
            </a:r>
          </a:p>
          <a:p>
            <a:r>
              <a:rPr lang="en-US" sz="900" dirty="0">
                <a:solidFill>
                  <a:schemeClr val="tx1"/>
                </a:solidFill>
              </a:rPr>
              <a:t>            </a:t>
            </a:r>
            <a:r>
              <a:rPr lang="en-US" sz="900" dirty="0" err="1">
                <a:solidFill>
                  <a:schemeClr val="tx1"/>
                </a:solidFill>
              </a:rPr>
              <a:t>twinID</a:t>
            </a:r>
            <a:r>
              <a:rPr lang="en-US" sz="900" dirty="0">
                <a:solidFill>
                  <a:schemeClr val="tx1"/>
                </a:solidFill>
              </a:rPr>
              <a:t>: </a:t>
            </a:r>
            <a:r>
              <a:rPr lang="en-US" sz="900" dirty="0" err="1">
                <a:solidFill>
                  <a:schemeClr val="tx1"/>
                </a:solidFill>
              </a:rPr>
              <a:t>twins.length</a:t>
            </a:r>
            <a:r>
              <a:rPr lang="en-US" sz="900" dirty="0">
                <a:solidFill>
                  <a:schemeClr val="tx1"/>
                </a:solidFill>
              </a:rPr>
              <a:t>,</a:t>
            </a:r>
          </a:p>
          <a:p>
            <a:r>
              <a:rPr lang="en-US" sz="900" dirty="0">
                <a:solidFill>
                  <a:schemeClr val="tx1"/>
                </a:solidFill>
              </a:rPr>
              <a:t>            </a:t>
            </a:r>
            <a:r>
              <a:rPr lang="en-US" sz="900" dirty="0" err="1">
                <a:solidFill>
                  <a:schemeClr val="tx1"/>
                </a:solidFill>
              </a:rPr>
              <a:t>isModel</a:t>
            </a:r>
            <a:r>
              <a:rPr lang="en-US" sz="900" dirty="0">
                <a:solidFill>
                  <a:schemeClr val="tx1"/>
                </a:solidFill>
              </a:rPr>
              <a:t>: False;</a:t>
            </a:r>
          </a:p>
          <a:p>
            <a:r>
              <a:rPr lang="en-US" sz="900" dirty="0">
                <a:solidFill>
                  <a:schemeClr val="tx1"/>
                </a:solidFill>
              </a:rPr>
              <a:t>            </a:t>
            </a:r>
            <a:r>
              <a:rPr lang="en-US" sz="900" dirty="0" err="1">
                <a:solidFill>
                  <a:schemeClr val="tx1"/>
                </a:solidFill>
              </a:rPr>
              <a:t>isActive</a:t>
            </a:r>
            <a:r>
              <a:rPr lang="en-US" sz="900" dirty="0">
                <a:solidFill>
                  <a:schemeClr val="tx1"/>
                </a:solidFill>
              </a:rPr>
              <a:t>: true</a:t>
            </a:r>
          </a:p>
          <a:p>
            <a:r>
              <a:rPr lang="en-US" sz="900" dirty="0">
                <a:solidFill>
                  <a:schemeClr val="tx1"/>
                </a:solidFill>
              </a:rPr>
              <a:t>        });</a:t>
            </a:r>
          </a:p>
          <a:p>
            <a:r>
              <a:rPr lang="en-US" sz="900" dirty="0">
                <a:solidFill>
                  <a:schemeClr val="tx1"/>
                </a:solidFill>
              </a:rPr>
              <a:t>        </a:t>
            </a:r>
            <a:r>
              <a:rPr lang="en-US" sz="900" dirty="0" err="1">
                <a:solidFill>
                  <a:schemeClr val="tx1"/>
                </a:solidFill>
              </a:rPr>
              <a:t>twins.push</a:t>
            </a:r>
            <a:r>
              <a:rPr lang="en-US" sz="900" dirty="0">
                <a:solidFill>
                  <a:schemeClr val="tx1"/>
                </a:solidFill>
              </a:rPr>
              <a:t>(</a:t>
            </a:r>
            <a:r>
              <a:rPr lang="en-US" sz="900" dirty="0" err="1">
                <a:solidFill>
                  <a:schemeClr val="tx1"/>
                </a:solidFill>
              </a:rPr>
              <a:t>newTwin</a:t>
            </a:r>
            <a:r>
              <a:rPr lang="en-US" sz="900" dirty="0">
                <a:solidFill>
                  <a:schemeClr val="tx1"/>
                </a:solidFill>
              </a:rPr>
              <a:t>);</a:t>
            </a:r>
          </a:p>
          <a:p>
            <a:r>
              <a:rPr lang="en-US" sz="900" dirty="0">
                <a:solidFill>
                  <a:schemeClr val="tx1"/>
                </a:solidFill>
              </a:rPr>
              <a:t>    }</a:t>
            </a:r>
          </a:p>
          <a:p>
            <a:endParaRPr lang="en-US" sz="900" dirty="0">
              <a:solidFill>
                <a:schemeClr val="tx1"/>
              </a:solidFill>
            </a:endParaRPr>
          </a:p>
          <a:p>
            <a:r>
              <a:rPr lang="en-US" sz="900" dirty="0">
                <a:solidFill>
                  <a:schemeClr val="tx1"/>
                </a:solidFill>
              </a:rPr>
              <a:t>function </a:t>
            </a:r>
            <a:r>
              <a:rPr lang="en-US" sz="900" b="1" dirty="0" err="1">
                <a:solidFill>
                  <a:schemeClr val="tx1"/>
                </a:solidFill>
              </a:rPr>
              <a:t>addSegmentToTwin</a:t>
            </a:r>
            <a:r>
              <a:rPr lang="en-US" sz="900" dirty="0">
                <a:solidFill>
                  <a:schemeClr val="tx1"/>
                </a:solidFill>
              </a:rPr>
              <a:t>(uint256 </a:t>
            </a:r>
            <a:r>
              <a:rPr lang="en-US" sz="900" dirty="0" err="1">
                <a:solidFill>
                  <a:schemeClr val="tx1"/>
                </a:solidFill>
              </a:rPr>
              <a:t>twinIndex</a:t>
            </a:r>
            <a:r>
              <a:rPr lang="en-US" sz="900" dirty="0">
                <a:solidFill>
                  <a:schemeClr val="tx1"/>
                </a:solidFill>
              </a:rPr>
              <a:t>,  string memory </a:t>
            </a:r>
            <a:r>
              <a:rPr lang="en-US" sz="900" dirty="0" err="1">
                <a:solidFill>
                  <a:schemeClr val="tx1"/>
                </a:solidFill>
              </a:rPr>
              <a:t>segmentName</a:t>
            </a:r>
            <a:r>
              <a:rPr lang="en-US" sz="900" dirty="0">
                <a:solidFill>
                  <a:schemeClr val="tx1"/>
                </a:solidFill>
              </a:rPr>
              <a:t>,  </a:t>
            </a:r>
          </a:p>
          <a:p>
            <a:r>
              <a:rPr lang="en-US" sz="900" dirty="0">
                <a:solidFill>
                  <a:schemeClr val="tx1"/>
                </a:solidFill>
              </a:rPr>
              <a:t>                                                      uint256 </a:t>
            </a:r>
            <a:r>
              <a:rPr lang="en-US" sz="900" dirty="0" err="1">
                <a:solidFill>
                  <a:schemeClr val="tx1"/>
                </a:solidFill>
              </a:rPr>
              <a:t>ghgBaseline</a:t>
            </a:r>
            <a:r>
              <a:rPr lang="en-US" sz="900" dirty="0">
                <a:solidFill>
                  <a:schemeClr val="tx1"/>
                </a:solidFill>
              </a:rPr>
              <a:t>,   string memory </a:t>
            </a:r>
            <a:r>
              <a:rPr lang="en-US" sz="900" dirty="0" err="1">
                <a:solidFill>
                  <a:schemeClr val="tx1"/>
                </a:solidFill>
              </a:rPr>
              <a:t>emissionUnits</a:t>
            </a:r>
            <a:r>
              <a:rPr lang="en-US" sz="900" dirty="0">
                <a:solidFill>
                  <a:schemeClr val="tx1"/>
                </a:solidFill>
              </a:rPr>
              <a:t>, </a:t>
            </a:r>
          </a:p>
          <a:p>
            <a:r>
              <a:rPr lang="en-US" sz="900" dirty="0">
                <a:solidFill>
                  <a:schemeClr val="tx1"/>
                </a:solidFill>
              </a:rPr>
              <a:t>                                                      uint256 </a:t>
            </a:r>
            <a:r>
              <a:rPr lang="en-US" sz="900" dirty="0" err="1">
                <a:solidFill>
                  <a:schemeClr val="tx1"/>
                </a:solidFill>
              </a:rPr>
              <a:t>ghgFromSupplier</a:t>
            </a:r>
            <a:r>
              <a:rPr lang="en-US" sz="900" dirty="0">
                <a:solidFill>
                  <a:schemeClr val="tx1"/>
                </a:solidFill>
              </a:rPr>
              <a:t>, uint256 length,  uint256 </a:t>
            </a:r>
            <a:r>
              <a:rPr lang="en-US" sz="900" dirty="0" err="1">
                <a:solidFill>
                  <a:schemeClr val="tx1"/>
                </a:solidFill>
              </a:rPr>
              <a:t>lengthUnits</a:t>
            </a:r>
            <a:endParaRPr lang="en-US" sz="900" dirty="0">
              <a:solidFill>
                <a:schemeClr val="tx1"/>
              </a:solidFill>
            </a:endParaRPr>
          </a:p>
          <a:p>
            <a:r>
              <a:rPr lang="en-US" sz="900" dirty="0">
                <a:solidFill>
                  <a:schemeClr val="tx1"/>
                </a:solidFill>
              </a:rPr>
              <a:t>                        ) public {</a:t>
            </a:r>
          </a:p>
          <a:p>
            <a:r>
              <a:rPr lang="en-US" sz="900" dirty="0">
                <a:solidFill>
                  <a:schemeClr val="tx1"/>
                </a:solidFill>
              </a:rPr>
              <a:t>        require(</a:t>
            </a:r>
            <a:r>
              <a:rPr lang="en-US" sz="900" dirty="0" err="1">
                <a:solidFill>
                  <a:schemeClr val="tx1"/>
                </a:solidFill>
              </a:rPr>
              <a:t>twinIndex</a:t>
            </a:r>
            <a:r>
              <a:rPr lang="en-US" sz="900" dirty="0">
                <a:solidFill>
                  <a:schemeClr val="tx1"/>
                </a:solidFill>
              </a:rPr>
              <a:t> &lt; </a:t>
            </a:r>
            <a:r>
              <a:rPr lang="en-US" sz="900" dirty="0" err="1">
                <a:solidFill>
                  <a:schemeClr val="tx1"/>
                </a:solidFill>
              </a:rPr>
              <a:t>twins.length</a:t>
            </a:r>
            <a:r>
              <a:rPr lang="en-US" sz="900" dirty="0">
                <a:solidFill>
                  <a:schemeClr val="tx1"/>
                </a:solidFill>
              </a:rPr>
              <a:t>, "Invalid twin index");</a:t>
            </a:r>
          </a:p>
          <a:p>
            <a:endParaRPr lang="en-US" sz="900" dirty="0">
              <a:solidFill>
                <a:schemeClr val="tx1"/>
              </a:solidFill>
            </a:endParaRPr>
          </a:p>
          <a:p>
            <a:r>
              <a:rPr lang="en-US" sz="900" dirty="0">
                <a:solidFill>
                  <a:schemeClr val="tx1"/>
                </a:solidFill>
              </a:rPr>
              <a:t>        Segment memory </a:t>
            </a:r>
            <a:r>
              <a:rPr lang="en-US" sz="900" dirty="0" err="1">
                <a:solidFill>
                  <a:schemeClr val="tx1"/>
                </a:solidFill>
              </a:rPr>
              <a:t>newSegment</a:t>
            </a:r>
            <a:r>
              <a:rPr lang="en-US" sz="900" dirty="0">
                <a:solidFill>
                  <a:schemeClr val="tx1"/>
                </a:solidFill>
              </a:rPr>
              <a:t> = Segment({</a:t>
            </a:r>
          </a:p>
          <a:p>
            <a:r>
              <a:rPr lang="en-US" sz="900" dirty="0">
                <a:solidFill>
                  <a:schemeClr val="tx1"/>
                </a:solidFill>
              </a:rPr>
              <a:t>            </a:t>
            </a:r>
            <a:r>
              <a:rPr lang="en-US" sz="900" dirty="0" err="1">
                <a:solidFill>
                  <a:schemeClr val="tx1"/>
                </a:solidFill>
              </a:rPr>
              <a:t>segnum</a:t>
            </a:r>
            <a:r>
              <a:rPr lang="en-US" sz="900" dirty="0">
                <a:solidFill>
                  <a:schemeClr val="tx1"/>
                </a:solidFill>
              </a:rPr>
              <a:t>: twins[</a:t>
            </a:r>
            <a:r>
              <a:rPr lang="en-US" sz="900" dirty="0" err="1">
                <a:solidFill>
                  <a:schemeClr val="tx1"/>
                </a:solidFill>
              </a:rPr>
              <a:t>twinIndex</a:t>
            </a:r>
            <a:r>
              <a:rPr lang="en-US" sz="900" dirty="0">
                <a:solidFill>
                  <a:schemeClr val="tx1"/>
                </a:solidFill>
              </a:rPr>
              <a:t>].</a:t>
            </a:r>
            <a:r>
              <a:rPr lang="en-US" sz="900" dirty="0" err="1">
                <a:solidFill>
                  <a:schemeClr val="tx1"/>
                </a:solidFill>
              </a:rPr>
              <a:t>segments.length</a:t>
            </a:r>
            <a:r>
              <a:rPr lang="en-US" sz="900" dirty="0">
                <a:solidFill>
                  <a:schemeClr val="tx1"/>
                </a:solidFill>
              </a:rPr>
              <a:t>,</a:t>
            </a:r>
          </a:p>
          <a:p>
            <a:r>
              <a:rPr lang="en-US" sz="900" dirty="0">
                <a:solidFill>
                  <a:schemeClr val="tx1"/>
                </a:solidFill>
              </a:rPr>
              <a:t>            </a:t>
            </a:r>
            <a:r>
              <a:rPr lang="en-US" sz="900" dirty="0" err="1">
                <a:solidFill>
                  <a:schemeClr val="tx1"/>
                </a:solidFill>
              </a:rPr>
              <a:t>segmentName</a:t>
            </a:r>
            <a:r>
              <a:rPr lang="en-US" sz="900" dirty="0">
                <a:solidFill>
                  <a:schemeClr val="tx1"/>
                </a:solidFill>
              </a:rPr>
              <a:t>: </a:t>
            </a:r>
            <a:r>
              <a:rPr lang="en-US" sz="900" dirty="0" err="1">
                <a:solidFill>
                  <a:schemeClr val="tx1"/>
                </a:solidFill>
              </a:rPr>
              <a:t>segmentName</a:t>
            </a:r>
            <a:r>
              <a:rPr lang="en-US" sz="900" dirty="0">
                <a:solidFill>
                  <a:schemeClr val="tx1"/>
                </a:solidFill>
              </a:rPr>
              <a:t>,</a:t>
            </a:r>
          </a:p>
          <a:p>
            <a:r>
              <a:rPr lang="en-US" sz="900" dirty="0">
                <a:solidFill>
                  <a:schemeClr val="tx1"/>
                </a:solidFill>
              </a:rPr>
              <a:t>            </a:t>
            </a:r>
            <a:r>
              <a:rPr lang="en-US" sz="900" dirty="0" err="1">
                <a:solidFill>
                  <a:schemeClr val="tx1"/>
                </a:solidFill>
              </a:rPr>
              <a:t>ghgBaseline</a:t>
            </a:r>
            <a:r>
              <a:rPr lang="en-US" sz="900" dirty="0">
                <a:solidFill>
                  <a:schemeClr val="tx1"/>
                </a:solidFill>
              </a:rPr>
              <a:t>: </a:t>
            </a:r>
            <a:r>
              <a:rPr lang="en-US" sz="900" dirty="0" err="1">
                <a:solidFill>
                  <a:schemeClr val="tx1"/>
                </a:solidFill>
              </a:rPr>
              <a:t>ghgBaseline</a:t>
            </a:r>
            <a:r>
              <a:rPr lang="en-US" sz="900" dirty="0">
                <a:solidFill>
                  <a:schemeClr val="tx1"/>
                </a:solidFill>
              </a:rPr>
              <a:t>,</a:t>
            </a:r>
          </a:p>
          <a:p>
            <a:r>
              <a:rPr lang="en-US" sz="900" dirty="0">
                <a:solidFill>
                  <a:schemeClr val="tx1"/>
                </a:solidFill>
              </a:rPr>
              <a:t>            sources: new </a:t>
            </a:r>
            <a:r>
              <a:rPr lang="en-US" sz="900" dirty="0" err="1">
                <a:solidFill>
                  <a:schemeClr val="tx1"/>
                </a:solidFill>
              </a:rPr>
              <a:t>segEmissionSource</a:t>
            </a:r>
            <a:r>
              <a:rPr lang="en-US" sz="900" dirty="0">
                <a:solidFill>
                  <a:schemeClr val="tx1"/>
                </a:solidFill>
              </a:rPr>
              <a:t> ,</a:t>
            </a:r>
          </a:p>
          <a:p>
            <a:r>
              <a:rPr lang="en-US" sz="900" dirty="0">
                <a:solidFill>
                  <a:schemeClr val="tx1"/>
                </a:solidFill>
              </a:rPr>
              <a:t>            </a:t>
            </a:r>
            <a:r>
              <a:rPr lang="en-US" sz="900" dirty="0" err="1">
                <a:solidFill>
                  <a:schemeClr val="tx1"/>
                </a:solidFill>
              </a:rPr>
              <a:t>emissionUnits</a:t>
            </a:r>
            <a:r>
              <a:rPr lang="en-US" sz="900" dirty="0">
                <a:solidFill>
                  <a:schemeClr val="tx1"/>
                </a:solidFill>
              </a:rPr>
              <a:t>: </a:t>
            </a:r>
            <a:r>
              <a:rPr lang="en-US" sz="900" dirty="0" err="1">
                <a:solidFill>
                  <a:schemeClr val="tx1"/>
                </a:solidFill>
              </a:rPr>
              <a:t>emissionUnits</a:t>
            </a:r>
            <a:r>
              <a:rPr lang="en-US" sz="900" dirty="0">
                <a:solidFill>
                  <a:schemeClr val="tx1"/>
                </a:solidFill>
              </a:rPr>
              <a:t>,</a:t>
            </a:r>
          </a:p>
          <a:p>
            <a:r>
              <a:rPr lang="en-US" sz="900" dirty="0">
                <a:solidFill>
                  <a:schemeClr val="tx1"/>
                </a:solidFill>
              </a:rPr>
              <a:t>            </a:t>
            </a:r>
            <a:r>
              <a:rPr lang="en-US" sz="900" dirty="0" err="1">
                <a:solidFill>
                  <a:schemeClr val="tx1"/>
                </a:solidFill>
              </a:rPr>
              <a:t>ghgFromSupplier</a:t>
            </a:r>
            <a:r>
              <a:rPr lang="en-US" sz="900" dirty="0">
                <a:solidFill>
                  <a:schemeClr val="tx1"/>
                </a:solidFill>
              </a:rPr>
              <a:t>: </a:t>
            </a:r>
            <a:r>
              <a:rPr lang="en-US" sz="900" dirty="0" err="1">
                <a:solidFill>
                  <a:schemeClr val="tx1"/>
                </a:solidFill>
              </a:rPr>
              <a:t>ghgFromSupplier</a:t>
            </a:r>
            <a:r>
              <a:rPr lang="en-US" sz="900" dirty="0">
                <a:solidFill>
                  <a:schemeClr val="tx1"/>
                </a:solidFill>
              </a:rPr>
              <a:t>,</a:t>
            </a:r>
          </a:p>
          <a:p>
            <a:r>
              <a:rPr lang="en-US" sz="900" dirty="0">
                <a:solidFill>
                  <a:schemeClr val="tx1"/>
                </a:solidFill>
              </a:rPr>
              <a:t>            length: length,</a:t>
            </a:r>
          </a:p>
          <a:p>
            <a:r>
              <a:rPr lang="en-US" sz="900" dirty="0">
                <a:solidFill>
                  <a:schemeClr val="tx1"/>
                </a:solidFill>
              </a:rPr>
              <a:t>            </a:t>
            </a:r>
            <a:r>
              <a:rPr lang="en-US" sz="900" dirty="0" err="1">
                <a:solidFill>
                  <a:schemeClr val="tx1"/>
                </a:solidFill>
              </a:rPr>
              <a:t>lengthUnits</a:t>
            </a:r>
            <a:r>
              <a:rPr lang="en-US" sz="900" dirty="0">
                <a:solidFill>
                  <a:schemeClr val="tx1"/>
                </a:solidFill>
              </a:rPr>
              <a:t>: </a:t>
            </a:r>
            <a:r>
              <a:rPr lang="en-US" sz="900" dirty="0" err="1">
                <a:solidFill>
                  <a:schemeClr val="tx1"/>
                </a:solidFill>
              </a:rPr>
              <a:t>lengthUnits</a:t>
            </a:r>
            <a:r>
              <a:rPr lang="en-US" sz="900" dirty="0">
                <a:solidFill>
                  <a:schemeClr val="tx1"/>
                </a:solidFill>
              </a:rPr>
              <a:t>,</a:t>
            </a:r>
          </a:p>
          <a:p>
            <a:r>
              <a:rPr lang="en-US" sz="900" dirty="0">
                <a:solidFill>
                  <a:schemeClr val="tx1"/>
                </a:solidFill>
              </a:rPr>
              <a:t>            </a:t>
            </a:r>
            <a:r>
              <a:rPr lang="en-US" sz="900" dirty="0" err="1">
                <a:solidFill>
                  <a:schemeClr val="tx1"/>
                </a:solidFill>
              </a:rPr>
              <a:t>modelRun</a:t>
            </a:r>
            <a:r>
              <a:rPr lang="en-US" sz="900" dirty="0">
                <a:solidFill>
                  <a:schemeClr val="tx1"/>
                </a:solidFill>
              </a:rPr>
              <a:t>: new </a:t>
            </a:r>
            <a:r>
              <a:rPr lang="en-US" sz="900" dirty="0" err="1">
                <a:solidFill>
                  <a:schemeClr val="tx1"/>
                </a:solidFill>
              </a:rPr>
              <a:t>em_model</a:t>
            </a:r>
            <a:r>
              <a:rPr lang="en-US" sz="900" dirty="0">
                <a:solidFill>
                  <a:schemeClr val="tx1"/>
                </a:solidFill>
              </a:rPr>
              <a:t> </a:t>
            </a:r>
          </a:p>
          <a:p>
            <a:r>
              <a:rPr lang="en-US" sz="900" dirty="0">
                <a:solidFill>
                  <a:schemeClr val="tx1"/>
                </a:solidFill>
              </a:rPr>
              <a:t>        });</a:t>
            </a:r>
          </a:p>
          <a:p>
            <a:endParaRPr lang="en-US" sz="900" dirty="0">
              <a:solidFill>
                <a:schemeClr val="tx1"/>
              </a:solidFill>
            </a:endParaRPr>
          </a:p>
          <a:p>
            <a:r>
              <a:rPr lang="en-US" sz="900" dirty="0">
                <a:solidFill>
                  <a:schemeClr val="tx1"/>
                </a:solidFill>
              </a:rPr>
              <a:t>        twins[</a:t>
            </a:r>
            <a:r>
              <a:rPr lang="en-US" sz="900" dirty="0" err="1">
                <a:solidFill>
                  <a:schemeClr val="tx1"/>
                </a:solidFill>
              </a:rPr>
              <a:t>twinIndex</a:t>
            </a:r>
            <a:r>
              <a:rPr lang="en-US" sz="900" dirty="0">
                <a:solidFill>
                  <a:schemeClr val="tx1"/>
                </a:solidFill>
              </a:rPr>
              <a:t>].</a:t>
            </a:r>
            <a:r>
              <a:rPr lang="en-US" sz="900" dirty="0" err="1">
                <a:solidFill>
                  <a:schemeClr val="tx1"/>
                </a:solidFill>
              </a:rPr>
              <a:t>segments.push</a:t>
            </a:r>
            <a:r>
              <a:rPr lang="en-US" sz="900" dirty="0">
                <a:solidFill>
                  <a:schemeClr val="tx1"/>
                </a:solidFill>
              </a:rPr>
              <a:t>(</a:t>
            </a:r>
            <a:r>
              <a:rPr lang="en-US" sz="900" dirty="0" err="1">
                <a:solidFill>
                  <a:schemeClr val="tx1"/>
                </a:solidFill>
              </a:rPr>
              <a:t>newSegment</a:t>
            </a:r>
            <a:r>
              <a:rPr lang="en-US" sz="900" dirty="0">
                <a:solidFill>
                  <a:schemeClr val="tx1"/>
                </a:solidFill>
              </a:rPr>
              <a:t>);</a:t>
            </a:r>
          </a:p>
          <a:p>
            <a:r>
              <a:rPr lang="en-US" sz="900" dirty="0">
                <a:solidFill>
                  <a:schemeClr val="tx1"/>
                </a:solidFill>
              </a:rPr>
              <a:t>    }</a:t>
            </a:r>
          </a:p>
        </p:txBody>
      </p:sp>
      <p:sp>
        <p:nvSpPr>
          <p:cNvPr id="12" name="TextBox 11">
            <a:extLst>
              <a:ext uri="{FF2B5EF4-FFF2-40B4-BE49-F238E27FC236}">
                <a16:creationId xmlns:a16="http://schemas.microsoft.com/office/drawing/2014/main" id="{2C97B756-40F9-ADD8-E57B-2901BB6985DA}"/>
              </a:ext>
            </a:extLst>
          </p:cNvPr>
          <p:cNvSpPr txBox="1"/>
          <p:nvPr/>
        </p:nvSpPr>
        <p:spPr>
          <a:xfrm>
            <a:off x="4901938" y="1181889"/>
            <a:ext cx="7212699" cy="5601533"/>
          </a:xfrm>
          <a:prstGeom prst="rect">
            <a:avLst/>
          </a:prstGeom>
          <a:noFill/>
        </p:spPr>
        <p:txBody>
          <a:bodyPr wrap="square" rtlCol="0">
            <a:spAutoFit/>
          </a:bodyPr>
          <a:lstStyle/>
          <a:p>
            <a:r>
              <a:rPr lang="en-US" sz="1400" dirty="0"/>
              <a:t>       </a:t>
            </a:r>
            <a:r>
              <a:rPr lang="en-US" sz="1400" b="1" dirty="0">
                <a:solidFill>
                  <a:schemeClr val="bg1"/>
                </a:solidFill>
              </a:rPr>
              <a:t>every digital twin can hold a list(array) of Segment objects</a:t>
            </a:r>
          </a:p>
          <a:p>
            <a:endParaRPr lang="en-US" sz="1400" dirty="0"/>
          </a:p>
          <a:p>
            <a:r>
              <a:rPr lang="en-US" sz="1400" dirty="0"/>
              <a:t>       </a:t>
            </a:r>
            <a:r>
              <a:rPr lang="en-US" sz="1400" dirty="0">
                <a:solidFill>
                  <a:srgbClr val="001D35"/>
                </a:solidFill>
                <a:latin typeface="Google Sans"/>
              </a:rPr>
              <a:t>  </a:t>
            </a:r>
          </a:p>
          <a:p>
            <a:r>
              <a:rPr lang="en-US" sz="1400" dirty="0">
                <a:solidFill>
                  <a:srgbClr val="001D35"/>
                </a:solidFill>
                <a:latin typeface="Google Sans"/>
              </a:rPr>
              <a:t>        </a:t>
            </a:r>
            <a:r>
              <a:rPr lang="en-US" sz="1400" b="1" dirty="0">
                <a:solidFill>
                  <a:schemeClr val="bg1"/>
                </a:solidFill>
                <a:latin typeface="Google Sans"/>
              </a:rPr>
              <a:t>create function for the digital twin. Related structures added in other functions.</a:t>
            </a:r>
          </a:p>
          <a:p>
            <a:r>
              <a:rPr lang="en-US" sz="1400" b="1" dirty="0">
                <a:solidFill>
                  <a:schemeClr val="bg1"/>
                </a:solidFill>
                <a:latin typeface="Google Sans"/>
              </a:rPr>
              <a:t>        Example: </a:t>
            </a:r>
            <a:r>
              <a:rPr lang="en-US" sz="1400" b="1" dirty="0" err="1">
                <a:solidFill>
                  <a:schemeClr val="bg1"/>
                </a:solidFill>
                <a:latin typeface="Google Sans"/>
              </a:rPr>
              <a:t>addDigitalTwin</a:t>
            </a:r>
            <a:r>
              <a:rPr lang="en-US" sz="1400" b="1" dirty="0">
                <a:solidFill>
                  <a:schemeClr val="bg1"/>
                </a:solidFill>
                <a:latin typeface="Google Sans"/>
              </a:rPr>
              <a:t>("SolarFarm-001", "</a:t>
            </a:r>
            <a:r>
              <a:rPr lang="en-US" sz="1400" b="1" dirty="0" err="1">
                <a:solidFill>
                  <a:schemeClr val="bg1"/>
                </a:solidFill>
                <a:latin typeface="Google Sans"/>
              </a:rPr>
              <a:t>CompanyA</a:t>
            </a:r>
            <a:r>
              <a:rPr lang="en-US" sz="1400" b="1" dirty="0">
                <a:solidFill>
                  <a:schemeClr val="bg1"/>
                </a:solidFill>
                <a:latin typeface="Google Sans"/>
              </a:rPr>
              <a:t>");</a:t>
            </a:r>
          </a:p>
          <a:p>
            <a:r>
              <a:rPr lang="en-US" sz="1400" b="1" dirty="0">
                <a:solidFill>
                  <a:schemeClr val="bg1"/>
                </a:solidFill>
                <a:latin typeface="Google Sans"/>
              </a:rPr>
              <a:t>       </a:t>
            </a:r>
          </a:p>
          <a:p>
            <a:endParaRPr lang="en-US" sz="1400" dirty="0"/>
          </a:p>
          <a:p>
            <a:endParaRPr lang="en-US" sz="1400" dirty="0"/>
          </a:p>
          <a:p>
            <a:r>
              <a:rPr lang="en-US" sz="1400" dirty="0">
                <a:solidFill>
                  <a:srgbClr val="001D35"/>
                </a:solidFill>
                <a:latin typeface="Google Sans"/>
              </a:rPr>
              <a:t>       </a:t>
            </a:r>
            <a:r>
              <a:rPr lang="en-US" sz="1400" b="1" dirty="0">
                <a:solidFill>
                  <a:schemeClr val="bg1"/>
                </a:solidFill>
                <a:latin typeface="Google Sans"/>
              </a:rPr>
              <a:t>instruction code to instantiate the digital twin</a:t>
            </a:r>
            <a:endParaRPr lang="en-US" sz="1400" b="1" dirty="0">
              <a:solidFill>
                <a:schemeClr val="bg1"/>
              </a:solidFill>
            </a:endParaRPr>
          </a:p>
          <a:p>
            <a:r>
              <a:rPr lang="en-US" sz="1400" dirty="0">
                <a:solidFill>
                  <a:srgbClr val="001D35"/>
                </a:solidFill>
                <a:latin typeface="Google Sans"/>
              </a:rPr>
              <a:t>        </a:t>
            </a:r>
          </a:p>
          <a:p>
            <a:r>
              <a:rPr lang="en-US" sz="1400" dirty="0">
                <a:solidFill>
                  <a:srgbClr val="001D35"/>
                </a:solidFill>
                <a:latin typeface="Google Sans"/>
              </a:rPr>
              <a:t>        </a:t>
            </a:r>
            <a:r>
              <a:rPr lang="en-US" sz="1400" b="1" dirty="0">
                <a:solidFill>
                  <a:schemeClr val="bg1"/>
                </a:solidFill>
                <a:latin typeface="Google Sans"/>
              </a:rPr>
              <a:t>call signature for the function to add a segment(s) to the digital twin.</a:t>
            </a:r>
          </a:p>
          <a:p>
            <a:r>
              <a:rPr lang="en-US" sz="1400" b="1" dirty="0">
                <a:solidFill>
                  <a:schemeClr val="bg1"/>
                </a:solidFill>
                <a:latin typeface="Google Sans"/>
              </a:rPr>
              <a:t>        </a:t>
            </a:r>
            <a:r>
              <a:rPr lang="en-US" sz="1400" b="1" dirty="0" err="1">
                <a:solidFill>
                  <a:schemeClr val="bg1"/>
                </a:solidFill>
                <a:latin typeface="Google Sans"/>
              </a:rPr>
              <a:t>addSegmentToTwin</a:t>
            </a:r>
            <a:r>
              <a:rPr lang="en-US" sz="1400" b="1" dirty="0">
                <a:solidFill>
                  <a:schemeClr val="bg1"/>
                </a:solidFill>
                <a:latin typeface="Google Sans"/>
              </a:rPr>
              <a:t>(0, "Transport A", 120, "kgCO2", 10, 200, 1);         </a:t>
            </a:r>
          </a:p>
          <a:p>
            <a:endParaRPr lang="en-US" sz="1400" dirty="0">
              <a:solidFill>
                <a:srgbClr val="001D35"/>
              </a:solidFill>
              <a:latin typeface="Google Sans"/>
            </a:endParaRPr>
          </a:p>
          <a:p>
            <a:r>
              <a:rPr lang="en-US" sz="1400" dirty="0">
                <a:solidFill>
                  <a:srgbClr val="001D35"/>
                </a:solidFill>
                <a:latin typeface="Google Sans"/>
              </a:rPr>
              <a:t>        </a:t>
            </a:r>
          </a:p>
          <a:p>
            <a:r>
              <a:rPr lang="en-US" sz="1400" dirty="0">
                <a:solidFill>
                  <a:srgbClr val="001D35"/>
                </a:solidFill>
                <a:latin typeface="Google Sans"/>
              </a:rPr>
              <a:t>       </a:t>
            </a:r>
            <a:r>
              <a:rPr lang="en-US" sz="1400" b="1" dirty="0">
                <a:solidFill>
                  <a:schemeClr val="bg1"/>
                </a:solidFill>
                <a:latin typeface="Google Sans"/>
              </a:rPr>
              <a:t>code to assign values and instantiate a segment to  a digital twin.</a:t>
            </a:r>
          </a:p>
          <a:p>
            <a:r>
              <a:rPr lang="en-US" sz="1400" b="1" dirty="0">
                <a:solidFill>
                  <a:schemeClr val="bg1"/>
                </a:solidFill>
                <a:latin typeface="Google Sans"/>
              </a:rPr>
              <a:t>       Data hierarchy: </a:t>
            </a:r>
            <a:r>
              <a:rPr lang="en-US" sz="1200" b="1" dirty="0">
                <a:solidFill>
                  <a:schemeClr val="bg1"/>
                </a:solidFill>
              </a:rPr>
              <a:t>Digital Twin (twins[0])</a:t>
            </a:r>
          </a:p>
          <a:p>
            <a:r>
              <a:rPr lang="en-US" sz="1200" b="1" dirty="0">
                <a:solidFill>
                  <a:schemeClr val="bg1"/>
                </a:solidFill>
              </a:rPr>
              <a:t>               |── Segment 0 (trucking)</a:t>
            </a:r>
          </a:p>
          <a:p>
            <a:r>
              <a:rPr lang="en-US" sz="1200" b="1" dirty="0">
                <a:solidFill>
                  <a:schemeClr val="bg1"/>
                </a:solidFill>
              </a:rPr>
              <a:t>               |        └── Emission Source 1 (truck)</a:t>
            </a:r>
          </a:p>
          <a:p>
            <a:r>
              <a:rPr lang="en-US" sz="1200" b="1" dirty="0">
                <a:solidFill>
                  <a:schemeClr val="bg1"/>
                </a:solidFill>
              </a:rPr>
              <a:t>               │        └── Emission Source 2 (plane)</a:t>
            </a:r>
          </a:p>
          <a:p>
            <a:r>
              <a:rPr lang="en-US" sz="1200" b="1" dirty="0">
                <a:solidFill>
                  <a:schemeClr val="bg1"/>
                </a:solidFill>
              </a:rPr>
              <a:t>               |        └── Emission Source 3 (warehouse heat)</a:t>
            </a:r>
          </a:p>
          <a:p>
            <a:r>
              <a:rPr lang="en-US" sz="1200" b="1" dirty="0">
                <a:solidFill>
                  <a:schemeClr val="bg1"/>
                </a:solidFill>
              </a:rPr>
              <a:t>               |   ─ Segment 1 (shipping)</a:t>
            </a:r>
          </a:p>
          <a:p>
            <a:r>
              <a:rPr lang="en-US" sz="1200" b="1" dirty="0">
                <a:solidFill>
                  <a:schemeClr val="bg1"/>
                </a:solidFill>
              </a:rPr>
              <a:t>               │          └── 3 Emission Sources</a:t>
            </a:r>
          </a:p>
          <a:p>
            <a:r>
              <a:rPr lang="en-US" sz="1200" b="1" dirty="0">
                <a:solidFill>
                  <a:schemeClr val="bg1"/>
                </a:solidFill>
              </a:rPr>
              <a:t>               |── Segment 2 (storage)</a:t>
            </a:r>
          </a:p>
          <a:p>
            <a:r>
              <a:rPr lang="en-US" sz="1200" b="1" dirty="0">
                <a:solidFill>
                  <a:schemeClr val="bg1"/>
                </a:solidFill>
              </a:rPr>
              <a:t>               │         └── 3 Emission Sources</a:t>
            </a:r>
          </a:p>
          <a:p>
            <a:r>
              <a:rPr lang="en-US" sz="1200" b="1" dirty="0">
                <a:solidFill>
                  <a:schemeClr val="bg1"/>
                </a:solidFill>
              </a:rPr>
              <a:t>               |── Segment 3 (delivery)</a:t>
            </a:r>
          </a:p>
          <a:p>
            <a:r>
              <a:rPr lang="en-US" sz="1200" b="1" dirty="0">
                <a:solidFill>
                  <a:schemeClr val="bg1"/>
                </a:solidFill>
              </a:rPr>
              <a:t>               │         └── 3 Emission Sources</a:t>
            </a:r>
          </a:p>
          <a:p>
            <a:r>
              <a:rPr lang="en-US" sz="1400" dirty="0"/>
              <a:t>  </a:t>
            </a:r>
          </a:p>
        </p:txBody>
      </p:sp>
      <p:cxnSp>
        <p:nvCxnSpPr>
          <p:cNvPr id="2" name="Straight Arrow Connector 1">
            <a:extLst>
              <a:ext uri="{FF2B5EF4-FFF2-40B4-BE49-F238E27FC236}">
                <a16:creationId xmlns:a16="http://schemas.microsoft.com/office/drawing/2014/main" id="{2354CC4A-3271-34C9-BC2E-B1277EBB74A3}"/>
              </a:ext>
            </a:extLst>
          </p:cNvPr>
          <p:cNvCxnSpPr>
            <a:cxnSpLocks/>
          </p:cNvCxnSpPr>
          <p:nvPr/>
        </p:nvCxnSpPr>
        <p:spPr>
          <a:xfrm flipH="1">
            <a:off x="2866952" y="1365953"/>
            <a:ext cx="19416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D7275F7-A478-F4C2-D444-B55FA4ED1B37}"/>
              </a:ext>
            </a:extLst>
          </p:cNvPr>
          <p:cNvSpPr txBox="1"/>
          <p:nvPr/>
        </p:nvSpPr>
        <p:spPr>
          <a:xfrm>
            <a:off x="46626" y="479966"/>
            <a:ext cx="12072168" cy="646331"/>
          </a:xfrm>
          <a:prstGeom prst="rect">
            <a:avLst/>
          </a:prstGeom>
          <a:noFill/>
          <a:ln>
            <a:noFill/>
          </a:ln>
        </p:spPr>
        <p:txBody>
          <a:bodyPr wrap="square">
            <a:spAutoFit/>
          </a:bodyPr>
          <a:lstStyle/>
          <a:p>
            <a:r>
              <a:rPr lang="en-US" b="1" dirty="0">
                <a:solidFill>
                  <a:schemeClr val="bg1"/>
                </a:solidFill>
              </a:rPr>
              <a:t>The following functions in </a:t>
            </a:r>
            <a:r>
              <a:rPr lang="en-US" b="1" dirty="0">
                <a:solidFill>
                  <a:srgbClr val="FFFF00"/>
                </a:solidFill>
              </a:rPr>
              <a:t>pseudo code</a:t>
            </a:r>
            <a:r>
              <a:rPr lang="en-US" b="1" dirty="0">
                <a:solidFill>
                  <a:schemeClr val="bg1"/>
                </a:solidFill>
              </a:rPr>
              <a:t> establish a digital twin representation of a supply chain. The accompanying code also illustrates the hierarchical structure and relationships among the key components within the model.</a:t>
            </a:r>
            <a:endParaRPr lang="en-US" b="1" dirty="0">
              <a:solidFill>
                <a:schemeClr val="bg1"/>
              </a:solidFill>
              <a:latin typeface="Google Sans"/>
            </a:endParaRPr>
          </a:p>
        </p:txBody>
      </p:sp>
      <p:sp>
        <p:nvSpPr>
          <p:cNvPr id="13" name="Oval 12">
            <a:extLst>
              <a:ext uri="{FF2B5EF4-FFF2-40B4-BE49-F238E27FC236}">
                <a16:creationId xmlns:a16="http://schemas.microsoft.com/office/drawing/2014/main" id="{E766F977-0B67-BBD4-DECA-0A9D710A91F2}"/>
              </a:ext>
            </a:extLst>
          </p:cNvPr>
          <p:cNvSpPr/>
          <p:nvPr/>
        </p:nvSpPr>
        <p:spPr>
          <a:xfrm>
            <a:off x="4940643" y="1251158"/>
            <a:ext cx="254000" cy="18822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FDBE61B-3220-1BAD-3E6A-F0F55EF42BB2}"/>
              </a:ext>
            </a:extLst>
          </p:cNvPr>
          <p:cNvSpPr/>
          <p:nvPr/>
        </p:nvSpPr>
        <p:spPr>
          <a:xfrm>
            <a:off x="4940643" y="1998355"/>
            <a:ext cx="254000" cy="18822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13AEC6D-7CBF-F971-AB61-E95248A024D5}"/>
              </a:ext>
            </a:extLst>
          </p:cNvPr>
          <p:cNvSpPr/>
          <p:nvPr/>
        </p:nvSpPr>
        <p:spPr>
          <a:xfrm>
            <a:off x="4940643" y="4234617"/>
            <a:ext cx="254000" cy="18822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7E55FC0-7E19-F8D9-0E64-6FC63F395496}"/>
              </a:ext>
            </a:extLst>
          </p:cNvPr>
          <p:cNvSpPr/>
          <p:nvPr/>
        </p:nvSpPr>
        <p:spPr>
          <a:xfrm>
            <a:off x="4940643" y="3361823"/>
            <a:ext cx="254000" cy="18822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F11F10D3-9FAF-05F8-ECD1-5C029C28B491}"/>
              </a:ext>
            </a:extLst>
          </p:cNvPr>
          <p:cNvCxnSpPr>
            <a:cxnSpLocks/>
          </p:cNvCxnSpPr>
          <p:nvPr/>
        </p:nvCxnSpPr>
        <p:spPr>
          <a:xfrm flipH="1">
            <a:off x="2874267" y="2121492"/>
            <a:ext cx="19416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0F1BE9AC-CD2D-DBD3-A7F5-6DCEE6217289}"/>
              </a:ext>
            </a:extLst>
          </p:cNvPr>
          <p:cNvSpPr/>
          <p:nvPr/>
        </p:nvSpPr>
        <p:spPr>
          <a:xfrm>
            <a:off x="4940643" y="2962783"/>
            <a:ext cx="254000" cy="18822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B94DD148-5046-3CC1-5744-B58AF47D55F1}"/>
              </a:ext>
            </a:extLst>
          </p:cNvPr>
          <p:cNvCxnSpPr>
            <a:cxnSpLocks/>
          </p:cNvCxnSpPr>
          <p:nvPr/>
        </p:nvCxnSpPr>
        <p:spPr>
          <a:xfrm flipH="1">
            <a:off x="1483018" y="3107827"/>
            <a:ext cx="33328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A63550B-02C6-D094-75C8-4E063CA46C55}"/>
              </a:ext>
            </a:extLst>
          </p:cNvPr>
          <p:cNvCxnSpPr>
            <a:cxnSpLocks/>
          </p:cNvCxnSpPr>
          <p:nvPr/>
        </p:nvCxnSpPr>
        <p:spPr>
          <a:xfrm flipH="1">
            <a:off x="2931628" y="4328167"/>
            <a:ext cx="18842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899F974-EBF1-DB57-59B2-966D367B26E5}"/>
              </a:ext>
            </a:extLst>
          </p:cNvPr>
          <p:cNvCxnSpPr>
            <a:cxnSpLocks/>
          </p:cNvCxnSpPr>
          <p:nvPr/>
        </p:nvCxnSpPr>
        <p:spPr>
          <a:xfrm flipH="1">
            <a:off x="4107051" y="3475234"/>
            <a:ext cx="7948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A8D94D0-D5C8-F39A-439A-53DAF0149B2A}"/>
              </a:ext>
            </a:extLst>
          </p:cNvPr>
          <p:cNvSpPr txBox="1"/>
          <p:nvPr/>
        </p:nvSpPr>
        <p:spPr>
          <a:xfrm>
            <a:off x="7859" y="-13051"/>
            <a:ext cx="12114638" cy="523220"/>
          </a:xfrm>
          <a:prstGeom prst="rect">
            <a:avLst/>
          </a:prstGeom>
          <a:noFill/>
        </p:spPr>
        <p:txBody>
          <a:bodyPr wrap="square" rtlCol="0">
            <a:spAutoFit/>
          </a:bodyPr>
          <a:lstStyle/>
          <a:p>
            <a:r>
              <a:rPr lang="en-US" sz="2800" b="1" dirty="0">
                <a:solidFill>
                  <a:schemeClr val="bg1"/>
                </a:solidFill>
                <a:latin typeface="Abadi Extra Light" panose="020B0204020104020204" pitchFamily="34" charset="0"/>
              </a:rPr>
              <a:t>Example Smart Contract Function for Digital Twin Instantiation  (1of 2)</a:t>
            </a:r>
          </a:p>
        </p:txBody>
      </p:sp>
    </p:spTree>
    <p:extLst>
      <p:ext uri="{BB962C8B-B14F-4D97-AF65-F5344CB8AC3E}">
        <p14:creationId xmlns:p14="http://schemas.microsoft.com/office/powerpoint/2010/main" val="1794341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A8AD7-FC60-99D6-E010-6292A4746CC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E7B5A8B-2853-1B58-A395-3ACB03F25B34}"/>
              </a:ext>
            </a:extLst>
          </p:cNvPr>
          <p:cNvSpPr/>
          <p:nvPr/>
        </p:nvSpPr>
        <p:spPr>
          <a:xfrm>
            <a:off x="-7859" y="-29092"/>
            <a:ext cx="12192000" cy="7010400"/>
          </a:xfrm>
          <a:prstGeom prst="rect">
            <a:avLst/>
          </a:prstGeom>
          <a:gradFill flip="none" rotWithShape="1">
            <a:gsLst>
              <a:gs pos="100000">
                <a:schemeClr val="accent5">
                  <a:lumMod val="50000"/>
                </a:schemeClr>
              </a:gs>
              <a:gs pos="20000">
                <a:schemeClr val="accent1">
                  <a:lumMod val="45000"/>
                  <a:lumOff val="55000"/>
                </a:schemeClr>
              </a:gs>
              <a:gs pos="100000">
                <a:schemeClr val="accent1">
                  <a:lumMod val="30000"/>
                  <a:lumOff val="7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CE8FC45-F405-C93E-5742-8E5FF69D52CB}"/>
              </a:ext>
            </a:extLst>
          </p:cNvPr>
          <p:cNvSpPr txBox="1"/>
          <p:nvPr/>
        </p:nvSpPr>
        <p:spPr>
          <a:xfrm>
            <a:off x="-4155" y="621624"/>
            <a:ext cx="12072168" cy="646331"/>
          </a:xfrm>
          <a:prstGeom prst="rect">
            <a:avLst/>
          </a:prstGeom>
          <a:noFill/>
          <a:ln>
            <a:solidFill>
              <a:schemeClr val="bg1"/>
            </a:solidFill>
          </a:ln>
        </p:spPr>
        <p:txBody>
          <a:bodyPr wrap="square">
            <a:spAutoFit/>
          </a:bodyPr>
          <a:lstStyle/>
          <a:p>
            <a:r>
              <a:rPr lang="en-US" dirty="0">
                <a:solidFill>
                  <a:schemeClr val="bg1"/>
                </a:solidFill>
              </a:rPr>
              <a:t>Example </a:t>
            </a:r>
            <a:r>
              <a:rPr lang="en-US" b="1" dirty="0">
                <a:solidFill>
                  <a:srgbClr val="FFFF00"/>
                </a:solidFill>
              </a:rPr>
              <a:t>pseudo code function</a:t>
            </a:r>
            <a:r>
              <a:rPr lang="en-US" dirty="0">
                <a:solidFill>
                  <a:schemeClr val="bg1"/>
                </a:solidFill>
              </a:rPr>
              <a:t> for registering an IoT device on a blockchain. There are additional steps to be performed on the device itself prior to connection to the blockchain. Structures in a smart contract define these actions.</a:t>
            </a:r>
            <a:endParaRPr lang="en-US" dirty="0">
              <a:solidFill>
                <a:schemeClr val="bg1"/>
              </a:solidFill>
              <a:latin typeface="Google Sans"/>
            </a:endParaRPr>
          </a:p>
        </p:txBody>
      </p:sp>
      <p:sp>
        <p:nvSpPr>
          <p:cNvPr id="9" name="Rectangle: Folded Corner 8">
            <a:extLst>
              <a:ext uri="{FF2B5EF4-FFF2-40B4-BE49-F238E27FC236}">
                <a16:creationId xmlns:a16="http://schemas.microsoft.com/office/drawing/2014/main" id="{EF504CB4-B9B8-BC2D-2D30-B8902979CEFD}"/>
              </a:ext>
            </a:extLst>
          </p:cNvPr>
          <p:cNvSpPr/>
          <p:nvPr/>
        </p:nvSpPr>
        <p:spPr>
          <a:xfrm>
            <a:off x="6777317" y="1499616"/>
            <a:ext cx="5313907" cy="5273027"/>
          </a:xfrm>
          <a:prstGeom prst="foldedCorner">
            <a:avLst>
              <a:gd name="adj" fmla="val 15966"/>
            </a:avLst>
          </a:prstGeom>
          <a:solidFill>
            <a:srgbClr val="CCECFF"/>
          </a:solid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tIns="9144" bIns="9144" rtlCol="0" anchor="ctr"/>
          <a:lstStyle/>
          <a:p>
            <a:r>
              <a:rPr lang="en-US" sz="1400" dirty="0">
                <a:solidFill>
                  <a:srgbClr val="001D35"/>
                </a:solidFill>
                <a:latin typeface="Google Sans"/>
              </a:rPr>
              <a:t> </a:t>
            </a:r>
          </a:p>
          <a:p>
            <a:endParaRPr lang="en-US" sz="1400" dirty="0">
              <a:solidFill>
                <a:srgbClr val="001D35"/>
              </a:solidFill>
              <a:latin typeface="Google Sans"/>
            </a:endParaRPr>
          </a:p>
          <a:p>
            <a:endParaRPr lang="en-US" sz="1400" dirty="0">
              <a:solidFill>
                <a:srgbClr val="C00000"/>
              </a:solidFill>
              <a:latin typeface="Google Sans"/>
            </a:endParaRPr>
          </a:p>
          <a:p>
            <a:r>
              <a:rPr lang="en-US" sz="1400" dirty="0">
                <a:solidFill>
                  <a:srgbClr val="C00000"/>
                </a:solidFill>
                <a:latin typeface="Google Sans"/>
              </a:rPr>
              <a:t>contract </a:t>
            </a:r>
            <a:r>
              <a:rPr lang="en-US" sz="1400" dirty="0" err="1">
                <a:solidFill>
                  <a:srgbClr val="C00000"/>
                </a:solidFill>
                <a:latin typeface="Google Sans"/>
              </a:rPr>
              <a:t>IoTDevices</a:t>
            </a:r>
            <a:r>
              <a:rPr lang="en-US" sz="1400" dirty="0">
                <a:solidFill>
                  <a:srgbClr val="C00000"/>
                </a:solidFill>
                <a:latin typeface="Google Sans"/>
              </a:rPr>
              <a:t> { ….</a:t>
            </a:r>
            <a:r>
              <a:rPr lang="en-US" sz="1400" dirty="0" err="1">
                <a:solidFill>
                  <a:srgbClr val="C00000"/>
                </a:solidFill>
                <a:latin typeface="Google Sans"/>
              </a:rPr>
              <a:t>cont</a:t>
            </a:r>
            <a:r>
              <a:rPr lang="en-US" sz="1400" dirty="0">
                <a:solidFill>
                  <a:srgbClr val="C00000"/>
                </a:solidFill>
                <a:latin typeface="Google Sans"/>
              </a:rPr>
              <a:t> with smart contract</a:t>
            </a:r>
          </a:p>
          <a:p>
            <a:endParaRPr lang="en-US" sz="1400" dirty="0">
              <a:solidFill>
                <a:srgbClr val="001D35"/>
              </a:solidFill>
              <a:latin typeface="Google Sans"/>
            </a:endParaRPr>
          </a:p>
          <a:p>
            <a:r>
              <a:rPr lang="en-US" sz="1400" dirty="0">
                <a:solidFill>
                  <a:srgbClr val="001D35"/>
                </a:solidFill>
                <a:latin typeface="Google Sans"/>
              </a:rPr>
              <a:t>// Function to register a new device</a:t>
            </a:r>
          </a:p>
          <a:p>
            <a:r>
              <a:rPr lang="en-US" sz="1400" dirty="0">
                <a:solidFill>
                  <a:srgbClr val="001D35"/>
                </a:solidFill>
                <a:latin typeface="Google Sans"/>
              </a:rPr>
              <a:t>    function </a:t>
            </a:r>
            <a:r>
              <a:rPr lang="en-US" sz="1400" dirty="0" err="1">
                <a:solidFill>
                  <a:srgbClr val="001D35"/>
                </a:solidFill>
                <a:latin typeface="Google Sans"/>
              </a:rPr>
              <a:t>registerDevice</a:t>
            </a:r>
            <a:r>
              <a:rPr lang="en-US" sz="1400" dirty="0">
                <a:solidFill>
                  <a:srgbClr val="001D35"/>
                </a:solidFill>
                <a:latin typeface="Google Sans"/>
              </a:rPr>
              <a:t>(</a:t>
            </a:r>
          </a:p>
          <a:p>
            <a:r>
              <a:rPr lang="en-US" sz="1400" dirty="0">
                <a:solidFill>
                  <a:srgbClr val="001D35"/>
                </a:solidFill>
                <a:latin typeface="Google Sans"/>
              </a:rPr>
              <a:t>        string memory _owner,</a:t>
            </a:r>
          </a:p>
          <a:p>
            <a:r>
              <a:rPr lang="en-US" sz="1400" dirty="0">
                <a:solidFill>
                  <a:srgbClr val="001D35"/>
                </a:solidFill>
                <a:latin typeface="Google Sans"/>
              </a:rPr>
              <a:t>        string memory _UUID,</a:t>
            </a:r>
          </a:p>
          <a:p>
            <a:r>
              <a:rPr lang="en-US" sz="1400" dirty="0">
                <a:solidFill>
                  <a:srgbClr val="001D35"/>
                </a:solidFill>
                <a:latin typeface="Google Sans"/>
              </a:rPr>
              <a:t>        string memory _</a:t>
            </a:r>
            <a:r>
              <a:rPr lang="en-US" sz="1400" dirty="0" err="1">
                <a:solidFill>
                  <a:srgbClr val="001D35"/>
                </a:solidFill>
                <a:latin typeface="Google Sans"/>
              </a:rPr>
              <a:t>device_type</a:t>
            </a:r>
            <a:r>
              <a:rPr lang="en-US" sz="1400" dirty="0">
                <a:solidFill>
                  <a:srgbClr val="001D35"/>
                </a:solidFill>
                <a:latin typeface="Google Sans"/>
              </a:rPr>
              <a:t>,</a:t>
            </a:r>
          </a:p>
          <a:p>
            <a:r>
              <a:rPr lang="en-US" sz="1400" dirty="0">
                <a:solidFill>
                  <a:srgbClr val="001D35"/>
                </a:solidFill>
                <a:latin typeface="Google Sans"/>
              </a:rPr>
              <a:t>        string memory _capability,</a:t>
            </a:r>
          </a:p>
          <a:p>
            <a:r>
              <a:rPr lang="en-US" sz="1400" dirty="0">
                <a:solidFill>
                  <a:srgbClr val="001D35"/>
                </a:solidFill>
                <a:latin typeface="Google Sans"/>
              </a:rPr>
              <a:t>        string memory _</a:t>
            </a:r>
            <a:r>
              <a:rPr lang="en-US" sz="1400" dirty="0" err="1">
                <a:solidFill>
                  <a:srgbClr val="001D35"/>
                </a:solidFill>
                <a:latin typeface="Google Sans"/>
              </a:rPr>
              <a:t>data_stream_link</a:t>
            </a:r>
            <a:endParaRPr lang="en-US" sz="1400" dirty="0">
              <a:solidFill>
                <a:srgbClr val="001D35"/>
              </a:solidFill>
              <a:latin typeface="Google Sans"/>
            </a:endParaRPr>
          </a:p>
          <a:p>
            <a:r>
              <a:rPr lang="en-US" sz="1400" dirty="0">
                <a:solidFill>
                  <a:srgbClr val="001D35"/>
                </a:solidFill>
                <a:latin typeface="Google Sans"/>
              </a:rPr>
              <a:t>    ) public </a:t>
            </a:r>
            <a:r>
              <a:rPr lang="en-US" sz="1400" dirty="0" err="1">
                <a:solidFill>
                  <a:srgbClr val="001D35"/>
                </a:solidFill>
                <a:latin typeface="Google Sans"/>
              </a:rPr>
              <a:t>onlyAdmin</a:t>
            </a:r>
            <a:r>
              <a:rPr lang="en-US" sz="1400" dirty="0">
                <a:solidFill>
                  <a:srgbClr val="001D35"/>
                </a:solidFill>
                <a:latin typeface="Google Sans"/>
              </a:rPr>
              <a:t> {</a:t>
            </a:r>
          </a:p>
          <a:p>
            <a:r>
              <a:rPr lang="en-US" sz="1400" dirty="0">
                <a:solidFill>
                  <a:srgbClr val="001D35"/>
                </a:solidFill>
                <a:latin typeface="Google Sans"/>
              </a:rPr>
              <a:t>        // Ensure it hasn’t been registered before</a:t>
            </a:r>
          </a:p>
          <a:p>
            <a:r>
              <a:rPr lang="en-US" sz="1400" dirty="0">
                <a:solidFill>
                  <a:srgbClr val="001D35"/>
                </a:solidFill>
                <a:latin typeface="Google Sans"/>
              </a:rPr>
              <a:t>        require(bytes(devices[_UUID].UUID).length == 0, "Device already</a:t>
            </a:r>
          </a:p>
          <a:p>
            <a:r>
              <a:rPr lang="en-US" sz="1400" dirty="0">
                <a:solidFill>
                  <a:srgbClr val="001D35"/>
                </a:solidFill>
                <a:latin typeface="Google Sans"/>
              </a:rPr>
              <a:t>                     registered");</a:t>
            </a:r>
          </a:p>
          <a:p>
            <a:endParaRPr lang="en-US" sz="1400" dirty="0">
              <a:solidFill>
                <a:srgbClr val="001D35"/>
              </a:solidFill>
              <a:latin typeface="Google Sans"/>
            </a:endParaRPr>
          </a:p>
          <a:p>
            <a:r>
              <a:rPr lang="en-US" sz="1400" dirty="0">
                <a:solidFill>
                  <a:srgbClr val="001D35"/>
                </a:solidFill>
                <a:latin typeface="Google Sans"/>
              </a:rPr>
              <a:t>        </a:t>
            </a:r>
            <a:r>
              <a:rPr lang="en-US" sz="1400" b="1" dirty="0">
                <a:solidFill>
                  <a:srgbClr val="001D35"/>
                </a:solidFill>
                <a:latin typeface="Google Sans"/>
              </a:rPr>
              <a:t>devices[_UUID] = </a:t>
            </a:r>
            <a:r>
              <a:rPr lang="en-US" sz="1400" b="1" dirty="0" err="1">
                <a:solidFill>
                  <a:srgbClr val="001D35"/>
                </a:solidFill>
                <a:latin typeface="Google Sans"/>
              </a:rPr>
              <a:t>IoTDevice_register</a:t>
            </a:r>
            <a:r>
              <a:rPr lang="en-US" sz="1400" b="1" dirty="0">
                <a:solidFill>
                  <a:srgbClr val="001D35"/>
                </a:solidFill>
                <a:latin typeface="Google Sans"/>
              </a:rPr>
              <a:t>({</a:t>
            </a:r>
          </a:p>
          <a:p>
            <a:r>
              <a:rPr lang="en-US" sz="1400" dirty="0">
                <a:solidFill>
                  <a:srgbClr val="001D35"/>
                </a:solidFill>
                <a:latin typeface="Google Sans"/>
              </a:rPr>
              <a:t>            owner: _owner,</a:t>
            </a:r>
          </a:p>
          <a:p>
            <a:r>
              <a:rPr lang="en-US" sz="1400" dirty="0">
                <a:solidFill>
                  <a:srgbClr val="001D35"/>
                </a:solidFill>
                <a:latin typeface="Google Sans"/>
              </a:rPr>
              <a:t>            UUID: _UUID,</a:t>
            </a:r>
          </a:p>
          <a:p>
            <a:r>
              <a:rPr lang="en-US" sz="1400" dirty="0">
                <a:solidFill>
                  <a:srgbClr val="001D35"/>
                </a:solidFill>
                <a:latin typeface="Google Sans"/>
              </a:rPr>
              <a:t>            </a:t>
            </a:r>
            <a:r>
              <a:rPr lang="en-US" sz="1400" dirty="0" err="1">
                <a:solidFill>
                  <a:srgbClr val="001D35"/>
                </a:solidFill>
                <a:latin typeface="Google Sans"/>
              </a:rPr>
              <a:t>device_type</a:t>
            </a:r>
            <a:r>
              <a:rPr lang="en-US" sz="1400" dirty="0">
                <a:solidFill>
                  <a:srgbClr val="001D35"/>
                </a:solidFill>
                <a:latin typeface="Google Sans"/>
              </a:rPr>
              <a:t>: _</a:t>
            </a:r>
            <a:r>
              <a:rPr lang="en-US" sz="1400" dirty="0" err="1">
                <a:solidFill>
                  <a:srgbClr val="001D35"/>
                </a:solidFill>
                <a:latin typeface="Google Sans"/>
              </a:rPr>
              <a:t>device_type</a:t>
            </a:r>
            <a:r>
              <a:rPr lang="en-US" sz="1400" dirty="0">
                <a:solidFill>
                  <a:srgbClr val="001D35"/>
                </a:solidFill>
                <a:latin typeface="Google Sans"/>
              </a:rPr>
              <a:t>,</a:t>
            </a:r>
          </a:p>
          <a:p>
            <a:r>
              <a:rPr lang="en-US" sz="1400" dirty="0">
                <a:solidFill>
                  <a:srgbClr val="001D35"/>
                </a:solidFill>
                <a:latin typeface="Google Sans"/>
              </a:rPr>
              <a:t>            capability: _capability,</a:t>
            </a:r>
          </a:p>
          <a:p>
            <a:r>
              <a:rPr lang="en-US" sz="1400" dirty="0">
                <a:solidFill>
                  <a:srgbClr val="001D35"/>
                </a:solidFill>
                <a:latin typeface="Google Sans"/>
              </a:rPr>
              <a:t>            </a:t>
            </a:r>
            <a:r>
              <a:rPr lang="en-US" sz="1400" dirty="0" err="1">
                <a:solidFill>
                  <a:srgbClr val="001D35"/>
                </a:solidFill>
                <a:latin typeface="Google Sans"/>
              </a:rPr>
              <a:t>isActive</a:t>
            </a:r>
            <a:r>
              <a:rPr lang="en-US" sz="1400" dirty="0">
                <a:solidFill>
                  <a:srgbClr val="001D35"/>
                </a:solidFill>
                <a:latin typeface="Google Sans"/>
              </a:rPr>
              <a:t>: true,</a:t>
            </a:r>
          </a:p>
          <a:p>
            <a:r>
              <a:rPr lang="en-US" sz="1400" dirty="0">
                <a:solidFill>
                  <a:srgbClr val="001D35"/>
                </a:solidFill>
                <a:latin typeface="Google Sans"/>
              </a:rPr>
              <a:t>            </a:t>
            </a:r>
            <a:r>
              <a:rPr lang="en-US" sz="1400" dirty="0" err="1">
                <a:solidFill>
                  <a:srgbClr val="001D35"/>
                </a:solidFill>
                <a:latin typeface="Google Sans"/>
              </a:rPr>
              <a:t>data_stream_link</a:t>
            </a:r>
            <a:r>
              <a:rPr lang="en-US" sz="1400" dirty="0">
                <a:solidFill>
                  <a:srgbClr val="001D35"/>
                </a:solidFill>
                <a:latin typeface="Google Sans"/>
              </a:rPr>
              <a:t>: _</a:t>
            </a:r>
            <a:r>
              <a:rPr lang="en-US" sz="1400" dirty="0" err="1">
                <a:solidFill>
                  <a:srgbClr val="001D35"/>
                </a:solidFill>
                <a:latin typeface="Google Sans"/>
              </a:rPr>
              <a:t>data_stream_link</a:t>
            </a:r>
            <a:endParaRPr lang="en-US" sz="1400" dirty="0">
              <a:solidFill>
                <a:srgbClr val="001D35"/>
              </a:solidFill>
              <a:latin typeface="Google Sans"/>
            </a:endParaRPr>
          </a:p>
          <a:p>
            <a:r>
              <a:rPr lang="en-US" sz="1400" dirty="0">
                <a:solidFill>
                  <a:srgbClr val="001D35"/>
                </a:solidFill>
                <a:latin typeface="Google Sans"/>
              </a:rPr>
              <a:t>        });</a:t>
            </a:r>
          </a:p>
          <a:p>
            <a:r>
              <a:rPr lang="en-US" sz="1400" b="1" dirty="0">
                <a:solidFill>
                  <a:srgbClr val="001D35"/>
                </a:solidFill>
                <a:latin typeface="Google Sans"/>
              </a:rPr>
              <a:t> </a:t>
            </a:r>
            <a:endParaRPr lang="en-US" sz="1100" dirty="0">
              <a:solidFill>
                <a:srgbClr val="C00000"/>
              </a:solidFill>
            </a:endParaRPr>
          </a:p>
        </p:txBody>
      </p:sp>
      <p:sp>
        <p:nvSpPr>
          <p:cNvPr id="12" name="TextBox 11">
            <a:extLst>
              <a:ext uri="{FF2B5EF4-FFF2-40B4-BE49-F238E27FC236}">
                <a16:creationId xmlns:a16="http://schemas.microsoft.com/office/drawing/2014/main" id="{A788DD4B-3DBD-0DBA-0456-870E8DC62956}"/>
              </a:ext>
            </a:extLst>
          </p:cNvPr>
          <p:cNvSpPr txBox="1"/>
          <p:nvPr/>
        </p:nvSpPr>
        <p:spPr>
          <a:xfrm>
            <a:off x="48401" y="1403685"/>
            <a:ext cx="6614746" cy="5355312"/>
          </a:xfrm>
          <a:prstGeom prst="rect">
            <a:avLst/>
          </a:prstGeom>
          <a:noFill/>
        </p:spPr>
        <p:txBody>
          <a:bodyPr wrap="square" rtlCol="0">
            <a:spAutoFit/>
          </a:bodyPr>
          <a:lstStyle/>
          <a:p>
            <a:pPr marL="342900" indent="-342900">
              <a:buAutoNum type="arabicParenR"/>
            </a:pPr>
            <a:r>
              <a:rPr lang="en-US" b="1" dirty="0">
                <a:solidFill>
                  <a:schemeClr val="bg1"/>
                </a:solidFill>
              </a:rPr>
              <a:t>An example function to register the device on the blockchain.</a:t>
            </a:r>
          </a:p>
          <a:p>
            <a:r>
              <a:rPr lang="en-US" sz="1400" b="1" dirty="0">
                <a:solidFill>
                  <a:schemeClr val="bg1"/>
                </a:solidFill>
                <a:latin typeface="Google Sans"/>
              </a:rPr>
              <a:t>            a) create a unique identity using the IoT UUID or the device’s MAC address.</a:t>
            </a:r>
          </a:p>
          <a:p>
            <a:r>
              <a:rPr lang="en-US" sz="1400" b="1" dirty="0">
                <a:solidFill>
                  <a:schemeClr val="bg1"/>
                </a:solidFill>
                <a:latin typeface="Google Sans"/>
              </a:rPr>
              <a:t>            b) system controllers register devices using </a:t>
            </a:r>
            <a:r>
              <a:rPr lang="en-US" sz="1400" b="1" dirty="0" err="1">
                <a:solidFill>
                  <a:schemeClr val="bg1"/>
                </a:solidFill>
                <a:latin typeface="Google Sans"/>
              </a:rPr>
              <a:t>IoTDevice</a:t>
            </a:r>
            <a:r>
              <a:rPr lang="en-US" sz="1400" b="1" dirty="0">
                <a:solidFill>
                  <a:schemeClr val="bg1"/>
                </a:solidFill>
                <a:latin typeface="Google Sans"/>
              </a:rPr>
              <a:t> which includes the</a:t>
            </a:r>
          </a:p>
          <a:p>
            <a:r>
              <a:rPr lang="en-US" sz="1400" b="1" dirty="0">
                <a:solidFill>
                  <a:schemeClr val="bg1"/>
                </a:solidFill>
                <a:latin typeface="Google Sans"/>
              </a:rPr>
              <a:t>                UUID, type, capabilities, and status.</a:t>
            </a:r>
          </a:p>
          <a:p>
            <a:endParaRPr lang="en-US" b="1" dirty="0">
              <a:solidFill>
                <a:schemeClr val="bg1"/>
              </a:solidFill>
            </a:endParaRPr>
          </a:p>
          <a:p>
            <a:r>
              <a:rPr lang="en-US" b="1" dirty="0">
                <a:solidFill>
                  <a:schemeClr val="bg1"/>
                </a:solidFill>
              </a:rPr>
              <a:t>2)   The signature for the function to register is the following:</a:t>
            </a:r>
          </a:p>
          <a:p>
            <a:r>
              <a:rPr lang="en-US" sz="1400" b="1" dirty="0">
                <a:solidFill>
                  <a:schemeClr val="bg1"/>
                </a:solidFill>
                <a:latin typeface="Google Sans"/>
              </a:rPr>
              <a:t>           await </a:t>
            </a:r>
            <a:r>
              <a:rPr lang="en-US" sz="1400" b="1" dirty="0" err="1">
                <a:solidFill>
                  <a:schemeClr val="bg1"/>
                </a:solidFill>
                <a:latin typeface="Google Sans"/>
              </a:rPr>
              <a:t>contract.methods.registerDevice</a:t>
            </a:r>
            <a:r>
              <a:rPr lang="en-US" sz="1400" b="1" dirty="0">
                <a:solidFill>
                  <a:schemeClr val="bg1"/>
                </a:solidFill>
                <a:latin typeface="Google Sans"/>
              </a:rPr>
              <a:t>(</a:t>
            </a:r>
          </a:p>
          <a:p>
            <a:r>
              <a:rPr lang="en-US" sz="1400" b="1" dirty="0">
                <a:solidFill>
                  <a:schemeClr val="bg1"/>
                </a:solidFill>
                <a:latin typeface="Google Sans"/>
              </a:rPr>
              <a:t>                       “some supplier Corp",</a:t>
            </a:r>
          </a:p>
          <a:p>
            <a:r>
              <a:rPr lang="en-US" sz="1400" b="1" dirty="0">
                <a:solidFill>
                  <a:schemeClr val="bg1"/>
                </a:solidFill>
                <a:latin typeface="Google Sans"/>
              </a:rPr>
              <a:t>                       “UUID",</a:t>
            </a:r>
          </a:p>
          <a:p>
            <a:r>
              <a:rPr lang="en-US" sz="1400" b="1" dirty="0">
                <a:solidFill>
                  <a:schemeClr val="bg1"/>
                </a:solidFill>
                <a:latin typeface="Google Sans"/>
              </a:rPr>
              <a:t>                       "CO2_Sensor",</a:t>
            </a:r>
          </a:p>
          <a:p>
            <a:r>
              <a:rPr lang="en-US" sz="1400" b="1" dirty="0">
                <a:solidFill>
                  <a:schemeClr val="bg1"/>
                </a:solidFill>
                <a:latin typeface="Google Sans"/>
              </a:rPr>
              <a:t>                       "</a:t>
            </a:r>
            <a:r>
              <a:rPr lang="en-US" sz="1400" b="1" dirty="0" err="1">
                <a:solidFill>
                  <a:schemeClr val="bg1"/>
                </a:solidFill>
                <a:latin typeface="Google Sans"/>
              </a:rPr>
              <a:t>emissions_reporting</a:t>
            </a:r>
            <a:r>
              <a:rPr lang="en-US" sz="1400" b="1" dirty="0">
                <a:solidFill>
                  <a:schemeClr val="bg1"/>
                </a:solidFill>
                <a:latin typeface="Google Sans"/>
              </a:rPr>
              <a:t>",</a:t>
            </a:r>
          </a:p>
          <a:p>
            <a:r>
              <a:rPr lang="en-US" sz="1400" b="1" dirty="0">
                <a:solidFill>
                  <a:schemeClr val="bg1"/>
                </a:solidFill>
                <a:latin typeface="Google Sans"/>
              </a:rPr>
              <a:t>                       "</a:t>
            </a:r>
            <a:r>
              <a:rPr lang="en-US" sz="1400" b="1" dirty="0" err="1">
                <a:solidFill>
                  <a:schemeClr val="bg1"/>
                </a:solidFill>
                <a:latin typeface="Google Sans"/>
              </a:rPr>
              <a:t>ipfs</a:t>
            </a:r>
            <a:r>
              <a:rPr lang="en-US" sz="1400" b="1" dirty="0">
                <a:solidFill>
                  <a:schemeClr val="bg1"/>
                </a:solidFill>
                <a:latin typeface="Google Sans"/>
              </a:rPr>
              <a:t>://example-data-link" ).send({ from: </a:t>
            </a:r>
            <a:r>
              <a:rPr lang="en-US" sz="1400" b="1" dirty="0" err="1">
                <a:solidFill>
                  <a:schemeClr val="bg1"/>
                </a:solidFill>
                <a:latin typeface="Google Sans"/>
              </a:rPr>
              <a:t>adminAddress</a:t>
            </a:r>
            <a:r>
              <a:rPr lang="en-US" sz="1400" b="1" dirty="0">
                <a:solidFill>
                  <a:schemeClr val="bg1"/>
                </a:solidFill>
                <a:latin typeface="Google Sans"/>
              </a:rPr>
              <a:t> });</a:t>
            </a:r>
          </a:p>
          <a:p>
            <a:r>
              <a:rPr lang="en-US" sz="1400" b="1" dirty="0">
                <a:solidFill>
                  <a:srgbClr val="FFFF00"/>
                </a:solidFill>
                <a:latin typeface="Google Sans"/>
              </a:rPr>
              <a:t>          - performed as a transaction to call this smart contract called “</a:t>
            </a:r>
            <a:r>
              <a:rPr lang="en-US" sz="1400" b="1" dirty="0" err="1">
                <a:solidFill>
                  <a:srgbClr val="FFFF00"/>
                </a:solidFill>
                <a:latin typeface="Google Sans"/>
              </a:rPr>
              <a:t>IoTDevices</a:t>
            </a:r>
            <a:endParaRPr lang="en-US" sz="1400" b="1" dirty="0">
              <a:solidFill>
                <a:srgbClr val="FFFF00"/>
              </a:solidFill>
              <a:latin typeface="Google Sans"/>
            </a:endParaRPr>
          </a:p>
          <a:p>
            <a:r>
              <a:rPr lang="en-US" sz="1400" b="1" dirty="0">
                <a:solidFill>
                  <a:srgbClr val="FFFF00"/>
                </a:solidFill>
              </a:rPr>
              <a:t>          - CALLED BY - IoT gateways or devices (via backend code using Web3.js, Web3.py,</a:t>
            </a:r>
          </a:p>
          <a:p>
            <a:r>
              <a:rPr lang="en-US" sz="1400" b="1" dirty="0">
                <a:solidFill>
                  <a:srgbClr val="FFFF00"/>
                </a:solidFill>
              </a:rPr>
              <a:t>             Ethers.js, etc.)</a:t>
            </a:r>
            <a:endParaRPr lang="en-US" sz="1400" b="1" dirty="0">
              <a:solidFill>
                <a:srgbClr val="FFFF00"/>
              </a:solidFill>
              <a:latin typeface="Google Sans"/>
            </a:endParaRPr>
          </a:p>
          <a:p>
            <a:r>
              <a:rPr lang="en-US" sz="1400" b="1" dirty="0">
                <a:solidFill>
                  <a:schemeClr val="bg1"/>
                </a:solidFill>
                <a:latin typeface="Google Sans"/>
              </a:rPr>
              <a:t>         </a:t>
            </a:r>
          </a:p>
          <a:p>
            <a:pPr marL="342900" indent="-342900">
              <a:buFont typeface="+mj-lt"/>
              <a:buAutoNum type="arabicParenR" startAt="3"/>
            </a:pPr>
            <a:r>
              <a:rPr lang="en-US" b="1" dirty="0">
                <a:solidFill>
                  <a:schemeClr val="bg1"/>
                </a:solidFill>
              </a:rPr>
              <a:t>What Happens on the Blockchain</a:t>
            </a:r>
          </a:p>
          <a:p>
            <a:r>
              <a:rPr lang="en-US" sz="1400" b="1" dirty="0">
                <a:solidFill>
                  <a:schemeClr val="bg1"/>
                </a:solidFill>
              </a:rPr>
              <a:t>            </a:t>
            </a:r>
            <a:r>
              <a:rPr lang="en-US" sz="1400" b="1" dirty="0">
                <a:solidFill>
                  <a:schemeClr val="bg1"/>
                </a:solidFill>
                <a:latin typeface="Google Sans"/>
              </a:rPr>
              <a:t>a)  The device info is stored immutably in the devices mapping</a:t>
            </a:r>
          </a:p>
          <a:p>
            <a:r>
              <a:rPr lang="en-US" sz="1400" b="1" dirty="0">
                <a:solidFill>
                  <a:schemeClr val="bg1"/>
                </a:solidFill>
                <a:latin typeface="Google Sans"/>
              </a:rPr>
              <a:t>            b)  The device can be looked up on the blockchain via devices[“UUID”]</a:t>
            </a:r>
          </a:p>
          <a:p>
            <a:endParaRPr lang="en-US" sz="1400" b="1" dirty="0">
              <a:solidFill>
                <a:schemeClr val="bg1"/>
              </a:solidFill>
              <a:latin typeface="Google Sans"/>
            </a:endParaRPr>
          </a:p>
          <a:p>
            <a:pPr marL="342900" indent="-342900">
              <a:buFont typeface="+mj-lt"/>
              <a:buAutoNum type="arabicParenR" startAt="4"/>
            </a:pPr>
            <a:r>
              <a:rPr lang="en-US" b="1" dirty="0">
                <a:solidFill>
                  <a:schemeClr val="bg1"/>
                </a:solidFill>
              </a:rPr>
              <a:t>Security</a:t>
            </a:r>
          </a:p>
          <a:p>
            <a:r>
              <a:rPr lang="en-US" sz="1400" b="1" dirty="0">
                <a:solidFill>
                  <a:schemeClr val="bg1"/>
                </a:solidFill>
                <a:latin typeface="Google Sans"/>
              </a:rPr>
              <a:t>            a) If the policy is to allow anyone to register a device , remove the </a:t>
            </a:r>
            <a:r>
              <a:rPr lang="en-US" sz="1400" b="1" dirty="0" err="1">
                <a:solidFill>
                  <a:schemeClr val="bg1"/>
                </a:solidFill>
                <a:latin typeface="Google Sans"/>
              </a:rPr>
              <a:t>onlyAdmin</a:t>
            </a:r>
            <a:endParaRPr lang="en-US" sz="1400" b="1" dirty="0">
              <a:solidFill>
                <a:schemeClr val="bg1"/>
              </a:solidFill>
              <a:latin typeface="Google Sans"/>
            </a:endParaRPr>
          </a:p>
          <a:p>
            <a:r>
              <a:rPr lang="en-US" sz="1400" b="1" dirty="0">
                <a:solidFill>
                  <a:schemeClr val="bg1"/>
                </a:solidFill>
                <a:latin typeface="Google Sans"/>
              </a:rPr>
              <a:t>                modifier.</a:t>
            </a:r>
          </a:p>
        </p:txBody>
      </p:sp>
      <p:sp>
        <p:nvSpPr>
          <p:cNvPr id="2" name="AutoShape 2" descr="A detailed infographic illustrating the process of defining an IoT device on a blockchain. The image includes a flow from an IoT device (e.g., a sensor) to its integration with a blockchain system. Key elements include (1) Device Identity Registration with unique IDs and cryptographic keys, (2) Secure Communication using encryption, (3) Data Validation through blockchain nodes and oracles, (4) Integration with Smart Contracts showing automated triggers, (5) Off-Chain Data Storage connected to the blockchain using systems like IPFS, and (6) Scalability with Layer 2 solutions. The design is clean and professional, with arrows connecting each step, labeled sections, and a modern tech aesthetic.">
            <a:extLst>
              <a:ext uri="{FF2B5EF4-FFF2-40B4-BE49-F238E27FC236}">
                <a16:creationId xmlns:a16="http://schemas.microsoft.com/office/drawing/2014/main" id="{37D9AF30-4BA6-9346-9509-466ADFFB8F2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14" name="Connector: Elbow 13">
            <a:extLst>
              <a:ext uri="{FF2B5EF4-FFF2-40B4-BE49-F238E27FC236}">
                <a16:creationId xmlns:a16="http://schemas.microsoft.com/office/drawing/2014/main" id="{FA98518A-FF74-DFA4-8D61-449D2A3CC550}"/>
              </a:ext>
            </a:extLst>
          </p:cNvPr>
          <p:cNvCxnSpPr>
            <a:cxnSpLocks/>
          </p:cNvCxnSpPr>
          <p:nvPr/>
        </p:nvCxnSpPr>
        <p:spPr>
          <a:xfrm rot="10800000">
            <a:off x="3445453" y="2307891"/>
            <a:ext cx="3507438" cy="73001"/>
          </a:xfrm>
          <a:prstGeom prst="bentConnector3">
            <a:avLst/>
          </a:prstGeom>
          <a:ln w="22225">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id="{4B4FAD11-9EFC-1222-9008-0BC6167CF4EA}"/>
              </a:ext>
            </a:extLst>
          </p:cNvPr>
          <p:cNvCxnSpPr>
            <a:cxnSpLocks/>
          </p:cNvCxnSpPr>
          <p:nvPr/>
        </p:nvCxnSpPr>
        <p:spPr>
          <a:xfrm rot="10800000" flipV="1">
            <a:off x="5199174" y="4684143"/>
            <a:ext cx="1908992" cy="770172"/>
          </a:xfrm>
          <a:prstGeom prst="bentConnector3">
            <a:avLst/>
          </a:prstGeom>
          <a:ln w="22225">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8EC7EE3-877B-3730-93B4-9BC18144A7B3}"/>
              </a:ext>
            </a:extLst>
          </p:cNvPr>
          <p:cNvSpPr txBox="1"/>
          <p:nvPr/>
        </p:nvSpPr>
        <p:spPr>
          <a:xfrm>
            <a:off x="0" y="17752"/>
            <a:ext cx="12114638" cy="523220"/>
          </a:xfrm>
          <a:prstGeom prst="rect">
            <a:avLst/>
          </a:prstGeom>
          <a:noFill/>
        </p:spPr>
        <p:txBody>
          <a:bodyPr wrap="square" rtlCol="0">
            <a:spAutoFit/>
          </a:bodyPr>
          <a:lstStyle/>
          <a:p>
            <a:r>
              <a:rPr lang="en-US" sz="2800" b="1" dirty="0">
                <a:solidFill>
                  <a:schemeClr val="bg1"/>
                </a:solidFill>
                <a:latin typeface="Abadi Extra Light" panose="020B0204020104020204" pitchFamily="34" charset="0"/>
              </a:rPr>
              <a:t>Example Smart Contract Function to Register an IoT Device</a:t>
            </a:r>
          </a:p>
        </p:txBody>
      </p:sp>
    </p:spTree>
    <p:extLst>
      <p:ext uri="{BB962C8B-B14F-4D97-AF65-F5344CB8AC3E}">
        <p14:creationId xmlns:p14="http://schemas.microsoft.com/office/powerpoint/2010/main" val="12425678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8947A-22EE-6752-836D-4B716881C24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43870F8-3D2E-7928-C728-2E8F0041B642}"/>
              </a:ext>
            </a:extLst>
          </p:cNvPr>
          <p:cNvSpPr/>
          <p:nvPr/>
        </p:nvSpPr>
        <p:spPr>
          <a:xfrm>
            <a:off x="-7859" y="-8467"/>
            <a:ext cx="12192000" cy="7010400"/>
          </a:xfrm>
          <a:prstGeom prst="rect">
            <a:avLst/>
          </a:prstGeom>
          <a:gradFill flip="none" rotWithShape="1">
            <a:gsLst>
              <a:gs pos="100000">
                <a:schemeClr val="accent5">
                  <a:lumMod val="50000"/>
                </a:schemeClr>
              </a:gs>
              <a:gs pos="20000">
                <a:schemeClr val="accent1">
                  <a:lumMod val="45000"/>
                  <a:lumOff val="55000"/>
                </a:schemeClr>
              </a:gs>
              <a:gs pos="100000">
                <a:schemeClr val="accent1">
                  <a:lumMod val="30000"/>
                  <a:lumOff val="7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Folded Corner 8">
            <a:extLst>
              <a:ext uri="{FF2B5EF4-FFF2-40B4-BE49-F238E27FC236}">
                <a16:creationId xmlns:a16="http://schemas.microsoft.com/office/drawing/2014/main" id="{91C11F4C-7393-030C-CC89-C6AB09370A65}"/>
              </a:ext>
            </a:extLst>
          </p:cNvPr>
          <p:cNvSpPr/>
          <p:nvPr/>
        </p:nvSpPr>
        <p:spPr>
          <a:xfrm>
            <a:off x="61275" y="1197404"/>
            <a:ext cx="4910637" cy="5721089"/>
          </a:xfrm>
          <a:prstGeom prst="foldedCorner">
            <a:avLst>
              <a:gd name="adj" fmla="val 15966"/>
            </a:avLst>
          </a:prstGeom>
          <a:solidFill>
            <a:srgbClr val="CCECFF"/>
          </a:solidFill>
        </p:spPr>
        <p:style>
          <a:lnRef idx="2">
            <a:schemeClr val="accent1">
              <a:shade val="15000"/>
            </a:schemeClr>
          </a:lnRef>
          <a:fillRef idx="1">
            <a:schemeClr val="accent1"/>
          </a:fillRef>
          <a:effectRef idx="0">
            <a:schemeClr val="accent1"/>
          </a:effectRef>
          <a:fontRef idx="minor">
            <a:schemeClr val="lt1"/>
          </a:fontRef>
        </p:style>
        <p:txBody>
          <a:bodyPr tIns="9144" bIns="9144" rtlCol="0" anchor="ctr"/>
          <a:lstStyle/>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900" b="1" dirty="0">
              <a:solidFill>
                <a:schemeClr val="tx1"/>
              </a:solidFill>
            </a:endParaRPr>
          </a:p>
          <a:p>
            <a:endParaRPr lang="en-US" sz="900" b="1" dirty="0">
              <a:solidFill>
                <a:schemeClr val="tx1"/>
              </a:solidFill>
            </a:endParaRPr>
          </a:p>
          <a:p>
            <a:endParaRPr lang="en-US" sz="900" b="1" dirty="0">
              <a:solidFill>
                <a:schemeClr val="tx1"/>
              </a:solidFill>
            </a:endParaRPr>
          </a:p>
          <a:p>
            <a:endParaRPr lang="en-US" sz="900" b="1" dirty="0">
              <a:solidFill>
                <a:schemeClr val="tx1"/>
              </a:solidFill>
            </a:endParaRPr>
          </a:p>
          <a:p>
            <a:r>
              <a:rPr lang="en-US" sz="900" b="1" dirty="0">
                <a:solidFill>
                  <a:schemeClr val="tx1"/>
                </a:solidFill>
              </a:rPr>
              <a:t>function </a:t>
            </a:r>
            <a:r>
              <a:rPr lang="en-US" sz="900" b="1" dirty="0" err="1">
                <a:solidFill>
                  <a:schemeClr val="tx1"/>
                </a:solidFill>
              </a:rPr>
              <a:t>addEmissionSource</a:t>
            </a:r>
            <a:r>
              <a:rPr lang="en-US" sz="900" b="1" dirty="0">
                <a:solidFill>
                  <a:schemeClr val="tx1"/>
                </a:solidFill>
              </a:rPr>
              <a:t>(</a:t>
            </a:r>
          </a:p>
          <a:p>
            <a:r>
              <a:rPr lang="en-US" sz="900" dirty="0">
                <a:solidFill>
                  <a:schemeClr val="tx1"/>
                </a:solidFill>
              </a:rPr>
              <a:t>    uint256 </a:t>
            </a:r>
            <a:r>
              <a:rPr lang="en-US" sz="900" dirty="0" err="1">
                <a:solidFill>
                  <a:schemeClr val="tx1"/>
                </a:solidFill>
              </a:rPr>
              <a:t>twinIndex</a:t>
            </a:r>
            <a:r>
              <a:rPr lang="en-US" sz="900" dirty="0">
                <a:solidFill>
                  <a:schemeClr val="tx1"/>
                </a:solidFill>
              </a:rPr>
              <a:t>,</a:t>
            </a:r>
          </a:p>
          <a:p>
            <a:r>
              <a:rPr lang="en-US" sz="900" dirty="0">
                <a:solidFill>
                  <a:schemeClr val="tx1"/>
                </a:solidFill>
              </a:rPr>
              <a:t>    uint256 </a:t>
            </a:r>
            <a:r>
              <a:rPr lang="en-US" sz="900" dirty="0" err="1">
                <a:solidFill>
                  <a:schemeClr val="tx1"/>
                </a:solidFill>
              </a:rPr>
              <a:t>segmentIndex</a:t>
            </a:r>
            <a:r>
              <a:rPr lang="en-US" sz="900" dirty="0">
                <a:solidFill>
                  <a:schemeClr val="tx1"/>
                </a:solidFill>
              </a:rPr>
              <a:t>,</a:t>
            </a:r>
          </a:p>
          <a:p>
            <a:r>
              <a:rPr lang="en-US" sz="900" dirty="0">
                <a:solidFill>
                  <a:schemeClr val="tx1"/>
                </a:solidFill>
              </a:rPr>
              <a:t>    string memory </a:t>
            </a:r>
            <a:r>
              <a:rPr lang="en-US" sz="900" dirty="0" err="1">
                <a:solidFill>
                  <a:schemeClr val="tx1"/>
                </a:solidFill>
              </a:rPr>
              <a:t>sourceName</a:t>
            </a:r>
            <a:r>
              <a:rPr lang="en-US" sz="900" dirty="0">
                <a:solidFill>
                  <a:schemeClr val="tx1"/>
                </a:solidFill>
              </a:rPr>
              <a:t>,</a:t>
            </a:r>
          </a:p>
          <a:p>
            <a:r>
              <a:rPr lang="en-US" sz="900" dirty="0">
                <a:solidFill>
                  <a:schemeClr val="tx1"/>
                </a:solidFill>
              </a:rPr>
              <a:t>    uint256 </a:t>
            </a:r>
            <a:r>
              <a:rPr lang="en-US" sz="900" dirty="0" err="1">
                <a:solidFill>
                  <a:schemeClr val="tx1"/>
                </a:solidFill>
              </a:rPr>
              <a:t>baselineAmount</a:t>
            </a:r>
            <a:r>
              <a:rPr lang="en-US" sz="900" dirty="0">
                <a:solidFill>
                  <a:schemeClr val="tx1"/>
                </a:solidFill>
              </a:rPr>
              <a:t>,</a:t>
            </a:r>
          </a:p>
          <a:p>
            <a:r>
              <a:rPr lang="en-US" sz="900" dirty="0">
                <a:solidFill>
                  <a:schemeClr val="tx1"/>
                </a:solidFill>
              </a:rPr>
              <a:t>    string memory </a:t>
            </a:r>
            <a:r>
              <a:rPr lang="en-US" sz="900" dirty="0" err="1">
                <a:solidFill>
                  <a:schemeClr val="tx1"/>
                </a:solidFill>
              </a:rPr>
              <a:t>emissionUnits</a:t>
            </a:r>
            <a:endParaRPr lang="en-US" sz="900" dirty="0">
              <a:solidFill>
                <a:schemeClr val="tx1"/>
              </a:solidFill>
            </a:endParaRPr>
          </a:p>
          <a:p>
            <a:r>
              <a:rPr lang="en-US" sz="900" dirty="0">
                <a:solidFill>
                  <a:schemeClr val="tx1"/>
                </a:solidFill>
              </a:rPr>
              <a:t>) public {</a:t>
            </a:r>
          </a:p>
          <a:p>
            <a:r>
              <a:rPr lang="en-US" sz="900" dirty="0">
                <a:solidFill>
                  <a:schemeClr val="tx1"/>
                </a:solidFill>
              </a:rPr>
              <a:t>    require(</a:t>
            </a:r>
            <a:r>
              <a:rPr lang="en-US" sz="900" dirty="0" err="1">
                <a:solidFill>
                  <a:schemeClr val="tx1"/>
                </a:solidFill>
              </a:rPr>
              <a:t>twinIndex</a:t>
            </a:r>
            <a:r>
              <a:rPr lang="en-US" sz="900" dirty="0">
                <a:solidFill>
                  <a:schemeClr val="tx1"/>
                </a:solidFill>
              </a:rPr>
              <a:t> &lt; </a:t>
            </a:r>
            <a:r>
              <a:rPr lang="en-US" sz="900" dirty="0" err="1">
                <a:solidFill>
                  <a:schemeClr val="tx1"/>
                </a:solidFill>
              </a:rPr>
              <a:t>twins.length</a:t>
            </a:r>
            <a:r>
              <a:rPr lang="en-US" sz="900" dirty="0">
                <a:solidFill>
                  <a:schemeClr val="tx1"/>
                </a:solidFill>
              </a:rPr>
              <a:t>, "Invalid twin index");</a:t>
            </a:r>
          </a:p>
          <a:p>
            <a:r>
              <a:rPr lang="en-US" sz="900" dirty="0">
                <a:solidFill>
                  <a:schemeClr val="tx1"/>
                </a:solidFill>
              </a:rPr>
              <a:t>    require(</a:t>
            </a:r>
            <a:r>
              <a:rPr lang="en-US" sz="900" dirty="0" err="1">
                <a:solidFill>
                  <a:schemeClr val="tx1"/>
                </a:solidFill>
              </a:rPr>
              <a:t>segmentIndex</a:t>
            </a:r>
            <a:r>
              <a:rPr lang="en-US" sz="900" dirty="0">
                <a:solidFill>
                  <a:schemeClr val="tx1"/>
                </a:solidFill>
              </a:rPr>
              <a:t> &lt; twins[</a:t>
            </a:r>
            <a:r>
              <a:rPr lang="en-US" sz="900" dirty="0" err="1">
                <a:solidFill>
                  <a:schemeClr val="tx1"/>
                </a:solidFill>
              </a:rPr>
              <a:t>twinIndex</a:t>
            </a:r>
            <a:r>
              <a:rPr lang="en-US" sz="900" dirty="0">
                <a:solidFill>
                  <a:schemeClr val="tx1"/>
                </a:solidFill>
              </a:rPr>
              <a:t>].</a:t>
            </a:r>
            <a:r>
              <a:rPr lang="en-US" sz="900" dirty="0" err="1">
                <a:solidFill>
                  <a:schemeClr val="tx1"/>
                </a:solidFill>
              </a:rPr>
              <a:t>segments.length</a:t>
            </a:r>
            <a:r>
              <a:rPr lang="en-US" sz="900" dirty="0">
                <a:solidFill>
                  <a:schemeClr val="tx1"/>
                </a:solidFill>
              </a:rPr>
              <a:t>, "Invalid segment index");</a:t>
            </a:r>
          </a:p>
          <a:p>
            <a:endParaRPr lang="en-US" sz="900" dirty="0">
              <a:solidFill>
                <a:schemeClr val="tx1"/>
              </a:solidFill>
            </a:endParaRPr>
          </a:p>
          <a:p>
            <a:r>
              <a:rPr lang="en-US" sz="900" dirty="0">
                <a:solidFill>
                  <a:schemeClr val="tx1"/>
                </a:solidFill>
              </a:rPr>
              <a:t>    </a:t>
            </a:r>
            <a:r>
              <a:rPr lang="en-US" sz="900" dirty="0" err="1">
                <a:solidFill>
                  <a:schemeClr val="tx1"/>
                </a:solidFill>
              </a:rPr>
              <a:t>segEmissionSource</a:t>
            </a:r>
            <a:r>
              <a:rPr lang="en-US" sz="900" dirty="0">
                <a:solidFill>
                  <a:schemeClr val="tx1"/>
                </a:solidFill>
              </a:rPr>
              <a:t> memory </a:t>
            </a:r>
            <a:r>
              <a:rPr lang="en-US" sz="900" dirty="0" err="1">
                <a:solidFill>
                  <a:schemeClr val="tx1"/>
                </a:solidFill>
              </a:rPr>
              <a:t>newSource</a:t>
            </a:r>
            <a:r>
              <a:rPr lang="en-US" sz="900" dirty="0">
                <a:solidFill>
                  <a:schemeClr val="tx1"/>
                </a:solidFill>
              </a:rPr>
              <a:t> = </a:t>
            </a:r>
            <a:r>
              <a:rPr lang="en-US" sz="900" dirty="0" err="1">
                <a:solidFill>
                  <a:schemeClr val="tx1"/>
                </a:solidFill>
              </a:rPr>
              <a:t>segEmissionSource</a:t>
            </a:r>
            <a:r>
              <a:rPr lang="en-US" sz="900" dirty="0">
                <a:solidFill>
                  <a:schemeClr val="tx1"/>
                </a:solidFill>
              </a:rPr>
              <a:t>({</a:t>
            </a:r>
          </a:p>
          <a:p>
            <a:r>
              <a:rPr lang="en-US" sz="900" dirty="0">
                <a:solidFill>
                  <a:schemeClr val="tx1"/>
                </a:solidFill>
              </a:rPr>
              <a:t>        </a:t>
            </a:r>
            <a:r>
              <a:rPr lang="en-US" sz="900" dirty="0" err="1">
                <a:solidFill>
                  <a:schemeClr val="tx1"/>
                </a:solidFill>
              </a:rPr>
              <a:t>emissionSource</a:t>
            </a:r>
            <a:r>
              <a:rPr lang="en-US" sz="900" dirty="0">
                <a:solidFill>
                  <a:schemeClr val="tx1"/>
                </a:solidFill>
              </a:rPr>
              <a:t>: </a:t>
            </a:r>
            <a:r>
              <a:rPr lang="en-US" sz="900" dirty="0" err="1">
                <a:solidFill>
                  <a:schemeClr val="tx1"/>
                </a:solidFill>
              </a:rPr>
              <a:t>sourceName</a:t>
            </a:r>
            <a:r>
              <a:rPr lang="en-US" sz="900" dirty="0">
                <a:solidFill>
                  <a:schemeClr val="tx1"/>
                </a:solidFill>
              </a:rPr>
              <a:t>,</a:t>
            </a:r>
          </a:p>
          <a:p>
            <a:r>
              <a:rPr lang="en-US" sz="900" dirty="0">
                <a:solidFill>
                  <a:schemeClr val="tx1"/>
                </a:solidFill>
              </a:rPr>
              <a:t>        </a:t>
            </a:r>
            <a:r>
              <a:rPr lang="en-US" sz="900" dirty="0" err="1">
                <a:solidFill>
                  <a:schemeClr val="tx1"/>
                </a:solidFill>
              </a:rPr>
              <a:t>ghgBaselineAmount</a:t>
            </a:r>
            <a:r>
              <a:rPr lang="en-US" sz="900" dirty="0">
                <a:solidFill>
                  <a:schemeClr val="tx1"/>
                </a:solidFill>
              </a:rPr>
              <a:t>: </a:t>
            </a:r>
            <a:r>
              <a:rPr lang="en-US" sz="900" dirty="0" err="1">
                <a:solidFill>
                  <a:schemeClr val="tx1"/>
                </a:solidFill>
              </a:rPr>
              <a:t>baselineAmount</a:t>
            </a:r>
            <a:r>
              <a:rPr lang="en-US" sz="900" dirty="0">
                <a:solidFill>
                  <a:schemeClr val="tx1"/>
                </a:solidFill>
              </a:rPr>
              <a:t>,</a:t>
            </a:r>
          </a:p>
          <a:p>
            <a:r>
              <a:rPr lang="en-US" sz="900" dirty="0">
                <a:solidFill>
                  <a:schemeClr val="tx1"/>
                </a:solidFill>
              </a:rPr>
              <a:t>        </a:t>
            </a:r>
            <a:r>
              <a:rPr lang="en-US" sz="900" dirty="0" err="1">
                <a:solidFill>
                  <a:schemeClr val="tx1"/>
                </a:solidFill>
              </a:rPr>
              <a:t>emissionUnits</a:t>
            </a:r>
            <a:r>
              <a:rPr lang="en-US" sz="900" dirty="0">
                <a:solidFill>
                  <a:schemeClr val="tx1"/>
                </a:solidFill>
              </a:rPr>
              <a:t>: </a:t>
            </a:r>
            <a:r>
              <a:rPr lang="en-US" sz="900" dirty="0" err="1">
                <a:solidFill>
                  <a:schemeClr val="tx1"/>
                </a:solidFill>
              </a:rPr>
              <a:t>emissionUnits</a:t>
            </a:r>
            <a:r>
              <a:rPr lang="en-US" sz="900" dirty="0">
                <a:solidFill>
                  <a:schemeClr val="tx1"/>
                </a:solidFill>
              </a:rPr>
              <a:t>,</a:t>
            </a:r>
          </a:p>
          <a:p>
            <a:r>
              <a:rPr lang="en-US" sz="900" dirty="0">
                <a:solidFill>
                  <a:schemeClr val="tx1"/>
                </a:solidFill>
              </a:rPr>
              <a:t>        </a:t>
            </a:r>
            <a:r>
              <a:rPr lang="en-US" sz="900" dirty="0" err="1">
                <a:solidFill>
                  <a:schemeClr val="tx1"/>
                </a:solidFill>
              </a:rPr>
              <a:t>emissionreading</a:t>
            </a:r>
            <a:r>
              <a:rPr lang="en-US" sz="900" dirty="0">
                <a:solidFill>
                  <a:schemeClr val="tx1"/>
                </a:solidFill>
              </a:rPr>
              <a:t>: new </a:t>
            </a:r>
            <a:r>
              <a:rPr lang="en-US" sz="900" dirty="0" err="1">
                <a:solidFill>
                  <a:schemeClr val="tx1"/>
                </a:solidFill>
              </a:rPr>
              <a:t>EmissionSourceReading</a:t>
            </a:r>
            <a:r>
              <a:rPr lang="en-US" sz="900" dirty="0">
                <a:solidFill>
                  <a:schemeClr val="tx1"/>
                </a:solidFill>
              </a:rPr>
              <a:t> </a:t>
            </a:r>
          </a:p>
          <a:p>
            <a:r>
              <a:rPr lang="en-US" sz="900" dirty="0">
                <a:solidFill>
                  <a:schemeClr val="tx1"/>
                </a:solidFill>
              </a:rPr>
              <a:t>    });</a:t>
            </a:r>
          </a:p>
          <a:p>
            <a:endParaRPr lang="en-US" sz="900" dirty="0">
              <a:solidFill>
                <a:schemeClr val="tx1"/>
              </a:solidFill>
            </a:endParaRPr>
          </a:p>
          <a:p>
            <a:r>
              <a:rPr lang="en-US" sz="900" dirty="0">
                <a:solidFill>
                  <a:schemeClr val="tx1"/>
                </a:solidFill>
              </a:rPr>
              <a:t>    twins[</a:t>
            </a:r>
            <a:r>
              <a:rPr lang="en-US" sz="900" dirty="0" err="1">
                <a:solidFill>
                  <a:schemeClr val="tx1"/>
                </a:solidFill>
              </a:rPr>
              <a:t>twinIndex</a:t>
            </a:r>
            <a:r>
              <a:rPr lang="en-US" sz="900" dirty="0">
                <a:solidFill>
                  <a:schemeClr val="tx1"/>
                </a:solidFill>
              </a:rPr>
              <a:t>].segments[</a:t>
            </a:r>
            <a:r>
              <a:rPr lang="en-US" sz="900" dirty="0" err="1">
                <a:solidFill>
                  <a:schemeClr val="tx1"/>
                </a:solidFill>
              </a:rPr>
              <a:t>segmentIndex</a:t>
            </a:r>
            <a:r>
              <a:rPr lang="en-US" sz="900" dirty="0">
                <a:solidFill>
                  <a:schemeClr val="tx1"/>
                </a:solidFill>
              </a:rPr>
              <a:t>].</a:t>
            </a:r>
            <a:r>
              <a:rPr lang="en-US" sz="900" dirty="0" err="1">
                <a:solidFill>
                  <a:schemeClr val="tx1"/>
                </a:solidFill>
              </a:rPr>
              <a:t>sources.push</a:t>
            </a:r>
            <a:r>
              <a:rPr lang="en-US" sz="900" dirty="0">
                <a:solidFill>
                  <a:schemeClr val="tx1"/>
                </a:solidFill>
              </a:rPr>
              <a:t>(</a:t>
            </a:r>
            <a:r>
              <a:rPr lang="en-US" sz="900" dirty="0" err="1">
                <a:solidFill>
                  <a:schemeClr val="tx1"/>
                </a:solidFill>
              </a:rPr>
              <a:t>newSource</a:t>
            </a:r>
            <a:r>
              <a:rPr lang="en-US" sz="900" dirty="0">
                <a:solidFill>
                  <a:schemeClr val="tx1"/>
                </a:solidFill>
              </a:rPr>
              <a:t>);</a:t>
            </a:r>
            <a:endParaRPr lang="en-US" sz="900" b="1" dirty="0">
              <a:solidFill>
                <a:schemeClr val="tx1"/>
              </a:solidFill>
            </a:endParaRPr>
          </a:p>
          <a:p>
            <a:endParaRPr lang="en-US" sz="900" b="1" dirty="0">
              <a:solidFill>
                <a:schemeClr val="tx1"/>
              </a:solidFill>
            </a:endParaRPr>
          </a:p>
          <a:p>
            <a:endParaRPr lang="en-US" sz="900" dirty="0">
              <a:solidFill>
                <a:schemeClr val="tx1"/>
              </a:solidFill>
            </a:endParaRPr>
          </a:p>
          <a:p>
            <a:r>
              <a:rPr lang="en-US" sz="800" dirty="0">
                <a:solidFill>
                  <a:schemeClr val="tx1"/>
                </a:solidFill>
              </a:rPr>
              <a:t>// 🔹 Enter a GHG Reading from IoT Device</a:t>
            </a:r>
          </a:p>
          <a:p>
            <a:r>
              <a:rPr lang="en-US" sz="800" dirty="0">
                <a:solidFill>
                  <a:schemeClr val="tx1"/>
                </a:solidFill>
              </a:rPr>
              <a:t>    function </a:t>
            </a:r>
            <a:r>
              <a:rPr lang="en-US" sz="800" dirty="0" err="1">
                <a:solidFill>
                  <a:schemeClr val="tx1"/>
                </a:solidFill>
              </a:rPr>
              <a:t>addEmissionReading</a:t>
            </a:r>
            <a:r>
              <a:rPr lang="en-US" sz="800" dirty="0">
                <a:solidFill>
                  <a:schemeClr val="tx1"/>
                </a:solidFill>
              </a:rPr>
              <a:t>(</a:t>
            </a:r>
          </a:p>
          <a:p>
            <a:r>
              <a:rPr lang="en-US" sz="800" dirty="0">
                <a:solidFill>
                  <a:schemeClr val="tx1"/>
                </a:solidFill>
              </a:rPr>
              <a:t>        uint256 </a:t>
            </a:r>
            <a:r>
              <a:rPr lang="en-US" sz="800" dirty="0" err="1">
                <a:solidFill>
                  <a:schemeClr val="tx1"/>
                </a:solidFill>
              </a:rPr>
              <a:t>segIndex</a:t>
            </a:r>
            <a:r>
              <a:rPr lang="en-US" sz="800" dirty="0">
                <a:solidFill>
                  <a:schemeClr val="tx1"/>
                </a:solidFill>
              </a:rPr>
              <a:t>,</a:t>
            </a:r>
          </a:p>
          <a:p>
            <a:r>
              <a:rPr lang="en-US" sz="800" dirty="0">
                <a:solidFill>
                  <a:schemeClr val="tx1"/>
                </a:solidFill>
              </a:rPr>
              <a:t>        uint256 </a:t>
            </a:r>
            <a:r>
              <a:rPr lang="en-US" sz="800" dirty="0" err="1">
                <a:solidFill>
                  <a:schemeClr val="tx1"/>
                </a:solidFill>
              </a:rPr>
              <a:t>sourceIndex</a:t>
            </a:r>
            <a:r>
              <a:rPr lang="en-US" sz="800" dirty="0">
                <a:solidFill>
                  <a:schemeClr val="tx1"/>
                </a:solidFill>
              </a:rPr>
              <a:t>,</a:t>
            </a:r>
          </a:p>
          <a:p>
            <a:r>
              <a:rPr lang="en-US" sz="800" dirty="0">
                <a:solidFill>
                  <a:schemeClr val="tx1"/>
                </a:solidFill>
              </a:rPr>
              <a:t>        uint256 </a:t>
            </a:r>
            <a:r>
              <a:rPr lang="en-US" sz="800" dirty="0" err="1">
                <a:solidFill>
                  <a:schemeClr val="tx1"/>
                </a:solidFill>
              </a:rPr>
              <a:t>deviceIndex</a:t>
            </a:r>
            <a:r>
              <a:rPr lang="en-US" sz="800" dirty="0">
                <a:solidFill>
                  <a:schemeClr val="tx1"/>
                </a:solidFill>
              </a:rPr>
              <a:t>,</a:t>
            </a:r>
          </a:p>
          <a:p>
            <a:r>
              <a:rPr lang="en-US" sz="800" dirty="0">
                <a:solidFill>
                  <a:schemeClr val="tx1"/>
                </a:solidFill>
              </a:rPr>
              <a:t>        uint256 _</a:t>
            </a:r>
            <a:r>
              <a:rPr lang="en-US" sz="800" dirty="0" err="1">
                <a:solidFill>
                  <a:schemeClr val="tx1"/>
                </a:solidFill>
              </a:rPr>
              <a:t>ghgAmount</a:t>
            </a:r>
            <a:r>
              <a:rPr lang="en-US" sz="800" dirty="0">
                <a:solidFill>
                  <a:schemeClr val="tx1"/>
                </a:solidFill>
              </a:rPr>
              <a:t>,</a:t>
            </a:r>
          </a:p>
          <a:p>
            <a:r>
              <a:rPr lang="en-US" sz="800" dirty="0">
                <a:solidFill>
                  <a:schemeClr val="tx1"/>
                </a:solidFill>
              </a:rPr>
              <a:t>        string memory _units</a:t>
            </a:r>
          </a:p>
          <a:p>
            <a:r>
              <a:rPr lang="en-US" sz="800" dirty="0">
                <a:solidFill>
                  <a:schemeClr val="tx1"/>
                </a:solidFill>
              </a:rPr>
              <a:t>    ) public {</a:t>
            </a:r>
          </a:p>
          <a:p>
            <a:r>
              <a:rPr lang="en-US" sz="800" dirty="0">
                <a:solidFill>
                  <a:schemeClr val="tx1"/>
                </a:solidFill>
              </a:rPr>
              <a:t>        require(</a:t>
            </a:r>
            <a:r>
              <a:rPr lang="en-US" sz="800" dirty="0" err="1">
                <a:solidFill>
                  <a:schemeClr val="tx1"/>
                </a:solidFill>
              </a:rPr>
              <a:t>segIndex</a:t>
            </a:r>
            <a:r>
              <a:rPr lang="en-US" sz="800" dirty="0">
                <a:solidFill>
                  <a:schemeClr val="tx1"/>
                </a:solidFill>
              </a:rPr>
              <a:t> &lt; </a:t>
            </a:r>
            <a:r>
              <a:rPr lang="en-US" sz="800" dirty="0" err="1">
                <a:solidFill>
                  <a:schemeClr val="tx1"/>
                </a:solidFill>
              </a:rPr>
              <a:t>segments.length</a:t>
            </a:r>
            <a:r>
              <a:rPr lang="en-US" sz="800" dirty="0">
                <a:solidFill>
                  <a:schemeClr val="tx1"/>
                </a:solidFill>
              </a:rPr>
              <a:t>, "Invalid segment index");</a:t>
            </a:r>
          </a:p>
          <a:p>
            <a:r>
              <a:rPr lang="en-US" sz="800" dirty="0">
                <a:solidFill>
                  <a:schemeClr val="tx1"/>
                </a:solidFill>
              </a:rPr>
              <a:t>        require(</a:t>
            </a:r>
            <a:r>
              <a:rPr lang="en-US" sz="800" dirty="0" err="1">
                <a:solidFill>
                  <a:schemeClr val="tx1"/>
                </a:solidFill>
              </a:rPr>
              <a:t>sourceIndex</a:t>
            </a:r>
            <a:r>
              <a:rPr lang="en-US" sz="800" dirty="0">
                <a:solidFill>
                  <a:schemeClr val="tx1"/>
                </a:solidFill>
              </a:rPr>
              <a:t> &lt; segments[</a:t>
            </a:r>
            <a:r>
              <a:rPr lang="en-US" sz="800" dirty="0" err="1">
                <a:solidFill>
                  <a:schemeClr val="tx1"/>
                </a:solidFill>
              </a:rPr>
              <a:t>segIndex</a:t>
            </a:r>
            <a:r>
              <a:rPr lang="en-US" sz="800" dirty="0">
                <a:solidFill>
                  <a:schemeClr val="tx1"/>
                </a:solidFill>
              </a:rPr>
              <a:t>].</a:t>
            </a:r>
            <a:r>
              <a:rPr lang="en-US" sz="800" dirty="0" err="1">
                <a:solidFill>
                  <a:schemeClr val="tx1"/>
                </a:solidFill>
              </a:rPr>
              <a:t>sources.length</a:t>
            </a:r>
            <a:r>
              <a:rPr lang="en-US" sz="800" dirty="0">
                <a:solidFill>
                  <a:schemeClr val="tx1"/>
                </a:solidFill>
              </a:rPr>
              <a:t>, "Invalid source index");</a:t>
            </a:r>
          </a:p>
          <a:p>
            <a:r>
              <a:rPr lang="en-US" sz="800" dirty="0">
                <a:solidFill>
                  <a:schemeClr val="tx1"/>
                </a:solidFill>
              </a:rPr>
              <a:t>        require(</a:t>
            </a:r>
            <a:r>
              <a:rPr lang="en-US" sz="800" dirty="0" err="1">
                <a:solidFill>
                  <a:schemeClr val="tx1"/>
                </a:solidFill>
              </a:rPr>
              <a:t>deviceIndex</a:t>
            </a:r>
            <a:r>
              <a:rPr lang="en-US" sz="800" dirty="0">
                <a:solidFill>
                  <a:schemeClr val="tx1"/>
                </a:solidFill>
              </a:rPr>
              <a:t> &lt; segments[</a:t>
            </a:r>
            <a:r>
              <a:rPr lang="en-US" sz="800" dirty="0" err="1">
                <a:solidFill>
                  <a:schemeClr val="tx1"/>
                </a:solidFill>
              </a:rPr>
              <a:t>segIndex</a:t>
            </a:r>
            <a:r>
              <a:rPr lang="en-US" sz="800" dirty="0">
                <a:solidFill>
                  <a:schemeClr val="tx1"/>
                </a:solidFill>
              </a:rPr>
              <a:t>].sources[</a:t>
            </a:r>
            <a:r>
              <a:rPr lang="en-US" sz="800" dirty="0" err="1">
                <a:solidFill>
                  <a:schemeClr val="tx1"/>
                </a:solidFill>
              </a:rPr>
              <a:t>sourceIndex</a:t>
            </a:r>
            <a:r>
              <a:rPr lang="en-US" sz="800" dirty="0">
                <a:solidFill>
                  <a:schemeClr val="tx1"/>
                </a:solidFill>
              </a:rPr>
              <a:t>].</a:t>
            </a:r>
            <a:r>
              <a:rPr lang="en-US" sz="800" dirty="0" err="1">
                <a:solidFill>
                  <a:schemeClr val="tx1"/>
                </a:solidFill>
              </a:rPr>
              <a:t>devices.length</a:t>
            </a:r>
            <a:r>
              <a:rPr lang="en-US" sz="800" dirty="0">
                <a:solidFill>
                  <a:schemeClr val="tx1"/>
                </a:solidFill>
              </a:rPr>
              <a:t>, "Invalid device index");</a:t>
            </a:r>
          </a:p>
          <a:p>
            <a:endParaRPr lang="en-US" sz="800" dirty="0">
              <a:solidFill>
                <a:schemeClr val="tx1"/>
              </a:solidFill>
            </a:endParaRPr>
          </a:p>
          <a:p>
            <a:r>
              <a:rPr lang="en-US" sz="800" dirty="0">
                <a:solidFill>
                  <a:schemeClr val="tx1"/>
                </a:solidFill>
              </a:rPr>
              <a:t>        </a:t>
            </a:r>
            <a:r>
              <a:rPr lang="en-US" sz="800" dirty="0" err="1">
                <a:solidFill>
                  <a:schemeClr val="tx1"/>
                </a:solidFill>
              </a:rPr>
              <a:t>IoTDevice</a:t>
            </a:r>
            <a:r>
              <a:rPr lang="en-US" sz="800" dirty="0">
                <a:solidFill>
                  <a:schemeClr val="tx1"/>
                </a:solidFill>
              </a:rPr>
              <a:t> storage dev = segments[</a:t>
            </a:r>
            <a:r>
              <a:rPr lang="en-US" sz="800" dirty="0" err="1">
                <a:solidFill>
                  <a:schemeClr val="tx1"/>
                </a:solidFill>
              </a:rPr>
              <a:t>segIndex</a:t>
            </a:r>
            <a:r>
              <a:rPr lang="en-US" sz="800" dirty="0">
                <a:solidFill>
                  <a:schemeClr val="tx1"/>
                </a:solidFill>
              </a:rPr>
              <a:t>].sources[</a:t>
            </a:r>
            <a:r>
              <a:rPr lang="en-US" sz="800" dirty="0" err="1">
                <a:solidFill>
                  <a:schemeClr val="tx1"/>
                </a:solidFill>
              </a:rPr>
              <a:t>sourceIndex</a:t>
            </a:r>
            <a:r>
              <a:rPr lang="en-US" sz="800" dirty="0">
                <a:solidFill>
                  <a:schemeClr val="tx1"/>
                </a:solidFill>
              </a:rPr>
              <a:t>].devices[</a:t>
            </a:r>
            <a:r>
              <a:rPr lang="en-US" sz="800" dirty="0" err="1">
                <a:solidFill>
                  <a:schemeClr val="tx1"/>
                </a:solidFill>
              </a:rPr>
              <a:t>deviceIndex</a:t>
            </a:r>
            <a:r>
              <a:rPr lang="en-US" sz="800" dirty="0">
                <a:solidFill>
                  <a:schemeClr val="tx1"/>
                </a:solidFill>
              </a:rPr>
              <a:t>];</a:t>
            </a:r>
          </a:p>
          <a:p>
            <a:r>
              <a:rPr lang="en-US" sz="800" dirty="0">
                <a:solidFill>
                  <a:schemeClr val="tx1"/>
                </a:solidFill>
              </a:rPr>
              <a:t>        require(</a:t>
            </a:r>
            <a:r>
              <a:rPr lang="en-US" sz="800" dirty="0" err="1">
                <a:solidFill>
                  <a:schemeClr val="tx1"/>
                </a:solidFill>
              </a:rPr>
              <a:t>dev.isActive</a:t>
            </a:r>
            <a:r>
              <a:rPr lang="en-US" sz="800" dirty="0">
                <a:solidFill>
                  <a:schemeClr val="tx1"/>
                </a:solidFill>
              </a:rPr>
              <a:t>, "Device not active");</a:t>
            </a:r>
          </a:p>
          <a:p>
            <a:endParaRPr lang="en-US" sz="800" dirty="0">
              <a:solidFill>
                <a:schemeClr val="tx1"/>
              </a:solidFill>
            </a:endParaRPr>
          </a:p>
          <a:p>
            <a:r>
              <a:rPr lang="en-US" sz="800" dirty="0">
                <a:solidFill>
                  <a:schemeClr val="tx1"/>
                </a:solidFill>
              </a:rPr>
              <a:t>        </a:t>
            </a:r>
            <a:r>
              <a:rPr lang="en-US" sz="800" dirty="0" err="1">
                <a:solidFill>
                  <a:schemeClr val="tx1"/>
                </a:solidFill>
              </a:rPr>
              <a:t>dev.emissionsByDevice.push</a:t>
            </a:r>
            <a:r>
              <a:rPr lang="en-US" sz="800" dirty="0">
                <a:solidFill>
                  <a:schemeClr val="tx1"/>
                </a:solidFill>
              </a:rPr>
              <a:t>(</a:t>
            </a:r>
          </a:p>
          <a:p>
            <a:r>
              <a:rPr lang="en-US" sz="800" dirty="0">
                <a:solidFill>
                  <a:schemeClr val="tx1"/>
                </a:solidFill>
              </a:rPr>
              <a:t>            </a:t>
            </a:r>
            <a:r>
              <a:rPr lang="en-US" sz="800" dirty="0" err="1">
                <a:solidFill>
                  <a:schemeClr val="tx1"/>
                </a:solidFill>
              </a:rPr>
              <a:t>EmissionData</a:t>
            </a:r>
            <a:r>
              <a:rPr lang="en-US" sz="800" dirty="0">
                <a:solidFill>
                  <a:schemeClr val="tx1"/>
                </a:solidFill>
              </a:rPr>
              <a:t>({</a:t>
            </a:r>
          </a:p>
          <a:p>
            <a:r>
              <a:rPr lang="en-US" sz="800" dirty="0">
                <a:solidFill>
                  <a:schemeClr val="tx1"/>
                </a:solidFill>
              </a:rPr>
              <a:t>                timestamp: </a:t>
            </a:r>
            <a:r>
              <a:rPr lang="en-US" sz="800" dirty="0" err="1">
                <a:solidFill>
                  <a:schemeClr val="tx1"/>
                </a:solidFill>
              </a:rPr>
              <a:t>block.timestamp</a:t>
            </a:r>
            <a:r>
              <a:rPr lang="en-US" sz="800" dirty="0">
                <a:solidFill>
                  <a:schemeClr val="tx1"/>
                </a:solidFill>
              </a:rPr>
              <a:t>,</a:t>
            </a:r>
          </a:p>
          <a:p>
            <a:r>
              <a:rPr lang="en-US" sz="800" dirty="0">
                <a:solidFill>
                  <a:schemeClr val="tx1"/>
                </a:solidFill>
              </a:rPr>
              <a:t>                </a:t>
            </a:r>
            <a:r>
              <a:rPr lang="en-US" sz="800" dirty="0" err="1">
                <a:solidFill>
                  <a:schemeClr val="tx1"/>
                </a:solidFill>
              </a:rPr>
              <a:t>ghgAmount</a:t>
            </a:r>
            <a:r>
              <a:rPr lang="en-US" sz="800" dirty="0">
                <a:solidFill>
                  <a:schemeClr val="tx1"/>
                </a:solidFill>
              </a:rPr>
              <a:t>: _</a:t>
            </a:r>
            <a:r>
              <a:rPr lang="en-US" sz="800" dirty="0" err="1">
                <a:solidFill>
                  <a:schemeClr val="tx1"/>
                </a:solidFill>
              </a:rPr>
              <a:t>ghgAmount</a:t>
            </a:r>
            <a:r>
              <a:rPr lang="en-US" sz="800" dirty="0">
                <a:solidFill>
                  <a:schemeClr val="tx1"/>
                </a:solidFill>
              </a:rPr>
              <a:t>,</a:t>
            </a:r>
          </a:p>
          <a:p>
            <a:r>
              <a:rPr lang="en-US" sz="800" dirty="0">
                <a:solidFill>
                  <a:schemeClr val="tx1"/>
                </a:solidFill>
              </a:rPr>
              <a:t>                units: _units</a:t>
            </a:r>
          </a:p>
          <a:p>
            <a:r>
              <a:rPr lang="en-US" sz="800" dirty="0">
                <a:solidFill>
                  <a:schemeClr val="tx1"/>
                </a:solidFill>
              </a:rPr>
              <a:t>            })</a:t>
            </a:r>
          </a:p>
          <a:p>
            <a:r>
              <a:rPr lang="en-US" sz="800" dirty="0">
                <a:solidFill>
                  <a:schemeClr val="tx1"/>
                </a:solidFill>
              </a:rPr>
              <a:t>        );</a:t>
            </a:r>
          </a:p>
          <a:p>
            <a:r>
              <a:rPr lang="en-US" sz="800" dirty="0">
                <a:solidFill>
                  <a:schemeClr val="tx1"/>
                </a:solidFill>
              </a:rPr>
              <a:t>    }</a:t>
            </a: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a:p>
            <a:r>
              <a:rPr lang="en-US" sz="800" dirty="0">
                <a:solidFill>
                  <a:schemeClr val="tx1"/>
                </a:solidFill>
              </a:rPr>
              <a:t>}</a:t>
            </a:r>
          </a:p>
        </p:txBody>
      </p:sp>
      <p:sp>
        <p:nvSpPr>
          <p:cNvPr id="12" name="TextBox 11">
            <a:extLst>
              <a:ext uri="{FF2B5EF4-FFF2-40B4-BE49-F238E27FC236}">
                <a16:creationId xmlns:a16="http://schemas.microsoft.com/office/drawing/2014/main" id="{D33BC227-8220-B186-E631-DC93C816E21E}"/>
              </a:ext>
            </a:extLst>
          </p:cNvPr>
          <p:cNvSpPr txBox="1"/>
          <p:nvPr/>
        </p:nvSpPr>
        <p:spPr>
          <a:xfrm>
            <a:off x="4901938" y="1086645"/>
            <a:ext cx="7212699" cy="5970865"/>
          </a:xfrm>
          <a:prstGeom prst="rect">
            <a:avLst/>
          </a:prstGeom>
          <a:noFill/>
        </p:spPr>
        <p:txBody>
          <a:bodyPr wrap="square" rtlCol="0">
            <a:spAutoFit/>
          </a:bodyPr>
          <a:lstStyle/>
          <a:p>
            <a:r>
              <a:rPr lang="en-US" sz="1400" dirty="0"/>
              <a:t>       </a:t>
            </a:r>
            <a:r>
              <a:rPr lang="en-US" sz="1400" dirty="0">
                <a:solidFill>
                  <a:srgbClr val="001D35"/>
                </a:solidFill>
                <a:latin typeface="Google Sans"/>
              </a:rPr>
              <a:t>  </a:t>
            </a:r>
            <a:r>
              <a:rPr lang="en-US" sz="1400" b="1" dirty="0">
                <a:solidFill>
                  <a:schemeClr val="bg1"/>
                </a:solidFill>
                <a:latin typeface="Google Sans"/>
              </a:rPr>
              <a:t> Example calls: </a:t>
            </a:r>
          </a:p>
          <a:p>
            <a:r>
              <a:rPr lang="en-US" sz="1400" b="1" dirty="0">
                <a:solidFill>
                  <a:schemeClr val="bg1"/>
                </a:solidFill>
                <a:latin typeface="Google Sans"/>
              </a:rPr>
              <a:t>          </a:t>
            </a:r>
            <a:r>
              <a:rPr lang="en-US" sz="1400" b="1" dirty="0" err="1">
                <a:solidFill>
                  <a:schemeClr val="bg1"/>
                </a:solidFill>
                <a:latin typeface="Google Sans"/>
              </a:rPr>
              <a:t>addEmissionSource</a:t>
            </a:r>
            <a:r>
              <a:rPr lang="en-US" sz="1400" b="1" dirty="0">
                <a:solidFill>
                  <a:schemeClr val="bg1"/>
                </a:solidFill>
                <a:latin typeface="Google Sans"/>
              </a:rPr>
              <a:t>(0, 1, "truck", 1000, "kgCO2")</a:t>
            </a:r>
          </a:p>
          <a:p>
            <a:r>
              <a:rPr lang="en-US" sz="1400" b="1" dirty="0">
                <a:solidFill>
                  <a:schemeClr val="bg1"/>
                </a:solidFill>
                <a:latin typeface="Google Sans"/>
              </a:rPr>
              <a:t>          </a:t>
            </a:r>
            <a:r>
              <a:rPr lang="en-US" sz="1400" b="1" dirty="0" err="1">
                <a:solidFill>
                  <a:schemeClr val="bg1"/>
                </a:solidFill>
                <a:latin typeface="Google Sans"/>
              </a:rPr>
              <a:t>addEmissionSource</a:t>
            </a:r>
            <a:r>
              <a:rPr lang="en-US" sz="1400" b="1" dirty="0">
                <a:solidFill>
                  <a:schemeClr val="bg1"/>
                </a:solidFill>
                <a:latin typeface="Google Sans"/>
              </a:rPr>
              <a:t>(0, 1, "warehouse heat", 500, "kgCO2")</a:t>
            </a:r>
          </a:p>
          <a:p>
            <a:r>
              <a:rPr lang="en-US" sz="1400" b="1" dirty="0">
                <a:solidFill>
                  <a:schemeClr val="bg1"/>
                </a:solidFill>
                <a:latin typeface="Google Sans"/>
              </a:rPr>
              <a:t>     </a:t>
            </a:r>
          </a:p>
          <a:p>
            <a:r>
              <a:rPr lang="en-US" sz="1400" b="1" dirty="0">
                <a:solidFill>
                  <a:schemeClr val="bg1"/>
                </a:solidFill>
                <a:latin typeface="Google Sans"/>
              </a:rPr>
              <a:t>        </a:t>
            </a:r>
          </a:p>
          <a:p>
            <a:r>
              <a:rPr lang="en-US" sz="1400" b="1" dirty="0">
                <a:solidFill>
                  <a:schemeClr val="bg1"/>
                </a:solidFill>
                <a:latin typeface="Google Sans"/>
              </a:rPr>
              <a:t>        </a:t>
            </a:r>
          </a:p>
          <a:p>
            <a:r>
              <a:rPr lang="en-US" sz="1400" b="1" dirty="0">
                <a:solidFill>
                  <a:schemeClr val="bg1"/>
                </a:solidFill>
                <a:latin typeface="Google Sans"/>
              </a:rPr>
              <a:t>           </a:t>
            </a:r>
          </a:p>
          <a:p>
            <a:r>
              <a:rPr lang="en-US" sz="1400" b="1" dirty="0">
                <a:solidFill>
                  <a:schemeClr val="bg1"/>
                </a:solidFill>
                <a:latin typeface="Google Sans"/>
              </a:rPr>
              <a:t>          code for placement of emission source config.</a:t>
            </a:r>
          </a:p>
          <a:p>
            <a:r>
              <a:rPr lang="en-US" sz="1400" b="1" dirty="0">
                <a:solidFill>
                  <a:schemeClr val="bg1"/>
                </a:solidFill>
                <a:latin typeface="Google Sans"/>
              </a:rPr>
              <a:t>                   </a:t>
            </a:r>
          </a:p>
          <a:p>
            <a:r>
              <a:rPr lang="en-US" sz="1400" b="1" dirty="0">
                <a:solidFill>
                  <a:schemeClr val="bg1"/>
                </a:solidFill>
              </a:rPr>
              <a:t>        </a:t>
            </a:r>
          </a:p>
          <a:p>
            <a:endParaRPr lang="en-US" sz="1400" b="1" dirty="0">
              <a:solidFill>
                <a:schemeClr val="bg1"/>
              </a:solidFill>
            </a:endParaRPr>
          </a:p>
          <a:p>
            <a:r>
              <a:rPr lang="en-US" sz="1400" b="1" dirty="0">
                <a:solidFill>
                  <a:schemeClr val="bg1"/>
                </a:solidFill>
              </a:rPr>
              <a:t>           code to instantiate emission source.</a:t>
            </a:r>
          </a:p>
          <a:p>
            <a:endParaRPr lang="en-US" sz="1400" b="1" dirty="0">
              <a:solidFill>
                <a:schemeClr val="bg1"/>
              </a:solidFill>
            </a:endParaRPr>
          </a:p>
          <a:p>
            <a:r>
              <a:rPr lang="en-US" sz="1400" b="1" dirty="0">
                <a:solidFill>
                  <a:schemeClr val="bg1"/>
                </a:solidFill>
              </a:rPr>
              <a:t>           </a:t>
            </a:r>
          </a:p>
          <a:p>
            <a:r>
              <a:rPr lang="en-US" sz="1400" b="1" dirty="0">
                <a:solidFill>
                  <a:schemeClr val="bg1"/>
                </a:solidFill>
              </a:rPr>
              <a:t>           Example calls:</a:t>
            </a:r>
          </a:p>
          <a:p>
            <a:r>
              <a:rPr lang="en-US" sz="1400" b="1" dirty="0">
                <a:solidFill>
                  <a:schemeClr val="bg1"/>
                </a:solidFill>
              </a:rPr>
              <a:t>           </a:t>
            </a:r>
            <a:r>
              <a:rPr lang="en-US" sz="1400" b="1" dirty="0" err="1">
                <a:solidFill>
                  <a:schemeClr val="bg1"/>
                </a:solidFill>
              </a:rPr>
              <a:t>addEmissionReadingToSource</a:t>
            </a:r>
            <a:r>
              <a:rPr lang="en-US" sz="1400" b="1" dirty="0">
                <a:solidFill>
                  <a:schemeClr val="bg1"/>
                </a:solidFill>
              </a:rPr>
              <a:t>(0, 1, 1012, 250, "kgCO2")</a:t>
            </a:r>
          </a:p>
          <a:p>
            <a:r>
              <a:rPr lang="en-US" sz="1400" b="1" dirty="0">
                <a:solidFill>
                  <a:schemeClr val="bg1"/>
                </a:solidFill>
              </a:rPr>
              <a:t>            </a:t>
            </a:r>
            <a:r>
              <a:rPr lang="en-US" sz="1400" b="1" dirty="0" err="1">
                <a:solidFill>
                  <a:schemeClr val="bg1"/>
                </a:solidFill>
              </a:rPr>
              <a:t>addEmissionReadingToSource</a:t>
            </a:r>
            <a:r>
              <a:rPr lang="en-US" sz="1400" b="1" dirty="0">
                <a:solidFill>
                  <a:schemeClr val="bg1"/>
                </a:solidFill>
              </a:rPr>
              <a:t>(0, 1, 1444, 300, "kgCO2")</a:t>
            </a:r>
          </a:p>
          <a:p>
            <a:r>
              <a:rPr lang="en-US" sz="1400" b="1" dirty="0">
                <a:solidFill>
                  <a:schemeClr val="bg1"/>
                </a:solidFill>
              </a:rPr>
              <a:t>         </a:t>
            </a:r>
          </a:p>
          <a:p>
            <a:r>
              <a:rPr lang="en-US" sz="1400" b="1" dirty="0">
                <a:solidFill>
                  <a:schemeClr val="bg1"/>
                </a:solidFill>
              </a:rPr>
              <a:t>           Validation checks     </a:t>
            </a:r>
          </a:p>
          <a:p>
            <a:endParaRPr lang="en-US" sz="1400" b="1" dirty="0">
              <a:solidFill>
                <a:schemeClr val="bg1"/>
              </a:solidFill>
            </a:endParaRPr>
          </a:p>
          <a:p>
            <a:r>
              <a:rPr lang="en-US" sz="1400" b="1" dirty="0">
                <a:solidFill>
                  <a:schemeClr val="bg1"/>
                </a:solidFill>
              </a:rPr>
              <a:t>            locate the device and fetch the </a:t>
            </a:r>
            <a:r>
              <a:rPr lang="en-US" sz="1400" b="1" dirty="0" err="1">
                <a:solidFill>
                  <a:schemeClr val="bg1"/>
                </a:solidFill>
              </a:rPr>
              <a:t>IoTDevice</a:t>
            </a:r>
            <a:r>
              <a:rPr lang="en-US" sz="1400" b="1" dirty="0">
                <a:solidFill>
                  <a:schemeClr val="bg1"/>
                </a:solidFill>
              </a:rPr>
              <a:t> struct in storage (not memory)</a:t>
            </a:r>
          </a:p>
          <a:p>
            <a:endParaRPr lang="en-US" sz="1400" b="1" dirty="0">
              <a:solidFill>
                <a:schemeClr val="bg1"/>
              </a:solidFill>
            </a:endParaRPr>
          </a:p>
          <a:p>
            <a:r>
              <a:rPr lang="en-US" sz="1400" b="1" dirty="0">
                <a:solidFill>
                  <a:schemeClr val="bg1"/>
                </a:solidFill>
              </a:rPr>
              <a:t>           appends the new reading to the device’s </a:t>
            </a:r>
            <a:r>
              <a:rPr lang="en-US" sz="1400" b="1" dirty="0" err="1">
                <a:solidFill>
                  <a:schemeClr val="bg1"/>
                </a:solidFill>
              </a:rPr>
              <a:t>emissionByDevice</a:t>
            </a:r>
            <a:r>
              <a:rPr lang="en-US" sz="1400" b="1" dirty="0">
                <a:solidFill>
                  <a:schemeClr val="bg1"/>
                </a:solidFill>
              </a:rPr>
              <a:t>[] array</a:t>
            </a:r>
          </a:p>
          <a:p>
            <a:endParaRPr lang="en-US" sz="1400" b="1" dirty="0">
              <a:solidFill>
                <a:schemeClr val="bg1"/>
              </a:solidFill>
            </a:endParaRPr>
          </a:p>
          <a:p>
            <a:r>
              <a:rPr lang="en-US" sz="1400" dirty="0"/>
              <a:t>          </a:t>
            </a:r>
            <a:r>
              <a:rPr lang="en-US" sz="1600" b="1" dirty="0">
                <a:solidFill>
                  <a:schemeClr val="bg1">
                    <a:lumMod val="95000"/>
                  </a:schemeClr>
                </a:solidFill>
              </a:rPr>
              <a:t>Emission data is logically tied back to the device, emission source, and the</a:t>
            </a:r>
          </a:p>
          <a:p>
            <a:r>
              <a:rPr lang="en-US" sz="1600" b="1" dirty="0">
                <a:solidFill>
                  <a:schemeClr val="bg1">
                    <a:lumMod val="95000"/>
                  </a:schemeClr>
                </a:solidFill>
              </a:rPr>
              <a:t>        supply chain segment.</a:t>
            </a:r>
          </a:p>
          <a:p>
            <a:endParaRPr lang="en-US" sz="1400" dirty="0"/>
          </a:p>
        </p:txBody>
      </p:sp>
      <p:cxnSp>
        <p:nvCxnSpPr>
          <p:cNvPr id="14" name="Straight Arrow Connector 13">
            <a:extLst>
              <a:ext uri="{FF2B5EF4-FFF2-40B4-BE49-F238E27FC236}">
                <a16:creationId xmlns:a16="http://schemas.microsoft.com/office/drawing/2014/main" id="{18E269B2-3812-7100-7178-A763732CB591}"/>
              </a:ext>
            </a:extLst>
          </p:cNvPr>
          <p:cNvCxnSpPr>
            <a:cxnSpLocks/>
          </p:cNvCxnSpPr>
          <p:nvPr/>
        </p:nvCxnSpPr>
        <p:spPr>
          <a:xfrm flipH="1">
            <a:off x="3511415" y="3712740"/>
            <a:ext cx="13668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D7BD2ED4-4601-F326-0D55-47D783EBE35D}"/>
              </a:ext>
            </a:extLst>
          </p:cNvPr>
          <p:cNvSpPr/>
          <p:nvPr/>
        </p:nvSpPr>
        <p:spPr>
          <a:xfrm>
            <a:off x="4988054" y="1285293"/>
            <a:ext cx="254000" cy="18822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C970784-47A3-D662-38F1-18C483F497EA}"/>
              </a:ext>
            </a:extLst>
          </p:cNvPr>
          <p:cNvSpPr/>
          <p:nvPr/>
        </p:nvSpPr>
        <p:spPr>
          <a:xfrm>
            <a:off x="4988054" y="3561593"/>
            <a:ext cx="254000" cy="18822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3D20B133-CA1E-E483-ADEE-F47C99FCB6A5}"/>
              </a:ext>
            </a:extLst>
          </p:cNvPr>
          <p:cNvCxnSpPr>
            <a:cxnSpLocks/>
          </p:cNvCxnSpPr>
          <p:nvPr/>
        </p:nvCxnSpPr>
        <p:spPr>
          <a:xfrm flipH="1">
            <a:off x="2874267" y="1359687"/>
            <a:ext cx="19416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CAA7120D-1B1B-C895-622D-D3C968CCE845}"/>
              </a:ext>
            </a:extLst>
          </p:cNvPr>
          <p:cNvSpPr/>
          <p:nvPr/>
        </p:nvSpPr>
        <p:spPr>
          <a:xfrm>
            <a:off x="4988054" y="2665754"/>
            <a:ext cx="254000" cy="18822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1B619649-D7BE-DF46-6053-F8A85CE06E70}"/>
              </a:ext>
            </a:extLst>
          </p:cNvPr>
          <p:cNvSpPr/>
          <p:nvPr/>
        </p:nvSpPr>
        <p:spPr>
          <a:xfrm>
            <a:off x="5007352" y="4173016"/>
            <a:ext cx="254000" cy="18822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Arrow Connector 46">
            <a:extLst>
              <a:ext uri="{FF2B5EF4-FFF2-40B4-BE49-F238E27FC236}">
                <a16:creationId xmlns:a16="http://schemas.microsoft.com/office/drawing/2014/main" id="{CC59BB54-27DE-DBC1-1FFE-E27E4A1F32EE}"/>
              </a:ext>
            </a:extLst>
          </p:cNvPr>
          <p:cNvCxnSpPr>
            <a:cxnSpLocks/>
          </p:cNvCxnSpPr>
          <p:nvPr/>
        </p:nvCxnSpPr>
        <p:spPr>
          <a:xfrm flipH="1">
            <a:off x="1888435" y="4259778"/>
            <a:ext cx="29898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0AAAFC3-0745-EAE7-F8CF-EC93F7A1320F}"/>
              </a:ext>
            </a:extLst>
          </p:cNvPr>
          <p:cNvCxnSpPr>
            <a:cxnSpLocks/>
          </p:cNvCxnSpPr>
          <p:nvPr/>
        </p:nvCxnSpPr>
        <p:spPr>
          <a:xfrm flipH="1">
            <a:off x="2147455" y="5943680"/>
            <a:ext cx="27527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FF552D92-4731-D6CB-C76B-059AF85962C2}"/>
              </a:ext>
            </a:extLst>
          </p:cNvPr>
          <p:cNvSpPr/>
          <p:nvPr/>
        </p:nvSpPr>
        <p:spPr>
          <a:xfrm>
            <a:off x="5007352" y="4958892"/>
            <a:ext cx="254000" cy="18822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86F66F3-7974-7D37-8CD1-8E3ACDF28514}"/>
              </a:ext>
            </a:extLst>
          </p:cNvPr>
          <p:cNvSpPr txBox="1"/>
          <p:nvPr/>
        </p:nvSpPr>
        <p:spPr>
          <a:xfrm>
            <a:off x="7859" y="-13051"/>
            <a:ext cx="12114638" cy="523220"/>
          </a:xfrm>
          <a:prstGeom prst="rect">
            <a:avLst/>
          </a:prstGeom>
          <a:noFill/>
        </p:spPr>
        <p:txBody>
          <a:bodyPr wrap="square" rtlCol="0">
            <a:spAutoFit/>
          </a:bodyPr>
          <a:lstStyle/>
          <a:p>
            <a:r>
              <a:rPr lang="en-US" sz="2800" b="1" dirty="0">
                <a:solidFill>
                  <a:schemeClr val="bg1"/>
                </a:solidFill>
                <a:latin typeface="Abadi Extra Light" panose="020B0204020104020204" pitchFamily="34" charset="0"/>
              </a:rPr>
              <a:t>Example Smart Contract Function to Add Emission Source and IoT Reading</a:t>
            </a:r>
          </a:p>
        </p:txBody>
      </p:sp>
      <p:sp>
        <p:nvSpPr>
          <p:cNvPr id="2" name="TextBox 1">
            <a:extLst>
              <a:ext uri="{FF2B5EF4-FFF2-40B4-BE49-F238E27FC236}">
                <a16:creationId xmlns:a16="http://schemas.microsoft.com/office/drawing/2014/main" id="{6D3CE1C8-BBBC-DE5F-1DA7-C79B4E5D10AC}"/>
              </a:ext>
            </a:extLst>
          </p:cNvPr>
          <p:cNvSpPr txBox="1"/>
          <p:nvPr/>
        </p:nvSpPr>
        <p:spPr>
          <a:xfrm>
            <a:off x="42469" y="445815"/>
            <a:ext cx="12072168" cy="646331"/>
          </a:xfrm>
          <a:prstGeom prst="rect">
            <a:avLst/>
          </a:prstGeom>
          <a:noFill/>
          <a:ln>
            <a:solidFill>
              <a:schemeClr val="bg1"/>
            </a:solidFill>
          </a:ln>
        </p:spPr>
        <p:txBody>
          <a:bodyPr wrap="square">
            <a:spAutoFit/>
          </a:bodyPr>
          <a:lstStyle/>
          <a:p>
            <a:r>
              <a:rPr lang="en-US" dirty="0">
                <a:solidFill>
                  <a:schemeClr val="bg1"/>
                </a:solidFill>
              </a:rPr>
              <a:t>Example </a:t>
            </a:r>
            <a:r>
              <a:rPr lang="en-US" b="1" dirty="0">
                <a:solidFill>
                  <a:srgbClr val="FFFF00"/>
                </a:solidFill>
              </a:rPr>
              <a:t>pseudo code </a:t>
            </a:r>
            <a:r>
              <a:rPr lang="en-US" dirty="0" err="1">
                <a:solidFill>
                  <a:schemeClr val="bg1"/>
                </a:solidFill>
              </a:rPr>
              <a:t>rto</a:t>
            </a:r>
            <a:r>
              <a:rPr lang="en-US" dirty="0">
                <a:solidFill>
                  <a:schemeClr val="bg1"/>
                </a:solidFill>
              </a:rPr>
              <a:t> an IoT device on a blockchain. There are additional steps to be performed on the device itself prior to connection to the blockchain. Structures in a smart contract define these actions.</a:t>
            </a:r>
            <a:endParaRPr lang="en-US" dirty="0">
              <a:solidFill>
                <a:schemeClr val="bg1"/>
              </a:solidFill>
              <a:latin typeface="Google Sans"/>
            </a:endParaRPr>
          </a:p>
        </p:txBody>
      </p:sp>
      <p:cxnSp>
        <p:nvCxnSpPr>
          <p:cNvPr id="3" name="Straight Arrow Connector 2">
            <a:extLst>
              <a:ext uri="{FF2B5EF4-FFF2-40B4-BE49-F238E27FC236}">
                <a16:creationId xmlns:a16="http://schemas.microsoft.com/office/drawing/2014/main" id="{9457E7C9-F90A-A3CD-247A-93F697DC1F24}"/>
              </a:ext>
            </a:extLst>
          </p:cNvPr>
          <p:cNvCxnSpPr>
            <a:cxnSpLocks/>
          </p:cNvCxnSpPr>
          <p:nvPr/>
        </p:nvCxnSpPr>
        <p:spPr>
          <a:xfrm flipH="1">
            <a:off x="3461288" y="2764284"/>
            <a:ext cx="13668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2A7D5EB-FA09-7280-D871-EB66D3B5C82A}"/>
              </a:ext>
            </a:extLst>
          </p:cNvPr>
          <p:cNvCxnSpPr>
            <a:cxnSpLocks/>
          </p:cNvCxnSpPr>
          <p:nvPr/>
        </p:nvCxnSpPr>
        <p:spPr>
          <a:xfrm flipH="1">
            <a:off x="4144725" y="5062801"/>
            <a:ext cx="7766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F1C6691-88F6-8356-2C0A-0DCCFB04F0D0}"/>
              </a:ext>
            </a:extLst>
          </p:cNvPr>
          <p:cNvSpPr/>
          <p:nvPr/>
        </p:nvSpPr>
        <p:spPr>
          <a:xfrm>
            <a:off x="5007352" y="5437988"/>
            <a:ext cx="254000" cy="18822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C43BC44F-454E-B85C-987A-5B93D439721A}"/>
              </a:ext>
            </a:extLst>
          </p:cNvPr>
          <p:cNvCxnSpPr>
            <a:cxnSpLocks/>
          </p:cNvCxnSpPr>
          <p:nvPr/>
        </p:nvCxnSpPr>
        <p:spPr>
          <a:xfrm flipH="1">
            <a:off x="4126563" y="5569765"/>
            <a:ext cx="7766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5E6731E-1624-717E-16D8-B807E108B57C}"/>
              </a:ext>
            </a:extLst>
          </p:cNvPr>
          <p:cNvSpPr/>
          <p:nvPr/>
        </p:nvSpPr>
        <p:spPr>
          <a:xfrm>
            <a:off x="5007352" y="5849565"/>
            <a:ext cx="254000" cy="18822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F0335ACB-6CF9-6BE4-A28F-3E59B27E1D7B}"/>
              </a:ext>
            </a:extLst>
          </p:cNvPr>
          <p:cNvSpPr/>
          <p:nvPr/>
        </p:nvSpPr>
        <p:spPr>
          <a:xfrm>
            <a:off x="4967363" y="6274789"/>
            <a:ext cx="341970" cy="197505"/>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71988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E1716-4CB5-3EB3-00EF-D82EE766FBD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4EFD560-292D-DA1E-E60B-B5F898E4BF05}"/>
              </a:ext>
            </a:extLst>
          </p:cNvPr>
          <p:cNvSpPr/>
          <p:nvPr/>
        </p:nvSpPr>
        <p:spPr>
          <a:xfrm>
            <a:off x="-7859" y="-8467"/>
            <a:ext cx="12192000" cy="7010400"/>
          </a:xfrm>
          <a:prstGeom prst="rect">
            <a:avLst/>
          </a:prstGeom>
          <a:gradFill flip="none" rotWithShape="1">
            <a:gsLst>
              <a:gs pos="100000">
                <a:schemeClr val="accent5">
                  <a:lumMod val="50000"/>
                </a:schemeClr>
              </a:gs>
              <a:gs pos="20000">
                <a:schemeClr val="accent1">
                  <a:lumMod val="45000"/>
                  <a:lumOff val="55000"/>
                </a:schemeClr>
              </a:gs>
              <a:gs pos="100000">
                <a:schemeClr val="accent1">
                  <a:lumMod val="30000"/>
                  <a:lumOff val="7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7272B86-BEC1-00BC-806B-F82B84773DB9}"/>
              </a:ext>
            </a:extLst>
          </p:cNvPr>
          <p:cNvSpPr txBox="1"/>
          <p:nvPr/>
        </p:nvSpPr>
        <p:spPr>
          <a:xfrm>
            <a:off x="209255" y="724317"/>
            <a:ext cx="11974886" cy="5816977"/>
          </a:xfrm>
          <a:prstGeom prst="rect">
            <a:avLst/>
          </a:prstGeom>
          <a:noFill/>
          <a:ln w="12700">
            <a:noFill/>
          </a:ln>
        </p:spPr>
        <p:txBody>
          <a:bodyPr wrap="square" rtlCol="0">
            <a:spAutoFit/>
          </a:bodyPr>
          <a:lstStyle/>
          <a:p>
            <a:r>
              <a:rPr lang="en-US" sz="1600" b="1" dirty="0">
                <a:solidFill>
                  <a:schemeClr val="bg1"/>
                </a:solidFill>
                <a:latin typeface="Google Sans"/>
              </a:rPr>
              <a:t>  Supply Chain configuration detail is stored on a blockchain. This approach provides a history of the supply chain configuration and its</a:t>
            </a:r>
          </a:p>
          <a:p>
            <a:r>
              <a:rPr lang="en-US" sz="1600" b="1" dirty="0">
                <a:solidFill>
                  <a:schemeClr val="bg1"/>
                </a:solidFill>
                <a:latin typeface="Google Sans"/>
              </a:rPr>
              <a:t>   associated emissions data. Key – configuration is a set of “State Variables” that are permanently stored in the blockchain.</a:t>
            </a:r>
          </a:p>
          <a:p>
            <a:endParaRPr lang="en-US" sz="1600" b="1" dirty="0">
              <a:solidFill>
                <a:schemeClr val="bg1"/>
              </a:solidFill>
              <a:latin typeface="Google Sans"/>
            </a:endParaRPr>
          </a:p>
          <a:p>
            <a:r>
              <a:rPr lang="en-US" sz="1600" b="1" dirty="0">
                <a:solidFill>
                  <a:schemeClr val="bg1"/>
                </a:solidFill>
                <a:latin typeface="Google Sans"/>
              </a:rPr>
              <a:t>  Utilize a world state database to provide a fast, </a:t>
            </a:r>
            <a:r>
              <a:rPr lang="en-US" sz="1600" b="1" dirty="0" err="1">
                <a:solidFill>
                  <a:schemeClr val="bg1"/>
                </a:solidFill>
                <a:latin typeface="Google Sans"/>
              </a:rPr>
              <a:t>queryable</a:t>
            </a:r>
            <a:r>
              <a:rPr lang="en-US" sz="1600" b="1" dirty="0">
                <a:solidFill>
                  <a:schemeClr val="bg1"/>
                </a:solidFill>
                <a:latin typeface="Google Sans"/>
              </a:rPr>
              <a:t> view of the latest values of all assets and records, so applications don’t need to</a:t>
            </a:r>
          </a:p>
          <a:p>
            <a:r>
              <a:rPr lang="en-US" sz="1600" b="1" dirty="0">
                <a:solidFill>
                  <a:schemeClr val="bg1"/>
                </a:solidFill>
                <a:latin typeface="Google Sans"/>
              </a:rPr>
              <a:t>  scan the entire transaction history to find current data, greatly improving performance for lookups and updates. </a:t>
            </a:r>
          </a:p>
          <a:p>
            <a:endParaRPr lang="en-US" sz="1600" b="1" dirty="0">
              <a:solidFill>
                <a:schemeClr val="bg1"/>
              </a:solidFill>
              <a:latin typeface="Google Sans"/>
            </a:endParaRPr>
          </a:p>
          <a:p>
            <a:r>
              <a:rPr lang="en-US" sz="1600" b="1" dirty="0">
                <a:solidFill>
                  <a:schemeClr val="bg1"/>
                </a:solidFill>
                <a:latin typeface="Google Sans"/>
              </a:rPr>
              <a:t>  Utilize a relational database alongside the blockchain to collect large volumes of real-time data. The advantages are the following:</a:t>
            </a:r>
          </a:p>
          <a:p>
            <a:pPr marL="285750" indent="-285750">
              <a:buFont typeface="Arial" panose="020B0604020202020204" pitchFamily="34" charset="0"/>
              <a:buChar char="•"/>
            </a:pPr>
            <a:r>
              <a:rPr lang="en-US" sz="1600" b="1" dirty="0">
                <a:solidFill>
                  <a:schemeClr val="bg1"/>
                </a:solidFill>
                <a:latin typeface="Google Sans"/>
              </a:rPr>
              <a:t>Store bulk raw data off-chain to avoid inflating the blockchain ledger and incurring high storage or transaction fees.</a:t>
            </a:r>
          </a:p>
          <a:p>
            <a:pPr marL="285750" indent="-285750">
              <a:buFont typeface="Arial" panose="020B0604020202020204" pitchFamily="34" charset="0"/>
              <a:buChar char="•"/>
            </a:pPr>
            <a:r>
              <a:rPr lang="en-US" sz="1600" b="1" dirty="0">
                <a:solidFill>
                  <a:schemeClr val="bg1"/>
                </a:solidFill>
                <a:latin typeface="Google Sans"/>
              </a:rPr>
              <a:t>Leverage indexing and relationships for fast queries, joins, and analytics across large datasets.</a:t>
            </a:r>
          </a:p>
          <a:p>
            <a:pPr marL="285750" indent="-285750">
              <a:buFont typeface="Arial" panose="020B0604020202020204" pitchFamily="34" charset="0"/>
              <a:buChar char="•"/>
            </a:pPr>
            <a:r>
              <a:rPr lang="en-US" sz="1600" b="1" dirty="0">
                <a:solidFill>
                  <a:schemeClr val="bg1"/>
                </a:solidFill>
                <a:latin typeface="Google Sans"/>
              </a:rPr>
              <a:t>Reduce blockchain writes by only committing summarized or critical proofs (e.g., hash of the data) on-chain while keeping the detailed records in the relational database.</a:t>
            </a:r>
          </a:p>
          <a:p>
            <a:pPr marL="285750" indent="-285750">
              <a:buFont typeface="Arial" panose="020B0604020202020204" pitchFamily="34" charset="0"/>
              <a:buChar char="•"/>
            </a:pPr>
            <a:r>
              <a:rPr lang="en-US" sz="1600" b="1" dirty="0">
                <a:solidFill>
                  <a:schemeClr val="bg1"/>
                </a:solidFill>
                <a:latin typeface="Google Sans"/>
              </a:rPr>
              <a:t>Maintain data integrity by cross-referencing on-chain hashes with the off-chain relational data.</a:t>
            </a:r>
          </a:p>
          <a:p>
            <a:endParaRPr lang="en-US" sz="1600" b="1" dirty="0">
              <a:solidFill>
                <a:schemeClr val="bg1"/>
              </a:solidFill>
              <a:latin typeface="Google Sans"/>
            </a:endParaRPr>
          </a:p>
          <a:p>
            <a:r>
              <a:rPr lang="en-US" sz="1600" b="1" dirty="0">
                <a:solidFill>
                  <a:schemeClr val="bg1"/>
                </a:solidFill>
                <a:latin typeface="Google Sans"/>
              </a:rPr>
              <a:t>  Blockchain smart contracts(</a:t>
            </a:r>
            <a:r>
              <a:rPr lang="en-US" sz="1600" b="1" dirty="0" err="1">
                <a:solidFill>
                  <a:schemeClr val="bg1"/>
                </a:solidFill>
                <a:latin typeface="Google Sans"/>
              </a:rPr>
              <a:t>chaincode</a:t>
            </a:r>
            <a:r>
              <a:rPr lang="en-US" sz="1600" b="1" dirty="0">
                <a:solidFill>
                  <a:schemeClr val="bg1"/>
                </a:solidFill>
                <a:latin typeface="Google Sans"/>
              </a:rPr>
              <a:t>) are to be used for automation of business logic, trust, immutability of rules, and transparency. </a:t>
            </a:r>
          </a:p>
          <a:p>
            <a:endParaRPr lang="en-US" sz="1600" b="1" dirty="0">
              <a:solidFill>
                <a:schemeClr val="bg1"/>
              </a:solidFill>
              <a:latin typeface="Google Sans"/>
            </a:endParaRPr>
          </a:p>
          <a:p>
            <a:r>
              <a:rPr lang="en-US" sz="1600" b="1" dirty="0">
                <a:solidFill>
                  <a:schemeClr val="bg1"/>
                </a:solidFill>
                <a:latin typeface="Google Sans"/>
              </a:rPr>
              <a:t>  All data stored are to be encrypted and stored off-chain, while the blockchain is to hold hashes or proofs for immutability, ensuring tamper</a:t>
            </a:r>
          </a:p>
          <a:p>
            <a:r>
              <a:rPr lang="en-US" sz="1600" b="1" dirty="0">
                <a:solidFill>
                  <a:schemeClr val="bg1"/>
                </a:solidFill>
                <a:latin typeface="Google Sans"/>
              </a:rPr>
              <a:t>  resistance, selective disclosure, regulatory compliance, and secure key management without overloading devices or storage.</a:t>
            </a:r>
          </a:p>
          <a:p>
            <a:endParaRPr lang="en-US" sz="1600" b="1" dirty="0">
              <a:solidFill>
                <a:schemeClr val="bg1"/>
              </a:solidFill>
              <a:latin typeface="Google Sans"/>
            </a:endParaRPr>
          </a:p>
          <a:p>
            <a:r>
              <a:rPr lang="en-US" sz="1600" b="1" dirty="0">
                <a:solidFill>
                  <a:schemeClr val="bg1"/>
                </a:solidFill>
                <a:latin typeface="Google Sans"/>
              </a:rPr>
              <a:t>  Utilize cloud services to leverage third-party infrastructure, platforms, or software hosted and managed by external providers instead of</a:t>
            </a:r>
          </a:p>
          <a:p>
            <a:r>
              <a:rPr lang="en-US" sz="1600" b="1" dirty="0">
                <a:solidFill>
                  <a:schemeClr val="bg1"/>
                </a:solidFill>
                <a:latin typeface="Google Sans"/>
              </a:rPr>
              <a:t>  on-premises systems.</a:t>
            </a:r>
          </a:p>
          <a:p>
            <a:endParaRPr lang="en-US" sz="1600" b="1" dirty="0">
              <a:solidFill>
                <a:schemeClr val="bg1"/>
              </a:solidFill>
              <a:latin typeface="Google Sans"/>
            </a:endParaRPr>
          </a:p>
          <a:p>
            <a:r>
              <a:rPr lang="en-US" sz="1600" b="1" dirty="0">
                <a:solidFill>
                  <a:schemeClr val="bg1"/>
                </a:solidFill>
                <a:latin typeface="Google Sans"/>
              </a:rPr>
              <a:t>  Provide data entry screens for the entry of supply chain configuration detail and emission source data values where the collection of real</a:t>
            </a:r>
          </a:p>
          <a:p>
            <a:r>
              <a:rPr lang="en-US" sz="1600" b="1" dirty="0">
                <a:solidFill>
                  <a:schemeClr val="bg1"/>
                </a:solidFill>
                <a:latin typeface="Google Sans"/>
              </a:rPr>
              <a:t>  time data are not selected as part of the digital twin solution.</a:t>
            </a:r>
            <a:endParaRPr lang="en-US" sz="1400" dirty="0"/>
          </a:p>
        </p:txBody>
      </p:sp>
      <p:sp>
        <p:nvSpPr>
          <p:cNvPr id="2" name="AutoShape 2" descr="A detailed infographic illustrating the process of defining an IoT device on a blockchain. The image includes a flow from an IoT device (e.g., a sensor) to its integration with a blockchain system. Key elements include (1) Device Identity Registration with unique IDs and cryptographic keys, (2) Secure Communication using encryption, (3) Data Validation through blockchain nodes and oracles, (4) Integration with Smart Contracts showing automated triggers, (5) Off-Chain Data Storage connected to the blockchain using systems like IPFS, and (6) Scalability with Layer 2 solutions. The design is clean and professional, with arrows connecting each step, labeled sections, and a modern tech aesthetic.">
            <a:extLst>
              <a:ext uri="{FF2B5EF4-FFF2-40B4-BE49-F238E27FC236}">
                <a16:creationId xmlns:a16="http://schemas.microsoft.com/office/drawing/2014/main" id="{8DA04EA6-3C51-B87E-F823-7FEA8523958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3B982E43-5BEE-E5A3-47E9-46170A512244}"/>
              </a:ext>
            </a:extLst>
          </p:cNvPr>
          <p:cNvSpPr txBox="1"/>
          <p:nvPr/>
        </p:nvSpPr>
        <p:spPr>
          <a:xfrm>
            <a:off x="138004" y="0"/>
            <a:ext cx="9499771" cy="584775"/>
          </a:xfrm>
          <a:prstGeom prst="rect">
            <a:avLst/>
          </a:prstGeom>
          <a:noFill/>
        </p:spPr>
        <p:txBody>
          <a:bodyPr wrap="square" rtlCol="0">
            <a:spAutoFit/>
          </a:bodyPr>
          <a:lstStyle/>
          <a:p>
            <a:r>
              <a:rPr lang="en-US" sz="3200" b="1" dirty="0">
                <a:solidFill>
                  <a:schemeClr val="bg1"/>
                </a:solidFill>
                <a:latin typeface="Abadi Extra Light" panose="020B0204020104020204" pitchFamily="34" charset="0"/>
              </a:rPr>
              <a:t>Data Storage Architecture Key Design Decisions</a:t>
            </a:r>
          </a:p>
        </p:txBody>
      </p:sp>
      <p:sp>
        <p:nvSpPr>
          <p:cNvPr id="50" name="Rectangle 49">
            <a:extLst>
              <a:ext uri="{FF2B5EF4-FFF2-40B4-BE49-F238E27FC236}">
                <a16:creationId xmlns:a16="http://schemas.microsoft.com/office/drawing/2014/main" id="{D6C952AA-8254-6E22-7052-6AA6652663E1}"/>
              </a:ext>
            </a:extLst>
          </p:cNvPr>
          <p:cNvSpPr/>
          <p:nvPr/>
        </p:nvSpPr>
        <p:spPr>
          <a:xfrm>
            <a:off x="135956" y="829493"/>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9BA3D508-122C-69B3-36F4-A0DAC77986ED}"/>
              </a:ext>
            </a:extLst>
          </p:cNvPr>
          <p:cNvSpPr/>
          <p:nvPr/>
        </p:nvSpPr>
        <p:spPr>
          <a:xfrm>
            <a:off x="135956" y="1552949"/>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0AAC5CB0-0061-1D56-0673-35EED8BA9B11}"/>
              </a:ext>
            </a:extLst>
          </p:cNvPr>
          <p:cNvSpPr/>
          <p:nvPr/>
        </p:nvSpPr>
        <p:spPr>
          <a:xfrm>
            <a:off x="135955" y="2276405"/>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CF6C68D-2BC2-526C-F06A-BBC4B41E9640}"/>
              </a:ext>
            </a:extLst>
          </p:cNvPr>
          <p:cNvSpPr/>
          <p:nvPr/>
        </p:nvSpPr>
        <p:spPr>
          <a:xfrm>
            <a:off x="135955" y="4005991"/>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66EBC14A-31F3-4086-BC0F-72CDC07B7EDE}"/>
              </a:ext>
            </a:extLst>
          </p:cNvPr>
          <p:cNvSpPr/>
          <p:nvPr/>
        </p:nvSpPr>
        <p:spPr>
          <a:xfrm>
            <a:off x="135954" y="4497057"/>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61E1FE6A-EDCB-BB74-85A3-CAF11F81FF92}"/>
              </a:ext>
            </a:extLst>
          </p:cNvPr>
          <p:cNvSpPr/>
          <p:nvPr/>
        </p:nvSpPr>
        <p:spPr>
          <a:xfrm>
            <a:off x="135954" y="5217126"/>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EE056C1F-FD74-08DC-9F45-5BBDD5EACFD2}"/>
              </a:ext>
            </a:extLst>
          </p:cNvPr>
          <p:cNvSpPr/>
          <p:nvPr/>
        </p:nvSpPr>
        <p:spPr>
          <a:xfrm>
            <a:off x="135954" y="5943969"/>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01978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02578-710F-CD3C-DB55-00330279F5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8A26A2-08EC-65EC-4E40-31945B92C80F}"/>
              </a:ext>
            </a:extLst>
          </p:cNvPr>
          <p:cNvSpPr/>
          <p:nvPr/>
        </p:nvSpPr>
        <p:spPr>
          <a:xfrm>
            <a:off x="-12344" y="0"/>
            <a:ext cx="12192000" cy="7010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4F15334-40B0-760D-07BB-EE609693A958}"/>
              </a:ext>
            </a:extLst>
          </p:cNvPr>
          <p:cNvSpPr txBox="1"/>
          <p:nvPr/>
        </p:nvSpPr>
        <p:spPr>
          <a:xfrm>
            <a:off x="79112" y="567157"/>
            <a:ext cx="11773492" cy="707886"/>
          </a:xfrm>
          <a:prstGeom prst="rect">
            <a:avLst/>
          </a:prstGeom>
          <a:noFill/>
          <a:ln>
            <a:noFill/>
          </a:ln>
        </p:spPr>
        <p:txBody>
          <a:bodyPr wrap="square" rtlCol="0">
            <a:spAutoFit/>
          </a:bodyPr>
          <a:lstStyle/>
          <a:p>
            <a:r>
              <a:rPr lang="en-US" sz="2000" dirty="0"/>
              <a:t>Blockchain and relational databases (SQL and no-SQL) overlap in some ways (both store and query data), but they’re designed for different problems. Here are the </a:t>
            </a:r>
            <a:r>
              <a:rPr lang="en-US" sz="2000" b="1" dirty="0"/>
              <a:t>main advantages of blockchain over SQL databases</a:t>
            </a:r>
            <a:r>
              <a:rPr lang="en-US" sz="2000" dirty="0"/>
              <a:t>:</a:t>
            </a:r>
            <a:r>
              <a:rPr lang="en-US" sz="2000" b="1" dirty="0"/>
              <a:t>                   </a:t>
            </a:r>
            <a:endParaRPr lang="en-US" sz="2000" b="1" u="sng" dirty="0"/>
          </a:p>
        </p:txBody>
      </p:sp>
      <p:sp>
        <p:nvSpPr>
          <p:cNvPr id="5" name="TextBox 4">
            <a:extLst>
              <a:ext uri="{FF2B5EF4-FFF2-40B4-BE49-F238E27FC236}">
                <a16:creationId xmlns:a16="http://schemas.microsoft.com/office/drawing/2014/main" id="{8F3E4E76-192A-F6C0-C62A-0C5D712889CF}"/>
              </a:ext>
            </a:extLst>
          </p:cNvPr>
          <p:cNvSpPr txBox="1"/>
          <p:nvPr/>
        </p:nvSpPr>
        <p:spPr>
          <a:xfrm>
            <a:off x="153465" y="4748"/>
            <a:ext cx="11773492" cy="523220"/>
          </a:xfrm>
          <a:prstGeom prst="rect">
            <a:avLst/>
          </a:prstGeom>
          <a:noFill/>
        </p:spPr>
        <p:txBody>
          <a:bodyPr wrap="square" rtlCol="0">
            <a:spAutoFit/>
          </a:bodyPr>
          <a:lstStyle/>
          <a:p>
            <a:r>
              <a:rPr lang="en-US" sz="2800" b="1" dirty="0">
                <a:latin typeface="Abadi Extra Light" panose="020B0204020104020204" pitchFamily="34" charset="0"/>
              </a:rPr>
              <a:t>Architecture Design Decisions – Utilize Blockchain Technology  </a:t>
            </a:r>
          </a:p>
        </p:txBody>
      </p:sp>
      <p:cxnSp>
        <p:nvCxnSpPr>
          <p:cNvPr id="6" name="Straight Connector 5">
            <a:extLst>
              <a:ext uri="{FF2B5EF4-FFF2-40B4-BE49-F238E27FC236}">
                <a16:creationId xmlns:a16="http://schemas.microsoft.com/office/drawing/2014/main" id="{E710585B-17E5-4E66-3BC8-846B61A74394}"/>
              </a:ext>
            </a:extLst>
          </p:cNvPr>
          <p:cNvCxnSpPr>
            <a:cxnSpLocks/>
          </p:cNvCxnSpPr>
          <p:nvPr/>
        </p:nvCxnSpPr>
        <p:spPr>
          <a:xfrm>
            <a:off x="153465" y="506226"/>
            <a:ext cx="110907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C6ACCE0-D1B4-09FE-F4BA-F2E411721F5F}"/>
              </a:ext>
            </a:extLst>
          </p:cNvPr>
          <p:cNvSpPr/>
          <p:nvPr/>
        </p:nvSpPr>
        <p:spPr>
          <a:xfrm>
            <a:off x="447259" y="1462877"/>
            <a:ext cx="11660871"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t>
            </a:r>
            <a:r>
              <a:rPr lang="en-US" sz="1400" dirty="0">
                <a:solidFill>
                  <a:schemeClr val="tx1"/>
                </a:solidFill>
              </a:rPr>
              <a:t>Blockchain data is immutable. Key attribute when data is subject to auditing. Immutability &amp; Tamper Resistance - Data,  once written and confirmed,</a:t>
            </a:r>
          </a:p>
          <a:p>
            <a:r>
              <a:rPr lang="en-US" sz="1400" dirty="0">
                <a:solidFill>
                  <a:schemeClr val="tx1"/>
                </a:solidFill>
              </a:rPr>
              <a:t>       cannot be modified or deleted without consensus. Needed for emissions auditing</a:t>
            </a:r>
          </a:p>
        </p:txBody>
      </p:sp>
      <p:sp>
        <p:nvSpPr>
          <p:cNvPr id="9" name="Hexagon 8">
            <a:extLst>
              <a:ext uri="{FF2B5EF4-FFF2-40B4-BE49-F238E27FC236}">
                <a16:creationId xmlns:a16="http://schemas.microsoft.com/office/drawing/2014/main" id="{BEDCC6FA-102E-08C3-1A85-A3356F78692D}"/>
              </a:ext>
            </a:extLst>
          </p:cNvPr>
          <p:cNvSpPr/>
          <p:nvPr/>
        </p:nvSpPr>
        <p:spPr>
          <a:xfrm>
            <a:off x="0" y="1444717"/>
            <a:ext cx="569814" cy="664491"/>
          </a:xfrm>
          <a:prstGeom prst="hexagon">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2" name="Rectangle 11">
            <a:extLst>
              <a:ext uri="{FF2B5EF4-FFF2-40B4-BE49-F238E27FC236}">
                <a16:creationId xmlns:a16="http://schemas.microsoft.com/office/drawing/2014/main" id="{298CD20A-5BB7-9094-5E1E-116953FCB743}"/>
              </a:ext>
            </a:extLst>
          </p:cNvPr>
          <p:cNvSpPr/>
          <p:nvPr/>
        </p:nvSpPr>
        <p:spPr>
          <a:xfrm>
            <a:off x="448056" y="2297713"/>
            <a:ext cx="11650931"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t>
            </a:r>
            <a:r>
              <a:rPr lang="en-US" sz="1400" dirty="0">
                <a:solidFill>
                  <a:schemeClr val="tx1"/>
                </a:solidFill>
              </a:rPr>
              <a:t>A key factor when measuring ghg emissions is Transparency &amp; Auditability of the data. All transactions are timestamped,</a:t>
            </a:r>
          </a:p>
          <a:p>
            <a:r>
              <a:rPr lang="en-US" sz="1400" dirty="0">
                <a:solidFill>
                  <a:schemeClr val="tx1"/>
                </a:solidFill>
              </a:rPr>
              <a:t>      traceable, and visible (either publicly or within a permissioned network). </a:t>
            </a:r>
          </a:p>
        </p:txBody>
      </p:sp>
      <p:sp>
        <p:nvSpPr>
          <p:cNvPr id="13" name="Hexagon 12">
            <a:extLst>
              <a:ext uri="{FF2B5EF4-FFF2-40B4-BE49-F238E27FC236}">
                <a16:creationId xmlns:a16="http://schemas.microsoft.com/office/drawing/2014/main" id="{D109BBA1-2692-55AB-F318-B824DA60E621}"/>
              </a:ext>
            </a:extLst>
          </p:cNvPr>
          <p:cNvSpPr/>
          <p:nvPr/>
        </p:nvSpPr>
        <p:spPr>
          <a:xfrm>
            <a:off x="0" y="2290180"/>
            <a:ext cx="562049" cy="664492"/>
          </a:xfrm>
          <a:prstGeom prst="hexagon">
            <a:avLst/>
          </a:prstGeom>
          <a:solidFill>
            <a:srgbClr val="008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6" name="Rectangle 15">
            <a:extLst>
              <a:ext uri="{FF2B5EF4-FFF2-40B4-BE49-F238E27FC236}">
                <a16:creationId xmlns:a16="http://schemas.microsoft.com/office/drawing/2014/main" id="{3C161FB3-C7C3-81D8-550C-E640A57EF6A2}"/>
              </a:ext>
            </a:extLst>
          </p:cNvPr>
          <p:cNvSpPr/>
          <p:nvPr/>
        </p:nvSpPr>
        <p:spPr>
          <a:xfrm>
            <a:off x="448056" y="3125015"/>
            <a:ext cx="11650931"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t>
            </a:r>
            <a:r>
              <a:rPr lang="en-US" sz="1400" dirty="0">
                <a:solidFill>
                  <a:schemeClr val="tx1"/>
                </a:solidFill>
              </a:rPr>
              <a:t>Supply chain configurations at a particular point in time are saved in the blockchain( as a transaction ) , linked with GHG  emissions over the configuration</a:t>
            </a:r>
          </a:p>
          <a:p>
            <a:r>
              <a:rPr lang="en-US" sz="1400" dirty="0">
                <a:solidFill>
                  <a:schemeClr val="tx1"/>
                </a:solidFill>
              </a:rPr>
              <a:t>       time period resulting in an immutable view of supply chain GHG over time.</a:t>
            </a:r>
          </a:p>
        </p:txBody>
      </p:sp>
      <p:sp>
        <p:nvSpPr>
          <p:cNvPr id="14" name="Hexagon 13">
            <a:extLst>
              <a:ext uri="{FF2B5EF4-FFF2-40B4-BE49-F238E27FC236}">
                <a16:creationId xmlns:a16="http://schemas.microsoft.com/office/drawing/2014/main" id="{D96EE547-55CD-AECC-D61F-DC4ADE515967}"/>
              </a:ext>
            </a:extLst>
          </p:cNvPr>
          <p:cNvSpPr/>
          <p:nvPr/>
        </p:nvSpPr>
        <p:spPr>
          <a:xfrm>
            <a:off x="0" y="3125567"/>
            <a:ext cx="562049" cy="646331"/>
          </a:xfrm>
          <a:prstGeom prst="hexagon">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8" name="Rectangle 17">
            <a:extLst>
              <a:ext uri="{FF2B5EF4-FFF2-40B4-BE49-F238E27FC236}">
                <a16:creationId xmlns:a16="http://schemas.microsoft.com/office/drawing/2014/main" id="{7299FB1E-27AC-CDF3-DAB3-3A1C9411ADA0}"/>
              </a:ext>
            </a:extLst>
          </p:cNvPr>
          <p:cNvSpPr/>
          <p:nvPr/>
        </p:nvSpPr>
        <p:spPr>
          <a:xfrm>
            <a:off x="440775" y="4005399"/>
            <a:ext cx="11645601" cy="64633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t>
            </a:r>
          </a:p>
          <a:p>
            <a:r>
              <a:rPr lang="en-US" b="1" dirty="0">
                <a:solidFill>
                  <a:schemeClr val="tx1"/>
                </a:solidFill>
              </a:rPr>
              <a:t>     Security by Design : </a:t>
            </a:r>
            <a:r>
              <a:rPr lang="en-US" dirty="0">
                <a:solidFill>
                  <a:schemeClr val="tx1"/>
                </a:solidFill>
              </a:rPr>
              <a:t>Blockchains use cryptographic techniques (hashing, digital signatures, consensus) to secure</a:t>
            </a:r>
          </a:p>
          <a:p>
            <a:r>
              <a:rPr lang="en-US" dirty="0">
                <a:solidFill>
                  <a:schemeClr val="tx1"/>
                </a:solidFill>
              </a:rPr>
              <a:t>     transactions.</a:t>
            </a:r>
            <a:endParaRPr lang="en-US" b="1" dirty="0">
              <a:solidFill>
                <a:schemeClr val="tx1"/>
              </a:solidFill>
            </a:endParaRPr>
          </a:p>
          <a:p>
            <a:endParaRPr lang="en-US" dirty="0"/>
          </a:p>
        </p:txBody>
      </p:sp>
      <p:sp>
        <p:nvSpPr>
          <p:cNvPr id="17" name="Hexagon 16">
            <a:extLst>
              <a:ext uri="{FF2B5EF4-FFF2-40B4-BE49-F238E27FC236}">
                <a16:creationId xmlns:a16="http://schemas.microsoft.com/office/drawing/2014/main" id="{839663F2-9284-A74A-603B-01AC442A8417}"/>
              </a:ext>
            </a:extLst>
          </p:cNvPr>
          <p:cNvSpPr/>
          <p:nvPr/>
        </p:nvSpPr>
        <p:spPr>
          <a:xfrm>
            <a:off x="0" y="4005400"/>
            <a:ext cx="562049" cy="646331"/>
          </a:xfrm>
          <a:prstGeom prst="hexagon">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1" name="Rectangle 20">
            <a:extLst>
              <a:ext uri="{FF2B5EF4-FFF2-40B4-BE49-F238E27FC236}">
                <a16:creationId xmlns:a16="http://schemas.microsoft.com/office/drawing/2014/main" id="{F1CB83EB-B214-90A3-209B-62F9B0C2E887}"/>
              </a:ext>
            </a:extLst>
          </p:cNvPr>
          <p:cNvSpPr/>
          <p:nvPr/>
        </p:nvSpPr>
        <p:spPr>
          <a:xfrm>
            <a:off x="429825" y="4844205"/>
            <a:ext cx="11645601" cy="89157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t>
            </a:r>
          </a:p>
          <a:p>
            <a:r>
              <a:rPr lang="en-US" b="1" dirty="0"/>
              <a:t>   Trust Across Organizations : </a:t>
            </a:r>
            <a:r>
              <a:rPr lang="en-US" dirty="0"/>
              <a:t>Supply chains are comprised of a significant number of partners. </a:t>
            </a:r>
            <a:r>
              <a:rPr lang="en-US" b="1" dirty="0"/>
              <a:t>Blockchain:</a:t>
            </a:r>
            <a:r>
              <a:rPr lang="en-US" dirty="0"/>
              <a:t> Enables</a:t>
            </a:r>
          </a:p>
          <a:p>
            <a:r>
              <a:rPr lang="en-US" dirty="0"/>
              <a:t>   multiple independent parties (suppliers, regulators, banks) to share and verify data without needing to trust a central</a:t>
            </a:r>
          </a:p>
          <a:p>
            <a:r>
              <a:rPr lang="en-US" dirty="0"/>
              <a:t>   authority. </a:t>
            </a:r>
          </a:p>
          <a:p>
            <a:endParaRPr lang="en-US" dirty="0"/>
          </a:p>
        </p:txBody>
      </p:sp>
      <p:sp>
        <p:nvSpPr>
          <p:cNvPr id="19" name="Hexagon 18">
            <a:extLst>
              <a:ext uri="{FF2B5EF4-FFF2-40B4-BE49-F238E27FC236}">
                <a16:creationId xmlns:a16="http://schemas.microsoft.com/office/drawing/2014/main" id="{A691E623-A9E3-A7D1-9001-F3FC67130B21}"/>
              </a:ext>
            </a:extLst>
          </p:cNvPr>
          <p:cNvSpPr/>
          <p:nvPr/>
        </p:nvSpPr>
        <p:spPr>
          <a:xfrm>
            <a:off x="0" y="4861568"/>
            <a:ext cx="562049" cy="874212"/>
          </a:xfrm>
          <a:prstGeom prst="hexagon">
            <a:avLst/>
          </a:prstGeom>
          <a:solidFill>
            <a:schemeClr val="accent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2" name="Rectangle 21">
            <a:extLst>
              <a:ext uri="{FF2B5EF4-FFF2-40B4-BE49-F238E27FC236}">
                <a16:creationId xmlns:a16="http://schemas.microsoft.com/office/drawing/2014/main" id="{C4538A66-B0F9-2871-CAEB-0CBB7289B8D0}"/>
              </a:ext>
            </a:extLst>
          </p:cNvPr>
          <p:cNvSpPr/>
          <p:nvPr/>
        </p:nvSpPr>
        <p:spPr>
          <a:xfrm>
            <a:off x="418875" y="6044295"/>
            <a:ext cx="11618226" cy="646331"/>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t>
            </a:r>
            <a:r>
              <a:rPr lang="en-US" b="1" dirty="0"/>
              <a:t>Smart Contracts (</a:t>
            </a:r>
            <a:r>
              <a:rPr lang="en-US" b="1" dirty="0" err="1"/>
              <a:t>chaincode</a:t>
            </a:r>
            <a:r>
              <a:rPr lang="en-US" b="1" dirty="0"/>
              <a:t>) : </a:t>
            </a:r>
            <a:r>
              <a:rPr lang="en-US" dirty="0"/>
              <a:t>Blockchains embed rules that automatically execute when conditions are met (e.g.,</a:t>
            </a:r>
          </a:p>
          <a:p>
            <a:r>
              <a:rPr lang="en-US" dirty="0"/>
              <a:t>     release payment once shipment arrives).</a:t>
            </a:r>
          </a:p>
        </p:txBody>
      </p:sp>
      <p:sp>
        <p:nvSpPr>
          <p:cNvPr id="23" name="Hexagon 22">
            <a:extLst>
              <a:ext uri="{FF2B5EF4-FFF2-40B4-BE49-F238E27FC236}">
                <a16:creationId xmlns:a16="http://schemas.microsoft.com/office/drawing/2014/main" id="{CF319F0F-D97D-FC67-75B7-E4943B57DCD1}"/>
              </a:ext>
            </a:extLst>
          </p:cNvPr>
          <p:cNvSpPr/>
          <p:nvPr/>
        </p:nvSpPr>
        <p:spPr>
          <a:xfrm>
            <a:off x="0" y="6038043"/>
            <a:ext cx="562049" cy="646331"/>
          </a:xfrm>
          <a:prstGeom prst="hexagon">
            <a:avLst/>
          </a:prstGeom>
          <a:solidFill>
            <a:schemeClr val="tx2">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cxnSp>
        <p:nvCxnSpPr>
          <p:cNvPr id="27" name="Straight Connector 26">
            <a:extLst>
              <a:ext uri="{FF2B5EF4-FFF2-40B4-BE49-F238E27FC236}">
                <a16:creationId xmlns:a16="http://schemas.microsoft.com/office/drawing/2014/main" id="{15CCA510-C458-0C5A-9C2C-8E8480DABB31}"/>
              </a:ext>
            </a:extLst>
          </p:cNvPr>
          <p:cNvCxnSpPr>
            <a:cxnSpLocks/>
          </p:cNvCxnSpPr>
          <p:nvPr/>
        </p:nvCxnSpPr>
        <p:spPr>
          <a:xfrm>
            <a:off x="153465" y="1344426"/>
            <a:ext cx="110907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14462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9F52C-5182-B975-007A-ECB52405070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8B83F2D-6329-16AE-6C0F-D0F970B6CF8D}"/>
              </a:ext>
            </a:extLst>
          </p:cNvPr>
          <p:cNvSpPr/>
          <p:nvPr/>
        </p:nvSpPr>
        <p:spPr>
          <a:xfrm>
            <a:off x="0" y="0"/>
            <a:ext cx="12192000" cy="7258396"/>
          </a:xfrm>
          <a:prstGeom prst="rect">
            <a:avLst/>
          </a:prstGeom>
          <a:gradFill flip="none" rotWithShape="1">
            <a:gsLst>
              <a:gs pos="100000">
                <a:schemeClr val="accent5">
                  <a:lumMod val="50000"/>
                </a:schemeClr>
              </a:gs>
              <a:gs pos="20000">
                <a:schemeClr val="accent1">
                  <a:lumMod val="45000"/>
                  <a:lumOff val="55000"/>
                </a:schemeClr>
              </a:gs>
              <a:gs pos="100000">
                <a:schemeClr val="accent1">
                  <a:lumMod val="30000"/>
                  <a:lumOff val="7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0F719802-8A12-2497-50AE-22A06D00CBEF}"/>
              </a:ext>
            </a:extLst>
          </p:cNvPr>
          <p:cNvSpPr txBox="1"/>
          <p:nvPr/>
        </p:nvSpPr>
        <p:spPr>
          <a:xfrm>
            <a:off x="209255" y="957708"/>
            <a:ext cx="2922407" cy="5847755"/>
          </a:xfrm>
          <a:prstGeom prst="rect">
            <a:avLst/>
          </a:prstGeom>
          <a:noFill/>
          <a:ln w="12700">
            <a:solidFill>
              <a:schemeClr val="bg1"/>
            </a:solidFill>
          </a:ln>
        </p:spPr>
        <p:txBody>
          <a:bodyPr wrap="square" rtlCol="0">
            <a:spAutoFit/>
          </a:bodyPr>
          <a:lstStyle/>
          <a:p>
            <a:r>
              <a:rPr lang="en-US" sz="1100" b="1" dirty="0">
                <a:solidFill>
                  <a:schemeClr val="bg1"/>
                </a:solidFill>
                <a:latin typeface="Google Sans"/>
              </a:rPr>
              <a:t>Supply Chain configuration detail is stored on the blockchain. This approach provides a history of the supply chain configuration and its associated emissions data.</a:t>
            </a:r>
          </a:p>
          <a:p>
            <a:endParaRPr lang="en-US" sz="1100" b="1" dirty="0">
              <a:solidFill>
                <a:schemeClr val="bg1"/>
              </a:solidFill>
              <a:latin typeface="Google Sans"/>
            </a:endParaRPr>
          </a:p>
          <a:p>
            <a:r>
              <a:rPr lang="en-US" sz="1100" b="1" dirty="0">
                <a:solidFill>
                  <a:schemeClr val="bg1"/>
                </a:solidFill>
                <a:latin typeface="Google Sans"/>
              </a:rPr>
              <a:t> A smart contract accepts the entered supply chain configuration, checks for errors, and upon approval is submitted as a blockchain transaction.</a:t>
            </a:r>
          </a:p>
          <a:p>
            <a:endParaRPr lang="en-US" sz="1100" b="1" dirty="0">
              <a:solidFill>
                <a:schemeClr val="bg1"/>
              </a:solidFill>
              <a:latin typeface="Google Sans"/>
            </a:endParaRPr>
          </a:p>
          <a:p>
            <a:r>
              <a:rPr lang="en-US" sz="1100" b="1" dirty="0">
                <a:solidFill>
                  <a:schemeClr val="bg1"/>
                </a:solidFill>
                <a:latin typeface="Google Sans"/>
              </a:rPr>
              <a:t>A smart contract collects supply chain configuration detail to start a “run”, assigns a run “id”, and associates emission data.</a:t>
            </a:r>
          </a:p>
          <a:p>
            <a:endParaRPr lang="en-US" sz="1100" b="1" dirty="0">
              <a:solidFill>
                <a:schemeClr val="bg1"/>
              </a:solidFill>
              <a:latin typeface="Google Sans"/>
            </a:endParaRPr>
          </a:p>
          <a:p>
            <a:r>
              <a:rPr lang="en-US" sz="1100" b="1" dirty="0">
                <a:solidFill>
                  <a:schemeClr val="bg1"/>
                </a:solidFill>
                <a:latin typeface="Google Sans"/>
              </a:rPr>
              <a:t>Smart contract collects emission values and through the “</a:t>
            </a:r>
            <a:r>
              <a:rPr lang="en-US" sz="1100" b="1" dirty="0" err="1">
                <a:solidFill>
                  <a:schemeClr val="bg1"/>
                </a:solidFill>
                <a:latin typeface="Google Sans"/>
              </a:rPr>
              <a:t>device_id</a:t>
            </a:r>
            <a:r>
              <a:rPr lang="en-US" sz="1100" b="1" dirty="0">
                <a:solidFill>
                  <a:schemeClr val="bg1"/>
                </a:solidFill>
                <a:latin typeface="Google Sans"/>
              </a:rPr>
              <a:t>” field in the IoT device payload , forms a linkage to the supply chain “segment” at the granular level set.</a:t>
            </a:r>
          </a:p>
          <a:p>
            <a:endParaRPr lang="en-US" sz="1100" b="1" dirty="0">
              <a:solidFill>
                <a:schemeClr val="bg1"/>
              </a:solidFill>
              <a:latin typeface="Google Sans"/>
            </a:endParaRPr>
          </a:p>
          <a:p>
            <a:r>
              <a:rPr lang="en-US" sz="1100" b="1" dirty="0">
                <a:solidFill>
                  <a:schemeClr val="bg1"/>
                </a:solidFill>
                <a:latin typeface="Google Sans"/>
              </a:rPr>
              <a:t>Smart contract “Updates” the world-state by totaling emission readings received. </a:t>
            </a:r>
          </a:p>
          <a:p>
            <a:endParaRPr lang="en-US" sz="1100" b="1" dirty="0">
              <a:solidFill>
                <a:schemeClr val="bg1"/>
              </a:solidFill>
              <a:latin typeface="Google Sans"/>
            </a:endParaRPr>
          </a:p>
          <a:p>
            <a:r>
              <a:rPr lang="en-US" sz="1100" b="1" dirty="0">
                <a:solidFill>
                  <a:schemeClr val="bg1"/>
                </a:solidFill>
                <a:latin typeface="Google Sans"/>
              </a:rPr>
              <a:t>The data stream is a pointer to the IoT devices’ live data feed which is an external data source containing the raw sensor data.</a:t>
            </a:r>
          </a:p>
          <a:p>
            <a:endParaRPr lang="en-US" sz="1100" b="1" dirty="0">
              <a:solidFill>
                <a:schemeClr val="bg1"/>
              </a:solidFill>
              <a:latin typeface="Google Sans"/>
            </a:endParaRPr>
          </a:p>
          <a:p>
            <a:r>
              <a:rPr lang="en-US" sz="1100" b="1" dirty="0">
                <a:solidFill>
                  <a:schemeClr val="bg1"/>
                </a:solidFill>
              </a:rPr>
              <a:t>Use a relational database alongside blockchain for off-chain querying, analytics, or integration.</a:t>
            </a:r>
          </a:p>
          <a:p>
            <a:r>
              <a:rPr lang="en-US" sz="1100" b="1" dirty="0">
                <a:solidFill>
                  <a:schemeClr val="bg1"/>
                </a:solidFill>
                <a:latin typeface="Google Sans"/>
              </a:rPr>
              <a:t> </a:t>
            </a:r>
          </a:p>
          <a:p>
            <a:pPr lvl="0" eaLnBrk="0" fontAlgn="base" hangingPunct="0">
              <a:spcBef>
                <a:spcPct val="0"/>
              </a:spcBef>
              <a:spcAft>
                <a:spcPct val="0"/>
              </a:spcAft>
            </a:pPr>
            <a:r>
              <a:rPr lang="en-US" altLang="en-US" sz="1100" b="1" dirty="0">
                <a:solidFill>
                  <a:schemeClr val="bg1"/>
                </a:solidFill>
                <a:latin typeface="Google Sans"/>
              </a:rPr>
              <a:t>Actual raw IoT sensor values are fetched off-chain by an oracle or a backend service when doing verification or analytics. It keeps the world state small and efficient.</a:t>
            </a:r>
            <a:endParaRPr lang="en-US" sz="1400" dirty="0"/>
          </a:p>
        </p:txBody>
      </p:sp>
      <p:sp>
        <p:nvSpPr>
          <p:cNvPr id="2" name="AutoShape 2" descr="A detailed infographic illustrating the process of defining an IoT device on a blockchain. The image includes a flow from an IoT device (e.g., a sensor) to its integration with a blockchain system. Key elements include (1) Device Identity Registration with unique IDs and cryptographic keys, (2) Secure Communication using encryption, (3) Data Validation through blockchain nodes and oracles, (4) Integration with Smart Contracts showing automated triggers, (5) Off-Chain Data Storage connected to the blockchain using systems like IPFS, and (6) Scalability with Layer 2 solutions. The design is clean and professional, with arrows connecting each step, labeled sections, and a modern tech aesthetic.">
            <a:extLst>
              <a:ext uri="{FF2B5EF4-FFF2-40B4-BE49-F238E27FC236}">
                <a16:creationId xmlns:a16="http://schemas.microsoft.com/office/drawing/2014/main" id="{450ABFB7-DF97-7596-685F-4E62C0BFAFC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descr="3D Illustration Blockchain Technologie">
            <a:extLst>
              <a:ext uri="{FF2B5EF4-FFF2-40B4-BE49-F238E27FC236}">
                <a16:creationId xmlns:a16="http://schemas.microsoft.com/office/drawing/2014/main" id="{AC742BB9-EAA2-EE2C-6AAA-AB3B9B7E2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3022" y="1012612"/>
            <a:ext cx="2005902" cy="1146230"/>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28" name="Picture 4" descr="1.2. Why CouchDB? — Apache CouchDB® 3.5 Documentation">
            <a:extLst>
              <a:ext uri="{FF2B5EF4-FFF2-40B4-BE49-F238E27FC236}">
                <a16:creationId xmlns:a16="http://schemas.microsoft.com/office/drawing/2014/main" id="{3DD6E5A0-2624-840D-0881-B03100A3B5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3318" y="1032460"/>
            <a:ext cx="1311892" cy="970825"/>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0E6F8A3A-4B08-85FB-B75F-C7F4EAF7E201}"/>
              </a:ext>
            </a:extLst>
          </p:cNvPr>
          <p:cNvGrpSpPr/>
          <p:nvPr/>
        </p:nvGrpSpPr>
        <p:grpSpPr>
          <a:xfrm>
            <a:off x="10222530" y="2890333"/>
            <a:ext cx="1024759" cy="1015084"/>
            <a:chOff x="7480738" y="4236271"/>
            <a:chExt cx="1024759" cy="1015084"/>
          </a:xfrm>
        </p:grpSpPr>
        <p:sp>
          <p:nvSpPr>
            <p:cNvPr id="17" name="Flowchart: Magnetic Disk 16">
              <a:extLst>
                <a:ext uri="{FF2B5EF4-FFF2-40B4-BE49-F238E27FC236}">
                  <a16:creationId xmlns:a16="http://schemas.microsoft.com/office/drawing/2014/main" id="{76A53D99-6FF8-5C2B-535D-01459CF755AE}"/>
                </a:ext>
              </a:extLst>
            </p:cNvPr>
            <p:cNvSpPr/>
            <p:nvPr/>
          </p:nvSpPr>
          <p:spPr>
            <a:xfrm>
              <a:off x="7480738" y="4809921"/>
              <a:ext cx="1024759" cy="441434"/>
            </a:xfrm>
            <a:prstGeom prst="flowChartMagneticDisk">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Magnetic Disk 17">
              <a:extLst>
                <a:ext uri="{FF2B5EF4-FFF2-40B4-BE49-F238E27FC236}">
                  <a16:creationId xmlns:a16="http://schemas.microsoft.com/office/drawing/2014/main" id="{3240FC1C-3AB5-FD5D-EB22-C5EA9C7FD294}"/>
                </a:ext>
              </a:extLst>
            </p:cNvPr>
            <p:cNvSpPr/>
            <p:nvPr/>
          </p:nvSpPr>
          <p:spPr>
            <a:xfrm>
              <a:off x="7480738" y="4523096"/>
              <a:ext cx="1024759" cy="441434"/>
            </a:xfrm>
            <a:prstGeom prst="flowChartMagneticDisk">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Magnetic Disk 18">
              <a:extLst>
                <a:ext uri="{FF2B5EF4-FFF2-40B4-BE49-F238E27FC236}">
                  <a16:creationId xmlns:a16="http://schemas.microsoft.com/office/drawing/2014/main" id="{07EDBD05-0257-68B8-BE9E-9096BA9C3B87}"/>
                </a:ext>
              </a:extLst>
            </p:cNvPr>
            <p:cNvSpPr/>
            <p:nvPr/>
          </p:nvSpPr>
          <p:spPr>
            <a:xfrm>
              <a:off x="7480738" y="4236271"/>
              <a:ext cx="1024759" cy="441434"/>
            </a:xfrm>
            <a:prstGeom prst="flowChartMagneticDisk">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6BBFAB19-00E2-271F-348A-A950D69276B9}"/>
              </a:ext>
            </a:extLst>
          </p:cNvPr>
          <p:cNvSpPr txBox="1"/>
          <p:nvPr/>
        </p:nvSpPr>
        <p:spPr>
          <a:xfrm>
            <a:off x="138005" y="0"/>
            <a:ext cx="5242660" cy="584775"/>
          </a:xfrm>
          <a:prstGeom prst="rect">
            <a:avLst/>
          </a:prstGeom>
          <a:noFill/>
        </p:spPr>
        <p:txBody>
          <a:bodyPr wrap="square" rtlCol="0">
            <a:spAutoFit/>
          </a:bodyPr>
          <a:lstStyle/>
          <a:p>
            <a:r>
              <a:rPr lang="en-US" sz="3200" b="1" dirty="0">
                <a:solidFill>
                  <a:schemeClr val="bg1"/>
                </a:solidFill>
                <a:latin typeface="Abadi Extra Light" panose="020B0204020104020204" pitchFamily="34" charset="0"/>
              </a:rPr>
              <a:t>Data Storage Architecture</a:t>
            </a:r>
          </a:p>
        </p:txBody>
      </p:sp>
      <p:cxnSp>
        <p:nvCxnSpPr>
          <p:cNvPr id="6" name="Straight Connector 5">
            <a:extLst>
              <a:ext uri="{FF2B5EF4-FFF2-40B4-BE49-F238E27FC236}">
                <a16:creationId xmlns:a16="http://schemas.microsoft.com/office/drawing/2014/main" id="{3D5BD6D9-1FC9-9F85-2390-62478314EA39}"/>
              </a:ext>
            </a:extLst>
          </p:cNvPr>
          <p:cNvCxnSpPr/>
          <p:nvPr/>
        </p:nvCxnSpPr>
        <p:spPr>
          <a:xfrm>
            <a:off x="4108379" y="5127103"/>
            <a:ext cx="1971304"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69A0E55-5A1F-9B06-30BC-6078E6187658}"/>
              </a:ext>
            </a:extLst>
          </p:cNvPr>
          <p:cNvSpPr txBox="1"/>
          <p:nvPr/>
        </p:nvSpPr>
        <p:spPr>
          <a:xfrm>
            <a:off x="4060685" y="711498"/>
            <a:ext cx="1747844" cy="338554"/>
          </a:xfrm>
          <a:prstGeom prst="rect">
            <a:avLst/>
          </a:prstGeom>
          <a:noFill/>
        </p:spPr>
        <p:txBody>
          <a:bodyPr wrap="square" rtlCol="0">
            <a:spAutoFit/>
          </a:bodyPr>
          <a:lstStyle/>
          <a:p>
            <a:pPr algn="ctr"/>
            <a:r>
              <a:rPr lang="en-US" sz="1600" b="1" dirty="0">
                <a:solidFill>
                  <a:schemeClr val="bg1"/>
                </a:solidFill>
                <a:latin typeface="Abadi Extra Light" panose="020B0204020104020204" pitchFamily="34" charset="0"/>
              </a:rPr>
              <a:t>Fabric Blockchain</a:t>
            </a:r>
          </a:p>
        </p:txBody>
      </p:sp>
      <p:sp>
        <p:nvSpPr>
          <p:cNvPr id="11" name="TextBox 10">
            <a:extLst>
              <a:ext uri="{FF2B5EF4-FFF2-40B4-BE49-F238E27FC236}">
                <a16:creationId xmlns:a16="http://schemas.microsoft.com/office/drawing/2014/main" id="{8B920134-DE27-F856-3669-8360D80BDB3D}"/>
              </a:ext>
            </a:extLst>
          </p:cNvPr>
          <p:cNvSpPr txBox="1"/>
          <p:nvPr/>
        </p:nvSpPr>
        <p:spPr>
          <a:xfrm>
            <a:off x="6986298" y="2837850"/>
            <a:ext cx="2354920" cy="2554545"/>
          </a:xfrm>
          <a:prstGeom prst="rect">
            <a:avLst/>
          </a:prstGeom>
          <a:noFill/>
          <a:ln>
            <a:solidFill>
              <a:schemeClr val="bg1"/>
            </a:solidFill>
          </a:ln>
        </p:spPr>
        <p:txBody>
          <a:bodyPr wrap="square" rtlCol="0">
            <a:spAutoFit/>
          </a:bodyPr>
          <a:lstStyle/>
          <a:p>
            <a:r>
              <a:rPr lang="en-US" sz="1000" b="1" dirty="0">
                <a:solidFill>
                  <a:schemeClr val="bg1"/>
                </a:solidFill>
              </a:rPr>
              <a:t>{</a:t>
            </a:r>
          </a:p>
          <a:p>
            <a:r>
              <a:rPr lang="en-US" sz="1000" b="1" dirty="0">
                <a:solidFill>
                  <a:schemeClr val="bg1"/>
                </a:solidFill>
              </a:rPr>
              <a:t>  “</a:t>
            </a:r>
            <a:r>
              <a:rPr lang="en-US" sz="1000" b="1" dirty="0" err="1">
                <a:solidFill>
                  <a:schemeClr val="bg1"/>
                </a:solidFill>
              </a:rPr>
              <a:t>device_id</a:t>
            </a:r>
            <a:r>
              <a:rPr lang="en-US" sz="1000" b="1" dirty="0">
                <a:solidFill>
                  <a:schemeClr val="bg1"/>
                </a:solidFill>
              </a:rPr>
              <a:t>": "DEVICE_123456",</a:t>
            </a:r>
          </a:p>
          <a:p>
            <a:r>
              <a:rPr lang="en-US" sz="1000" b="1" dirty="0">
                <a:solidFill>
                  <a:schemeClr val="bg1"/>
                </a:solidFill>
              </a:rPr>
              <a:t>  "owner": "Factory A",</a:t>
            </a:r>
          </a:p>
          <a:p>
            <a:r>
              <a:rPr lang="en-US" sz="1000" b="1" dirty="0">
                <a:solidFill>
                  <a:schemeClr val="bg1"/>
                </a:solidFill>
              </a:rPr>
              <a:t>  "UUID": "123456",</a:t>
            </a:r>
          </a:p>
          <a:p>
            <a:r>
              <a:rPr lang="en-US" sz="1000" b="1" dirty="0">
                <a:solidFill>
                  <a:schemeClr val="bg1"/>
                </a:solidFill>
              </a:rPr>
              <a:t>  "</a:t>
            </a:r>
            <a:r>
              <a:rPr lang="en-US" sz="1000" b="1" dirty="0" err="1">
                <a:solidFill>
                  <a:schemeClr val="bg1"/>
                </a:solidFill>
              </a:rPr>
              <a:t>device_type</a:t>
            </a:r>
            <a:r>
              <a:rPr lang="en-US" sz="1000" b="1" dirty="0">
                <a:solidFill>
                  <a:schemeClr val="bg1"/>
                </a:solidFill>
              </a:rPr>
              <a:t>": "CO2 Sensor",</a:t>
            </a:r>
          </a:p>
          <a:p>
            <a:r>
              <a:rPr lang="en-US" sz="1000" b="1" dirty="0">
                <a:solidFill>
                  <a:schemeClr val="bg1"/>
                </a:solidFill>
              </a:rPr>
              <a:t>  "capability": "CO2_ppm",</a:t>
            </a:r>
          </a:p>
          <a:p>
            <a:r>
              <a:rPr lang="en-US" sz="1000" b="1" dirty="0">
                <a:solidFill>
                  <a:schemeClr val="bg1"/>
                </a:solidFill>
              </a:rPr>
              <a:t>  "</a:t>
            </a:r>
            <a:r>
              <a:rPr lang="en-US" sz="1000" b="1" dirty="0" err="1">
                <a:solidFill>
                  <a:schemeClr val="bg1"/>
                </a:solidFill>
              </a:rPr>
              <a:t>isActive</a:t>
            </a:r>
            <a:r>
              <a:rPr lang="en-US" sz="1000" b="1" dirty="0">
                <a:solidFill>
                  <a:schemeClr val="bg1"/>
                </a:solidFill>
              </a:rPr>
              <a:t>": true,</a:t>
            </a:r>
          </a:p>
          <a:p>
            <a:r>
              <a:rPr lang="en-US" sz="1000" b="1" dirty="0">
                <a:solidFill>
                  <a:schemeClr val="bg1"/>
                </a:solidFill>
              </a:rPr>
              <a:t>  "</a:t>
            </a:r>
            <a:r>
              <a:rPr lang="en-US" sz="1000" b="1" dirty="0" err="1">
                <a:solidFill>
                  <a:schemeClr val="bg1"/>
                </a:solidFill>
              </a:rPr>
              <a:t>data_stream_link</a:t>
            </a:r>
            <a:r>
              <a:rPr lang="en-US" sz="1000" b="1" dirty="0">
                <a:solidFill>
                  <a:schemeClr val="bg1"/>
                </a:solidFill>
              </a:rPr>
              <a:t>": "https://iot.example.com/devices/123456",</a:t>
            </a:r>
          </a:p>
          <a:p>
            <a:r>
              <a:rPr lang="en-US" sz="1000" b="1" dirty="0">
                <a:solidFill>
                  <a:schemeClr val="bg1"/>
                </a:solidFill>
              </a:rPr>
              <a:t>  "</a:t>
            </a:r>
            <a:r>
              <a:rPr lang="en-US" sz="1000" b="1" dirty="0" err="1">
                <a:solidFill>
                  <a:schemeClr val="bg1"/>
                </a:solidFill>
              </a:rPr>
              <a:t>lastEmissionReading</a:t>
            </a:r>
            <a:r>
              <a:rPr lang="en-US" sz="1000" b="1" dirty="0">
                <a:solidFill>
                  <a:schemeClr val="bg1"/>
                </a:solidFill>
              </a:rPr>
              <a:t>": {</a:t>
            </a:r>
          </a:p>
          <a:p>
            <a:r>
              <a:rPr lang="en-US" sz="1000" b="1" dirty="0">
                <a:solidFill>
                  <a:schemeClr val="bg1"/>
                </a:solidFill>
              </a:rPr>
              <a:t>    "timestamp": 1723561200,</a:t>
            </a:r>
          </a:p>
          <a:p>
            <a:r>
              <a:rPr lang="en-US" sz="1000" b="1" dirty="0">
                <a:solidFill>
                  <a:schemeClr val="bg1"/>
                </a:solidFill>
              </a:rPr>
              <a:t>    "value": 415.3,</a:t>
            </a:r>
          </a:p>
          <a:p>
            <a:r>
              <a:rPr lang="en-US" sz="1000" b="1" dirty="0">
                <a:solidFill>
                  <a:schemeClr val="bg1"/>
                </a:solidFill>
              </a:rPr>
              <a:t>    "units": "ppm"</a:t>
            </a:r>
          </a:p>
          <a:p>
            <a:r>
              <a:rPr lang="en-US" sz="1000" b="1" dirty="0">
                <a:solidFill>
                  <a:schemeClr val="bg1"/>
                </a:solidFill>
              </a:rPr>
              <a:t>  }</a:t>
            </a:r>
          </a:p>
          <a:p>
            <a:r>
              <a:rPr lang="en-US" sz="1000" b="1" dirty="0">
                <a:solidFill>
                  <a:schemeClr val="bg1"/>
                </a:solidFill>
              </a:rPr>
              <a:t>}</a:t>
            </a:r>
            <a:endParaRPr lang="en-US" b="1" dirty="0">
              <a:solidFill>
                <a:schemeClr val="bg1"/>
              </a:solidFill>
            </a:endParaRPr>
          </a:p>
        </p:txBody>
      </p:sp>
      <p:grpSp>
        <p:nvGrpSpPr>
          <p:cNvPr id="35" name="Group 34">
            <a:extLst>
              <a:ext uri="{FF2B5EF4-FFF2-40B4-BE49-F238E27FC236}">
                <a16:creationId xmlns:a16="http://schemas.microsoft.com/office/drawing/2014/main" id="{23C2F6B4-4026-D4CE-472D-FC47296048A0}"/>
              </a:ext>
            </a:extLst>
          </p:cNvPr>
          <p:cNvGrpSpPr/>
          <p:nvPr/>
        </p:nvGrpSpPr>
        <p:grpSpPr>
          <a:xfrm>
            <a:off x="3891030" y="3422626"/>
            <a:ext cx="2406003" cy="1384995"/>
            <a:chOff x="4630651" y="3209011"/>
            <a:chExt cx="2406003" cy="1384995"/>
          </a:xfrm>
        </p:grpSpPr>
        <p:sp>
          <p:nvSpPr>
            <p:cNvPr id="21" name="TextBox 20">
              <a:extLst>
                <a:ext uri="{FF2B5EF4-FFF2-40B4-BE49-F238E27FC236}">
                  <a16:creationId xmlns:a16="http://schemas.microsoft.com/office/drawing/2014/main" id="{60533151-7685-195F-CDC2-3E53084000C7}"/>
                </a:ext>
              </a:extLst>
            </p:cNvPr>
            <p:cNvSpPr txBox="1"/>
            <p:nvPr/>
          </p:nvSpPr>
          <p:spPr>
            <a:xfrm>
              <a:off x="4630651" y="3209011"/>
              <a:ext cx="2406003" cy="1384995"/>
            </a:xfrm>
            <a:prstGeom prst="rect">
              <a:avLst/>
            </a:prstGeom>
            <a:noFill/>
          </p:spPr>
          <p:txBody>
            <a:bodyPr wrap="square" rtlCol="0">
              <a:spAutoFit/>
            </a:bodyPr>
            <a:lstStyle/>
            <a:p>
              <a:r>
                <a:rPr lang="en-US" sz="1400" b="1" dirty="0">
                  <a:solidFill>
                    <a:srgbClr val="FFFF00"/>
                  </a:solidFill>
                </a:rPr>
                <a:t>Supply Chain configuration </a:t>
              </a:r>
            </a:p>
            <a:p>
              <a:r>
                <a:rPr lang="en-US" sz="1400" b="1" dirty="0">
                  <a:solidFill>
                    <a:schemeClr val="bg1"/>
                  </a:solidFill>
                </a:rPr>
                <a:t>    </a:t>
              </a:r>
              <a:r>
                <a:rPr lang="en-US" sz="1400" b="1" dirty="0" err="1">
                  <a:solidFill>
                    <a:schemeClr val="bg1"/>
                  </a:solidFill>
                </a:rPr>
                <a:t>Netzero</a:t>
              </a:r>
              <a:r>
                <a:rPr lang="en-US" sz="1400" b="1" dirty="0">
                  <a:solidFill>
                    <a:schemeClr val="bg1"/>
                  </a:solidFill>
                </a:rPr>
                <a:t> Digital Twin</a:t>
              </a:r>
            </a:p>
            <a:p>
              <a:r>
                <a:rPr lang="en-US" sz="1400" b="1" dirty="0">
                  <a:solidFill>
                    <a:schemeClr val="bg1"/>
                  </a:solidFill>
                </a:rPr>
                <a:t>          Segments  </a:t>
              </a:r>
            </a:p>
            <a:p>
              <a:r>
                <a:rPr lang="en-US" sz="1400" b="1" dirty="0">
                  <a:solidFill>
                    <a:schemeClr val="bg1"/>
                  </a:solidFill>
                </a:rPr>
                <a:t>             </a:t>
              </a:r>
              <a:r>
                <a:rPr lang="en-US" sz="1400" b="1" dirty="0" err="1">
                  <a:solidFill>
                    <a:schemeClr val="bg1"/>
                  </a:solidFill>
                </a:rPr>
                <a:t>segEmissionSource</a:t>
              </a:r>
              <a:endParaRPr lang="en-US" sz="1400" b="1" dirty="0">
                <a:solidFill>
                  <a:schemeClr val="bg1"/>
                </a:solidFill>
              </a:endParaRPr>
            </a:p>
            <a:p>
              <a:r>
                <a:rPr lang="en-US" sz="1400" b="1" dirty="0">
                  <a:solidFill>
                    <a:schemeClr val="bg1"/>
                  </a:solidFill>
                </a:rPr>
                <a:t>                </a:t>
              </a:r>
              <a:r>
                <a:rPr lang="en-US" sz="1400" b="1" dirty="0" err="1">
                  <a:solidFill>
                    <a:schemeClr val="bg1"/>
                  </a:solidFill>
                </a:rPr>
                <a:t>IoTDevice</a:t>
              </a:r>
              <a:endParaRPr lang="en-US" sz="1400" b="1" dirty="0">
                <a:solidFill>
                  <a:schemeClr val="bg1"/>
                </a:solidFill>
              </a:endParaRPr>
            </a:p>
            <a:p>
              <a:r>
                <a:rPr lang="en-US" sz="1400" b="1" dirty="0">
                  <a:solidFill>
                    <a:schemeClr val="bg1"/>
                  </a:solidFill>
                </a:rPr>
                <a:t>                   </a:t>
              </a:r>
              <a:r>
                <a:rPr lang="en-US" sz="1400" b="1" dirty="0" err="1">
                  <a:solidFill>
                    <a:schemeClr val="bg1"/>
                  </a:solidFill>
                </a:rPr>
                <a:t>EmissionData</a:t>
              </a:r>
              <a:endParaRPr lang="en-US" sz="1400" b="1" dirty="0">
                <a:solidFill>
                  <a:schemeClr val="bg1"/>
                </a:solidFill>
              </a:endParaRPr>
            </a:p>
          </p:txBody>
        </p:sp>
        <p:cxnSp>
          <p:nvCxnSpPr>
            <p:cNvPr id="22" name="Connector: Elbow 21">
              <a:extLst>
                <a:ext uri="{FF2B5EF4-FFF2-40B4-BE49-F238E27FC236}">
                  <a16:creationId xmlns:a16="http://schemas.microsoft.com/office/drawing/2014/main" id="{6EFC7C58-CFB9-F09E-435C-46EAED4EF67B}"/>
                </a:ext>
              </a:extLst>
            </p:cNvPr>
            <p:cNvCxnSpPr>
              <a:cxnSpLocks/>
            </p:cNvCxnSpPr>
            <p:nvPr/>
          </p:nvCxnSpPr>
          <p:spPr>
            <a:xfrm>
              <a:off x="4869493" y="3662131"/>
              <a:ext cx="254000" cy="199244"/>
            </a:xfrm>
            <a:prstGeom prst="bentConnector3">
              <a:avLst>
                <a:gd name="adj1" fmla="val -38696"/>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BDC523C6-BEAF-D6E1-1103-4628904C84E0}"/>
                </a:ext>
              </a:extLst>
            </p:cNvPr>
            <p:cNvCxnSpPr>
              <a:cxnSpLocks/>
            </p:cNvCxnSpPr>
            <p:nvPr/>
          </p:nvCxnSpPr>
          <p:spPr>
            <a:xfrm>
              <a:off x="4974121" y="3861375"/>
              <a:ext cx="263421" cy="216773"/>
            </a:xfrm>
            <a:prstGeom prst="bentConnector3">
              <a:avLst>
                <a:gd name="adj1" fmla="val 6095"/>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C5EF2C7F-D680-667F-2078-BF131B63AA93}"/>
                </a:ext>
              </a:extLst>
            </p:cNvPr>
            <p:cNvCxnSpPr>
              <a:cxnSpLocks/>
            </p:cNvCxnSpPr>
            <p:nvPr/>
          </p:nvCxnSpPr>
          <p:spPr>
            <a:xfrm>
              <a:off x="5065350" y="4078148"/>
              <a:ext cx="302305" cy="208009"/>
            </a:xfrm>
            <a:prstGeom prst="bentConnector3">
              <a:avLst>
                <a:gd name="adj1" fmla="val 935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0B29A575-D945-F825-5287-80B797F830BE}"/>
                </a:ext>
              </a:extLst>
            </p:cNvPr>
            <p:cNvCxnSpPr>
              <a:cxnSpLocks/>
            </p:cNvCxnSpPr>
            <p:nvPr/>
          </p:nvCxnSpPr>
          <p:spPr>
            <a:xfrm>
              <a:off x="5179650" y="4286157"/>
              <a:ext cx="302305" cy="208009"/>
            </a:xfrm>
            <a:prstGeom prst="bentConnector3">
              <a:avLst>
                <a:gd name="adj1" fmla="val 935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
        <p:nvSpPr>
          <p:cNvPr id="44" name="TextBox 43">
            <a:extLst>
              <a:ext uri="{FF2B5EF4-FFF2-40B4-BE49-F238E27FC236}">
                <a16:creationId xmlns:a16="http://schemas.microsoft.com/office/drawing/2014/main" id="{86B89A97-77CF-6661-0875-D14571F4D5E2}"/>
              </a:ext>
            </a:extLst>
          </p:cNvPr>
          <p:cNvSpPr txBox="1"/>
          <p:nvPr/>
        </p:nvSpPr>
        <p:spPr>
          <a:xfrm>
            <a:off x="3918565" y="6121682"/>
            <a:ext cx="2641462" cy="584775"/>
          </a:xfrm>
          <a:prstGeom prst="rect">
            <a:avLst/>
          </a:prstGeom>
          <a:noFill/>
        </p:spPr>
        <p:txBody>
          <a:bodyPr wrap="square" rtlCol="0">
            <a:spAutoFit/>
          </a:bodyPr>
          <a:lstStyle/>
          <a:p>
            <a:pPr algn="ctr"/>
            <a:r>
              <a:rPr lang="en-US" sz="1600" b="1" dirty="0">
                <a:solidFill>
                  <a:schemeClr val="bg1"/>
                </a:solidFill>
                <a:latin typeface="Abadi Extra Light" panose="020B0204020104020204" pitchFamily="34" charset="0"/>
              </a:rPr>
              <a:t>Configure Supply Chain Data Entry Screens</a:t>
            </a:r>
          </a:p>
        </p:txBody>
      </p:sp>
      <p:sp>
        <p:nvSpPr>
          <p:cNvPr id="46" name="Arrow: Up 45">
            <a:extLst>
              <a:ext uri="{FF2B5EF4-FFF2-40B4-BE49-F238E27FC236}">
                <a16:creationId xmlns:a16="http://schemas.microsoft.com/office/drawing/2014/main" id="{A86DC934-E85A-86E6-800C-6E252AD093F9}"/>
              </a:ext>
            </a:extLst>
          </p:cNvPr>
          <p:cNvSpPr/>
          <p:nvPr/>
        </p:nvSpPr>
        <p:spPr>
          <a:xfrm>
            <a:off x="4944238" y="4879317"/>
            <a:ext cx="232803" cy="478639"/>
          </a:xfrm>
          <a:prstGeom prst="up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Folded Corner 46">
            <a:extLst>
              <a:ext uri="{FF2B5EF4-FFF2-40B4-BE49-F238E27FC236}">
                <a16:creationId xmlns:a16="http://schemas.microsoft.com/office/drawing/2014/main" id="{492204C0-D3BC-4B4D-25F0-38957A55411E}"/>
              </a:ext>
            </a:extLst>
          </p:cNvPr>
          <p:cNvSpPr/>
          <p:nvPr/>
        </p:nvSpPr>
        <p:spPr>
          <a:xfrm>
            <a:off x="4182162" y="2604143"/>
            <a:ext cx="1563907" cy="393451"/>
          </a:xfrm>
          <a:prstGeom prst="foldedCorner">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Smart Contract</a:t>
            </a:r>
          </a:p>
        </p:txBody>
      </p:sp>
      <p:sp>
        <p:nvSpPr>
          <p:cNvPr id="48" name="Arrow: Up 47">
            <a:extLst>
              <a:ext uri="{FF2B5EF4-FFF2-40B4-BE49-F238E27FC236}">
                <a16:creationId xmlns:a16="http://schemas.microsoft.com/office/drawing/2014/main" id="{5712D888-FBF8-9911-A7BF-F1CAD182FB3C}"/>
              </a:ext>
            </a:extLst>
          </p:cNvPr>
          <p:cNvSpPr/>
          <p:nvPr/>
        </p:nvSpPr>
        <p:spPr>
          <a:xfrm>
            <a:off x="4873683" y="3010365"/>
            <a:ext cx="232803" cy="478639"/>
          </a:xfrm>
          <a:prstGeom prst="up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Arrow: Up 48">
            <a:extLst>
              <a:ext uri="{FF2B5EF4-FFF2-40B4-BE49-F238E27FC236}">
                <a16:creationId xmlns:a16="http://schemas.microsoft.com/office/drawing/2014/main" id="{BE9B808C-4628-47E4-F4AD-82D9618F341E}"/>
              </a:ext>
            </a:extLst>
          </p:cNvPr>
          <p:cNvSpPr/>
          <p:nvPr/>
        </p:nvSpPr>
        <p:spPr>
          <a:xfrm>
            <a:off x="4843800" y="2187176"/>
            <a:ext cx="232803" cy="414705"/>
          </a:xfrm>
          <a:prstGeom prst="up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E41B04F9-A473-0432-4229-622BEDFF141F}"/>
              </a:ext>
            </a:extLst>
          </p:cNvPr>
          <p:cNvSpPr/>
          <p:nvPr/>
        </p:nvSpPr>
        <p:spPr>
          <a:xfrm>
            <a:off x="135956" y="1023644"/>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C80C7DB-C0A8-4D59-E181-86757A60403C}"/>
              </a:ext>
            </a:extLst>
          </p:cNvPr>
          <p:cNvSpPr/>
          <p:nvPr/>
        </p:nvSpPr>
        <p:spPr>
          <a:xfrm>
            <a:off x="135956" y="1863810"/>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5E9F6A05-EDFC-9641-CB3C-FA065D1B7A5B}"/>
              </a:ext>
            </a:extLst>
          </p:cNvPr>
          <p:cNvCxnSpPr>
            <a:cxnSpLocks/>
          </p:cNvCxnSpPr>
          <p:nvPr/>
        </p:nvCxnSpPr>
        <p:spPr>
          <a:xfrm>
            <a:off x="6560027" y="2227833"/>
            <a:ext cx="6409" cy="3406857"/>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C6248B4-57B8-47D7-22D0-55E8B62339AE}"/>
              </a:ext>
            </a:extLst>
          </p:cNvPr>
          <p:cNvSpPr txBox="1"/>
          <p:nvPr/>
        </p:nvSpPr>
        <p:spPr>
          <a:xfrm>
            <a:off x="6988228" y="737888"/>
            <a:ext cx="1747844" cy="338554"/>
          </a:xfrm>
          <a:prstGeom prst="rect">
            <a:avLst/>
          </a:prstGeom>
          <a:noFill/>
        </p:spPr>
        <p:txBody>
          <a:bodyPr wrap="square" rtlCol="0">
            <a:spAutoFit/>
          </a:bodyPr>
          <a:lstStyle/>
          <a:p>
            <a:pPr algn="ctr"/>
            <a:r>
              <a:rPr lang="en-US" sz="1600" b="1" dirty="0">
                <a:solidFill>
                  <a:schemeClr val="bg1"/>
                </a:solidFill>
                <a:latin typeface="Abadi Extra Light" panose="020B0204020104020204" pitchFamily="34" charset="0"/>
              </a:rPr>
              <a:t>World-state</a:t>
            </a:r>
          </a:p>
        </p:txBody>
      </p:sp>
      <p:sp>
        <p:nvSpPr>
          <p:cNvPr id="23" name="Rectangle: Folded Corner 22">
            <a:extLst>
              <a:ext uri="{FF2B5EF4-FFF2-40B4-BE49-F238E27FC236}">
                <a16:creationId xmlns:a16="http://schemas.microsoft.com/office/drawing/2014/main" id="{947F6A85-2596-B8E5-657E-2D06E13411EB}"/>
              </a:ext>
            </a:extLst>
          </p:cNvPr>
          <p:cNvSpPr/>
          <p:nvPr/>
        </p:nvSpPr>
        <p:spPr>
          <a:xfrm>
            <a:off x="7235787" y="2241614"/>
            <a:ext cx="1563907" cy="393451"/>
          </a:xfrm>
          <a:prstGeom prst="foldedCorner">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Smart Contract</a:t>
            </a:r>
          </a:p>
        </p:txBody>
      </p:sp>
      <p:pic>
        <p:nvPicPr>
          <p:cNvPr id="2052" name="Picture 4" descr="IoT theme with abstract high speed technology POV motion blur">
            <a:extLst>
              <a:ext uri="{FF2B5EF4-FFF2-40B4-BE49-F238E27FC236}">
                <a16:creationId xmlns:a16="http://schemas.microsoft.com/office/drawing/2014/main" id="{0D9184E3-59E0-08CC-3B98-E595CA225B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997424" y="5861496"/>
            <a:ext cx="565310" cy="24623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IoT theme with abstract high speed technology POV motion blur">
            <a:extLst>
              <a:ext uri="{FF2B5EF4-FFF2-40B4-BE49-F238E27FC236}">
                <a16:creationId xmlns:a16="http://schemas.microsoft.com/office/drawing/2014/main" id="{93D98042-3190-3428-9399-D26218AC95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7140441" y="6010529"/>
            <a:ext cx="565310" cy="24623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IoT theme with abstract high speed technology POV motion blur">
            <a:extLst>
              <a:ext uri="{FF2B5EF4-FFF2-40B4-BE49-F238E27FC236}">
                <a16:creationId xmlns:a16="http://schemas.microsoft.com/office/drawing/2014/main" id="{EE9D043F-72CB-A6D4-7BC6-A25EBDF2B2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7364503" y="6119840"/>
            <a:ext cx="565310" cy="246233"/>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2F249991-7E37-2ECA-4574-709006D4981E}"/>
              </a:ext>
            </a:extLst>
          </p:cNvPr>
          <p:cNvSpPr txBox="1"/>
          <p:nvPr/>
        </p:nvSpPr>
        <p:spPr>
          <a:xfrm>
            <a:off x="6917438" y="6281928"/>
            <a:ext cx="1205574" cy="338554"/>
          </a:xfrm>
          <a:prstGeom prst="rect">
            <a:avLst/>
          </a:prstGeom>
          <a:noFill/>
        </p:spPr>
        <p:txBody>
          <a:bodyPr wrap="square" rtlCol="0">
            <a:spAutoFit/>
          </a:bodyPr>
          <a:lstStyle/>
          <a:p>
            <a:pPr algn="ctr"/>
            <a:r>
              <a:rPr lang="en-US" sz="1600" b="1" dirty="0">
                <a:solidFill>
                  <a:schemeClr val="bg1"/>
                </a:solidFill>
                <a:latin typeface="Abadi Extra Light" panose="020B0204020104020204" pitchFamily="34" charset="0"/>
              </a:rPr>
              <a:t>IoT devices</a:t>
            </a:r>
          </a:p>
        </p:txBody>
      </p:sp>
      <p:pic>
        <p:nvPicPr>
          <p:cNvPr id="30" name="Picture 29" descr="A computer screen with graphics and icons&#10;&#10;AI-generated content may be incorrect.">
            <a:extLst>
              <a:ext uri="{FF2B5EF4-FFF2-40B4-BE49-F238E27FC236}">
                <a16:creationId xmlns:a16="http://schemas.microsoft.com/office/drawing/2014/main" id="{560D9D2A-E24E-3BEA-D8E6-630D973BC2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90199" y="5389051"/>
            <a:ext cx="699659" cy="398342"/>
          </a:xfrm>
          <a:prstGeom prst="rect">
            <a:avLst/>
          </a:prstGeom>
        </p:spPr>
      </p:pic>
      <p:pic>
        <p:nvPicPr>
          <p:cNvPr id="31" name="Picture 30" descr="A computer screen with graphics and icons&#10;&#10;AI-generated content may be incorrect.">
            <a:extLst>
              <a:ext uri="{FF2B5EF4-FFF2-40B4-BE49-F238E27FC236}">
                <a16:creationId xmlns:a16="http://schemas.microsoft.com/office/drawing/2014/main" id="{A5E4CFB2-AC43-6643-7EC7-76DCC8234C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6881" y="5449201"/>
            <a:ext cx="699659" cy="398342"/>
          </a:xfrm>
          <a:prstGeom prst="rect">
            <a:avLst/>
          </a:prstGeom>
        </p:spPr>
      </p:pic>
      <p:pic>
        <p:nvPicPr>
          <p:cNvPr id="34" name="Picture 33" descr="A computer screen with graphics and icons&#10;&#10;AI-generated content may be incorrect.">
            <a:extLst>
              <a:ext uri="{FF2B5EF4-FFF2-40B4-BE49-F238E27FC236}">
                <a16:creationId xmlns:a16="http://schemas.microsoft.com/office/drawing/2014/main" id="{1C41BC31-4D67-30B3-8ED2-C42CF1DF10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5340" y="5510071"/>
            <a:ext cx="699659" cy="398342"/>
          </a:xfrm>
          <a:prstGeom prst="rect">
            <a:avLst/>
          </a:prstGeom>
        </p:spPr>
      </p:pic>
      <p:pic>
        <p:nvPicPr>
          <p:cNvPr id="32" name="Picture 31" descr="A computer screen with graphics and icons&#10;&#10;AI-generated content may be incorrect.">
            <a:extLst>
              <a:ext uri="{FF2B5EF4-FFF2-40B4-BE49-F238E27FC236}">
                <a16:creationId xmlns:a16="http://schemas.microsoft.com/office/drawing/2014/main" id="{633B5442-0BF3-A5DE-D41A-CE14F07DCA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96341" y="5586271"/>
            <a:ext cx="699659" cy="398342"/>
          </a:xfrm>
          <a:prstGeom prst="rect">
            <a:avLst/>
          </a:prstGeom>
        </p:spPr>
      </p:pic>
      <p:pic>
        <p:nvPicPr>
          <p:cNvPr id="36" name="Picture 35" descr="A computer screen with graphics and icons&#10;&#10;AI-generated content may be incorrect.">
            <a:extLst>
              <a:ext uri="{FF2B5EF4-FFF2-40B4-BE49-F238E27FC236}">
                <a16:creationId xmlns:a16="http://schemas.microsoft.com/office/drawing/2014/main" id="{671AB1F9-09EE-4EDF-A77F-ED7BCED017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58538" y="5901471"/>
            <a:ext cx="699659" cy="398342"/>
          </a:xfrm>
          <a:prstGeom prst="rect">
            <a:avLst/>
          </a:prstGeom>
        </p:spPr>
      </p:pic>
      <p:sp>
        <p:nvSpPr>
          <p:cNvPr id="37" name="TextBox 36">
            <a:extLst>
              <a:ext uri="{FF2B5EF4-FFF2-40B4-BE49-F238E27FC236}">
                <a16:creationId xmlns:a16="http://schemas.microsoft.com/office/drawing/2014/main" id="{89E33D86-C864-603B-99D8-BFAA78EBB9C0}"/>
              </a:ext>
            </a:extLst>
          </p:cNvPr>
          <p:cNvSpPr txBox="1"/>
          <p:nvPr/>
        </p:nvSpPr>
        <p:spPr>
          <a:xfrm>
            <a:off x="8144822" y="6281928"/>
            <a:ext cx="1576926" cy="338554"/>
          </a:xfrm>
          <a:prstGeom prst="rect">
            <a:avLst/>
          </a:prstGeom>
          <a:noFill/>
        </p:spPr>
        <p:txBody>
          <a:bodyPr wrap="square" rtlCol="0">
            <a:spAutoFit/>
          </a:bodyPr>
          <a:lstStyle/>
          <a:p>
            <a:pPr algn="ctr"/>
            <a:r>
              <a:rPr lang="en-US" sz="1600" b="1" dirty="0">
                <a:solidFill>
                  <a:schemeClr val="bg1"/>
                </a:solidFill>
                <a:latin typeface="Abadi Extra Light" panose="020B0204020104020204" pitchFamily="34" charset="0"/>
              </a:rPr>
              <a:t>Data entry screen</a:t>
            </a:r>
          </a:p>
        </p:txBody>
      </p:sp>
      <p:sp>
        <p:nvSpPr>
          <p:cNvPr id="38" name="Arrow: Up 37">
            <a:extLst>
              <a:ext uri="{FF2B5EF4-FFF2-40B4-BE49-F238E27FC236}">
                <a16:creationId xmlns:a16="http://schemas.microsoft.com/office/drawing/2014/main" id="{45210E40-EF77-075B-CC3B-DCB5554189C6}"/>
              </a:ext>
            </a:extLst>
          </p:cNvPr>
          <p:cNvSpPr/>
          <p:nvPr/>
        </p:nvSpPr>
        <p:spPr>
          <a:xfrm>
            <a:off x="7267954" y="5403652"/>
            <a:ext cx="232803" cy="478639"/>
          </a:xfrm>
          <a:prstGeom prst="up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Arrow: Up 41">
            <a:extLst>
              <a:ext uri="{FF2B5EF4-FFF2-40B4-BE49-F238E27FC236}">
                <a16:creationId xmlns:a16="http://schemas.microsoft.com/office/drawing/2014/main" id="{A5F91098-6D42-F4DD-88A2-3FA9F4C41587}"/>
              </a:ext>
            </a:extLst>
          </p:cNvPr>
          <p:cNvSpPr/>
          <p:nvPr/>
        </p:nvSpPr>
        <p:spPr>
          <a:xfrm>
            <a:off x="8763655" y="5411132"/>
            <a:ext cx="232803" cy="478639"/>
          </a:xfrm>
          <a:prstGeom prst="up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Arrow: Up 44">
            <a:extLst>
              <a:ext uri="{FF2B5EF4-FFF2-40B4-BE49-F238E27FC236}">
                <a16:creationId xmlns:a16="http://schemas.microsoft.com/office/drawing/2014/main" id="{0D303701-1634-E772-8044-C4BE05136D4B}"/>
              </a:ext>
            </a:extLst>
          </p:cNvPr>
          <p:cNvSpPr/>
          <p:nvPr/>
        </p:nvSpPr>
        <p:spPr>
          <a:xfrm>
            <a:off x="7824266" y="2628071"/>
            <a:ext cx="210556" cy="216773"/>
          </a:xfrm>
          <a:prstGeom prst="up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Arrow: Up 51">
            <a:extLst>
              <a:ext uri="{FF2B5EF4-FFF2-40B4-BE49-F238E27FC236}">
                <a16:creationId xmlns:a16="http://schemas.microsoft.com/office/drawing/2014/main" id="{2DA67FED-1CCA-16A4-866F-7CAFC4DE51B3}"/>
              </a:ext>
            </a:extLst>
          </p:cNvPr>
          <p:cNvSpPr/>
          <p:nvPr/>
        </p:nvSpPr>
        <p:spPr>
          <a:xfrm>
            <a:off x="7824266" y="2018034"/>
            <a:ext cx="210556" cy="216773"/>
          </a:xfrm>
          <a:prstGeom prst="upArrow">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4" name="Connector: Elbow 53">
            <a:extLst>
              <a:ext uri="{FF2B5EF4-FFF2-40B4-BE49-F238E27FC236}">
                <a16:creationId xmlns:a16="http://schemas.microsoft.com/office/drawing/2014/main" id="{7AA40BCE-99B0-10FA-2FBC-62D3170BE81D}"/>
              </a:ext>
            </a:extLst>
          </p:cNvPr>
          <p:cNvCxnSpPr>
            <a:stCxn id="23" idx="1"/>
            <a:endCxn id="1026" idx="3"/>
          </p:cNvCxnSpPr>
          <p:nvPr/>
        </p:nvCxnSpPr>
        <p:spPr>
          <a:xfrm rot="10800000">
            <a:off x="5958925" y="1585728"/>
            <a:ext cx="1276863" cy="852613"/>
          </a:xfrm>
          <a:prstGeom prst="bentConnector3">
            <a:avLst>
              <a:gd name="adj1" fmla="val 42735"/>
            </a:avLst>
          </a:prstGeom>
          <a:ln w="19050">
            <a:solidFill>
              <a:srgbClr val="FFFFCC"/>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2FF3CE34-DD9A-406D-6E5B-376B15AB1BA4}"/>
              </a:ext>
            </a:extLst>
          </p:cNvPr>
          <p:cNvSpPr txBox="1"/>
          <p:nvPr/>
        </p:nvSpPr>
        <p:spPr>
          <a:xfrm rot="16200000">
            <a:off x="6182071" y="3927533"/>
            <a:ext cx="1335621" cy="338554"/>
          </a:xfrm>
          <a:prstGeom prst="rect">
            <a:avLst/>
          </a:prstGeom>
          <a:noFill/>
        </p:spPr>
        <p:txBody>
          <a:bodyPr wrap="square" rtlCol="0">
            <a:spAutoFit/>
          </a:bodyPr>
          <a:lstStyle/>
          <a:p>
            <a:pPr algn="ctr"/>
            <a:r>
              <a:rPr lang="en-US" sz="1600" b="1" dirty="0">
                <a:solidFill>
                  <a:schemeClr val="bg1"/>
                </a:solidFill>
                <a:latin typeface="Abadi Extra Light" panose="020B0204020104020204" pitchFamily="34" charset="0"/>
              </a:rPr>
              <a:t>Payload</a:t>
            </a:r>
          </a:p>
        </p:txBody>
      </p:sp>
      <p:sp>
        <p:nvSpPr>
          <p:cNvPr id="57" name="TextBox 56">
            <a:extLst>
              <a:ext uri="{FF2B5EF4-FFF2-40B4-BE49-F238E27FC236}">
                <a16:creationId xmlns:a16="http://schemas.microsoft.com/office/drawing/2014/main" id="{B9885183-FC4D-9680-9646-76E6D5584D50}"/>
              </a:ext>
            </a:extLst>
          </p:cNvPr>
          <p:cNvSpPr txBox="1"/>
          <p:nvPr/>
        </p:nvSpPr>
        <p:spPr>
          <a:xfrm>
            <a:off x="9640665" y="1672994"/>
            <a:ext cx="1747844" cy="338554"/>
          </a:xfrm>
          <a:prstGeom prst="rect">
            <a:avLst/>
          </a:prstGeom>
          <a:noFill/>
        </p:spPr>
        <p:txBody>
          <a:bodyPr wrap="square" rtlCol="0">
            <a:spAutoFit/>
          </a:bodyPr>
          <a:lstStyle/>
          <a:p>
            <a:pPr algn="ctr"/>
            <a:r>
              <a:rPr lang="en-US" sz="1600" b="1" dirty="0">
                <a:solidFill>
                  <a:schemeClr val="bg1"/>
                </a:solidFill>
                <a:latin typeface="Abadi Extra Light" panose="020B0204020104020204" pitchFamily="34" charset="0"/>
              </a:rPr>
              <a:t>   </a:t>
            </a:r>
            <a:r>
              <a:rPr lang="en-US" sz="1600" b="1" dirty="0" err="1">
                <a:solidFill>
                  <a:schemeClr val="bg1"/>
                </a:solidFill>
                <a:latin typeface="Abadi Extra Light" panose="020B0204020104020204" pitchFamily="34" charset="0"/>
              </a:rPr>
              <a:t>sql</a:t>
            </a:r>
            <a:r>
              <a:rPr lang="en-US" sz="1600" b="1" dirty="0">
                <a:solidFill>
                  <a:schemeClr val="bg1"/>
                </a:solidFill>
                <a:latin typeface="Abadi Extra Light" panose="020B0204020104020204" pitchFamily="34" charset="0"/>
              </a:rPr>
              <a:t> database</a:t>
            </a:r>
          </a:p>
        </p:txBody>
      </p:sp>
      <p:sp>
        <p:nvSpPr>
          <p:cNvPr id="58" name="Rectangle 57">
            <a:extLst>
              <a:ext uri="{FF2B5EF4-FFF2-40B4-BE49-F238E27FC236}">
                <a16:creationId xmlns:a16="http://schemas.microsoft.com/office/drawing/2014/main" id="{D16CFFAD-5FB4-8EBA-EA56-C08FB6CCA574}"/>
              </a:ext>
            </a:extLst>
          </p:cNvPr>
          <p:cNvSpPr/>
          <p:nvPr/>
        </p:nvSpPr>
        <p:spPr>
          <a:xfrm>
            <a:off x="135956" y="2711035"/>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082ACB63-02B3-4B97-B888-A445E5261B9F}"/>
              </a:ext>
            </a:extLst>
          </p:cNvPr>
          <p:cNvSpPr txBox="1"/>
          <p:nvPr/>
        </p:nvSpPr>
        <p:spPr>
          <a:xfrm>
            <a:off x="9611748" y="4055241"/>
            <a:ext cx="2410987" cy="246221"/>
          </a:xfrm>
          <a:prstGeom prst="rect">
            <a:avLst/>
          </a:prstGeom>
          <a:noFill/>
        </p:spPr>
        <p:txBody>
          <a:bodyPr wrap="square" rtlCol="0">
            <a:spAutoFit/>
          </a:bodyPr>
          <a:lstStyle/>
          <a:p>
            <a:r>
              <a:rPr lang="en-US" sz="1000" b="1" dirty="0">
                <a:solidFill>
                  <a:schemeClr val="bg1"/>
                </a:solidFill>
              </a:rPr>
              <a:t>https://iot.example.com/devices/123456</a:t>
            </a:r>
            <a:endParaRPr lang="en-US" sz="1000" dirty="0"/>
          </a:p>
        </p:txBody>
      </p:sp>
      <p:sp>
        <p:nvSpPr>
          <p:cNvPr id="61" name="Rectangle 60">
            <a:extLst>
              <a:ext uri="{FF2B5EF4-FFF2-40B4-BE49-F238E27FC236}">
                <a16:creationId xmlns:a16="http://schemas.microsoft.com/office/drawing/2014/main" id="{64DF837E-CCE2-CD5B-7D1A-FA86AAC98D8F}"/>
              </a:ext>
            </a:extLst>
          </p:cNvPr>
          <p:cNvSpPr/>
          <p:nvPr/>
        </p:nvSpPr>
        <p:spPr>
          <a:xfrm>
            <a:off x="122015" y="3386368"/>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8CF047B3-582F-557C-92E9-65720733D957}"/>
              </a:ext>
            </a:extLst>
          </p:cNvPr>
          <p:cNvSpPr/>
          <p:nvPr/>
        </p:nvSpPr>
        <p:spPr>
          <a:xfrm>
            <a:off x="126416" y="4221095"/>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D1C8FE51-2721-CD7B-3EEC-AE5283CA0FE5}"/>
              </a:ext>
            </a:extLst>
          </p:cNvPr>
          <p:cNvSpPr/>
          <p:nvPr/>
        </p:nvSpPr>
        <p:spPr>
          <a:xfrm>
            <a:off x="129162" y="4710996"/>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Rectangle 1023">
            <a:extLst>
              <a:ext uri="{FF2B5EF4-FFF2-40B4-BE49-F238E27FC236}">
                <a16:creationId xmlns:a16="http://schemas.microsoft.com/office/drawing/2014/main" id="{2B2CE1E7-84F6-844E-3C7D-BE0CFC553489}"/>
              </a:ext>
            </a:extLst>
          </p:cNvPr>
          <p:cNvSpPr/>
          <p:nvPr/>
        </p:nvSpPr>
        <p:spPr>
          <a:xfrm>
            <a:off x="129146" y="5395351"/>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Rectangle 1028">
            <a:extLst>
              <a:ext uri="{FF2B5EF4-FFF2-40B4-BE49-F238E27FC236}">
                <a16:creationId xmlns:a16="http://schemas.microsoft.com/office/drawing/2014/main" id="{B3A94BBB-59BD-F842-4564-A987B5275945}"/>
              </a:ext>
            </a:extLst>
          </p:cNvPr>
          <p:cNvSpPr/>
          <p:nvPr/>
        </p:nvSpPr>
        <p:spPr>
          <a:xfrm>
            <a:off x="126104" y="6064589"/>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4" name="Connector: Elbow 1043">
            <a:extLst>
              <a:ext uri="{FF2B5EF4-FFF2-40B4-BE49-F238E27FC236}">
                <a16:creationId xmlns:a16="http://schemas.microsoft.com/office/drawing/2014/main" id="{F4946B6B-B650-1E36-9E29-CAF7CE4BC994}"/>
              </a:ext>
            </a:extLst>
          </p:cNvPr>
          <p:cNvCxnSpPr>
            <a:cxnSpLocks/>
            <a:endCxn id="19" idx="1"/>
          </p:cNvCxnSpPr>
          <p:nvPr/>
        </p:nvCxnSpPr>
        <p:spPr>
          <a:xfrm>
            <a:off x="8832144" y="2428363"/>
            <a:ext cx="1902766" cy="461970"/>
          </a:xfrm>
          <a:prstGeom prst="bentConnector2">
            <a:avLst/>
          </a:prstGeom>
          <a:ln w="19050">
            <a:solidFill>
              <a:srgbClr val="FFFFCC"/>
            </a:solidFill>
            <a:tailEnd type="triangle"/>
          </a:ln>
        </p:spPr>
        <p:style>
          <a:lnRef idx="1">
            <a:schemeClr val="accent1"/>
          </a:lnRef>
          <a:fillRef idx="0">
            <a:schemeClr val="accent1"/>
          </a:fillRef>
          <a:effectRef idx="0">
            <a:schemeClr val="accent1"/>
          </a:effectRef>
          <a:fontRef idx="minor">
            <a:schemeClr val="tx1"/>
          </a:fontRef>
        </p:style>
      </p:cxnSp>
      <p:sp>
        <p:nvSpPr>
          <p:cNvPr id="1046" name="TextBox 1045">
            <a:extLst>
              <a:ext uri="{FF2B5EF4-FFF2-40B4-BE49-F238E27FC236}">
                <a16:creationId xmlns:a16="http://schemas.microsoft.com/office/drawing/2014/main" id="{5F7A5F13-A021-A780-4F93-195C3486EEC6}"/>
              </a:ext>
            </a:extLst>
          </p:cNvPr>
          <p:cNvSpPr txBox="1"/>
          <p:nvPr/>
        </p:nvSpPr>
        <p:spPr>
          <a:xfrm>
            <a:off x="9178966" y="2145200"/>
            <a:ext cx="1335621" cy="307777"/>
          </a:xfrm>
          <a:prstGeom prst="rect">
            <a:avLst/>
          </a:prstGeom>
          <a:noFill/>
        </p:spPr>
        <p:txBody>
          <a:bodyPr wrap="square" rtlCol="0">
            <a:spAutoFit/>
          </a:bodyPr>
          <a:lstStyle/>
          <a:p>
            <a:pPr algn="ctr"/>
            <a:r>
              <a:rPr lang="en-US" sz="1400" b="1" dirty="0">
                <a:solidFill>
                  <a:schemeClr val="bg1"/>
                </a:solidFill>
                <a:latin typeface="Abadi Extra Light" panose="020B0204020104020204" pitchFamily="34" charset="0"/>
              </a:rPr>
              <a:t>raw IoT readings</a:t>
            </a:r>
          </a:p>
        </p:txBody>
      </p:sp>
      <p:sp>
        <p:nvSpPr>
          <p:cNvPr id="1047" name="TextBox 1046">
            <a:extLst>
              <a:ext uri="{FF2B5EF4-FFF2-40B4-BE49-F238E27FC236}">
                <a16:creationId xmlns:a16="http://schemas.microsoft.com/office/drawing/2014/main" id="{0FB90C4A-3430-497C-35AD-F1C539C64E0A}"/>
              </a:ext>
            </a:extLst>
          </p:cNvPr>
          <p:cNvSpPr txBox="1"/>
          <p:nvPr/>
        </p:nvSpPr>
        <p:spPr>
          <a:xfrm>
            <a:off x="9241210" y="1032276"/>
            <a:ext cx="2869619" cy="584775"/>
          </a:xfrm>
          <a:prstGeom prst="rect">
            <a:avLst/>
          </a:prstGeom>
          <a:noFill/>
        </p:spPr>
        <p:txBody>
          <a:bodyPr wrap="square" rtlCol="0">
            <a:spAutoFit/>
          </a:bodyPr>
          <a:lstStyle/>
          <a:p>
            <a:pPr algn="ctr"/>
            <a:r>
              <a:rPr lang="en-US" sz="1600" b="1" dirty="0">
                <a:solidFill>
                  <a:schemeClr val="bg1"/>
                </a:solidFill>
                <a:latin typeface="Abadi Extra Light" panose="020B0204020104020204" pitchFamily="34" charset="0"/>
              </a:rPr>
              <a:t>Relational DB for Off-chain </a:t>
            </a:r>
          </a:p>
          <a:p>
            <a:pPr algn="ctr"/>
            <a:r>
              <a:rPr lang="en-US" sz="1600" b="1" dirty="0">
                <a:solidFill>
                  <a:schemeClr val="bg1"/>
                </a:solidFill>
                <a:latin typeface="Abadi Extra Light" panose="020B0204020104020204" pitchFamily="34" charset="0"/>
              </a:rPr>
              <a:t>State + Analytics</a:t>
            </a:r>
          </a:p>
        </p:txBody>
      </p:sp>
      <p:cxnSp>
        <p:nvCxnSpPr>
          <p:cNvPr id="1049" name="Straight Connector 1048">
            <a:extLst>
              <a:ext uri="{FF2B5EF4-FFF2-40B4-BE49-F238E27FC236}">
                <a16:creationId xmlns:a16="http://schemas.microsoft.com/office/drawing/2014/main" id="{2750869B-25E9-1688-0D98-A2A9F2FCBC14}"/>
              </a:ext>
            </a:extLst>
          </p:cNvPr>
          <p:cNvCxnSpPr>
            <a:cxnSpLocks/>
          </p:cNvCxnSpPr>
          <p:nvPr/>
        </p:nvCxnSpPr>
        <p:spPr>
          <a:xfrm flipH="1">
            <a:off x="9941652" y="1672994"/>
            <a:ext cx="158651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2" name="Straight Arrow Connector 1051">
            <a:extLst>
              <a:ext uri="{FF2B5EF4-FFF2-40B4-BE49-F238E27FC236}">
                <a16:creationId xmlns:a16="http://schemas.microsoft.com/office/drawing/2014/main" id="{9799AACA-810B-4A45-7736-75EDF190E036}"/>
              </a:ext>
            </a:extLst>
          </p:cNvPr>
          <p:cNvCxnSpPr>
            <a:cxnSpLocks/>
          </p:cNvCxnSpPr>
          <p:nvPr/>
        </p:nvCxnSpPr>
        <p:spPr>
          <a:xfrm>
            <a:off x="9284293" y="4188587"/>
            <a:ext cx="356372" cy="0"/>
          </a:xfrm>
          <a:prstGeom prst="straightConnector1">
            <a:avLst/>
          </a:prstGeom>
          <a:ln w="19050">
            <a:solidFill>
              <a:srgbClr val="FFFFCC"/>
            </a:solidFill>
            <a:tailEnd type="triangle"/>
          </a:ln>
        </p:spPr>
        <p:style>
          <a:lnRef idx="1">
            <a:schemeClr val="accent1"/>
          </a:lnRef>
          <a:fillRef idx="0">
            <a:schemeClr val="accent1"/>
          </a:fillRef>
          <a:effectRef idx="0">
            <a:schemeClr val="accent1"/>
          </a:effectRef>
          <a:fontRef idx="minor">
            <a:schemeClr val="tx1"/>
          </a:fontRef>
        </p:style>
      </p:cxnSp>
      <p:pic>
        <p:nvPicPr>
          <p:cNvPr id="2056" name="Picture 8" descr="Free Data Analysis Canva, Google Slides and PPT Templates">
            <a:extLst>
              <a:ext uri="{FF2B5EF4-FFF2-40B4-BE49-F238E27FC236}">
                <a16:creationId xmlns:a16="http://schemas.microsoft.com/office/drawing/2014/main" id="{F4886060-9B1D-F16D-1AEB-6810EED30A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04117" y="5830558"/>
            <a:ext cx="879792" cy="48225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Top 10 Business Analytics PowerPoint Presentation Templates ...">
            <a:extLst>
              <a:ext uri="{FF2B5EF4-FFF2-40B4-BE49-F238E27FC236}">
                <a16:creationId xmlns:a16="http://schemas.microsoft.com/office/drawing/2014/main" id="{1117630B-63B8-7788-F92B-46CBC79587F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56141" y="5830880"/>
            <a:ext cx="879792" cy="487675"/>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1057">
            <a:extLst>
              <a:ext uri="{FF2B5EF4-FFF2-40B4-BE49-F238E27FC236}">
                <a16:creationId xmlns:a16="http://schemas.microsoft.com/office/drawing/2014/main" id="{987546EA-0A99-C52F-50BE-E37D4A4F089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0068831" y="4840698"/>
            <a:ext cx="1482520" cy="780857"/>
          </a:xfrm>
          <a:prstGeom prst="rect">
            <a:avLst/>
          </a:prstGeom>
          <a:noFill/>
          <a:ln>
            <a:noFill/>
          </a:ln>
        </p:spPr>
      </p:pic>
      <p:cxnSp>
        <p:nvCxnSpPr>
          <p:cNvPr id="1060" name="Straight Arrow Connector 1059">
            <a:extLst>
              <a:ext uri="{FF2B5EF4-FFF2-40B4-BE49-F238E27FC236}">
                <a16:creationId xmlns:a16="http://schemas.microsoft.com/office/drawing/2014/main" id="{EFF27377-1144-BFA8-5F71-EDAA1DC2E877}"/>
              </a:ext>
            </a:extLst>
          </p:cNvPr>
          <p:cNvCxnSpPr>
            <a:cxnSpLocks/>
          </p:cNvCxnSpPr>
          <p:nvPr/>
        </p:nvCxnSpPr>
        <p:spPr>
          <a:xfrm>
            <a:off x="10734909" y="3931261"/>
            <a:ext cx="0" cy="909840"/>
          </a:xfrm>
          <a:prstGeom prst="straightConnector1">
            <a:avLst/>
          </a:prstGeom>
          <a:ln w="19050">
            <a:solidFill>
              <a:srgbClr val="FFFFCC"/>
            </a:solidFill>
            <a:tailEnd type="triangle"/>
          </a:ln>
        </p:spPr>
        <p:style>
          <a:lnRef idx="1">
            <a:schemeClr val="accent1"/>
          </a:lnRef>
          <a:fillRef idx="0">
            <a:schemeClr val="accent1"/>
          </a:fillRef>
          <a:effectRef idx="0">
            <a:schemeClr val="accent1"/>
          </a:effectRef>
          <a:fontRef idx="minor">
            <a:schemeClr val="tx1"/>
          </a:fontRef>
        </p:style>
      </p:cxnSp>
      <p:sp>
        <p:nvSpPr>
          <p:cNvPr id="1061" name="TextBox 1060">
            <a:extLst>
              <a:ext uri="{FF2B5EF4-FFF2-40B4-BE49-F238E27FC236}">
                <a16:creationId xmlns:a16="http://schemas.microsoft.com/office/drawing/2014/main" id="{6CCEC8AE-BE0D-AD10-4876-FE8BFCF2D60A}"/>
              </a:ext>
            </a:extLst>
          </p:cNvPr>
          <p:cNvSpPr txBox="1"/>
          <p:nvPr/>
        </p:nvSpPr>
        <p:spPr>
          <a:xfrm>
            <a:off x="10572355" y="4481904"/>
            <a:ext cx="1548976" cy="307777"/>
          </a:xfrm>
          <a:prstGeom prst="rect">
            <a:avLst/>
          </a:prstGeom>
          <a:noFill/>
        </p:spPr>
        <p:txBody>
          <a:bodyPr wrap="square" rtlCol="0">
            <a:spAutoFit/>
          </a:bodyPr>
          <a:lstStyle/>
          <a:p>
            <a:pPr algn="ctr"/>
            <a:r>
              <a:rPr lang="en-US" sz="1400" b="1" dirty="0">
                <a:solidFill>
                  <a:srgbClr val="FF0000"/>
                </a:solidFill>
                <a:latin typeface="Abadi Extra Light" panose="020B0204020104020204" pitchFamily="34" charset="0"/>
              </a:rPr>
              <a:t>real time tracking</a:t>
            </a:r>
          </a:p>
        </p:txBody>
      </p:sp>
      <p:cxnSp>
        <p:nvCxnSpPr>
          <p:cNvPr id="1077" name="Connector: Elbow 1076">
            <a:extLst>
              <a:ext uri="{FF2B5EF4-FFF2-40B4-BE49-F238E27FC236}">
                <a16:creationId xmlns:a16="http://schemas.microsoft.com/office/drawing/2014/main" id="{AE641F84-8D20-AA3A-00F4-067B5E6359EE}"/>
              </a:ext>
            </a:extLst>
          </p:cNvPr>
          <p:cNvCxnSpPr>
            <a:cxnSpLocks/>
            <a:stCxn id="2058" idx="3"/>
            <a:endCxn id="18" idx="4"/>
          </p:cNvCxnSpPr>
          <p:nvPr/>
        </p:nvCxnSpPr>
        <p:spPr>
          <a:xfrm flipH="1" flipV="1">
            <a:off x="11247289" y="3397875"/>
            <a:ext cx="588644" cy="2676843"/>
          </a:xfrm>
          <a:prstGeom prst="bentConnector3">
            <a:avLst>
              <a:gd name="adj1" fmla="val -38835"/>
            </a:avLst>
          </a:prstGeom>
          <a:ln w="19050">
            <a:solidFill>
              <a:srgbClr val="FFFFCC"/>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085" name="TextBox 1084">
            <a:extLst>
              <a:ext uri="{FF2B5EF4-FFF2-40B4-BE49-F238E27FC236}">
                <a16:creationId xmlns:a16="http://schemas.microsoft.com/office/drawing/2014/main" id="{1DF96EAC-7B0B-268B-0E0A-9F08432A1EEA}"/>
              </a:ext>
            </a:extLst>
          </p:cNvPr>
          <p:cNvSpPr txBox="1"/>
          <p:nvPr/>
        </p:nvSpPr>
        <p:spPr>
          <a:xfrm>
            <a:off x="9987372" y="6284723"/>
            <a:ext cx="1752092" cy="584775"/>
          </a:xfrm>
          <a:prstGeom prst="rect">
            <a:avLst/>
          </a:prstGeom>
          <a:noFill/>
        </p:spPr>
        <p:txBody>
          <a:bodyPr wrap="square" rtlCol="0">
            <a:spAutoFit/>
          </a:bodyPr>
          <a:lstStyle/>
          <a:p>
            <a:pPr algn="ctr"/>
            <a:r>
              <a:rPr lang="en-US" sz="1600" b="1" dirty="0">
                <a:solidFill>
                  <a:schemeClr val="bg1"/>
                </a:solidFill>
                <a:latin typeface="Abadi Extra Light" panose="020B0204020104020204" pitchFamily="34" charset="0"/>
              </a:rPr>
              <a:t>Business analytics on emissions</a:t>
            </a:r>
          </a:p>
        </p:txBody>
      </p:sp>
    </p:spTree>
    <p:extLst>
      <p:ext uri="{BB962C8B-B14F-4D97-AF65-F5344CB8AC3E}">
        <p14:creationId xmlns:p14="http://schemas.microsoft.com/office/powerpoint/2010/main" val="4967385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9A724-3B93-363F-A00B-2DB36C93992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5546A64-0E29-1E5E-F14A-4D8D9ED1D4F6}"/>
              </a:ext>
            </a:extLst>
          </p:cNvPr>
          <p:cNvSpPr/>
          <p:nvPr/>
        </p:nvSpPr>
        <p:spPr>
          <a:xfrm>
            <a:off x="-7859" y="0"/>
            <a:ext cx="12192000" cy="7010400"/>
          </a:xfrm>
          <a:prstGeom prst="rect">
            <a:avLst/>
          </a:prstGeom>
          <a:gradFill flip="none" rotWithShape="1">
            <a:gsLst>
              <a:gs pos="47000">
                <a:srgbClr val="008080"/>
              </a:gs>
              <a:gs pos="20000">
                <a:schemeClr val="accent6">
                  <a:lumMod val="50000"/>
                </a:schemeClr>
              </a:gs>
              <a:gs pos="0">
                <a:schemeClr val="accent3">
                  <a:lumMod val="20000"/>
                  <a:lumOff val="80000"/>
                </a:schemeClr>
              </a:gs>
              <a:gs pos="34000">
                <a:srgbClr val="008080"/>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05CBA8C-9B88-B9FB-AFA1-80555066F07F}"/>
              </a:ext>
            </a:extLst>
          </p:cNvPr>
          <p:cNvSpPr txBox="1"/>
          <p:nvPr/>
        </p:nvSpPr>
        <p:spPr>
          <a:xfrm>
            <a:off x="209255" y="724317"/>
            <a:ext cx="11974886" cy="6463308"/>
          </a:xfrm>
          <a:prstGeom prst="rect">
            <a:avLst/>
          </a:prstGeom>
          <a:noFill/>
          <a:ln w="12700">
            <a:noFill/>
          </a:ln>
        </p:spPr>
        <p:txBody>
          <a:bodyPr wrap="square" rtlCol="0">
            <a:spAutoFit/>
          </a:bodyPr>
          <a:lstStyle/>
          <a:p>
            <a:r>
              <a:rPr lang="en-US" sz="1600" b="1" dirty="0">
                <a:solidFill>
                  <a:schemeClr val="bg1"/>
                </a:solidFill>
                <a:latin typeface="Google Sans"/>
              </a:rPr>
              <a:t>  </a:t>
            </a:r>
            <a:r>
              <a:rPr lang="en-US" sz="1600" b="1" dirty="0">
                <a:solidFill>
                  <a:srgbClr val="FFFF00"/>
                </a:solidFill>
                <a:latin typeface="Google Sans"/>
              </a:rPr>
              <a:t>Supply Chain IOT -&gt; Edge Device</a:t>
            </a:r>
          </a:p>
          <a:p>
            <a:r>
              <a:rPr lang="en-US" sz="1600" b="1" dirty="0">
                <a:solidFill>
                  <a:schemeClr val="bg1"/>
                </a:solidFill>
                <a:latin typeface="Google Sans"/>
              </a:rPr>
              <a:t>  MQTT is the selected protocol as it has high efficiency, natively supports pub/sub for asynchronous data transfer. In addition, security is</a:t>
            </a:r>
          </a:p>
          <a:p>
            <a:r>
              <a:rPr lang="en-US" sz="1600" b="1" dirty="0">
                <a:solidFill>
                  <a:schemeClr val="bg1"/>
                </a:solidFill>
                <a:latin typeface="Google Sans"/>
              </a:rPr>
              <a:t>  configured with TLS support, and it can have up to QoS0-2 (exactly once data transfer guarantee).</a:t>
            </a:r>
          </a:p>
          <a:p>
            <a:endParaRPr lang="en-US" sz="1600" b="1" dirty="0">
              <a:solidFill>
                <a:schemeClr val="bg1"/>
              </a:solidFill>
              <a:latin typeface="Google Sans"/>
            </a:endParaRPr>
          </a:p>
          <a:p>
            <a:r>
              <a:rPr lang="en-US" sz="1600" b="1" dirty="0">
                <a:solidFill>
                  <a:schemeClr val="bg1"/>
                </a:solidFill>
                <a:latin typeface="Google Sans"/>
              </a:rPr>
              <a:t>  </a:t>
            </a:r>
            <a:r>
              <a:rPr lang="en-US" sz="1600" b="1" dirty="0">
                <a:solidFill>
                  <a:srgbClr val="FFFF00"/>
                </a:solidFill>
                <a:latin typeface="Google Sans"/>
              </a:rPr>
              <a:t>Edge Device -&gt; API Gateway -&gt; Microservices Application</a:t>
            </a:r>
          </a:p>
          <a:p>
            <a:r>
              <a:rPr lang="en-US" sz="1600" b="1" dirty="0">
                <a:solidFill>
                  <a:schemeClr val="bg1"/>
                </a:solidFill>
                <a:latin typeface="Google Sans"/>
              </a:rPr>
              <a:t>  HTTPS REST is to be utilized due to its standardization and ubiquitous ecosystem. Has been associated with ease of implementation.</a:t>
            </a:r>
          </a:p>
          <a:p>
            <a:endParaRPr lang="en-US" sz="1600" b="1" dirty="0">
              <a:solidFill>
                <a:schemeClr val="bg1"/>
              </a:solidFill>
              <a:latin typeface="Google Sans"/>
            </a:endParaRPr>
          </a:p>
          <a:p>
            <a:r>
              <a:rPr lang="en-US" sz="1600" b="1" dirty="0">
                <a:solidFill>
                  <a:schemeClr val="bg1"/>
                </a:solidFill>
                <a:latin typeface="Google Sans"/>
              </a:rPr>
              <a:t>  </a:t>
            </a:r>
            <a:r>
              <a:rPr lang="en-US" sz="1600" b="1" dirty="0">
                <a:solidFill>
                  <a:srgbClr val="FFFF00"/>
                </a:solidFill>
                <a:latin typeface="Google Sans"/>
              </a:rPr>
              <a:t>Microservices -&gt; Fabric</a:t>
            </a:r>
          </a:p>
          <a:p>
            <a:r>
              <a:rPr lang="en-US" sz="1600" b="1" dirty="0">
                <a:solidFill>
                  <a:srgbClr val="FFFF00"/>
                </a:solidFill>
                <a:latin typeface="Google Sans"/>
              </a:rPr>
              <a:t>  </a:t>
            </a:r>
            <a:r>
              <a:rPr lang="en-US" sz="1600" b="1" dirty="0">
                <a:solidFill>
                  <a:schemeClr val="bg1"/>
                </a:solidFill>
                <a:latin typeface="Google Sans"/>
              </a:rPr>
              <a:t>Architecture group has standardized on the use of SDKs when establishing connect to the Fabric Gateway, which internally uses </a:t>
            </a:r>
            <a:r>
              <a:rPr lang="en-US" sz="1600" b="1" dirty="0" err="1">
                <a:solidFill>
                  <a:schemeClr val="bg1"/>
                </a:solidFill>
                <a:latin typeface="Google Sans"/>
              </a:rPr>
              <a:t>gRPC</a:t>
            </a:r>
            <a:r>
              <a:rPr lang="en-US" sz="1600" b="1" dirty="0">
                <a:solidFill>
                  <a:schemeClr val="bg1"/>
                </a:solidFill>
                <a:latin typeface="Google Sans"/>
              </a:rPr>
              <a:t>.</a:t>
            </a:r>
          </a:p>
          <a:p>
            <a:endParaRPr lang="en-US" sz="1600" b="1" dirty="0">
              <a:solidFill>
                <a:schemeClr val="bg1"/>
              </a:solidFill>
              <a:latin typeface="Google Sans"/>
            </a:endParaRPr>
          </a:p>
          <a:p>
            <a:r>
              <a:rPr lang="en-US" sz="1600" b="1" dirty="0">
                <a:solidFill>
                  <a:schemeClr val="bg1"/>
                </a:solidFill>
                <a:latin typeface="Google Sans"/>
              </a:rPr>
              <a:t>  </a:t>
            </a:r>
            <a:r>
              <a:rPr lang="en-US" sz="1600" b="1" dirty="0">
                <a:solidFill>
                  <a:srgbClr val="FFFF00"/>
                </a:solidFill>
                <a:latin typeface="Google Sans"/>
              </a:rPr>
              <a:t>Integration to Artificial Intelligence </a:t>
            </a:r>
            <a:r>
              <a:rPr lang="en-US" sz="1600" b="1" dirty="0" err="1">
                <a:solidFill>
                  <a:srgbClr val="FFFF00"/>
                </a:solidFill>
                <a:latin typeface="Google Sans"/>
              </a:rPr>
              <a:t>chatBOTs</a:t>
            </a:r>
            <a:r>
              <a:rPr lang="en-US" sz="1600" b="1" dirty="0">
                <a:solidFill>
                  <a:srgbClr val="FFFF00"/>
                </a:solidFill>
                <a:latin typeface="Google Sans"/>
              </a:rPr>
              <a:t> and LLMs</a:t>
            </a:r>
            <a:endParaRPr lang="en-US" sz="1600" b="1" dirty="0">
              <a:solidFill>
                <a:schemeClr val="bg1"/>
              </a:solidFill>
              <a:latin typeface="Google Sans"/>
            </a:endParaRPr>
          </a:p>
          <a:p>
            <a:r>
              <a:rPr lang="en-US" sz="1600" b="1" dirty="0">
                <a:solidFill>
                  <a:schemeClr val="bg1"/>
                </a:solidFill>
                <a:latin typeface="Google Sans"/>
              </a:rPr>
              <a:t>  Data flow connections are to utilize the open standard “Model Context Protocol” referred to as (MCP). This standard is designed to </a:t>
            </a:r>
          </a:p>
          <a:p>
            <a:r>
              <a:rPr lang="en-US" sz="1600" b="1" dirty="0">
                <a:solidFill>
                  <a:schemeClr val="bg1"/>
                </a:solidFill>
                <a:latin typeface="Google Sans"/>
              </a:rPr>
              <a:t>  connect large data models with external tools and data sources.  It is a “standardized adapter” allowing AI assistants , or LLM clients, to </a:t>
            </a:r>
          </a:p>
          <a:p>
            <a:r>
              <a:rPr lang="en-US" sz="1600" b="1" dirty="0">
                <a:solidFill>
                  <a:schemeClr val="bg1"/>
                </a:solidFill>
                <a:latin typeface="Google Sans"/>
              </a:rPr>
              <a:t>  discover and interact with a diverse range of external services and data.</a:t>
            </a:r>
          </a:p>
          <a:p>
            <a:r>
              <a:rPr lang="en-US" sz="1600" b="1" dirty="0">
                <a:solidFill>
                  <a:schemeClr val="bg1"/>
                </a:solidFill>
                <a:latin typeface="Google Sans"/>
              </a:rPr>
              <a:t>        The integration process can be described as follows:</a:t>
            </a:r>
          </a:p>
          <a:p>
            <a:r>
              <a:rPr lang="en-US" sz="1600" b="1" dirty="0">
                <a:solidFill>
                  <a:schemeClr val="bg1"/>
                </a:solidFill>
                <a:latin typeface="Google Sans"/>
              </a:rPr>
              <a:t>                microservice calls an MCP endpoint</a:t>
            </a:r>
          </a:p>
          <a:p>
            <a:r>
              <a:rPr lang="en-US" sz="1600" b="1" dirty="0">
                <a:solidFill>
                  <a:schemeClr val="bg1"/>
                </a:solidFill>
                <a:latin typeface="Google Sans"/>
              </a:rPr>
              <a:t>                MCP manages request selecting the model (LLM)</a:t>
            </a:r>
          </a:p>
          <a:p>
            <a:r>
              <a:rPr lang="en-US" sz="1600" b="1" dirty="0">
                <a:solidFill>
                  <a:schemeClr val="bg1"/>
                </a:solidFill>
                <a:latin typeface="Google Sans"/>
              </a:rPr>
              <a:t>                performs the processing of data</a:t>
            </a:r>
          </a:p>
          <a:p>
            <a:r>
              <a:rPr lang="en-US" sz="1600" b="1" dirty="0">
                <a:solidFill>
                  <a:schemeClr val="bg1"/>
                </a:solidFill>
                <a:latin typeface="Google Sans"/>
              </a:rPr>
              <a:t>                returns a standardized(agreed upon) formatted output</a:t>
            </a:r>
          </a:p>
          <a:p>
            <a:endParaRPr lang="en-US" sz="1600" b="1" dirty="0">
              <a:solidFill>
                <a:schemeClr val="bg1"/>
              </a:solidFill>
              <a:latin typeface="Google Sans"/>
            </a:endParaRPr>
          </a:p>
          <a:p>
            <a:r>
              <a:rPr lang="en-US" sz="1600" b="1" dirty="0">
                <a:solidFill>
                  <a:schemeClr val="bg1"/>
                </a:solidFill>
                <a:latin typeface="Google Sans"/>
              </a:rPr>
              <a:t>  MCP will be positioned in the integration architecture as a microservice responsible for AI logic.  </a:t>
            </a:r>
          </a:p>
          <a:p>
            <a:endParaRPr lang="en-US" sz="1600" b="1" dirty="0">
              <a:solidFill>
                <a:schemeClr val="bg1"/>
              </a:solidFill>
              <a:latin typeface="Google Sans"/>
            </a:endParaRPr>
          </a:p>
          <a:p>
            <a:r>
              <a:rPr lang="en-US" sz="1600" b="1" dirty="0">
                <a:solidFill>
                  <a:schemeClr val="bg1"/>
                </a:solidFill>
                <a:latin typeface="Google Sans"/>
              </a:rPr>
              <a:t> </a:t>
            </a:r>
            <a:r>
              <a:rPr lang="en-US" sz="1600" b="1" dirty="0">
                <a:solidFill>
                  <a:srgbClr val="FFFF00"/>
                </a:solidFill>
                <a:latin typeface="Google Sans"/>
              </a:rPr>
              <a:t>Hyperledger Besu to Ethereum Public Blockchain</a:t>
            </a:r>
            <a:endParaRPr lang="en-US" sz="1600" b="1" dirty="0">
              <a:solidFill>
                <a:schemeClr val="bg1"/>
              </a:solidFill>
              <a:latin typeface="Google Sans"/>
            </a:endParaRPr>
          </a:p>
          <a:p>
            <a:r>
              <a:rPr lang="en-US" sz="1600" b="1" dirty="0">
                <a:solidFill>
                  <a:schemeClr val="bg1"/>
                </a:solidFill>
                <a:latin typeface="Google Sans"/>
              </a:rPr>
              <a:t> Besu provides direct integration to the Ethereum blockchain where GHG offsets are tokenized into digital assets or NFTs and traded on  </a:t>
            </a:r>
          </a:p>
          <a:p>
            <a:r>
              <a:rPr lang="en-US" sz="1600" b="1" dirty="0">
                <a:solidFill>
                  <a:schemeClr val="bg1"/>
                </a:solidFill>
                <a:latin typeface="Google Sans"/>
              </a:rPr>
              <a:t> decentralized exchanges.</a:t>
            </a:r>
          </a:p>
          <a:p>
            <a:endParaRPr lang="en-US" sz="1400" dirty="0"/>
          </a:p>
        </p:txBody>
      </p:sp>
      <p:sp>
        <p:nvSpPr>
          <p:cNvPr id="2" name="AutoShape 2" descr="A detailed infographic illustrating the process of defining an IoT device on a blockchain. The image includes a flow from an IoT device (e.g., a sensor) to its integration with a blockchain system. Key elements include (1) Device Identity Registration with unique IDs and cryptographic keys, (2) Secure Communication using encryption, (3) Data Validation through blockchain nodes and oracles, (4) Integration with Smart Contracts showing automated triggers, (5) Off-Chain Data Storage connected to the blockchain using systems like IPFS, and (6) Scalability with Layer 2 solutions. The design is clean and professional, with arrows connecting each step, labeled sections, and a modern tech aesthetic.">
            <a:extLst>
              <a:ext uri="{FF2B5EF4-FFF2-40B4-BE49-F238E27FC236}">
                <a16:creationId xmlns:a16="http://schemas.microsoft.com/office/drawing/2014/main" id="{3DEF45FB-5C7F-2DFF-A281-45F1557A042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A5197B52-32FD-D354-9B00-09CC81868550}"/>
              </a:ext>
            </a:extLst>
          </p:cNvPr>
          <p:cNvSpPr txBox="1"/>
          <p:nvPr/>
        </p:nvSpPr>
        <p:spPr>
          <a:xfrm>
            <a:off x="138004" y="0"/>
            <a:ext cx="9499771" cy="584775"/>
          </a:xfrm>
          <a:prstGeom prst="rect">
            <a:avLst/>
          </a:prstGeom>
          <a:noFill/>
        </p:spPr>
        <p:txBody>
          <a:bodyPr wrap="square" rtlCol="0">
            <a:spAutoFit/>
          </a:bodyPr>
          <a:lstStyle/>
          <a:p>
            <a:r>
              <a:rPr lang="en-US" sz="3200" b="1" dirty="0">
                <a:solidFill>
                  <a:schemeClr val="bg1"/>
                </a:solidFill>
                <a:latin typeface="Abadi Extra Light" panose="020B0204020104020204" pitchFamily="34" charset="0"/>
              </a:rPr>
              <a:t>Data Integration Architecture Key Design Decisions</a:t>
            </a:r>
          </a:p>
        </p:txBody>
      </p:sp>
      <p:sp>
        <p:nvSpPr>
          <p:cNvPr id="50" name="Rectangle 49">
            <a:extLst>
              <a:ext uri="{FF2B5EF4-FFF2-40B4-BE49-F238E27FC236}">
                <a16:creationId xmlns:a16="http://schemas.microsoft.com/office/drawing/2014/main" id="{5C35C44A-CDAF-87EC-B3E9-038884CCE6F3}"/>
              </a:ext>
            </a:extLst>
          </p:cNvPr>
          <p:cNvSpPr/>
          <p:nvPr/>
        </p:nvSpPr>
        <p:spPr>
          <a:xfrm>
            <a:off x="135956" y="829493"/>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39158365-E03F-6A91-376B-50EE54D33CBD}"/>
              </a:ext>
            </a:extLst>
          </p:cNvPr>
          <p:cNvSpPr/>
          <p:nvPr/>
        </p:nvSpPr>
        <p:spPr>
          <a:xfrm>
            <a:off x="135956" y="1765380"/>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16CE1C4C-7E8E-29DC-B3CA-1B984CB9F7EE}"/>
              </a:ext>
            </a:extLst>
          </p:cNvPr>
          <p:cNvSpPr/>
          <p:nvPr/>
        </p:nvSpPr>
        <p:spPr>
          <a:xfrm>
            <a:off x="135955" y="2793642"/>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31E80967-8CA7-E4A7-1788-D58EEDBCB568}"/>
              </a:ext>
            </a:extLst>
          </p:cNvPr>
          <p:cNvSpPr/>
          <p:nvPr/>
        </p:nvSpPr>
        <p:spPr>
          <a:xfrm>
            <a:off x="135955" y="3516466"/>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266C3A9-29B9-BFAA-53FD-4A88016AFB8B}"/>
              </a:ext>
            </a:extLst>
          </p:cNvPr>
          <p:cNvSpPr/>
          <p:nvPr/>
        </p:nvSpPr>
        <p:spPr>
          <a:xfrm>
            <a:off x="823514" y="4499325"/>
            <a:ext cx="136379" cy="140915"/>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9E781BE7-0E84-D846-93C7-DDEADD6782A9}"/>
              </a:ext>
            </a:extLst>
          </p:cNvPr>
          <p:cNvSpPr/>
          <p:nvPr/>
        </p:nvSpPr>
        <p:spPr>
          <a:xfrm>
            <a:off x="823514" y="4723794"/>
            <a:ext cx="136379" cy="140915"/>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0809A7B-C8F3-F19E-A67A-F00795F5A805}"/>
              </a:ext>
            </a:extLst>
          </p:cNvPr>
          <p:cNvSpPr/>
          <p:nvPr/>
        </p:nvSpPr>
        <p:spPr>
          <a:xfrm>
            <a:off x="823514" y="4989781"/>
            <a:ext cx="136379" cy="140915"/>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FD2CCAB-10DB-3053-BA23-293D7C28A536}"/>
              </a:ext>
            </a:extLst>
          </p:cNvPr>
          <p:cNvSpPr/>
          <p:nvPr/>
        </p:nvSpPr>
        <p:spPr>
          <a:xfrm>
            <a:off x="828335" y="5224236"/>
            <a:ext cx="136379" cy="140915"/>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7E23FD4-C214-8CD7-8972-89292D0C7933}"/>
              </a:ext>
            </a:extLst>
          </p:cNvPr>
          <p:cNvSpPr/>
          <p:nvPr/>
        </p:nvSpPr>
        <p:spPr>
          <a:xfrm>
            <a:off x="137160" y="6206357"/>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52517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E37BD-4015-0183-7678-C5866D23ADE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2F3AD43-054F-F070-D401-826CE3CD518D}"/>
              </a:ext>
            </a:extLst>
          </p:cNvPr>
          <p:cNvSpPr/>
          <p:nvPr/>
        </p:nvSpPr>
        <p:spPr>
          <a:xfrm>
            <a:off x="-7859" y="0"/>
            <a:ext cx="12192000" cy="7010400"/>
          </a:xfrm>
          <a:prstGeom prst="rect">
            <a:avLst/>
          </a:prstGeom>
          <a:gradFill flip="none" rotWithShape="1">
            <a:gsLst>
              <a:gs pos="47000">
                <a:srgbClr val="008080"/>
              </a:gs>
              <a:gs pos="20000">
                <a:schemeClr val="accent6">
                  <a:lumMod val="50000"/>
                </a:schemeClr>
              </a:gs>
              <a:gs pos="0">
                <a:schemeClr val="accent3">
                  <a:lumMod val="20000"/>
                  <a:lumOff val="80000"/>
                </a:schemeClr>
              </a:gs>
              <a:gs pos="34000">
                <a:srgbClr val="008080"/>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59A3B047-717C-D688-3B03-8AD269E402EC}"/>
              </a:ext>
            </a:extLst>
          </p:cNvPr>
          <p:cNvSpPr txBox="1"/>
          <p:nvPr/>
        </p:nvSpPr>
        <p:spPr>
          <a:xfrm>
            <a:off x="96691" y="85480"/>
            <a:ext cx="10661981" cy="523220"/>
          </a:xfrm>
          <a:prstGeom prst="rect">
            <a:avLst/>
          </a:prstGeom>
          <a:noFill/>
        </p:spPr>
        <p:txBody>
          <a:bodyPr wrap="square" rtlCol="0">
            <a:spAutoFit/>
          </a:bodyPr>
          <a:lstStyle/>
          <a:p>
            <a:r>
              <a:rPr lang="en-US" sz="2800" b="1" dirty="0">
                <a:solidFill>
                  <a:schemeClr val="bg1">
                    <a:lumMod val="95000"/>
                  </a:schemeClr>
                </a:solidFill>
              </a:rPr>
              <a:t> </a:t>
            </a:r>
            <a:r>
              <a:rPr lang="en-US" sz="2000" b="1" dirty="0">
                <a:solidFill>
                  <a:srgbClr val="FFFF00"/>
                </a:solidFill>
              </a:rPr>
              <a:t>Why Use Blockchain Technology to  Register IoT Devices?   </a:t>
            </a:r>
          </a:p>
        </p:txBody>
      </p:sp>
      <p:sp>
        <p:nvSpPr>
          <p:cNvPr id="2" name="TextBox 9">
            <a:extLst>
              <a:ext uri="{FF2B5EF4-FFF2-40B4-BE49-F238E27FC236}">
                <a16:creationId xmlns:a16="http://schemas.microsoft.com/office/drawing/2014/main" id="{E4AC3B01-8438-C6EA-066F-8AB0A29A77DB}"/>
              </a:ext>
            </a:extLst>
          </p:cNvPr>
          <p:cNvSpPr txBox="1"/>
          <p:nvPr/>
        </p:nvSpPr>
        <p:spPr>
          <a:xfrm>
            <a:off x="191579" y="1881127"/>
            <a:ext cx="8586661" cy="480131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Font typeface="+mj-lt"/>
              <a:buAutoNum type="arabicPeriod"/>
            </a:pPr>
            <a:r>
              <a:rPr lang="en-US" b="1" dirty="0">
                <a:solidFill>
                  <a:schemeClr val="bg1"/>
                </a:solidFill>
              </a:rPr>
              <a:t>   Immutable Device Identity</a:t>
            </a:r>
            <a:endParaRPr lang="en-US" dirty="0">
              <a:solidFill>
                <a:schemeClr val="bg1"/>
              </a:solidFill>
            </a:endParaRPr>
          </a:p>
          <a:p>
            <a:pPr marL="742950" lvl="1" indent="-285750">
              <a:buFont typeface="+mj-lt"/>
              <a:buAutoNum type="arabicPeriod"/>
            </a:pPr>
            <a:r>
              <a:rPr lang="en-US" dirty="0">
                <a:solidFill>
                  <a:schemeClr val="bg1"/>
                </a:solidFill>
              </a:rPr>
              <a:t>Prevents spoofing and impersonation.</a:t>
            </a:r>
          </a:p>
          <a:p>
            <a:pPr marL="742950" lvl="1" indent="-285750">
              <a:buFont typeface="+mj-lt"/>
              <a:buAutoNum type="arabicPeriod"/>
            </a:pPr>
            <a:r>
              <a:rPr lang="en-US" dirty="0">
                <a:solidFill>
                  <a:schemeClr val="bg1"/>
                </a:solidFill>
              </a:rPr>
              <a:t>Each device has a unique ID tied to its public key or metadata.</a:t>
            </a:r>
          </a:p>
          <a:p>
            <a:pPr>
              <a:buFont typeface="+mj-lt"/>
              <a:buAutoNum type="arabicPeriod"/>
            </a:pPr>
            <a:r>
              <a:rPr lang="en-US" b="1" dirty="0">
                <a:solidFill>
                  <a:schemeClr val="bg1"/>
                </a:solidFill>
              </a:rPr>
              <a:t>   Ownership and Provenance</a:t>
            </a:r>
            <a:endParaRPr lang="en-US" dirty="0">
              <a:solidFill>
                <a:schemeClr val="bg1"/>
              </a:solidFill>
            </a:endParaRPr>
          </a:p>
          <a:p>
            <a:pPr marL="742950" lvl="1" indent="-285750">
              <a:buFont typeface="+mj-lt"/>
              <a:buAutoNum type="arabicPeriod"/>
            </a:pPr>
            <a:r>
              <a:rPr lang="en-US" dirty="0">
                <a:solidFill>
                  <a:schemeClr val="bg1"/>
                </a:solidFill>
              </a:rPr>
              <a:t>Links a device to an organization, twin, or physical asset.</a:t>
            </a:r>
          </a:p>
          <a:p>
            <a:pPr marL="742950" lvl="1" indent="-285750">
              <a:buFont typeface="+mj-lt"/>
              <a:buAutoNum type="arabicPeriod"/>
            </a:pPr>
            <a:r>
              <a:rPr lang="en-US" dirty="0">
                <a:solidFill>
                  <a:schemeClr val="bg1"/>
                </a:solidFill>
              </a:rPr>
              <a:t>Useful in multi-party environments (e.g., logistics chains).</a:t>
            </a:r>
          </a:p>
          <a:p>
            <a:pPr>
              <a:buFont typeface="+mj-lt"/>
              <a:buAutoNum type="arabicPeriod"/>
            </a:pPr>
            <a:r>
              <a:rPr lang="en-US" b="1" dirty="0">
                <a:solidFill>
                  <a:schemeClr val="bg1"/>
                </a:solidFill>
              </a:rPr>
              <a:t>   Auditability</a:t>
            </a:r>
            <a:endParaRPr lang="en-US" dirty="0">
              <a:solidFill>
                <a:schemeClr val="bg1"/>
              </a:solidFill>
            </a:endParaRPr>
          </a:p>
          <a:p>
            <a:pPr marL="742950" lvl="1" indent="-285750">
              <a:buFont typeface="+mj-lt"/>
              <a:buAutoNum type="arabicPeriod"/>
            </a:pPr>
            <a:r>
              <a:rPr lang="en-US" dirty="0">
                <a:solidFill>
                  <a:schemeClr val="bg1"/>
                </a:solidFill>
              </a:rPr>
              <a:t>Tracks firmware updates, access logs, and data submissions.</a:t>
            </a:r>
          </a:p>
          <a:p>
            <a:pPr>
              <a:buFont typeface="+mj-lt"/>
              <a:buAutoNum type="arabicPeriod"/>
            </a:pPr>
            <a:r>
              <a:rPr lang="en-US" b="1" dirty="0">
                <a:solidFill>
                  <a:schemeClr val="bg1"/>
                </a:solidFill>
              </a:rPr>
              <a:t>   Traceability</a:t>
            </a:r>
          </a:p>
          <a:p>
            <a:r>
              <a:rPr lang="en-US" b="1" dirty="0">
                <a:solidFill>
                  <a:schemeClr val="bg1"/>
                </a:solidFill>
              </a:rPr>
              <a:t>         </a:t>
            </a:r>
            <a:r>
              <a:rPr lang="en-US" dirty="0">
                <a:solidFill>
                  <a:schemeClr val="bg1"/>
                </a:solidFill>
              </a:rPr>
              <a:t> 1. Track device lifecycle events: registration, activation, deactivation, updates.</a:t>
            </a:r>
          </a:p>
          <a:p>
            <a:r>
              <a:rPr lang="en-US" b="1" dirty="0">
                <a:solidFill>
                  <a:schemeClr val="bg1"/>
                </a:solidFill>
              </a:rPr>
              <a:t>         </a:t>
            </a:r>
            <a:r>
              <a:rPr lang="en-US" dirty="0">
                <a:solidFill>
                  <a:schemeClr val="bg1"/>
                </a:solidFill>
              </a:rPr>
              <a:t> 2. Useful for GHG audits or supply chain certifications.</a:t>
            </a:r>
            <a:endParaRPr lang="en-US" b="1" dirty="0">
              <a:solidFill>
                <a:schemeClr val="bg1"/>
              </a:solidFill>
            </a:endParaRPr>
          </a:p>
          <a:p>
            <a:pPr marL="342900" indent="-342900">
              <a:buFont typeface="+mj-lt"/>
              <a:buAutoNum type="arabicPeriod" startAt="5"/>
            </a:pPr>
            <a:r>
              <a:rPr lang="en-US" b="1" dirty="0">
                <a:solidFill>
                  <a:schemeClr val="bg1"/>
                </a:solidFill>
              </a:rPr>
              <a:t>Integration with Smart Contracts</a:t>
            </a:r>
          </a:p>
          <a:p>
            <a:r>
              <a:rPr lang="en-US" dirty="0">
                <a:solidFill>
                  <a:schemeClr val="bg1"/>
                </a:solidFill>
              </a:rPr>
              <a:t>          1. Smart contracts can reference the device registry to validate data submissions.</a:t>
            </a:r>
          </a:p>
          <a:p>
            <a:r>
              <a:rPr lang="en-US" dirty="0">
                <a:solidFill>
                  <a:schemeClr val="bg1"/>
                </a:solidFill>
              </a:rPr>
              <a:t>          2. Enables automated logic based on the sender’s device identity.</a:t>
            </a:r>
          </a:p>
          <a:p>
            <a:pPr marL="342900" indent="-342900">
              <a:buFont typeface="+mj-lt"/>
              <a:buAutoNum type="arabicPeriod" startAt="6"/>
            </a:pPr>
            <a:r>
              <a:rPr lang="en-US" b="1" dirty="0">
                <a:solidFill>
                  <a:schemeClr val="bg1"/>
                </a:solidFill>
              </a:rPr>
              <a:t>Access Control</a:t>
            </a:r>
            <a:endParaRPr lang="en-US" dirty="0">
              <a:solidFill>
                <a:schemeClr val="bg1"/>
              </a:solidFill>
            </a:endParaRPr>
          </a:p>
          <a:p>
            <a:pPr marL="742950" lvl="1" indent="-285750">
              <a:buFont typeface="+mj-lt"/>
              <a:buAutoNum type="arabicPeriod"/>
            </a:pPr>
            <a:r>
              <a:rPr lang="en-US" dirty="0">
                <a:solidFill>
                  <a:schemeClr val="bg1"/>
                </a:solidFill>
              </a:rPr>
              <a:t>Use smart contracts to restrict which devices can write data.</a:t>
            </a:r>
          </a:p>
          <a:p>
            <a:pPr marL="742950" lvl="1" indent="-285750">
              <a:buFont typeface="+mj-lt"/>
              <a:buAutoNum type="arabicPeriod"/>
            </a:pPr>
            <a:r>
              <a:rPr lang="en-US" dirty="0">
                <a:solidFill>
                  <a:schemeClr val="bg1"/>
                </a:solidFill>
              </a:rPr>
              <a:t>Devices can sign messages to prove authenticity.</a:t>
            </a:r>
            <a:endParaRPr lang="en-US" sz="1600" b="0" i="0" dirty="0">
              <a:solidFill>
                <a:schemeClr val="bg1"/>
              </a:solidFill>
              <a:effectLst/>
              <a:latin typeface="ui-sans-serif"/>
            </a:endParaRPr>
          </a:p>
        </p:txBody>
      </p:sp>
      <p:cxnSp>
        <p:nvCxnSpPr>
          <p:cNvPr id="5" name="Straight Connector 4">
            <a:extLst>
              <a:ext uri="{FF2B5EF4-FFF2-40B4-BE49-F238E27FC236}">
                <a16:creationId xmlns:a16="http://schemas.microsoft.com/office/drawing/2014/main" id="{B1B52D21-8C7D-F1C9-C743-8020CC500D9F}"/>
              </a:ext>
            </a:extLst>
          </p:cNvPr>
          <p:cNvCxnSpPr>
            <a:cxnSpLocks/>
          </p:cNvCxnSpPr>
          <p:nvPr/>
        </p:nvCxnSpPr>
        <p:spPr>
          <a:xfrm flipV="1">
            <a:off x="315244" y="562271"/>
            <a:ext cx="10443428" cy="58783"/>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C8C88-02ED-7DDC-9BC8-5601F0E10145}"/>
              </a:ext>
            </a:extLst>
          </p:cNvPr>
          <p:cNvSpPr txBox="1"/>
          <p:nvPr/>
        </p:nvSpPr>
        <p:spPr>
          <a:xfrm>
            <a:off x="191579" y="624775"/>
            <a:ext cx="11894027" cy="1015663"/>
          </a:xfrm>
          <a:prstGeom prst="rect">
            <a:avLst/>
          </a:prstGeom>
          <a:noFill/>
        </p:spPr>
        <p:txBody>
          <a:bodyPr wrap="square" rtlCol="0">
            <a:spAutoFit/>
          </a:bodyPr>
          <a:lstStyle/>
          <a:p>
            <a:r>
              <a:rPr lang="en-US" sz="2000" b="1" dirty="0">
                <a:solidFill>
                  <a:schemeClr val="bg1"/>
                </a:solidFill>
              </a:rPr>
              <a:t>Registering IoT devices on the blockchain</a:t>
            </a:r>
            <a:r>
              <a:rPr lang="en-US" sz="2000" dirty="0">
                <a:solidFill>
                  <a:schemeClr val="bg1"/>
                </a:solidFill>
              </a:rPr>
              <a:t> is a common and recommended pattern when building secure and auditable IoT systems—especially for </a:t>
            </a:r>
            <a:r>
              <a:rPr lang="en-US" sz="2000" b="1" dirty="0">
                <a:solidFill>
                  <a:schemeClr val="bg1"/>
                </a:solidFill>
              </a:rPr>
              <a:t>digital twins</a:t>
            </a:r>
            <a:r>
              <a:rPr lang="en-US" sz="2000" dirty="0">
                <a:solidFill>
                  <a:schemeClr val="bg1"/>
                </a:solidFill>
              </a:rPr>
              <a:t>, </a:t>
            </a:r>
            <a:r>
              <a:rPr lang="en-US" sz="2000" b="1" dirty="0">
                <a:solidFill>
                  <a:schemeClr val="bg1"/>
                </a:solidFill>
              </a:rPr>
              <a:t>emissions tracking</a:t>
            </a:r>
            <a:r>
              <a:rPr lang="en-US" sz="2000" dirty="0">
                <a:solidFill>
                  <a:schemeClr val="bg1"/>
                </a:solidFill>
              </a:rPr>
              <a:t>, or </a:t>
            </a:r>
            <a:r>
              <a:rPr lang="en-US" sz="2000" b="1" dirty="0">
                <a:solidFill>
                  <a:schemeClr val="bg1"/>
                </a:solidFill>
              </a:rPr>
              <a:t>supply chain applications</a:t>
            </a:r>
            <a:r>
              <a:rPr lang="en-US" sz="2000" dirty="0">
                <a:solidFill>
                  <a:schemeClr val="bg1"/>
                </a:solidFill>
              </a:rPr>
              <a:t>. It helps establish </a:t>
            </a:r>
            <a:r>
              <a:rPr lang="en-US" sz="2000" b="1" dirty="0">
                <a:solidFill>
                  <a:schemeClr val="bg1"/>
                </a:solidFill>
              </a:rPr>
              <a:t>device identity, ownership, and trust</a:t>
            </a:r>
            <a:r>
              <a:rPr lang="en-US" sz="2000" dirty="0">
                <a:solidFill>
                  <a:schemeClr val="bg1"/>
                </a:solidFill>
              </a:rPr>
              <a:t> in the data coming from those devices.</a:t>
            </a:r>
            <a:r>
              <a:rPr lang="en-US" sz="2000" b="1" dirty="0">
                <a:solidFill>
                  <a:schemeClr val="bg1"/>
                </a:solidFill>
              </a:rPr>
              <a:t>   </a:t>
            </a:r>
          </a:p>
        </p:txBody>
      </p:sp>
      <p:pic>
        <p:nvPicPr>
          <p:cNvPr id="2051" name="Picture 3" descr="Smart contract and its overview. | Download Scientific Diagram">
            <a:extLst>
              <a:ext uri="{FF2B5EF4-FFF2-40B4-BE49-F238E27FC236}">
                <a16:creationId xmlns:a16="http://schemas.microsoft.com/office/drawing/2014/main" id="{A3C0DA84-38FC-EFC4-DEE0-2929696CA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3098" y="2012126"/>
            <a:ext cx="4028902" cy="408366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98A8E31F-10F1-0FBB-487E-9234CC606238}"/>
              </a:ext>
            </a:extLst>
          </p:cNvPr>
          <p:cNvCxnSpPr>
            <a:cxnSpLocks/>
          </p:cNvCxnSpPr>
          <p:nvPr/>
        </p:nvCxnSpPr>
        <p:spPr>
          <a:xfrm flipV="1">
            <a:off x="315244" y="1739346"/>
            <a:ext cx="8308056" cy="2518"/>
          </a:xfrm>
          <a:prstGeom prst="line">
            <a:avLst/>
          </a:prstGeom>
          <a:ln w="22225">
            <a:solidFill>
              <a:srgbClr val="FFF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2393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5EB57-FA1B-8F1F-0000-6F175E2EF90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55A79CE-CC50-9638-22EF-7F271FBBA25B}"/>
              </a:ext>
            </a:extLst>
          </p:cNvPr>
          <p:cNvSpPr/>
          <p:nvPr/>
        </p:nvSpPr>
        <p:spPr>
          <a:xfrm>
            <a:off x="-7859" y="7257"/>
            <a:ext cx="12192000" cy="7010400"/>
          </a:xfrm>
          <a:prstGeom prst="rect">
            <a:avLst/>
          </a:prstGeom>
          <a:gradFill flip="none" rotWithShape="1">
            <a:gsLst>
              <a:gs pos="47000">
                <a:srgbClr val="008080"/>
              </a:gs>
              <a:gs pos="20000">
                <a:schemeClr val="accent6">
                  <a:lumMod val="50000"/>
                </a:schemeClr>
              </a:gs>
              <a:gs pos="0">
                <a:schemeClr val="accent3">
                  <a:lumMod val="20000"/>
                  <a:lumOff val="80000"/>
                </a:schemeClr>
              </a:gs>
              <a:gs pos="34000">
                <a:srgbClr val="008080"/>
              </a:gs>
            </a:gsLst>
            <a:path path="circle">
              <a:fillToRect l="100000" t="100000"/>
            </a:path>
            <a:tileRect r="-100000" b="-100000"/>
          </a:gradFill>
          <a:ln w="190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12BDF570-003F-D75F-6CCE-0A4A0592878E}"/>
              </a:ext>
            </a:extLst>
          </p:cNvPr>
          <p:cNvSpPr txBox="1"/>
          <p:nvPr/>
        </p:nvSpPr>
        <p:spPr>
          <a:xfrm>
            <a:off x="96691" y="85480"/>
            <a:ext cx="10661981" cy="523220"/>
          </a:xfrm>
          <a:prstGeom prst="rect">
            <a:avLst/>
          </a:prstGeom>
          <a:noFill/>
        </p:spPr>
        <p:txBody>
          <a:bodyPr wrap="square" rtlCol="0">
            <a:spAutoFit/>
          </a:bodyPr>
          <a:lstStyle/>
          <a:p>
            <a:r>
              <a:rPr lang="en-US" sz="2800" b="1" dirty="0">
                <a:solidFill>
                  <a:schemeClr val="bg1">
                    <a:lumMod val="95000"/>
                  </a:schemeClr>
                </a:solidFill>
              </a:rPr>
              <a:t> </a:t>
            </a:r>
            <a:r>
              <a:rPr lang="en-US" sz="2800" b="1" dirty="0">
                <a:solidFill>
                  <a:srgbClr val="FFFF00"/>
                </a:solidFill>
              </a:rPr>
              <a:t>Security Architecture for IoT Devices and Data   </a:t>
            </a:r>
          </a:p>
        </p:txBody>
      </p:sp>
      <p:sp>
        <p:nvSpPr>
          <p:cNvPr id="2" name="TextBox 9">
            <a:extLst>
              <a:ext uri="{FF2B5EF4-FFF2-40B4-BE49-F238E27FC236}">
                <a16:creationId xmlns:a16="http://schemas.microsoft.com/office/drawing/2014/main" id="{79264D0C-1CC7-8164-C8C3-BEDFCCCCBBED}"/>
              </a:ext>
            </a:extLst>
          </p:cNvPr>
          <p:cNvSpPr txBox="1"/>
          <p:nvPr/>
        </p:nvSpPr>
        <p:spPr>
          <a:xfrm>
            <a:off x="191578" y="1269599"/>
            <a:ext cx="6971221" cy="529375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Font typeface="+mj-lt"/>
              <a:buAutoNum type="arabicPeriod"/>
            </a:pPr>
            <a:r>
              <a:rPr lang="en-US" b="1" dirty="0">
                <a:solidFill>
                  <a:schemeClr val="bg1"/>
                </a:solidFill>
              </a:rPr>
              <a:t>   </a:t>
            </a:r>
            <a:r>
              <a:rPr lang="en-US" sz="1600" b="1" dirty="0">
                <a:solidFill>
                  <a:schemeClr val="bg1"/>
                </a:solidFill>
              </a:rPr>
              <a:t>Device Level Security</a:t>
            </a:r>
            <a:endParaRPr lang="en-US" sz="1600" dirty="0">
              <a:solidFill>
                <a:schemeClr val="bg1"/>
              </a:solidFill>
            </a:endParaRPr>
          </a:p>
          <a:p>
            <a:pPr marL="742950" lvl="1" indent="-285750">
              <a:buFont typeface="+mj-lt"/>
              <a:buAutoNum type="arabicPeriod"/>
            </a:pPr>
            <a:r>
              <a:rPr lang="en-US" sz="1600" dirty="0">
                <a:solidFill>
                  <a:schemeClr val="bg1"/>
                </a:solidFill>
              </a:rPr>
              <a:t>Each IoT device gets a unique cryptographic identity (public/private key pair).</a:t>
            </a:r>
          </a:p>
          <a:p>
            <a:pPr marL="742950" lvl="1" indent="-285750">
              <a:buFont typeface="+mj-lt"/>
              <a:buAutoNum type="arabicPeriod"/>
            </a:pPr>
            <a:r>
              <a:rPr lang="en-US" sz="1600" dirty="0">
                <a:solidFill>
                  <a:schemeClr val="bg1"/>
                </a:solidFill>
              </a:rPr>
              <a:t>Data packets are </a:t>
            </a:r>
            <a:r>
              <a:rPr lang="en-US" sz="1600" b="1" dirty="0">
                <a:solidFill>
                  <a:schemeClr val="bg1"/>
                </a:solidFill>
              </a:rPr>
              <a:t>digitally signed</a:t>
            </a:r>
            <a:r>
              <a:rPr lang="en-US" sz="1600" dirty="0">
                <a:solidFill>
                  <a:schemeClr val="bg1"/>
                </a:solidFill>
              </a:rPr>
              <a:t> by the device using its private key so the blockchain can verify authenticity.</a:t>
            </a:r>
          </a:p>
          <a:p>
            <a:pPr>
              <a:buFont typeface="+mj-lt"/>
              <a:buAutoNum type="arabicPeriod"/>
            </a:pPr>
            <a:r>
              <a:rPr lang="en-US" sz="1600" b="1" dirty="0">
                <a:solidFill>
                  <a:schemeClr val="bg1"/>
                </a:solidFill>
              </a:rPr>
              <a:t>   Data Encryption</a:t>
            </a:r>
            <a:endParaRPr lang="en-US" sz="1600" dirty="0">
              <a:solidFill>
                <a:schemeClr val="bg1"/>
              </a:solidFill>
            </a:endParaRPr>
          </a:p>
          <a:p>
            <a:pPr marL="742950" lvl="1" indent="-285750">
              <a:buFont typeface="+mj-lt"/>
              <a:buAutoNum type="arabicPeriod"/>
            </a:pPr>
            <a:r>
              <a:rPr lang="en-US" sz="1600" b="1" dirty="0">
                <a:solidFill>
                  <a:schemeClr val="bg1"/>
                </a:solidFill>
              </a:rPr>
              <a:t>In transit:</a:t>
            </a:r>
            <a:r>
              <a:rPr lang="en-US" sz="1600" dirty="0">
                <a:solidFill>
                  <a:schemeClr val="bg1"/>
                </a:solidFill>
              </a:rPr>
              <a:t> Encrypt all communication using TLS/SSL to prevent interception.</a:t>
            </a:r>
          </a:p>
          <a:p>
            <a:pPr marL="742950" lvl="1" indent="-285750">
              <a:buFont typeface="+mj-lt"/>
              <a:buAutoNum type="arabicPeriod"/>
            </a:pPr>
            <a:r>
              <a:rPr lang="en-US" sz="1600" dirty="0">
                <a:solidFill>
                  <a:schemeClr val="bg1"/>
                </a:solidFill>
              </a:rPr>
              <a:t>A</a:t>
            </a:r>
            <a:r>
              <a:rPr lang="en-US" sz="1600" b="1" dirty="0">
                <a:solidFill>
                  <a:schemeClr val="bg1"/>
                </a:solidFill>
              </a:rPr>
              <a:t>t rest (before blockchain):</a:t>
            </a:r>
            <a:r>
              <a:rPr lang="en-US" sz="1600" dirty="0">
                <a:solidFill>
                  <a:schemeClr val="bg1"/>
                </a:solidFill>
              </a:rPr>
              <a:t> Sensitive data (like GPS, owner info) is encrypted before storage in off-chain databases.</a:t>
            </a:r>
          </a:p>
          <a:p>
            <a:pPr>
              <a:buFont typeface="+mj-lt"/>
              <a:buAutoNum type="arabicPeriod"/>
            </a:pPr>
            <a:r>
              <a:rPr lang="en-US" sz="1600" b="1" dirty="0">
                <a:solidFill>
                  <a:schemeClr val="bg1"/>
                </a:solidFill>
              </a:rPr>
              <a:t>   Hashing &amp; Integrity Proofs</a:t>
            </a:r>
          </a:p>
          <a:p>
            <a:pPr marL="742950" lvl="1" indent="-285750">
              <a:buFont typeface="+mj-lt"/>
              <a:buAutoNum type="arabicPeriod"/>
            </a:pPr>
            <a:r>
              <a:rPr lang="en-US" sz="1600" dirty="0">
                <a:solidFill>
                  <a:schemeClr val="bg1"/>
                </a:solidFill>
              </a:rPr>
              <a:t>Compute a </a:t>
            </a:r>
            <a:r>
              <a:rPr lang="en-US" sz="1600" b="1" dirty="0">
                <a:solidFill>
                  <a:schemeClr val="bg1"/>
                </a:solidFill>
              </a:rPr>
              <a:t>hash </a:t>
            </a:r>
            <a:r>
              <a:rPr lang="en-US" sz="1600" dirty="0">
                <a:solidFill>
                  <a:schemeClr val="bg1"/>
                </a:solidFill>
              </a:rPr>
              <a:t>of the IoT data payload.</a:t>
            </a:r>
          </a:p>
          <a:p>
            <a:pPr marL="742950" lvl="1" indent="-285750">
              <a:buFont typeface="+mj-lt"/>
              <a:buAutoNum type="arabicPeriod"/>
            </a:pPr>
            <a:r>
              <a:rPr lang="en-US" sz="1600" dirty="0">
                <a:solidFill>
                  <a:schemeClr val="bg1"/>
                </a:solidFill>
              </a:rPr>
              <a:t>Store the hash (or Merkle root if batching) on the blockchain while raw data sits in a world state DB or relational DB.</a:t>
            </a:r>
          </a:p>
          <a:p>
            <a:pPr>
              <a:buFont typeface="+mj-lt"/>
              <a:buAutoNum type="arabicPeriod"/>
            </a:pPr>
            <a:r>
              <a:rPr lang="en-US" sz="1600" b="1" dirty="0">
                <a:solidFill>
                  <a:schemeClr val="bg1"/>
                </a:solidFill>
              </a:rPr>
              <a:t>   Smart Contract Verification</a:t>
            </a:r>
          </a:p>
          <a:p>
            <a:r>
              <a:rPr lang="en-US" sz="1600" b="1" dirty="0">
                <a:solidFill>
                  <a:schemeClr val="bg1"/>
                </a:solidFill>
              </a:rPr>
              <a:t>         </a:t>
            </a:r>
            <a:r>
              <a:rPr lang="en-US" sz="1600" dirty="0">
                <a:solidFill>
                  <a:schemeClr val="bg1"/>
                </a:solidFill>
              </a:rPr>
              <a:t> 1. Check that the submitting IoT device is registered and active.</a:t>
            </a:r>
          </a:p>
          <a:p>
            <a:r>
              <a:rPr lang="en-US" sz="1600" b="1" dirty="0">
                <a:solidFill>
                  <a:schemeClr val="bg1"/>
                </a:solidFill>
              </a:rPr>
              <a:t>         </a:t>
            </a:r>
            <a:r>
              <a:rPr lang="en-US" sz="1600" dirty="0">
                <a:solidFill>
                  <a:schemeClr val="bg1"/>
                </a:solidFill>
              </a:rPr>
              <a:t> 2. Check that the signature matches the device’s public key stored on-chain.</a:t>
            </a:r>
          </a:p>
          <a:p>
            <a:r>
              <a:rPr lang="en-US" sz="1600" b="1" dirty="0">
                <a:solidFill>
                  <a:schemeClr val="bg1"/>
                </a:solidFill>
              </a:rPr>
              <a:t>          </a:t>
            </a:r>
            <a:r>
              <a:rPr lang="en-US" sz="1600" dirty="0">
                <a:solidFill>
                  <a:schemeClr val="bg1"/>
                </a:solidFill>
              </a:rPr>
              <a:t>3. Check that the data fits into expected ranges.</a:t>
            </a:r>
          </a:p>
          <a:p>
            <a:pPr marL="342900" indent="-342900">
              <a:buFont typeface="+mj-lt"/>
              <a:buAutoNum type="arabicPeriod" startAt="5"/>
            </a:pPr>
            <a:r>
              <a:rPr lang="en-US" sz="1600" b="1" dirty="0">
                <a:solidFill>
                  <a:schemeClr val="bg1"/>
                </a:solidFill>
              </a:rPr>
              <a:t>Network-Level Security</a:t>
            </a:r>
          </a:p>
          <a:p>
            <a:r>
              <a:rPr lang="en-US" sz="1600" dirty="0">
                <a:solidFill>
                  <a:schemeClr val="bg1"/>
                </a:solidFill>
              </a:rPr>
              <a:t>          1. Use secure gateways between IoT devices , compress, and validate data</a:t>
            </a:r>
          </a:p>
          <a:p>
            <a:r>
              <a:rPr lang="en-US" sz="1600" dirty="0">
                <a:solidFill>
                  <a:schemeClr val="bg1"/>
                </a:solidFill>
              </a:rPr>
              <a:t>              before blockchain submission.</a:t>
            </a:r>
          </a:p>
        </p:txBody>
      </p:sp>
      <p:sp>
        <p:nvSpPr>
          <p:cNvPr id="3" name="TextBox 2">
            <a:extLst>
              <a:ext uri="{FF2B5EF4-FFF2-40B4-BE49-F238E27FC236}">
                <a16:creationId xmlns:a16="http://schemas.microsoft.com/office/drawing/2014/main" id="{B7399DAD-FFC8-0CC4-686A-66CB2A360F5A}"/>
              </a:ext>
            </a:extLst>
          </p:cNvPr>
          <p:cNvSpPr txBox="1"/>
          <p:nvPr/>
        </p:nvSpPr>
        <p:spPr>
          <a:xfrm>
            <a:off x="191579" y="567920"/>
            <a:ext cx="11894027" cy="646331"/>
          </a:xfrm>
          <a:prstGeom prst="rect">
            <a:avLst/>
          </a:prstGeom>
          <a:noFill/>
        </p:spPr>
        <p:txBody>
          <a:bodyPr wrap="square" rtlCol="0">
            <a:spAutoFit/>
          </a:bodyPr>
          <a:lstStyle/>
          <a:p>
            <a:r>
              <a:rPr lang="en-US" dirty="0">
                <a:solidFill>
                  <a:schemeClr val="bg1"/>
                </a:solidFill>
              </a:rPr>
              <a:t>IoT data is </a:t>
            </a:r>
            <a:r>
              <a:rPr lang="en-US" b="1" dirty="0">
                <a:solidFill>
                  <a:schemeClr val="bg1"/>
                </a:solidFill>
              </a:rPr>
              <a:t>signed at the device</a:t>
            </a:r>
            <a:r>
              <a:rPr lang="en-US" dirty="0">
                <a:solidFill>
                  <a:schemeClr val="bg1"/>
                </a:solidFill>
              </a:rPr>
              <a:t>, </a:t>
            </a:r>
            <a:r>
              <a:rPr lang="en-US" b="1" dirty="0">
                <a:solidFill>
                  <a:schemeClr val="bg1"/>
                </a:solidFill>
              </a:rPr>
              <a:t>encrypted in transit</a:t>
            </a:r>
            <a:r>
              <a:rPr lang="en-US" dirty="0">
                <a:solidFill>
                  <a:schemeClr val="bg1"/>
                </a:solidFill>
              </a:rPr>
              <a:t>, </a:t>
            </a:r>
            <a:r>
              <a:rPr lang="en-US" b="1" dirty="0">
                <a:solidFill>
                  <a:schemeClr val="bg1"/>
                </a:solidFill>
              </a:rPr>
              <a:t>validated via smart contracts</a:t>
            </a:r>
            <a:r>
              <a:rPr lang="en-US" dirty="0">
                <a:solidFill>
                  <a:schemeClr val="bg1"/>
                </a:solidFill>
              </a:rPr>
              <a:t>, and its </a:t>
            </a:r>
            <a:r>
              <a:rPr lang="en-US" b="1" dirty="0">
                <a:solidFill>
                  <a:schemeClr val="bg1"/>
                </a:solidFill>
              </a:rPr>
              <a:t>hash anchored on-chain</a:t>
            </a:r>
            <a:r>
              <a:rPr lang="en-US" dirty="0">
                <a:solidFill>
                  <a:schemeClr val="bg1"/>
                </a:solidFill>
              </a:rPr>
              <a:t> while bulk data is stored off-chain. This provides authenticity, confidentiality, and immutability without overloading the blockchain.</a:t>
            </a:r>
            <a:endParaRPr lang="en-US" b="1" dirty="0">
              <a:solidFill>
                <a:schemeClr val="bg1"/>
              </a:solidFill>
            </a:endParaRPr>
          </a:p>
        </p:txBody>
      </p:sp>
      <p:cxnSp>
        <p:nvCxnSpPr>
          <p:cNvPr id="7" name="Straight Connector 6">
            <a:extLst>
              <a:ext uri="{FF2B5EF4-FFF2-40B4-BE49-F238E27FC236}">
                <a16:creationId xmlns:a16="http://schemas.microsoft.com/office/drawing/2014/main" id="{FE01C301-B7E0-D59F-DCAA-9B1ADE58F5DF}"/>
              </a:ext>
            </a:extLst>
          </p:cNvPr>
          <p:cNvCxnSpPr>
            <a:cxnSpLocks/>
          </p:cNvCxnSpPr>
          <p:nvPr/>
        </p:nvCxnSpPr>
        <p:spPr>
          <a:xfrm flipV="1">
            <a:off x="276499" y="1238932"/>
            <a:ext cx="11612880" cy="2518"/>
          </a:xfrm>
          <a:prstGeom prst="line">
            <a:avLst/>
          </a:prstGeom>
          <a:ln w="22225">
            <a:solidFill>
              <a:srgbClr val="FFFF00"/>
            </a:solidFill>
          </a:ln>
        </p:spPr>
        <p:style>
          <a:lnRef idx="1">
            <a:schemeClr val="accent1"/>
          </a:lnRef>
          <a:fillRef idx="0">
            <a:schemeClr val="accent1"/>
          </a:fillRef>
          <a:effectRef idx="0">
            <a:schemeClr val="accent1"/>
          </a:effectRef>
          <a:fontRef idx="minor">
            <a:schemeClr val="tx1"/>
          </a:fontRef>
        </p:style>
      </p:cxnSp>
      <p:pic>
        <p:nvPicPr>
          <p:cNvPr id="1026" name="Picture 2" descr="Iot Transmitter Stock Illustrations – 431 Iot Transmitter ...">
            <a:extLst>
              <a:ext uri="{FF2B5EF4-FFF2-40B4-BE49-F238E27FC236}">
                <a16:creationId xmlns:a16="http://schemas.microsoft.com/office/drawing/2014/main" id="{80942AD5-8C7B-E9E0-2041-993C16CEC6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50429" y="1315404"/>
            <a:ext cx="806107" cy="4534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dustrial IoT Edge Gateway - Advantech">
            <a:extLst>
              <a:ext uri="{FF2B5EF4-FFF2-40B4-BE49-F238E27FC236}">
                <a16:creationId xmlns:a16="http://schemas.microsoft.com/office/drawing/2014/main" id="{347413B9-985C-D667-729F-B52E0E7BA2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2373" y="2079999"/>
            <a:ext cx="1405890" cy="7886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FAA0A90-CA0F-B57C-A31A-A2510C9108AF}"/>
              </a:ext>
            </a:extLst>
          </p:cNvPr>
          <p:cNvSpPr txBox="1"/>
          <p:nvPr/>
        </p:nvSpPr>
        <p:spPr>
          <a:xfrm>
            <a:off x="7242677" y="1731787"/>
            <a:ext cx="4040632" cy="307777"/>
          </a:xfrm>
          <a:prstGeom prst="rect">
            <a:avLst/>
          </a:prstGeom>
          <a:noFill/>
        </p:spPr>
        <p:txBody>
          <a:bodyPr wrap="square" rtlCol="0">
            <a:spAutoFit/>
          </a:bodyPr>
          <a:lstStyle/>
          <a:p>
            <a:r>
              <a:rPr lang="en-US" sz="1400" b="1" dirty="0">
                <a:solidFill>
                  <a:srgbClr val="FFFF00"/>
                </a:solidFill>
              </a:rPr>
              <a:t>Device generates sensor data (e.g., CO₂ = 415 ppm).</a:t>
            </a:r>
          </a:p>
        </p:txBody>
      </p:sp>
      <p:sp>
        <p:nvSpPr>
          <p:cNvPr id="5" name="TextBox 4">
            <a:extLst>
              <a:ext uri="{FF2B5EF4-FFF2-40B4-BE49-F238E27FC236}">
                <a16:creationId xmlns:a16="http://schemas.microsoft.com/office/drawing/2014/main" id="{BDCB993D-4602-D902-383B-0BF240A696A2}"/>
              </a:ext>
            </a:extLst>
          </p:cNvPr>
          <p:cNvSpPr txBox="1"/>
          <p:nvPr/>
        </p:nvSpPr>
        <p:spPr>
          <a:xfrm>
            <a:off x="7236759" y="2303561"/>
            <a:ext cx="2935301" cy="523220"/>
          </a:xfrm>
          <a:prstGeom prst="rect">
            <a:avLst/>
          </a:prstGeom>
          <a:noFill/>
        </p:spPr>
        <p:txBody>
          <a:bodyPr wrap="square" rtlCol="0">
            <a:spAutoFit/>
          </a:bodyPr>
          <a:lstStyle/>
          <a:p>
            <a:r>
              <a:rPr lang="en-US" sz="1400" dirty="0">
                <a:solidFill>
                  <a:srgbClr val="FFFF00"/>
                </a:solidFill>
              </a:rPr>
              <a:t>Edge gateway signs, filters, or encrypts the data.</a:t>
            </a:r>
          </a:p>
        </p:txBody>
      </p:sp>
      <p:cxnSp>
        <p:nvCxnSpPr>
          <p:cNvPr id="9" name="Straight Arrow Connector 8">
            <a:extLst>
              <a:ext uri="{FF2B5EF4-FFF2-40B4-BE49-F238E27FC236}">
                <a16:creationId xmlns:a16="http://schemas.microsoft.com/office/drawing/2014/main" id="{A9A9ACE0-203D-8B70-06F5-68899319B868}"/>
              </a:ext>
            </a:extLst>
          </p:cNvPr>
          <p:cNvCxnSpPr/>
          <p:nvPr/>
        </p:nvCxnSpPr>
        <p:spPr>
          <a:xfrm>
            <a:off x="9899376" y="1764395"/>
            <a:ext cx="0" cy="457200"/>
          </a:xfrm>
          <a:prstGeom prst="straightConnector1">
            <a:avLst/>
          </a:prstGeom>
          <a:ln w="127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BA8BE9F-C626-C506-6CB2-6F4DCB1ED5A2}"/>
              </a:ext>
            </a:extLst>
          </p:cNvPr>
          <p:cNvCxnSpPr>
            <a:cxnSpLocks/>
          </p:cNvCxnSpPr>
          <p:nvPr/>
        </p:nvCxnSpPr>
        <p:spPr>
          <a:xfrm>
            <a:off x="9218076" y="2578288"/>
            <a:ext cx="274320" cy="0"/>
          </a:xfrm>
          <a:prstGeom prst="straightConnector1">
            <a:avLst/>
          </a:prstGeom>
          <a:ln w="127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1FDE444-F671-0DE1-2C58-9BD31C7B73B2}"/>
              </a:ext>
            </a:extLst>
          </p:cNvPr>
          <p:cNvCxnSpPr/>
          <p:nvPr/>
        </p:nvCxnSpPr>
        <p:spPr>
          <a:xfrm>
            <a:off x="10053285" y="3936445"/>
            <a:ext cx="0" cy="457200"/>
          </a:xfrm>
          <a:prstGeom prst="straightConnector1">
            <a:avLst/>
          </a:prstGeom>
          <a:ln w="15875">
            <a:solidFill>
              <a:srgbClr val="FFFF00"/>
            </a:solidFill>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UniFi Cloud Gateway Ultra debuts with ...">
            <a:extLst>
              <a:ext uri="{FF2B5EF4-FFF2-40B4-BE49-F238E27FC236}">
                <a16:creationId xmlns:a16="http://schemas.microsoft.com/office/drawing/2014/main" id="{DC39C036-1473-2A42-6255-CBDC9FCB32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33878" y="3101324"/>
            <a:ext cx="1661124" cy="83056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A7A88C0-B9D9-9AE8-B8CC-1442B9B592E5}"/>
              </a:ext>
            </a:extLst>
          </p:cNvPr>
          <p:cNvSpPr txBox="1"/>
          <p:nvPr/>
        </p:nvSpPr>
        <p:spPr>
          <a:xfrm>
            <a:off x="7186700" y="3052178"/>
            <a:ext cx="2070340" cy="3539430"/>
          </a:xfrm>
          <a:prstGeom prst="rect">
            <a:avLst/>
          </a:prstGeom>
          <a:noFill/>
        </p:spPr>
        <p:txBody>
          <a:bodyPr wrap="square" rtlCol="0">
            <a:spAutoFit/>
          </a:bodyPr>
          <a:lstStyle/>
          <a:p>
            <a:r>
              <a:rPr lang="en-US" sz="1400" dirty="0">
                <a:solidFill>
                  <a:srgbClr val="FFFF00"/>
                </a:solidFill>
              </a:rPr>
              <a:t>Cloud gateway aggregates multiple devices/sources.</a:t>
            </a:r>
          </a:p>
          <a:p>
            <a:r>
              <a:rPr lang="en-US" sz="1400" dirty="0">
                <a:solidFill>
                  <a:srgbClr val="FFFF00"/>
                </a:solidFill>
              </a:rPr>
              <a:t>Cloud gateway runs a blockchain client (Fabric SDK, etc.).</a:t>
            </a:r>
          </a:p>
          <a:p>
            <a:endParaRPr lang="en-US" sz="1400" dirty="0">
              <a:solidFill>
                <a:srgbClr val="FFFF00"/>
              </a:solidFill>
            </a:endParaRPr>
          </a:p>
          <a:p>
            <a:r>
              <a:rPr lang="en-US" sz="1400" b="1" dirty="0">
                <a:solidFill>
                  <a:srgbClr val="FFFF00"/>
                </a:solidFill>
              </a:rPr>
              <a:t>submits a transaction</a:t>
            </a:r>
            <a:r>
              <a:rPr lang="en-US" sz="1400" dirty="0">
                <a:solidFill>
                  <a:srgbClr val="FFFF00"/>
                </a:solidFill>
              </a:rPr>
              <a:t> to the blockchain that triggers the smart contract.</a:t>
            </a:r>
          </a:p>
          <a:p>
            <a:endParaRPr lang="en-US" sz="1400" dirty="0">
              <a:solidFill>
                <a:srgbClr val="FFFF00"/>
              </a:solidFill>
            </a:endParaRPr>
          </a:p>
          <a:p>
            <a:r>
              <a:rPr lang="en-US" sz="1400" dirty="0">
                <a:solidFill>
                  <a:srgbClr val="FFFF00"/>
                </a:solidFill>
              </a:rPr>
              <a:t>Smart contract validates the IoT device identity with public key and stores the data (or hash) immutably</a:t>
            </a:r>
          </a:p>
        </p:txBody>
      </p:sp>
      <p:pic>
        <p:nvPicPr>
          <p:cNvPr id="1032" name="Picture 8" descr="Smart Contracts: Automating Business Processes with Blockchain Technology |  TechDemand">
            <a:extLst>
              <a:ext uri="{FF2B5EF4-FFF2-40B4-BE49-F238E27FC236}">
                <a16:creationId xmlns:a16="http://schemas.microsoft.com/office/drawing/2014/main" id="{F06511BC-8226-E246-365B-5E4B305F9E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7028" y="5336562"/>
            <a:ext cx="1514594" cy="89730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ow does blockchain work? | Stanford Online">
            <a:extLst>
              <a:ext uri="{FF2B5EF4-FFF2-40B4-BE49-F238E27FC236}">
                <a16:creationId xmlns:a16="http://schemas.microsoft.com/office/drawing/2014/main" id="{6F0CBCCB-96CC-7D42-5787-29ACB71748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01114" y="4397300"/>
            <a:ext cx="1126651" cy="633741"/>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Arrow Connector 16">
            <a:extLst>
              <a:ext uri="{FF2B5EF4-FFF2-40B4-BE49-F238E27FC236}">
                <a16:creationId xmlns:a16="http://schemas.microsoft.com/office/drawing/2014/main" id="{8C4840E7-2368-6F00-367D-C302A52CC13F}"/>
              </a:ext>
            </a:extLst>
          </p:cNvPr>
          <p:cNvCxnSpPr/>
          <p:nvPr/>
        </p:nvCxnSpPr>
        <p:spPr>
          <a:xfrm>
            <a:off x="10037786" y="2655099"/>
            <a:ext cx="0" cy="457200"/>
          </a:xfrm>
          <a:prstGeom prst="straightConnector1">
            <a:avLst/>
          </a:prstGeom>
          <a:ln w="127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A8023C3-B37D-A2AC-065C-362342449641}"/>
              </a:ext>
            </a:extLst>
          </p:cNvPr>
          <p:cNvCxnSpPr/>
          <p:nvPr/>
        </p:nvCxnSpPr>
        <p:spPr>
          <a:xfrm>
            <a:off x="10053285" y="5051267"/>
            <a:ext cx="0" cy="274320"/>
          </a:xfrm>
          <a:prstGeom prst="straightConnector1">
            <a:avLst/>
          </a:prstGeom>
          <a:ln w="127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7A53F52-CC00-10F5-01B3-5AE7434CFDA0}"/>
              </a:ext>
            </a:extLst>
          </p:cNvPr>
          <p:cNvCxnSpPr/>
          <p:nvPr/>
        </p:nvCxnSpPr>
        <p:spPr>
          <a:xfrm>
            <a:off x="9346756" y="6243384"/>
            <a:ext cx="0" cy="365760"/>
          </a:xfrm>
          <a:prstGeom prst="straightConnector1">
            <a:avLst/>
          </a:prstGeom>
          <a:ln w="127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4F5135B-48BB-5F4F-F43D-1586ECEBE7D8}"/>
              </a:ext>
            </a:extLst>
          </p:cNvPr>
          <p:cNvCxnSpPr/>
          <p:nvPr/>
        </p:nvCxnSpPr>
        <p:spPr>
          <a:xfrm>
            <a:off x="10085541" y="6243383"/>
            <a:ext cx="0" cy="365760"/>
          </a:xfrm>
          <a:prstGeom prst="straightConnector1">
            <a:avLst/>
          </a:prstGeom>
          <a:ln w="127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F8C4726-6DAA-64C2-58C3-7FD9CC6166F2}"/>
              </a:ext>
            </a:extLst>
          </p:cNvPr>
          <p:cNvCxnSpPr/>
          <p:nvPr/>
        </p:nvCxnSpPr>
        <p:spPr>
          <a:xfrm>
            <a:off x="10786750" y="6243383"/>
            <a:ext cx="0" cy="365760"/>
          </a:xfrm>
          <a:prstGeom prst="straightConnector1">
            <a:avLst/>
          </a:prstGeom>
          <a:ln w="127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2E5E782-837E-A7B5-6D78-6B652E9C5FE6}"/>
              </a:ext>
            </a:extLst>
          </p:cNvPr>
          <p:cNvSpPr txBox="1"/>
          <p:nvPr/>
        </p:nvSpPr>
        <p:spPr>
          <a:xfrm>
            <a:off x="7968648" y="6511921"/>
            <a:ext cx="1747844" cy="307777"/>
          </a:xfrm>
          <a:prstGeom prst="rect">
            <a:avLst/>
          </a:prstGeom>
          <a:noFill/>
        </p:spPr>
        <p:txBody>
          <a:bodyPr wrap="square" rtlCol="0">
            <a:spAutoFit/>
          </a:bodyPr>
          <a:lstStyle/>
          <a:p>
            <a:pPr algn="ctr"/>
            <a:r>
              <a:rPr lang="en-US" sz="1400" b="1" dirty="0">
                <a:solidFill>
                  <a:schemeClr val="bg1"/>
                </a:solidFill>
                <a:latin typeface="Abadi Extra Light" panose="020B0204020104020204" pitchFamily="34" charset="0"/>
              </a:rPr>
              <a:t>Fabric Blockchain</a:t>
            </a:r>
          </a:p>
        </p:txBody>
      </p:sp>
      <p:sp>
        <p:nvSpPr>
          <p:cNvPr id="23" name="TextBox 22">
            <a:extLst>
              <a:ext uri="{FF2B5EF4-FFF2-40B4-BE49-F238E27FC236}">
                <a16:creationId xmlns:a16="http://schemas.microsoft.com/office/drawing/2014/main" id="{E1FEAF4E-968B-E08F-B3C8-D48D71115538}"/>
              </a:ext>
            </a:extLst>
          </p:cNvPr>
          <p:cNvSpPr txBox="1"/>
          <p:nvPr/>
        </p:nvSpPr>
        <p:spPr>
          <a:xfrm>
            <a:off x="9553944" y="6513036"/>
            <a:ext cx="1142433" cy="307777"/>
          </a:xfrm>
          <a:prstGeom prst="rect">
            <a:avLst/>
          </a:prstGeom>
          <a:noFill/>
        </p:spPr>
        <p:txBody>
          <a:bodyPr wrap="square" rtlCol="0">
            <a:spAutoFit/>
          </a:bodyPr>
          <a:lstStyle/>
          <a:p>
            <a:pPr algn="ctr"/>
            <a:r>
              <a:rPr lang="en-US" sz="1400" b="1" dirty="0">
                <a:solidFill>
                  <a:schemeClr val="bg1"/>
                </a:solidFill>
                <a:latin typeface="Abadi Extra Light" panose="020B0204020104020204" pitchFamily="34" charset="0"/>
              </a:rPr>
              <a:t>World State</a:t>
            </a:r>
          </a:p>
        </p:txBody>
      </p:sp>
      <p:sp>
        <p:nvSpPr>
          <p:cNvPr id="24" name="TextBox 23">
            <a:extLst>
              <a:ext uri="{FF2B5EF4-FFF2-40B4-BE49-F238E27FC236}">
                <a16:creationId xmlns:a16="http://schemas.microsoft.com/office/drawing/2014/main" id="{25A9E988-89BC-BDE7-36AD-C51B84B4C3CF}"/>
              </a:ext>
            </a:extLst>
          </p:cNvPr>
          <p:cNvSpPr txBox="1"/>
          <p:nvPr/>
        </p:nvSpPr>
        <p:spPr>
          <a:xfrm>
            <a:off x="10401582" y="6513514"/>
            <a:ext cx="1449827" cy="307777"/>
          </a:xfrm>
          <a:prstGeom prst="rect">
            <a:avLst/>
          </a:prstGeom>
          <a:noFill/>
        </p:spPr>
        <p:txBody>
          <a:bodyPr wrap="square" rtlCol="0">
            <a:spAutoFit/>
          </a:bodyPr>
          <a:lstStyle/>
          <a:p>
            <a:pPr algn="ctr"/>
            <a:r>
              <a:rPr lang="en-US" sz="1400" b="1" dirty="0">
                <a:solidFill>
                  <a:schemeClr val="bg1"/>
                </a:solidFill>
                <a:latin typeface="Abadi Extra Light" panose="020B0204020104020204" pitchFamily="34" charset="0"/>
              </a:rPr>
              <a:t>Relational DB</a:t>
            </a:r>
          </a:p>
        </p:txBody>
      </p:sp>
      <p:cxnSp>
        <p:nvCxnSpPr>
          <p:cNvPr id="25" name="Straight Arrow Connector 24">
            <a:extLst>
              <a:ext uri="{FF2B5EF4-FFF2-40B4-BE49-F238E27FC236}">
                <a16:creationId xmlns:a16="http://schemas.microsoft.com/office/drawing/2014/main" id="{ABC92967-29C0-54D0-FF98-58F2AEC6F990}"/>
              </a:ext>
            </a:extLst>
          </p:cNvPr>
          <p:cNvCxnSpPr/>
          <p:nvPr/>
        </p:nvCxnSpPr>
        <p:spPr>
          <a:xfrm>
            <a:off x="7124617" y="1964263"/>
            <a:ext cx="0" cy="4114800"/>
          </a:xfrm>
          <a:prstGeom prst="straightConnector1">
            <a:avLst/>
          </a:prstGeom>
          <a:ln w="12700">
            <a:solidFill>
              <a:srgbClr val="FFFF00"/>
            </a:solidFill>
            <a:tailEnd type="non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D5F9E4EA-4CE9-12DE-E0A0-2E6751C4B236}"/>
              </a:ext>
            </a:extLst>
          </p:cNvPr>
          <p:cNvPicPr>
            <a:picLocks noChangeAspect="1"/>
          </p:cNvPicPr>
          <p:nvPr/>
        </p:nvPicPr>
        <p:blipFill>
          <a:blip r:embed="rId7"/>
          <a:stretch>
            <a:fillRect/>
          </a:stretch>
        </p:blipFill>
        <p:spPr>
          <a:xfrm>
            <a:off x="10720504" y="4522195"/>
            <a:ext cx="1088134" cy="324531"/>
          </a:xfrm>
          <a:prstGeom prst="rect">
            <a:avLst/>
          </a:prstGeom>
        </p:spPr>
      </p:pic>
      <p:pic>
        <p:nvPicPr>
          <p:cNvPr id="28" name="Picture 27">
            <a:extLst>
              <a:ext uri="{FF2B5EF4-FFF2-40B4-BE49-F238E27FC236}">
                <a16:creationId xmlns:a16="http://schemas.microsoft.com/office/drawing/2014/main" id="{E0512232-C75B-9421-BBA0-7C4F8A5219BA}"/>
              </a:ext>
            </a:extLst>
          </p:cNvPr>
          <p:cNvPicPr>
            <a:picLocks noChangeAspect="1"/>
          </p:cNvPicPr>
          <p:nvPr/>
        </p:nvPicPr>
        <p:blipFill>
          <a:blip r:embed="rId8"/>
          <a:stretch>
            <a:fillRect/>
          </a:stretch>
        </p:blipFill>
        <p:spPr>
          <a:xfrm>
            <a:off x="10786679" y="2333531"/>
            <a:ext cx="1088134" cy="321568"/>
          </a:xfrm>
          <a:prstGeom prst="rect">
            <a:avLst/>
          </a:prstGeom>
        </p:spPr>
      </p:pic>
      <p:sp>
        <p:nvSpPr>
          <p:cNvPr id="29" name="TextBox 28">
            <a:extLst>
              <a:ext uri="{FF2B5EF4-FFF2-40B4-BE49-F238E27FC236}">
                <a16:creationId xmlns:a16="http://schemas.microsoft.com/office/drawing/2014/main" id="{E1488E1B-6A65-16FE-08E5-FB58789D5ED6}"/>
              </a:ext>
            </a:extLst>
          </p:cNvPr>
          <p:cNvSpPr txBox="1"/>
          <p:nvPr/>
        </p:nvSpPr>
        <p:spPr>
          <a:xfrm>
            <a:off x="10605820" y="2620223"/>
            <a:ext cx="1477592" cy="415498"/>
          </a:xfrm>
          <a:prstGeom prst="rect">
            <a:avLst/>
          </a:prstGeom>
          <a:noFill/>
        </p:spPr>
        <p:txBody>
          <a:bodyPr wrap="square" rtlCol="0">
            <a:spAutoFit/>
          </a:bodyPr>
          <a:lstStyle/>
          <a:p>
            <a:r>
              <a:rPr lang="en-US" sz="1050" b="1" dirty="0">
                <a:solidFill>
                  <a:schemeClr val="bg1"/>
                </a:solidFill>
              </a:rPr>
              <a:t>decentralized identity </a:t>
            </a:r>
          </a:p>
          <a:p>
            <a:r>
              <a:rPr lang="en-US" sz="1050" b="1" dirty="0">
                <a:solidFill>
                  <a:schemeClr val="bg1"/>
                </a:solidFill>
              </a:rPr>
              <a:t>&amp; verifiable credentials</a:t>
            </a:r>
            <a:endParaRPr lang="en-US" sz="1050" dirty="0">
              <a:solidFill>
                <a:schemeClr val="bg1"/>
              </a:solidFill>
            </a:endParaRPr>
          </a:p>
        </p:txBody>
      </p:sp>
      <p:sp>
        <p:nvSpPr>
          <p:cNvPr id="30" name="TextBox 29">
            <a:extLst>
              <a:ext uri="{FF2B5EF4-FFF2-40B4-BE49-F238E27FC236}">
                <a16:creationId xmlns:a16="http://schemas.microsoft.com/office/drawing/2014/main" id="{7567279F-3B60-5E18-3DC2-7B3D009603BF}"/>
              </a:ext>
            </a:extLst>
          </p:cNvPr>
          <p:cNvSpPr txBox="1"/>
          <p:nvPr/>
        </p:nvSpPr>
        <p:spPr>
          <a:xfrm>
            <a:off x="10543346" y="5404791"/>
            <a:ext cx="1362206" cy="830997"/>
          </a:xfrm>
          <a:prstGeom prst="rect">
            <a:avLst/>
          </a:prstGeom>
          <a:noFill/>
        </p:spPr>
        <p:txBody>
          <a:bodyPr wrap="square" rtlCol="0">
            <a:spAutoFit/>
          </a:bodyPr>
          <a:lstStyle/>
          <a:p>
            <a:pPr algn="ctr"/>
            <a:r>
              <a:rPr lang="en-US" sz="1600" b="1" dirty="0">
                <a:solidFill>
                  <a:schemeClr val="bg1"/>
                </a:solidFill>
              </a:rPr>
              <a:t>Perform </a:t>
            </a:r>
          </a:p>
          <a:p>
            <a:pPr algn="ctr"/>
            <a:r>
              <a:rPr lang="en-US" sz="1600" b="1" dirty="0">
                <a:solidFill>
                  <a:schemeClr val="bg1"/>
                </a:solidFill>
              </a:rPr>
              <a:t>steps </a:t>
            </a:r>
          </a:p>
          <a:p>
            <a:pPr algn="ctr"/>
            <a:r>
              <a:rPr lang="en-US" sz="1600" b="1" dirty="0">
                <a:solidFill>
                  <a:schemeClr val="bg1"/>
                </a:solidFill>
              </a:rPr>
              <a:t>3 and 4</a:t>
            </a:r>
          </a:p>
        </p:txBody>
      </p:sp>
      <p:sp>
        <p:nvSpPr>
          <p:cNvPr id="31" name="TextBox 30">
            <a:extLst>
              <a:ext uri="{FF2B5EF4-FFF2-40B4-BE49-F238E27FC236}">
                <a16:creationId xmlns:a16="http://schemas.microsoft.com/office/drawing/2014/main" id="{31F68084-0FEC-88A6-66CA-05B03E0B8056}"/>
              </a:ext>
            </a:extLst>
          </p:cNvPr>
          <p:cNvSpPr txBox="1"/>
          <p:nvPr/>
        </p:nvSpPr>
        <p:spPr>
          <a:xfrm>
            <a:off x="10733847" y="3144935"/>
            <a:ext cx="1362206" cy="646331"/>
          </a:xfrm>
          <a:prstGeom prst="rect">
            <a:avLst/>
          </a:prstGeom>
          <a:noFill/>
        </p:spPr>
        <p:txBody>
          <a:bodyPr wrap="square" rtlCol="0">
            <a:spAutoFit/>
          </a:bodyPr>
          <a:lstStyle/>
          <a:p>
            <a:pPr algn="ctr"/>
            <a:r>
              <a:rPr lang="en-US" sz="1200" b="1" dirty="0">
                <a:solidFill>
                  <a:schemeClr val="bg1"/>
                </a:solidFill>
              </a:rPr>
              <a:t>AWS IoT Core</a:t>
            </a:r>
          </a:p>
          <a:p>
            <a:pPr algn="ctr"/>
            <a:r>
              <a:rPr lang="en-US" sz="1200" b="1" dirty="0">
                <a:solidFill>
                  <a:schemeClr val="bg1"/>
                </a:solidFill>
              </a:rPr>
              <a:t>MS Azure</a:t>
            </a:r>
          </a:p>
          <a:p>
            <a:pPr algn="ctr"/>
            <a:r>
              <a:rPr lang="en-US" sz="1200" b="1" dirty="0">
                <a:solidFill>
                  <a:schemeClr val="bg1"/>
                </a:solidFill>
              </a:rPr>
              <a:t>Google Cloud</a:t>
            </a:r>
          </a:p>
        </p:txBody>
      </p:sp>
      <p:sp>
        <p:nvSpPr>
          <p:cNvPr id="32" name="TextBox 31">
            <a:extLst>
              <a:ext uri="{FF2B5EF4-FFF2-40B4-BE49-F238E27FC236}">
                <a16:creationId xmlns:a16="http://schemas.microsoft.com/office/drawing/2014/main" id="{720DAB8A-D259-E9C5-A76E-E788EDD23198}"/>
              </a:ext>
            </a:extLst>
          </p:cNvPr>
          <p:cNvSpPr txBox="1"/>
          <p:nvPr/>
        </p:nvSpPr>
        <p:spPr>
          <a:xfrm>
            <a:off x="8247204" y="1970565"/>
            <a:ext cx="1740292" cy="246221"/>
          </a:xfrm>
          <a:prstGeom prst="rect">
            <a:avLst/>
          </a:prstGeom>
          <a:noFill/>
        </p:spPr>
        <p:txBody>
          <a:bodyPr wrap="square" rtlCol="0">
            <a:spAutoFit/>
          </a:bodyPr>
          <a:lstStyle/>
          <a:p>
            <a:r>
              <a:rPr lang="en-US" sz="1000" b="1" dirty="0">
                <a:solidFill>
                  <a:schemeClr val="bg1"/>
                </a:solidFill>
              </a:rPr>
              <a:t>MQTT with TLS\SSL Support </a:t>
            </a:r>
          </a:p>
        </p:txBody>
      </p:sp>
      <p:sp>
        <p:nvSpPr>
          <p:cNvPr id="33" name="TextBox 32">
            <a:extLst>
              <a:ext uri="{FF2B5EF4-FFF2-40B4-BE49-F238E27FC236}">
                <a16:creationId xmlns:a16="http://schemas.microsoft.com/office/drawing/2014/main" id="{69FD54E7-50E5-1B95-9E39-7D9D86EDE1DB}"/>
              </a:ext>
            </a:extLst>
          </p:cNvPr>
          <p:cNvSpPr txBox="1"/>
          <p:nvPr/>
        </p:nvSpPr>
        <p:spPr>
          <a:xfrm>
            <a:off x="10500252" y="1404862"/>
            <a:ext cx="1534896" cy="246221"/>
          </a:xfrm>
          <a:prstGeom prst="rect">
            <a:avLst/>
          </a:prstGeom>
          <a:noFill/>
        </p:spPr>
        <p:txBody>
          <a:bodyPr wrap="square" rtlCol="0">
            <a:spAutoFit/>
          </a:bodyPr>
          <a:lstStyle/>
          <a:p>
            <a:r>
              <a:rPr lang="en-US" sz="1000" b="1" dirty="0">
                <a:solidFill>
                  <a:schemeClr val="bg1"/>
                </a:solidFill>
              </a:rPr>
              <a:t>DID assigned – public key </a:t>
            </a:r>
          </a:p>
        </p:txBody>
      </p:sp>
      <p:cxnSp>
        <p:nvCxnSpPr>
          <p:cNvPr id="34" name="Straight Arrow Connector 33">
            <a:extLst>
              <a:ext uri="{FF2B5EF4-FFF2-40B4-BE49-F238E27FC236}">
                <a16:creationId xmlns:a16="http://schemas.microsoft.com/office/drawing/2014/main" id="{8E5F491A-3EF0-08AE-2E27-DB29CAEE2122}"/>
              </a:ext>
            </a:extLst>
          </p:cNvPr>
          <p:cNvCxnSpPr/>
          <p:nvPr/>
        </p:nvCxnSpPr>
        <p:spPr>
          <a:xfrm>
            <a:off x="11331797" y="1593423"/>
            <a:ext cx="0" cy="731520"/>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5458B08-32F8-430A-D8E8-7412E730C8C6}"/>
              </a:ext>
            </a:extLst>
          </p:cNvPr>
          <p:cNvSpPr txBox="1"/>
          <p:nvPr/>
        </p:nvSpPr>
        <p:spPr>
          <a:xfrm>
            <a:off x="7836650" y="1382019"/>
            <a:ext cx="1534896" cy="246221"/>
          </a:xfrm>
          <a:prstGeom prst="rect">
            <a:avLst/>
          </a:prstGeom>
          <a:noFill/>
        </p:spPr>
        <p:txBody>
          <a:bodyPr wrap="square" rtlCol="0">
            <a:spAutoFit/>
          </a:bodyPr>
          <a:lstStyle/>
          <a:p>
            <a:r>
              <a:rPr lang="en-US" sz="1000" b="1" dirty="0">
                <a:solidFill>
                  <a:schemeClr val="bg1"/>
                </a:solidFill>
              </a:rPr>
              <a:t> </a:t>
            </a:r>
          </a:p>
        </p:txBody>
      </p:sp>
      <p:sp>
        <p:nvSpPr>
          <p:cNvPr id="36" name="TextBox 35">
            <a:extLst>
              <a:ext uri="{FF2B5EF4-FFF2-40B4-BE49-F238E27FC236}">
                <a16:creationId xmlns:a16="http://schemas.microsoft.com/office/drawing/2014/main" id="{0ED94A1F-ED55-7B37-D0AA-F946F20832FF}"/>
              </a:ext>
            </a:extLst>
          </p:cNvPr>
          <p:cNvSpPr txBox="1"/>
          <p:nvPr/>
        </p:nvSpPr>
        <p:spPr>
          <a:xfrm>
            <a:off x="7161044" y="1410986"/>
            <a:ext cx="1953931" cy="246221"/>
          </a:xfrm>
          <a:prstGeom prst="rect">
            <a:avLst/>
          </a:prstGeom>
          <a:noFill/>
        </p:spPr>
        <p:txBody>
          <a:bodyPr wrap="square" rtlCol="0">
            <a:spAutoFit/>
          </a:bodyPr>
          <a:lstStyle/>
          <a:p>
            <a:r>
              <a:rPr lang="en-US" sz="1000" b="1" dirty="0">
                <a:solidFill>
                  <a:schemeClr val="bg1"/>
                </a:solidFill>
              </a:rPr>
              <a:t>Public/private key pair assigned </a:t>
            </a:r>
          </a:p>
        </p:txBody>
      </p:sp>
      <p:cxnSp>
        <p:nvCxnSpPr>
          <p:cNvPr id="37" name="Straight Arrow Connector 36">
            <a:extLst>
              <a:ext uri="{FF2B5EF4-FFF2-40B4-BE49-F238E27FC236}">
                <a16:creationId xmlns:a16="http://schemas.microsoft.com/office/drawing/2014/main" id="{F3A59B7F-BF85-8642-896C-1166FC65AE9D}"/>
              </a:ext>
            </a:extLst>
          </p:cNvPr>
          <p:cNvCxnSpPr>
            <a:cxnSpLocks/>
          </p:cNvCxnSpPr>
          <p:nvPr/>
        </p:nvCxnSpPr>
        <p:spPr>
          <a:xfrm>
            <a:off x="8980718" y="1545164"/>
            <a:ext cx="457200" cy="0"/>
          </a:xfrm>
          <a:prstGeom prst="straightConnector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CC94C54-C29A-886B-F338-D3456F95E63E}"/>
              </a:ext>
            </a:extLst>
          </p:cNvPr>
          <p:cNvSpPr txBox="1"/>
          <p:nvPr/>
        </p:nvSpPr>
        <p:spPr>
          <a:xfrm>
            <a:off x="11276840" y="1836042"/>
            <a:ext cx="784626" cy="246221"/>
          </a:xfrm>
          <a:prstGeom prst="rect">
            <a:avLst/>
          </a:prstGeom>
          <a:noFill/>
        </p:spPr>
        <p:txBody>
          <a:bodyPr wrap="square" rtlCol="0">
            <a:spAutoFit/>
          </a:bodyPr>
          <a:lstStyle/>
          <a:p>
            <a:r>
              <a:rPr lang="en-US" sz="900" b="1" dirty="0">
                <a:solidFill>
                  <a:schemeClr val="bg1"/>
                </a:solidFill>
              </a:rPr>
              <a:t>transaction</a:t>
            </a:r>
            <a:r>
              <a:rPr lang="en-US" sz="1000" b="1" dirty="0">
                <a:solidFill>
                  <a:schemeClr val="bg1"/>
                </a:solidFill>
              </a:rPr>
              <a:t> </a:t>
            </a:r>
          </a:p>
        </p:txBody>
      </p:sp>
      <p:sp>
        <p:nvSpPr>
          <p:cNvPr id="39" name="TextBox 38">
            <a:extLst>
              <a:ext uri="{FF2B5EF4-FFF2-40B4-BE49-F238E27FC236}">
                <a16:creationId xmlns:a16="http://schemas.microsoft.com/office/drawing/2014/main" id="{8516D54B-E635-7B9C-38CD-EAFC84043855}"/>
              </a:ext>
            </a:extLst>
          </p:cNvPr>
          <p:cNvSpPr txBox="1"/>
          <p:nvPr/>
        </p:nvSpPr>
        <p:spPr>
          <a:xfrm>
            <a:off x="10150846" y="3930133"/>
            <a:ext cx="1777082" cy="461665"/>
          </a:xfrm>
          <a:prstGeom prst="rect">
            <a:avLst/>
          </a:prstGeom>
          <a:noFill/>
        </p:spPr>
        <p:txBody>
          <a:bodyPr wrap="square" rtlCol="0">
            <a:spAutoFit/>
          </a:bodyPr>
          <a:lstStyle/>
          <a:p>
            <a:pPr algn="ctr"/>
            <a:r>
              <a:rPr lang="en-US" sz="1200" b="1" dirty="0">
                <a:solidFill>
                  <a:schemeClr val="bg1"/>
                </a:solidFill>
              </a:rPr>
              <a:t>Format data for</a:t>
            </a:r>
          </a:p>
          <a:p>
            <a:pPr algn="ctr"/>
            <a:r>
              <a:rPr lang="en-US" sz="1200" b="1" dirty="0">
                <a:solidFill>
                  <a:schemeClr val="bg1"/>
                </a:solidFill>
              </a:rPr>
              <a:t> blockchain transaction</a:t>
            </a:r>
          </a:p>
        </p:txBody>
      </p:sp>
      <p:cxnSp>
        <p:nvCxnSpPr>
          <p:cNvPr id="40" name="Straight Arrow Connector 39">
            <a:extLst>
              <a:ext uri="{FF2B5EF4-FFF2-40B4-BE49-F238E27FC236}">
                <a16:creationId xmlns:a16="http://schemas.microsoft.com/office/drawing/2014/main" id="{8E230854-DA24-ABF9-32B6-7620EA1E608B}"/>
              </a:ext>
            </a:extLst>
          </p:cNvPr>
          <p:cNvCxnSpPr>
            <a:cxnSpLocks/>
          </p:cNvCxnSpPr>
          <p:nvPr/>
        </p:nvCxnSpPr>
        <p:spPr>
          <a:xfrm>
            <a:off x="10111356" y="4099066"/>
            <a:ext cx="274320" cy="0"/>
          </a:xfrm>
          <a:prstGeom prst="straightConnector1">
            <a:avLst/>
          </a:prstGeom>
          <a:ln w="12700">
            <a:solidFill>
              <a:schemeClr val="bg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22937DC-19E3-C1CE-D441-33A596DFABAE}"/>
              </a:ext>
            </a:extLst>
          </p:cNvPr>
          <p:cNvSpPr txBox="1"/>
          <p:nvPr/>
        </p:nvSpPr>
        <p:spPr>
          <a:xfrm>
            <a:off x="10452243" y="4983305"/>
            <a:ext cx="1777082" cy="415498"/>
          </a:xfrm>
          <a:prstGeom prst="rect">
            <a:avLst/>
          </a:prstGeom>
          <a:noFill/>
        </p:spPr>
        <p:txBody>
          <a:bodyPr wrap="square" rtlCol="0">
            <a:spAutoFit/>
          </a:bodyPr>
          <a:lstStyle/>
          <a:p>
            <a:pPr algn="ctr"/>
            <a:r>
              <a:rPr lang="en-US" sz="1050" b="1" dirty="0">
                <a:solidFill>
                  <a:schemeClr val="bg1"/>
                </a:solidFill>
              </a:rPr>
              <a:t>Smart contract call from cloud gateway</a:t>
            </a:r>
          </a:p>
        </p:txBody>
      </p:sp>
      <p:cxnSp>
        <p:nvCxnSpPr>
          <p:cNvPr id="42" name="Straight Arrow Connector 41">
            <a:extLst>
              <a:ext uri="{FF2B5EF4-FFF2-40B4-BE49-F238E27FC236}">
                <a16:creationId xmlns:a16="http://schemas.microsoft.com/office/drawing/2014/main" id="{49A33E32-F8A1-8518-E8E8-A2A991DEE5CE}"/>
              </a:ext>
            </a:extLst>
          </p:cNvPr>
          <p:cNvCxnSpPr>
            <a:cxnSpLocks/>
          </p:cNvCxnSpPr>
          <p:nvPr/>
        </p:nvCxnSpPr>
        <p:spPr>
          <a:xfrm>
            <a:off x="10113264" y="5159429"/>
            <a:ext cx="274320" cy="0"/>
          </a:xfrm>
          <a:prstGeom prst="straightConnector1">
            <a:avLst/>
          </a:prstGeom>
          <a:ln w="12700">
            <a:solidFill>
              <a:schemeClr val="bg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F8B5736-D084-EB3A-6EAE-C3CC5B63947B}"/>
              </a:ext>
            </a:extLst>
          </p:cNvPr>
          <p:cNvCxnSpPr>
            <a:cxnSpLocks/>
          </p:cNvCxnSpPr>
          <p:nvPr/>
        </p:nvCxnSpPr>
        <p:spPr>
          <a:xfrm>
            <a:off x="10116958" y="2871498"/>
            <a:ext cx="274320" cy="0"/>
          </a:xfrm>
          <a:prstGeom prst="straightConnector1">
            <a:avLst/>
          </a:prstGeom>
          <a:ln w="12700">
            <a:solidFill>
              <a:schemeClr val="bg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E9715CC-E775-F412-3692-A2DB2796CC04}"/>
              </a:ext>
            </a:extLst>
          </p:cNvPr>
          <p:cNvSpPr txBox="1"/>
          <p:nvPr/>
        </p:nvSpPr>
        <p:spPr>
          <a:xfrm>
            <a:off x="8682579" y="6264585"/>
            <a:ext cx="784626" cy="246221"/>
          </a:xfrm>
          <a:prstGeom prst="rect">
            <a:avLst/>
          </a:prstGeom>
          <a:noFill/>
        </p:spPr>
        <p:txBody>
          <a:bodyPr wrap="square" rtlCol="0">
            <a:spAutoFit/>
          </a:bodyPr>
          <a:lstStyle/>
          <a:p>
            <a:r>
              <a:rPr lang="en-US" sz="900" b="1" dirty="0">
                <a:solidFill>
                  <a:schemeClr val="bg1"/>
                </a:solidFill>
              </a:rPr>
              <a:t>transaction</a:t>
            </a:r>
            <a:r>
              <a:rPr lang="en-US" sz="1000" b="1" dirty="0">
                <a:solidFill>
                  <a:schemeClr val="bg1"/>
                </a:solidFill>
              </a:rPr>
              <a:t> </a:t>
            </a:r>
          </a:p>
        </p:txBody>
      </p:sp>
      <p:sp>
        <p:nvSpPr>
          <p:cNvPr id="46" name="TextBox 45">
            <a:extLst>
              <a:ext uri="{FF2B5EF4-FFF2-40B4-BE49-F238E27FC236}">
                <a16:creationId xmlns:a16="http://schemas.microsoft.com/office/drawing/2014/main" id="{A703B5C5-2ACF-606A-A91A-CAF03CCFAFD4}"/>
              </a:ext>
            </a:extLst>
          </p:cNvPr>
          <p:cNvSpPr txBox="1"/>
          <p:nvPr/>
        </p:nvSpPr>
        <p:spPr>
          <a:xfrm>
            <a:off x="9160442" y="4030252"/>
            <a:ext cx="784626" cy="246221"/>
          </a:xfrm>
          <a:prstGeom prst="rect">
            <a:avLst/>
          </a:prstGeom>
          <a:noFill/>
        </p:spPr>
        <p:txBody>
          <a:bodyPr wrap="square" rtlCol="0">
            <a:spAutoFit/>
          </a:bodyPr>
          <a:lstStyle/>
          <a:p>
            <a:r>
              <a:rPr lang="en-US" sz="900" b="1" dirty="0">
                <a:solidFill>
                  <a:schemeClr val="bg1"/>
                </a:solidFill>
              </a:rPr>
              <a:t>transaction</a:t>
            </a:r>
            <a:r>
              <a:rPr lang="en-US" sz="1000" b="1" dirty="0">
                <a:solidFill>
                  <a:schemeClr val="bg1"/>
                </a:solidFill>
              </a:rPr>
              <a:t> </a:t>
            </a:r>
          </a:p>
        </p:txBody>
      </p:sp>
      <p:sp>
        <p:nvSpPr>
          <p:cNvPr id="47" name="TextBox 46">
            <a:extLst>
              <a:ext uri="{FF2B5EF4-FFF2-40B4-BE49-F238E27FC236}">
                <a16:creationId xmlns:a16="http://schemas.microsoft.com/office/drawing/2014/main" id="{A407392A-5563-632E-2ADD-A9EFC1CF13C9}"/>
              </a:ext>
            </a:extLst>
          </p:cNvPr>
          <p:cNvSpPr txBox="1"/>
          <p:nvPr/>
        </p:nvSpPr>
        <p:spPr>
          <a:xfrm>
            <a:off x="9230186" y="5084139"/>
            <a:ext cx="784626" cy="246221"/>
          </a:xfrm>
          <a:prstGeom prst="rect">
            <a:avLst/>
          </a:prstGeom>
          <a:noFill/>
        </p:spPr>
        <p:txBody>
          <a:bodyPr wrap="square" rtlCol="0">
            <a:spAutoFit/>
          </a:bodyPr>
          <a:lstStyle/>
          <a:p>
            <a:r>
              <a:rPr lang="en-US" sz="900" b="1" dirty="0">
                <a:solidFill>
                  <a:schemeClr val="bg1"/>
                </a:solidFill>
              </a:rPr>
              <a:t>transaction</a:t>
            </a:r>
            <a:r>
              <a:rPr lang="en-US" sz="1000" b="1" dirty="0">
                <a:solidFill>
                  <a:schemeClr val="bg1"/>
                </a:solidFill>
              </a:rPr>
              <a:t> </a:t>
            </a:r>
          </a:p>
        </p:txBody>
      </p:sp>
    </p:spTree>
    <p:extLst>
      <p:ext uri="{BB962C8B-B14F-4D97-AF65-F5344CB8AC3E}">
        <p14:creationId xmlns:p14="http://schemas.microsoft.com/office/powerpoint/2010/main" val="14135638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83971-BAC7-3C02-8EBE-82881C9C216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C4C9837-117F-493C-8584-1398A08BD705}"/>
              </a:ext>
            </a:extLst>
          </p:cNvPr>
          <p:cNvSpPr/>
          <p:nvPr/>
        </p:nvSpPr>
        <p:spPr>
          <a:xfrm>
            <a:off x="-7859" y="0"/>
            <a:ext cx="12192000" cy="7010400"/>
          </a:xfrm>
          <a:prstGeom prst="rect">
            <a:avLst/>
          </a:prstGeom>
          <a:gradFill flip="none" rotWithShape="1">
            <a:gsLst>
              <a:gs pos="100000">
                <a:schemeClr val="accent6">
                  <a:lumMod val="75000"/>
                </a:schemeClr>
              </a:gs>
              <a:gs pos="20000">
                <a:schemeClr val="accent6">
                  <a:lumMod val="50000"/>
                </a:schemeClr>
              </a:gs>
              <a:gs pos="0">
                <a:schemeClr val="accent2">
                  <a:lumMod val="60000"/>
                  <a:lumOff val="40000"/>
                </a:schemeClr>
              </a:gs>
              <a:gs pos="34000">
                <a:schemeClr val="accent6">
                  <a:lumMod val="60000"/>
                  <a:lumOff val="4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65DB242-2F92-5A54-4870-BD2EF825755D}"/>
              </a:ext>
            </a:extLst>
          </p:cNvPr>
          <p:cNvSpPr txBox="1"/>
          <p:nvPr/>
        </p:nvSpPr>
        <p:spPr>
          <a:xfrm>
            <a:off x="209255" y="724317"/>
            <a:ext cx="11974886" cy="1785104"/>
          </a:xfrm>
          <a:prstGeom prst="rect">
            <a:avLst/>
          </a:prstGeom>
          <a:noFill/>
          <a:ln w="12700">
            <a:noFill/>
          </a:ln>
        </p:spPr>
        <p:txBody>
          <a:bodyPr wrap="square" rtlCol="0">
            <a:spAutoFit/>
          </a:bodyPr>
          <a:lstStyle/>
          <a:p>
            <a:r>
              <a:rPr lang="en-US" sz="1600" b="1" dirty="0">
                <a:solidFill>
                  <a:schemeClr val="bg1"/>
                </a:solidFill>
                <a:latin typeface="Google Sans"/>
              </a:rPr>
              <a:t>  </a:t>
            </a:r>
            <a:r>
              <a:rPr lang="en-US" sz="1600" b="1" dirty="0">
                <a:solidFill>
                  <a:srgbClr val="FFFF00"/>
                </a:solidFill>
                <a:latin typeface="Google Sans"/>
              </a:rPr>
              <a:t>Supply Chain IOT -&gt; Edge Device</a:t>
            </a:r>
          </a:p>
          <a:p>
            <a:r>
              <a:rPr lang="en-US" sz="1600" b="1" dirty="0">
                <a:solidFill>
                  <a:schemeClr val="bg1"/>
                </a:solidFill>
                <a:latin typeface="Google Sans"/>
              </a:rPr>
              <a:t>  MQTT is the selected protocol as it has high efficiency, natively supports pub/sub for asynchronous data transfer. In addition, security is</a:t>
            </a:r>
          </a:p>
          <a:p>
            <a:r>
              <a:rPr lang="en-US" sz="1600" b="1" dirty="0">
                <a:solidFill>
                  <a:schemeClr val="bg1"/>
                </a:solidFill>
                <a:latin typeface="Google Sans"/>
              </a:rPr>
              <a:t>  configured with TLS support, and it can have up to QoS0-2 (exactly once data transfer guarantee).</a:t>
            </a:r>
          </a:p>
          <a:p>
            <a:endParaRPr lang="en-US" sz="1600" b="1" dirty="0">
              <a:solidFill>
                <a:schemeClr val="bg1"/>
              </a:solidFill>
              <a:latin typeface="Google Sans"/>
            </a:endParaRPr>
          </a:p>
          <a:p>
            <a:r>
              <a:rPr lang="en-US" sz="1600" b="1" dirty="0">
                <a:solidFill>
                  <a:schemeClr val="bg1"/>
                </a:solidFill>
                <a:latin typeface="Google Sans"/>
              </a:rPr>
              <a:t>  </a:t>
            </a:r>
            <a:r>
              <a:rPr lang="en-US" sz="1600" b="1" dirty="0">
                <a:solidFill>
                  <a:srgbClr val="FFFF00"/>
                </a:solidFill>
                <a:latin typeface="Google Sans"/>
              </a:rPr>
              <a:t>Edge Device -&gt; API Gateway -&gt; Microservices Application</a:t>
            </a:r>
          </a:p>
          <a:p>
            <a:r>
              <a:rPr lang="en-US" sz="1600" b="1" dirty="0">
                <a:solidFill>
                  <a:schemeClr val="bg1"/>
                </a:solidFill>
                <a:latin typeface="Google Sans"/>
              </a:rPr>
              <a:t>  HTTPS REST is to be utilized due to its standardization and ubiquitous ecosystem. Has been associated with ease of implementation.</a:t>
            </a:r>
          </a:p>
          <a:p>
            <a:endParaRPr lang="en-US" sz="1400" dirty="0"/>
          </a:p>
        </p:txBody>
      </p:sp>
      <p:sp>
        <p:nvSpPr>
          <p:cNvPr id="2" name="AutoShape 2" descr="A detailed infographic illustrating the process of defining an IoT device on a blockchain. The image includes a flow from an IoT device (e.g., a sensor) to its integration with a blockchain system. Key elements include (1) Device Identity Registration with unique IDs and cryptographic keys, (2) Secure Communication using encryption, (3) Data Validation through blockchain nodes and oracles, (4) Integration with Smart Contracts showing automated triggers, (5) Off-Chain Data Storage connected to the blockchain using systems like IPFS, and (6) Scalability with Layer 2 solutions. The design is clean and professional, with arrows connecting each step, labeled sections, and a modern tech aesthetic.">
            <a:extLst>
              <a:ext uri="{FF2B5EF4-FFF2-40B4-BE49-F238E27FC236}">
                <a16:creationId xmlns:a16="http://schemas.microsoft.com/office/drawing/2014/main" id="{DC265DB7-2193-B3F4-87C4-6DF187102AE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E8C4FFCC-69EF-5796-6163-AB9BDCB66BC0}"/>
              </a:ext>
            </a:extLst>
          </p:cNvPr>
          <p:cNvSpPr txBox="1"/>
          <p:nvPr/>
        </p:nvSpPr>
        <p:spPr>
          <a:xfrm>
            <a:off x="138004" y="0"/>
            <a:ext cx="9499771" cy="584775"/>
          </a:xfrm>
          <a:prstGeom prst="rect">
            <a:avLst/>
          </a:prstGeom>
          <a:noFill/>
        </p:spPr>
        <p:txBody>
          <a:bodyPr wrap="square" rtlCol="0">
            <a:spAutoFit/>
          </a:bodyPr>
          <a:lstStyle/>
          <a:p>
            <a:r>
              <a:rPr lang="en-US" sz="3200" b="1" dirty="0">
                <a:solidFill>
                  <a:schemeClr val="bg1"/>
                </a:solidFill>
                <a:latin typeface="Abadi Extra Light" panose="020B0204020104020204" pitchFamily="34" charset="0"/>
              </a:rPr>
              <a:t>Data Integration Security Architecture</a:t>
            </a:r>
          </a:p>
        </p:txBody>
      </p:sp>
      <p:sp>
        <p:nvSpPr>
          <p:cNvPr id="50" name="Rectangle 49">
            <a:extLst>
              <a:ext uri="{FF2B5EF4-FFF2-40B4-BE49-F238E27FC236}">
                <a16:creationId xmlns:a16="http://schemas.microsoft.com/office/drawing/2014/main" id="{BD2D4634-0C65-E34F-D6C1-963F6D7304E2}"/>
              </a:ext>
            </a:extLst>
          </p:cNvPr>
          <p:cNvSpPr/>
          <p:nvPr/>
        </p:nvSpPr>
        <p:spPr>
          <a:xfrm>
            <a:off x="135956" y="829493"/>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ED58CB1F-27D9-7F7C-AA55-9218989408DB}"/>
              </a:ext>
            </a:extLst>
          </p:cNvPr>
          <p:cNvSpPr/>
          <p:nvPr/>
        </p:nvSpPr>
        <p:spPr>
          <a:xfrm>
            <a:off x="135956" y="1765380"/>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3029C6D-496C-92E9-7C21-34AC6922B5C5}"/>
              </a:ext>
            </a:extLst>
          </p:cNvPr>
          <p:cNvSpPr/>
          <p:nvPr/>
        </p:nvSpPr>
        <p:spPr>
          <a:xfrm>
            <a:off x="137160" y="6206357"/>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98993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E6F79-1A34-9644-FCC2-D8ADCB020F1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879E912-02B6-7289-20FA-FE180F8B42E8}"/>
              </a:ext>
            </a:extLst>
          </p:cNvPr>
          <p:cNvSpPr/>
          <p:nvPr/>
        </p:nvSpPr>
        <p:spPr>
          <a:xfrm>
            <a:off x="-7859" y="0"/>
            <a:ext cx="12192000" cy="7010400"/>
          </a:xfrm>
          <a:prstGeom prst="rect">
            <a:avLst/>
          </a:prstGeom>
          <a:gradFill flip="none" rotWithShape="1">
            <a:gsLst>
              <a:gs pos="100000">
                <a:schemeClr val="accent6">
                  <a:lumMod val="75000"/>
                </a:schemeClr>
              </a:gs>
              <a:gs pos="20000">
                <a:schemeClr val="accent6">
                  <a:lumMod val="50000"/>
                </a:schemeClr>
              </a:gs>
              <a:gs pos="0">
                <a:schemeClr val="accent2">
                  <a:lumMod val="60000"/>
                  <a:lumOff val="40000"/>
                </a:schemeClr>
              </a:gs>
              <a:gs pos="34000">
                <a:schemeClr val="accent6">
                  <a:lumMod val="60000"/>
                  <a:lumOff val="4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80D759B-04E9-ACBF-C286-E5CB04255797}"/>
              </a:ext>
            </a:extLst>
          </p:cNvPr>
          <p:cNvSpPr txBox="1"/>
          <p:nvPr/>
        </p:nvSpPr>
        <p:spPr>
          <a:xfrm>
            <a:off x="209255" y="724317"/>
            <a:ext cx="11974886" cy="800219"/>
          </a:xfrm>
          <a:prstGeom prst="rect">
            <a:avLst/>
          </a:prstGeom>
          <a:noFill/>
          <a:ln w="12700">
            <a:noFill/>
          </a:ln>
        </p:spPr>
        <p:txBody>
          <a:bodyPr wrap="square" rtlCol="0">
            <a:spAutoFit/>
          </a:bodyPr>
          <a:lstStyle/>
          <a:p>
            <a:r>
              <a:rPr lang="en-US" sz="1600" b="1" dirty="0">
                <a:solidFill>
                  <a:schemeClr val="bg1"/>
                </a:solidFill>
                <a:latin typeface="Google Sans"/>
              </a:rPr>
              <a:t>  </a:t>
            </a:r>
            <a:r>
              <a:rPr lang="en-US" sz="1600" b="1" dirty="0">
                <a:solidFill>
                  <a:srgbClr val="FFFF00"/>
                </a:solidFill>
                <a:latin typeface="Google Sans"/>
              </a:rPr>
              <a:t>Input emissions must be tied to the Scope</a:t>
            </a:r>
          </a:p>
          <a:p>
            <a:endParaRPr lang="en-US" sz="1600" b="1" dirty="0">
              <a:solidFill>
                <a:schemeClr val="bg1"/>
              </a:solidFill>
              <a:latin typeface="Google Sans"/>
            </a:endParaRPr>
          </a:p>
          <a:p>
            <a:endParaRPr lang="en-US" sz="1400" dirty="0"/>
          </a:p>
        </p:txBody>
      </p:sp>
      <p:sp>
        <p:nvSpPr>
          <p:cNvPr id="2" name="AutoShape 2" descr="A detailed infographic illustrating the process of defining an IoT device on a blockchain. The image includes a flow from an IoT device (e.g., a sensor) to its integration with a blockchain system. Key elements include (1) Device Identity Registration with unique IDs and cryptographic keys, (2) Secure Communication using encryption, (3) Data Validation through blockchain nodes and oracles, (4) Integration with Smart Contracts showing automated triggers, (5) Off-Chain Data Storage connected to the blockchain using systems like IPFS, and (6) Scalability with Layer 2 solutions. The design is clean and professional, with arrows connecting each step, labeled sections, and a modern tech aesthetic.">
            <a:extLst>
              <a:ext uri="{FF2B5EF4-FFF2-40B4-BE49-F238E27FC236}">
                <a16:creationId xmlns:a16="http://schemas.microsoft.com/office/drawing/2014/main" id="{C378E1B6-512E-3182-5594-E45991D3B71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8EE201A6-ED15-9326-959B-2E29A770AA14}"/>
              </a:ext>
            </a:extLst>
          </p:cNvPr>
          <p:cNvSpPr txBox="1"/>
          <p:nvPr/>
        </p:nvSpPr>
        <p:spPr>
          <a:xfrm>
            <a:off x="138004" y="0"/>
            <a:ext cx="9499771" cy="584775"/>
          </a:xfrm>
          <a:prstGeom prst="rect">
            <a:avLst/>
          </a:prstGeom>
          <a:noFill/>
        </p:spPr>
        <p:txBody>
          <a:bodyPr wrap="square" rtlCol="0">
            <a:spAutoFit/>
          </a:bodyPr>
          <a:lstStyle/>
          <a:p>
            <a:r>
              <a:rPr lang="en-US" sz="3200" b="1" dirty="0">
                <a:solidFill>
                  <a:schemeClr val="bg1"/>
                </a:solidFill>
                <a:latin typeface="Abadi Extra Light" panose="020B0204020104020204" pitchFamily="34" charset="0"/>
              </a:rPr>
              <a:t>Scope 3 Value Chain Accounting and Reporting Standard</a:t>
            </a:r>
          </a:p>
        </p:txBody>
      </p:sp>
      <p:sp>
        <p:nvSpPr>
          <p:cNvPr id="50" name="Rectangle 49">
            <a:extLst>
              <a:ext uri="{FF2B5EF4-FFF2-40B4-BE49-F238E27FC236}">
                <a16:creationId xmlns:a16="http://schemas.microsoft.com/office/drawing/2014/main" id="{8536D5E5-E53B-78E6-207F-419CFB7126DB}"/>
              </a:ext>
            </a:extLst>
          </p:cNvPr>
          <p:cNvSpPr/>
          <p:nvPr/>
        </p:nvSpPr>
        <p:spPr>
          <a:xfrm>
            <a:off x="135956" y="829493"/>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0E6E6D16-7A3F-F17C-CF9C-F5A0604A8F65}"/>
              </a:ext>
            </a:extLst>
          </p:cNvPr>
          <p:cNvSpPr/>
          <p:nvPr/>
        </p:nvSpPr>
        <p:spPr>
          <a:xfrm>
            <a:off x="135956" y="1765380"/>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06643AC-B9BE-B8DF-5935-529F0E120191}"/>
              </a:ext>
            </a:extLst>
          </p:cNvPr>
          <p:cNvSpPr/>
          <p:nvPr/>
        </p:nvSpPr>
        <p:spPr>
          <a:xfrm>
            <a:off x="137160" y="6206357"/>
            <a:ext cx="146597" cy="1301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041729F-99E1-C337-2DBC-EB18793B7580}"/>
              </a:ext>
            </a:extLst>
          </p:cNvPr>
          <p:cNvPicPr>
            <a:picLocks noChangeAspect="1"/>
          </p:cNvPicPr>
          <p:nvPr/>
        </p:nvPicPr>
        <p:blipFill>
          <a:blip r:embed="rId2"/>
          <a:stretch>
            <a:fillRect/>
          </a:stretch>
        </p:blipFill>
        <p:spPr>
          <a:xfrm>
            <a:off x="282553" y="413603"/>
            <a:ext cx="10812384" cy="3953427"/>
          </a:xfrm>
          <a:prstGeom prst="rect">
            <a:avLst/>
          </a:prstGeom>
        </p:spPr>
      </p:pic>
      <p:sp>
        <p:nvSpPr>
          <p:cNvPr id="7" name="TextBox 6">
            <a:extLst>
              <a:ext uri="{FF2B5EF4-FFF2-40B4-BE49-F238E27FC236}">
                <a16:creationId xmlns:a16="http://schemas.microsoft.com/office/drawing/2014/main" id="{06BDF557-C5A3-C06E-D0DC-72E96D8E8F2F}"/>
              </a:ext>
            </a:extLst>
          </p:cNvPr>
          <p:cNvSpPr txBox="1"/>
          <p:nvPr/>
        </p:nvSpPr>
        <p:spPr>
          <a:xfrm>
            <a:off x="1469985" y="4729029"/>
            <a:ext cx="7824486" cy="1477328"/>
          </a:xfrm>
          <a:prstGeom prst="rect">
            <a:avLst/>
          </a:prstGeom>
          <a:noFill/>
        </p:spPr>
        <p:txBody>
          <a:bodyPr wrap="square" rtlCol="0">
            <a:spAutoFit/>
          </a:bodyPr>
          <a:lstStyle/>
          <a:p>
            <a:r>
              <a:rPr lang="en-US" sz="1000" b="1" dirty="0">
                <a:solidFill>
                  <a:schemeClr val="bg1"/>
                </a:solidFill>
              </a:rPr>
              <a:t>Global warming potential (GWP) values Global warming potential (GWP) values describe the radiative forcing impact (or degree of harm to the atmosphere) of one unit of a given GHG relative to one unit of carbon dioxide. GWP values convert GHG emissions data for non-CO2 gases into units of carbon dioxide equivalent (CO2 e). Companies should use GWP values provided by the Intergovernmental Panel on Climate Change (IPCC) based on a 100-year time horizon. Companies may either use the IPCC GWP values agreed to by United Nations Framework Convention on Climate Change (UNFCCC) or the most recent GWP values published by the IPCC. Companies should use consistent GWP values across their scope 1, scope 2, and scope 3 inventory and should maintain consistency in the source of GWP values used over time (by consistently following guidance provided by either the UNFCCC or IPCC, once selected). Companies that have already developed scope 1 and scope 2 GHG inventories should use the same GWP values for scope 3 to maintain consistency across the scopes. Companies that have not previously developed a corporate GHG inventory should use the most recent GWP values. Companies are required to disclose the source of GWP</a:t>
            </a:r>
          </a:p>
        </p:txBody>
      </p:sp>
    </p:spTree>
    <p:extLst>
      <p:ext uri="{BB962C8B-B14F-4D97-AF65-F5344CB8AC3E}">
        <p14:creationId xmlns:p14="http://schemas.microsoft.com/office/powerpoint/2010/main" val="8053129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0E3AA-7A18-5DE8-28E0-FEECB4475AE5}"/>
            </a:ext>
          </a:extLst>
        </p:cNvPr>
        <p:cNvGrpSpPr/>
        <p:nvPr/>
      </p:nvGrpSpPr>
      <p:grpSpPr>
        <a:xfrm>
          <a:off x="0" y="0"/>
          <a:ext cx="0" cy="0"/>
          <a:chOff x="0" y="0"/>
          <a:chExt cx="0" cy="0"/>
        </a:xfrm>
      </p:grpSpPr>
      <p:sp>
        <p:nvSpPr>
          <p:cNvPr id="45" name="TextBox 44">
            <a:extLst>
              <a:ext uri="{FF2B5EF4-FFF2-40B4-BE49-F238E27FC236}">
                <a16:creationId xmlns:a16="http://schemas.microsoft.com/office/drawing/2014/main" id="{B1058EC7-0E82-DB01-3390-D61123E75F7D}"/>
              </a:ext>
            </a:extLst>
          </p:cNvPr>
          <p:cNvSpPr txBox="1"/>
          <p:nvPr/>
        </p:nvSpPr>
        <p:spPr>
          <a:xfrm>
            <a:off x="77363" y="85357"/>
            <a:ext cx="10681310" cy="400110"/>
          </a:xfrm>
          <a:prstGeom prst="rect">
            <a:avLst/>
          </a:prstGeom>
          <a:noFill/>
        </p:spPr>
        <p:txBody>
          <a:bodyPr wrap="square" rtlCol="0">
            <a:spAutoFit/>
          </a:bodyPr>
          <a:lstStyle/>
          <a:p>
            <a:r>
              <a:rPr lang="en-US" sz="2000" b="1" u="sng" dirty="0"/>
              <a:t>Technical Architecture – Representation of the Digital Twin in a Smart Contract (1 of x)</a:t>
            </a:r>
          </a:p>
        </p:txBody>
      </p:sp>
      <p:sp>
        <p:nvSpPr>
          <p:cNvPr id="4" name="TextBox 3">
            <a:extLst>
              <a:ext uri="{FF2B5EF4-FFF2-40B4-BE49-F238E27FC236}">
                <a16:creationId xmlns:a16="http://schemas.microsoft.com/office/drawing/2014/main" id="{2681D59C-4B1E-F270-1C9F-363CCB2452E9}"/>
              </a:ext>
            </a:extLst>
          </p:cNvPr>
          <p:cNvSpPr txBox="1"/>
          <p:nvPr/>
        </p:nvSpPr>
        <p:spPr>
          <a:xfrm>
            <a:off x="59916" y="533430"/>
            <a:ext cx="12072168" cy="369332"/>
          </a:xfrm>
          <a:prstGeom prst="rect">
            <a:avLst/>
          </a:prstGeom>
          <a:noFill/>
          <a:ln>
            <a:noFill/>
          </a:ln>
        </p:spPr>
        <p:txBody>
          <a:bodyPr wrap="square">
            <a:spAutoFit/>
          </a:bodyPr>
          <a:lstStyle/>
          <a:p>
            <a:r>
              <a:rPr lang="en-US" dirty="0">
                <a:solidFill>
                  <a:srgbClr val="001D35"/>
                </a:solidFill>
                <a:latin typeface="Google Sans"/>
              </a:rPr>
              <a:t>Layered Blockchain Architecture Pattern</a:t>
            </a:r>
          </a:p>
        </p:txBody>
      </p:sp>
      <p:sp>
        <p:nvSpPr>
          <p:cNvPr id="9" name="Rectangle: Folded Corner 8">
            <a:extLst>
              <a:ext uri="{FF2B5EF4-FFF2-40B4-BE49-F238E27FC236}">
                <a16:creationId xmlns:a16="http://schemas.microsoft.com/office/drawing/2014/main" id="{5665ACE4-282D-7525-263C-9005128B72B9}"/>
              </a:ext>
            </a:extLst>
          </p:cNvPr>
          <p:cNvSpPr/>
          <p:nvPr/>
        </p:nvSpPr>
        <p:spPr>
          <a:xfrm>
            <a:off x="77362" y="1684530"/>
            <a:ext cx="4799711" cy="4941308"/>
          </a:xfrm>
          <a:prstGeom prst="foldedCorner">
            <a:avLst>
              <a:gd name="adj" fmla="val 15966"/>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tIns="9144" bIns="9144" rtlCol="0" anchor="ctr"/>
          <a:lstStyle/>
          <a:p>
            <a:r>
              <a:rPr lang="en-US" sz="1400" dirty="0">
                <a:solidFill>
                  <a:srgbClr val="001D35"/>
                </a:solidFill>
                <a:latin typeface="Google Sans"/>
              </a:rPr>
              <a:t>┌──────────────────────────────┐</a:t>
            </a:r>
          </a:p>
          <a:p>
            <a:r>
              <a:rPr lang="en-US" sz="1400" dirty="0">
                <a:solidFill>
                  <a:srgbClr val="001D35"/>
                </a:solidFill>
                <a:latin typeface="Google Sans"/>
              </a:rPr>
              <a:t>│      Application Layer       │ ◄── UI, APIs, microservices</a:t>
            </a:r>
          </a:p>
          <a:p>
            <a:r>
              <a:rPr lang="en-US" sz="1400" dirty="0">
                <a:solidFill>
                  <a:srgbClr val="001D35"/>
                </a:solidFill>
                <a:latin typeface="Google Sans"/>
              </a:rPr>
              <a:t>├──────────────────────────────┤</a:t>
            </a:r>
          </a:p>
          <a:p>
            <a:r>
              <a:rPr lang="en-US" sz="1400" dirty="0">
                <a:solidFill>
                  <a:srgbClr val="001D35"/>
                </a:solidFill>
                <a:latin typeface="Google Sans"/>
              </a:rPr>
              <a:t>│    Integration Layer         │ ◄── Adapters, SDKs, event brokers</a:t>
            </a:r>
          </a:p>
          <a:p>
            <a:r>
              <a:rPr lang="en-US" sz="1400" dirty="0">
                <a:solidFill>
                  <a:srgbClr val="001D35"/>
                </a:solidFill>
                <a:latin typeface="Google Sans"/>
              </a:rPr>
              <a:t>├──────────────────────────────┤</a:t>
            </a:r>
          </a:p>
          <a:p>
            <a:r>
              <a:rPr lang="en-US" sz="1400" dirty="0">
                <a:solidFill>
                  <a:srgbClr val="001D35"/>
                </a:solidFill>
                <a:latin typeface="Google Sans"/>
              </a:rPr>
              <a:t>│     Smart Contract Layer     │ ◄── </a:t>
            </a:r>
            <a:r>
              <a:rPr lang="en-US" sz="1400" dirty="0" err="1">
                <a:solidFill>
                  <a:srgbClr val="001D35"/>
                </a:solidFill>
                <a:latin typeface="Google Sans"/>
              </a:rPr>
              <a:t>Chaincode</a:t>
            </a:r>
            <a:r>
              <a:rPr lang="en-US" sz="1400" dirty="0">
                <a:solidFill>
                  <a:srgbClr val="001D35"/>
                </a:solidFill>
                <a:latin typeface="Google Sans"/>
              </a:rPr>
              <a:t> / EVM contracts</a:t>
            </a:r>
          </a:p>
          <a:p>
            <a:r>
              <a:rPr lang="en-US" sz="1400" dirty="0">
                <a:solidFill>
                  <a:srgbClr val="001D35"/>
                </a:solidFill>
                <a:latin typeface="Google Sans"/>
              </a:rPr>
              <a:t>├──────────────────────────────┤</a:t>
            </a:r>
          </a:p>
          <a:p>
            <a:r>
              <a:rPr lang="en-US" sz="1400" dirty="0">
                <a:solidFill>
                  <a:srgbClr val="001D35"/>
                </a:solidFill>
                <a:latin typeface="Google Sans"/>
              </a:rPr>
              <a:t>│      Consensus Layer         │ ◄── PBFT, Raft, </a:t>
            </a:r>
            <a:r>
              <a:rPr lang="en-US" sz="1400" dirty="0" err="1">
                <a:solidFill>
                  <a:srgbClr val="001D35"/>
                </a:solidFill>
                <a:latin typeface="Google Sans"/>
              </a:rPr>
              <a:t>PoS</a:t>
            </a:r>
            <a:r>
              <a:rPr lang="en-US" sz="1400" dirty="0">
                <a:solidFill>
                  <a:srgbClr val="001D35"/>
                </a:solidFill>
                <a:latin typeface="Google Sans"/>
              </a:rPr>
              <a:t>, etc.</a:t>
            </a:r>
          </a:p>
          <a:p>
            <a:r>
              <a:rPr lang="en-US" sz="1400" dirty="0">
                <a:solidFill>
                  <a:srgbClr val="001D35"/>
                </a:solidFill>
                <a:latin typeface="Google Sans"/>
              </a:rPr>
              <a:t>├──────────────────────────────┤</a:t>
            </a:r>
          </a:p>
          <a:p>
            <a:r>
              <a:rPr lang="en-US" sz="1400" dirty="0">
                <a:solidFill>
                  <a:srgbClr val="001D35"/>
                </a:solidFill>
                <a:latin typeface="Google Sans"/>
              </a:rPr>
              <a:t>│      Network Layer           │ ◄── P2P communication</a:t>
            </a:r>
          </a:p>
          <a:p>
            <a:r>
              <a:rPr lang="en-US" sz="1400" dirty="0">
                <a:solidFill>
                  <a:srgbClr val="001D35"/>
                </a:solidFill>
                <a:latin typeface="Google Sans"/>
              </a:rPr>
              <a:t>├──────────────────────────────┤</a:t>
            </a:r>
          </a:p>
          <a:p>
            <a:r>
              <a:rPr lang="en-US" sz="1400" dirty="0">
                <a:solidFill>
                  <a:srgbClr val="001D35"/>
                </a:solidFill>
                <a:latin typeface="Google Sans"/>
              </a:rPr>
              <a:t>│      Data Layer              │ ◄── Distributed ledger, Merkle trees</a:t>
            </a:r>
          </a:p>
          <a:p>
            <a:r>
              <a:rPr lang="en-US" sz="1400" dirty="0">
                <a:solidFill>
                  <a:srgbClr val="001D35"/>
                </a:solidFill>
                <a:latin typeface="Google Sans"/>
              </a:rPr>
              <a:t>└──────────────────────────────┘</a:t>
            </a:r>
          </a:p>
        </p:txBody>
      </p:sp>
      <p:sp>
        <p:nvSpPr>
          <p:cNvPr id="11" name="TextBox 10">
            <a:extLst>
              <a:ext uri="{FF2B5EF4-FFF2-40B4-BE49-F238E27FC236}">
                <a16:creationId xmlns:a16="http://schemas.microsoft.com/office/drawing/2014/main" id="{72CC515A-8377-9520-C221-2761C515F20D}"/>
              </a:ext>
            </a:extLst>
          </p:cNvPr>
          <p:cNvSpPr txBox="1"/>
          <p:nvPr/>
        </p:nvSpPr>
        <p:spPr>
          <a:xfrm>
            <a:off x="1222278" y="1303115"/>
            <a:ext cx="9128109" cy="369332"/>
          </a:xfrm>
          <a:prstGeom prst="rect">
            <a:avLst/>
          </a:prstGeom>
          <a:noFill/>
        </p:spPr>
        <p:txBody>
          <a:bodyPr wrap="square" rtlCol="0">
            <a:spAutoFit/>
          </a:bodyPr>
          <a:lstStyle/>
          <a:p>
            <a:r>
              <a:rPr lang="en-US" b="1" dirty="0"/>
              <a:t>digital twin representation in a smart contract definition (pseudo code similar to Solidity)</a:t>
            </a:r>
          </a:p>
        </p:txBody>
      </p:sp>
      <p:sp>
        <p:nvSpPr>
          <p:cNvPr id="12" name="TextBox 11">
            <a:extLst>
              <a:ext uri="{FF2B5EF4-FFF2-40B4-BE49-F238E27FC236}">
                <a16:creationId xmlns:a16="http://schemas.microsoft.com/office/drawing/2014/main" id="{6F746444-A9CB-B0B5-EA0E-D58B81655BC9}"/>
              </a:ext>
            </a:extLst>
          </p:cNvPr>
          <p:cNvSpPr txBox="1"/>
          <p:nvPr/>
        </p:nvSpPr>
        <p:spPr>
          <a:xfrm>
            <a:off x="4877074" y="1713849"/>
            <a:ext cx="7237563" cy="646331"/>
          </a:xfrm>
          <a:prstGeom prst="rect">
            <a:avLst/>
          </a:prstGeom>
          <a:noFill/>
        </p:spPr>
        <p:txBody>
          <a:bodyPr wrap="square" rtlCol="0">
            <a:spAutoFit/>
          </a:bodyPr>
          <a:lstStyle/>
          <a:p>
            <a:endParaRPr lang="en-US" dirty="0"/>
          </a:p>
          <a:p>
            <a:r>
              <a:rPr lang="en-US" dirty="0"/>
              <a:t>   </a:t>
            </a:r>
          </a:p>
        </p:txBody>
      </p:sp>
      <p:cxnSp>
        <p:nvCxnSpPr>
          <p:cNvPr id="25" name="Straight Arrow Connector 24">
            <a:extLst>
              <a:ext uri="{FF2B5EF4-FFF2-40B4-BE49-F238E27FC236}">
                <a16:creationId xmlns:a16="http://schemas.microsoft.com/office/drawing/2014/main" id="{B1C95862-46ED-2A52-0082-D44112E3721B}"/>
              </a:ext>
            </a:extLst>
          </p:cNvPr>
          <p:cNvCxnSpPr>
            <a:cxnSpLocks/>
          </p:cNvCxnSpPr>
          <p:nvPr/>
        </p:nvCxnSpPr>
        <p:spPr>
          <a:xfrm flipH="1">
            <a:off x="1994497" y="5552760"/>
            <a:ext cx="2614736" cy="179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C5955B3-1286-7468-7A62-34F462E1157F}"/>
              </a:ext>
            </a:extLst>
          </p:cNvPr>
          <p:cNvCxnSpPr>
            <a:cxnSpLocks/>
          </p:cNvCxnSpPr>
          <p:nvPr/>
        </p:nvCxnSpPr>
        <p:spPr>
          <a:xfrm flipV="1">
            <a:off x="200891" y="1186804"/>
            <a:ext cx="11140743" cy="64798"/>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DC88F13-0C61-68F7-3A6F-6A111C8CD170}"/>
              </a:ext>
            </a:extLst>
          </p:cNvPr>
          <p:cNvSpPr txBox="1"/>
          <p:nvPr/>
        </p:nvSpPr>
        <p:spPr>
          <a:xfrm>
            <a:off x="4747946" y="6234907"/>
            <a:ext cx="6659065" cy="338554"/>
          </a:xfrm>
          <a:prstGeom prst="rect">
            <a:avLst/>
          </a:prstGeom>
          <a:noFill/>
          <a:ln>
            <a:solidFill>
              <a:srgbClr val="FF0000"/>
            </a:solidFill>
          </a:ln>
        </p:spPr>
        <p:txBody>
          <a:bodyPr wrap="square" rtlCol="0">
            <a:spAutoFit/>
          </a:bodyPr>
          <a:lstStyle/>
          <a:p>
            <a:r>
              <a:rPr lang="en-US" sz="1600" dirty="0"/>
              <a:t>ASK AI to write some 2 sentence blurb here…..</a:t>
            </a:r>
            <a:endParaRPr lang="en-US" dirty="0"/>
          </a:p>
        </p:txBody>
      </p:sp>
      <p:sp>
        <p:nvSpPr>
          <p:cNvPr id="34" name="Oval 33">
            <a:extLst>
              <a:ext uri="{FF2B5EF4-FFF2-40B4-BE49-F238E27FC236}">
                <a16:creationId xmlns:a16="http://schemas.microsoft.com/office/drawing/2014/main" id="{47378A52-6780-EBBD-8039-5B49235819F1}"/>
              </a:ext>
            </a:extLst>
          </p:cNvPr>
          <p:cNvSpPr/>
          <p:nvPr/>
        </p:nvSpPr>
        <p:spPr>
          <a:xfrm>
            <a:off x="4738361" y="5458646"/>
            <a:ext cx="254000" cy="1882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0730A53D-270E-F6E7-BC08-EBD5395854F0}"/>
              </a:ext>
            </a:extLst>
          </p:cNvPr>
          <p:cNvSpPr/>
          <p:nvPr/>
        </p:nvSpPr>
        <p:spPr>
          <a:xfrm>
            <a:off x="4738361" y="4728034"/>
            <a:ext cx="254000" cy="1882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8" name="Table 57">
            <a:extLst>
              <a:ext uri="{FF2B5EF4-FFF2-40B4-BE49-F238E27FC236}">
                <a16:creationId xmlns:a16="http://schemas.microsoft.com/office/drawing/2014/main" id="{0594DF59-3F2B-DB73-50AB-6352B4AA2836}"/>
              </a:ext>
            </a:extLst>
          </p:cNvPr>
          <p:cNvGraphicFramePr>
            <a:graphicFrameLocks noGrp="1"/>
          </p:cNvGraphicFramePr>
          <p:nvPr>
            <p:extLst>
              <p:ext uri="{D42A27DB-BD31-4B8C-83A1-F6EECF244321}">
                <p14:modId xmlns:p14="http://schemas.microsoft.com/office/powerpoint/2010/main" val="1773854150"/>
              </p:ext>
            </p:extLst>
          </p:nvPr>
        </p:nvGraphicFramePr>
        <p:xfrm>
          <a:off x="4877074" y="1901778"/>
          <a:ext cx="8805909" cy="4206240"/>
        </p:xfrm>
        <a:graphic>
          <a:graphicData uri="http://schemas.openxmlformats.org/drawingml/2006/table">
            <a:tbl>
              <a:tblPr/>
              <a:tblGrid>
                <a:gridCol w="2935303">
                  <a:extLst>
                    <a:ext uri="{9D8B030D-6E8A-4147-A177-3AD203B41FA5}">
                      <a16:colId xmlns:a16="http://schemas.microsoft.com/office/drawing/2014/main" val="1742975584"/>
                    </a:ext>
                  </a:extLst>
                </a:gridCol>
                <a:gridCol w="2935303">
                  <a:extLst>
                    <a:ext uri="{9D8B030D-6E8A-4147-A177-3AD203B41FA5}">
                      <a16:colId xmlns:a16="http://schemas.microsoft.com/office/drawing/2014/main" val="1114567448"/>
                    </a:ext>
                  </a:extLst>
                </a:gridCol>
                <a:gridCol w="2935303">
                  <a:extLst>
                    <a:ext uri="{9D8B030D-6E8A-4147-A177-3AD203B41FA5}">
                      <a16:colId xmlns:a16="http://schemas.microsoft.com/office/drawing/2014/main" val="3557546396"/>
                    </a:ext>
                  </a:extLst>
                </a:gridCol>
              </a:tblGrid>
              <a:tr h="292699">
                <a:tc>
                  <a:txBody>
                    <a:bodyPr/>
                    <a:lstStyle/>
                    <a:p>
                      <a:r>
                        <a:rPr lang="en-US"/>
                        <a:t>Layer</a:t>
                      </a:r>
                    </a:p>
                  </a:txBody>
                  <a:tcPr anchor="ctr">
                    <a:lnL>
                      <a:noFill/>
                    </a:lnL>
                    <a:lnR>
                      <a:noFill/>
                    </a:lnR>
                    <a:lnT>
                      <a:noFill/>
                    </a:lnT>
                    <a:lnB>
                      <a:noFill/>
                    </a:lnB>
                    <a:noFill/>
                  </a:tcPr>
                </a:tc>
                <a:tc>
                  <a:txBody>
                    <a:bodyPr/>
                    <a:lstStyle/>
                    <a:p>
                      <a:r>
                        <a:rPr lang="en-US"/>
                        <a:t>Key Tech / Tools</a:t>
                      </a:r>
                    </a:p>
                  </a:txBody>
                  <a:tcPr anchor="ctr">
                    <a:lnL>
                      <a:noFill/>
                    </a:lnL>
                    <a:lnR>
                      <a:noFill/>
                    </a:lnR>
                    <a:lnT>
                      <a:noFill/>
                    </a:lnT>
                    <a:lnB>
                      <a:noFill/>
                    </a:lnB>
                    <a:noFill/>
                  </a:tcPr>
                </a:tc>
                <a:tc>
                  <a:txBody>
                    <a:bodyPr/>
                    <a:lstStyle/>
                    <a:p>
                      <a:r>
                        <a:rPr lang="en-US"/>
                        <a:t>Purpose</a:t>
                      </a:r>
                    </a:p>
                  </a:txBody>
                  <a:tcPr anchor="ctr">
                    <a:lnL>
                      <a:noFill/>
                    </a:lnL>
                    <a:lnR>
                      <a:noFill/>
                    </a:lnR>
                    <a:lnT>
                      <a:noFill/>
                    </a:lnT>
                    <a:lnB>
                      <a:noFill/>
                    </a:lnB>
                    <a:noFill/>
                  </a:tcPr>
                </a:tc>
                <a:extLst>
                  <a:ext uri="{0D108BD9-81ED-4DB2-BD59-A6C34878D82A}">
                    <a16:rowId xmlns:a16="http://schemas.microsoft.com/office/drawing/2014/main" val="1503560358"/>
                  </a:ext>
                </a:extLst>
              </a:tr>
              <a:tr h="512223">
                <a:tc>
                  <a:txBody>
                    <a:bodyPr/>
                    <a:lstStyle/>
                    <a:p>
                      <a:r>
                        <a:rPr lang="en-US" b="1"/>
                        <a:t>Application</a:t>
                      </a:r>
                      <a:endParaRPr lang="en-US"/>
                    </a:p>
                  </a:txBody>
                  <a:tcPr anchor="ctr">
                    <a:lnL>
                      <a:noFill/>
                    </a:lnL>
                    <a:lnR>
                      <a:noFill/>
                    </a:lnR>
                    <a:lnT>
                      <a:noFill/>
                    </a:lnT>
                    <a:lnB>
                      <a:noFill/>
                    </a:lnB>
                    <a:noFill/>
                  </a:tcPr>
                </a:tc>
                <a:tc>
                  <a:txBody>
                    <a:bodyPr/>
                    <a:lstStyle/>
                    <a:p>
                      <a:r>
                        <a:rPr lang="en-US"/>
                        <a:t>REST/gRPC APIs, Frontends, Orchestrators</a:t>
                      </a:r>
                    </a:p>
                  </a:txBody>
                  <a:tcPr anchor="ctr">
                    <a:lnL>
                      <a:noFill/>
                    </a:lnL>
                    <a:lnR>
                      <a:noFill/>
                    </a:lnR>
                    <a:lnT>
                      <a:noFill/>
                    </a:lnT>
                    <a:lnB>
                      <a:noFill/>
                    </a:lnB>
                    <a:noFill/>
                  </a:tcPr>
                </a:tc>
                <a:tc>
                  <a:txBody>
                    <a:bodyPr/>
                    <a:lstStyle/>
                    <a:p>
                      <a:r>
                        <a:rPr lang="en-US"/>
                        <a:t>Interfaces for end users and external systems</a:t>
                      </a:r>
                    </a:p>
                  </a:txBody>
                  <a:tcPr anchor="ctr">
                    <a:lnL>
                      <a:noFill/>
                    </a:lnL>
                    <a:lnR>
                      <a:noFill/>
                    </a:lnR>
                    <a:lnT>
                      <a:noFill/>
                    </a:lnT>
                    <a:lnB>
                      <a:noFill/>
                    </a:lnB>
                    <a:noFill/>
                  </a:tcPr>
                </a:tc>
                <a:extLst>
                  <a:ext uri="{0D108BD9-81ED-4DB2-BD59-A6C34878D82A}">
                    <a16:rowId xmlns:a16="http://schemas.microsoft.com/office/drawing/2014/main" val="606305506"/>
                  </a:ext>
                </a:extLst>
              </a:tr>
              <a:tr h="512223">
                <a:tc>
                  <a:txBody>
                    <a:bodyPr/>
                    <a:lstStyle/>
                    <a:p>
                      <a:r>
                        <a:rPr lang="en-US" b="1"/>
                        <a:t>Integration</a:t>
                      </a:r>
                      <a:endParaRPr lang="en-US"/>
                    </a:p>
                  </a:txBody>
                  <a:tcPr anchor="ctr">
                    <a:lnL>
                      <a:noFill/>
                    </a:lnL>
                    <a:lnR>
                      <a:noFill/>
                    </a:lnR>
                    <a:lnT>
                      <a:noFill/>
                    </a:lnT>
                    <a:lnB>
                      <a:noFill/>
                    </a:lnB>
                    <a:noFill/>
                  </a:tcPr>
                </a:tc>
                <a:tc>
                  <a:txBody>
                    <a:bodyPr/>
                    <a:lstStyle/>
                    <a:p>
                      <a:r>
                        <a:rPr lang="en-US" dirty="0"/>
                        <a:t>Kafka, </a:t>
                      </a:r>
                      <a:r>
                        <a:rPr lang="en-US" dirty="0" err="1"/>
                        <a:t>gRPC</a:t>
                      </a:r>
                      <a:r>
                        <a:rPr lang="en-US" dirty="0"/>
                        <a:t>, Fabric SDK, Event hubs</a:t>
                      </a:r>
                    </a:p>
                  </a:txBody>
                  <a:tcPr anchor="ctr">
                    <a:lnL>
                      <a:noFill/>
                    </a:lnL>
                    <a:lnR>
                      <a:noFill/>
                    </a:lnR>
                    <a:lnT>
                      <a:noFill/>
                    </a:lnT>
                    <a:lnB>
                      <a:noFill/>
                    </a:lnB>
                    <a:noFill/>
                  </a:tcPr>
                </a:tc>
                <a:tc>
                  <a:txBody>
                    <a:bodyPr/>
                    <a:lstStyle/>
                    <a:p>
                      <a:r>
                        <a:rPr lang="en-US"/>
                        <a:t>Bridges microservices to the blockchain</a:t>
                      </a:r>
                    </a:p>
                  </a:txBody>
                  <a:tcPr anchor="ctr">
                    <a:lnL>
                      <a:noFill/>
                    </a:lnL>
                    <a:lnR>
                      <a:noFill/>
                    </a:lnR>
                    <a:lnT>
                      <a:noFill/>
                    </a:lnT>
                    <a:lnB>
                      <a:noFill/>
                    </a:lnB>
                    <a:noFill/>
                  </a:tcPr>
                </a:tc>
                <a:extLst>
                  <a:ext uri="{0D108BD9-81ED-4DB2-BD59-A6C34878D82A}">
                    <a16:rowId xmlns:a16="http://schemas.microsoft.com/office/drawing/2014/main" val="3515418294"/>
                  </a:ext>
                </a:extLst>
              </a:tr>
              <a:tr h="512223">
                <a:tc>
                  <a:txBody>
                    <a:bodyPr/>
                    <a:lstStyle/>
                    <a:p>
                      <a:r>
                        <a:rPr lang="en-US" b="1"/>
                        <a:t>Smart Contracts</a:t>
                      </a:r>
                      <a:endParaRPr lang="en-US"/>
                    </a:p>
                  </a:txBody>
                  <a:tcPr anchor="ctr">
                    <a:lnL>
                      <a:noFill/>
                    </a:lnL>
                    <a:lnR>
                      <a:noFill/>
                    </a:lnR>
                    <a:lnT>
                      <a:noFill/>
                    </a:lnT>
                    <a:lnB>
                      <a:noFill/>
                    </a:lnB>
                    <a:noFill/>
                  </a:tcPr>
                </a:tc>
                <a:tc>
                  <a:txBody>
                    <a:bodyPr/>
                    <a:lstStyle/>
                    <a:p>
                      <a:r>
                        <a:rPr lang="en-US"/>
                        <a:t>Solidity (EVM), Chaincode (Fabric/Go/TS)</a:t>
                      </a:r>
                    </a:p>
                  </a:txBody>
                  <a:tcPr anchor="ctr">
                    <a:lnL>
                      <a:noFill/>
                    </a:lnL>
                    <a:lnR>
                      <a:noFill/>
                    </a:lnR>
                    <a:lnT>
                      <a:noFill/>
                    </a:lnT>
                    <a:lnB>
                      <a:noFill/>
                    </a:lnB>
                    <a:noFill/>
                  </a:tcPr>
                </a:tc>
                <a:tc>
                  <a:txBody>
                    <a:bodyPr/>
                    <a:lstStyle/>
                    <a:p>
                      <a:r>
                        <a:rPr lang="en-US"/>
                        <a:t>Business logic written directly into the chain</a:t>
                      </a:r>
                    </a:p>
                  </a:txBody>
                  <a:tcPr anchor="ctr">
                    <a:lnL>
                      <a:noFill/>
                    </a:lnL>
                    <a:lnR>
                      <a:noFill/>
                    </a:lnR>
                    <a:lnT>
                      <a:noFill/>
                    </a:lnT>
                    <a:lnB>
                      <a:noFill/>
                    </a:lnB>
                    <a:noFill/>
                  </a:tcPr>
                </a:tc>
                <a:extLst>
                  <a:ext uri="{0D108BD9-81ED-4DB2-BD59-A6C34878D82A}">
                    <a16:rowId xmlns:a16="http://schemas.microsoft.com/office/drawing/2014/main" val="3756111781"/>
                  </a:ext>
                </a:extLst>
              </a:tr>
              <a:tr h="292699">
                <a:tc>
                  <a:txBody>
                    <a:bodyPr/>
                    <a:lstStyle/>
                    <a:p>
                      <a:r>
                        <a:rPr lang="en-US" b="1"/>
                        <a:t>Consensus</a:t>
                      </a:r>
                      <a:endParaRPr lang="en-US"/>
                    </a:p>
                  </a:txBody>
                  <a:tcPr anchor="ctr">
                    <a:lnL>
                      <a:noFill/>
                    </a:lnL>
                    <a:lnR>
                      <a:noFill/>
                    </a:lnR>
                    <a:lnT>
                      <a:noFill/>
                    </a:lnT>
                    <a:lnB>
                      <a:noFill/>
                    </a:lnB>
                    <a:noFill/>
                  </a:tcPr>
                </a:tc>
                <a:tc>
                  <a:txBody>
                    <a:bodyPr/>
                    <a:lstStyle/>
                    <a:p>
                      <a:r>
                        <a:rPr lang="en-US"/>
                        <a:t>PBFT, Raft, PoW, PoS</a:t>
                      </a:r>
                    </a:p>
                  </a:txBody>
                  <a:tcPr anchor="ctr">
                    <a:lnL>
                      <a:noFill/>
                    </a:lnL>
                    <a:lnR>
                      <a:noFill/>
                    </a:lnR>
                    <a:lnT>
                      <a:noFill/>
                    </a:lnT>
                    <a:lnB>
                      <a:noFill/>
                    </a:lnB>
                    <a:noFill/>
                  </a:tcPr>
                </a:tc>
                <a:tc>
                  <a:txBody>
                    <a:bodyPr/>
                    <a:lstStyle/>
                    <a:p>
                      <a:r>
                        <a:rPr lang="en-US"/>
                        <a:t>Ensures all nodes agree on state</a:t>
                      </a:r>
                    </a:p>
                  </a:txBody>
                  <a:tcPr anchor="ctr">
                    <a:lnL>
                      <a:noFill/>
                    </a:lnL>
                    <a:lnR>
                      <a:noFill/>
                    </a:lnR>
                    <a:lnT>
                      <a:noFill/>
                    </a:lnT>
                    <a:lnB>
                      <a:noFill/>
                    </a:lnB>
                    <a:noFill/>
                  </a:tcPr>
                </a:tc>
                <a:extLst>
                  <a:ext uri="{0D108BD9-81ED-4DB2-BD59-A6C34878D82A}">
                    <a16:rowId xmlns:a16="http://schemas.microsoft.com/office/drawing/2014/main" val="1224290903"/>
                  </a:ext>
                </a:extLst>
              </a:tr>
              <a:tr h="512223">
                <a:tc>
                  <a:txBody>
                    <a:bodyPr/>
                    <a:lstStyle/>
                    <a:p>
                      <a:r>
                        <a:rPr lang="en-US" b="1"/>
                        <a:t>Network</a:t>
                      </a:r>
                      <a:endParaRPr lang="en-US"/>
                    </a:p>
                  </a:txBody>
                  <a:tcPr anchor="ctr">
                    <a:lnL>
                      <a:noFill/>
                    </a:lnL>
                    <a:lnR>
                      <a:noFill/>
                    </a:lnR>
                    <a:lnT>
                      <a:noFill/>
                    </a:lnT>
                    <a:lnB>
                      <a:noFill/>
                    </a:lnB>
                    <a:noFill/>
                  </a:tcPr>
                </a:tc>
                <a:tc>
                  <a:txBody>
                    <a:bodyPr/>
                    <a:lstStyle/>
                    <a:p>
                      <a:r>
                        <a:rPr lang="en-US"/>
                        <a:t>libp2p, gRPC, gossipsub</a:t>
                      </a:r>
                    </a:p>
                  </a:txBody>
                  <a:tcPr anchor="ctr">
                    <a:lnL>
                      <a:noFill/>
                    </a:lnL>
                    <a:lnR>
                      <a:noFill/>
                    </a:lnR>
                    <a:lnT>
                      <a:noFill/>
                    </a:lnT>
                    <a:lnB>
                      <a:noFill/>
                    </a:lnB>
                    <a:noFill/>
                  </a:tcPr>
                </a:tc>
                <a:tc>
                  <a:txBody>
                    <a:bodyPr/>
                    <a:lstStyle/>
                    <a:p>
                      <a:r>
                        <a:rPr lang="en-US"/>
                        <a:t>Node communication &amp; peer discovery</a:t>
                      </a:r>
                    </a:p>
                  </a:txBody>
                  <a:tcPr anchor="ctr">
                    <a:lnL>
                      <a:noFill/>
                    </a:lnL>
                    <a:lnR>
                      <a:noFill/>
                    </a:lnR>
                    <a:lnT>
                      <a:noFill/>
                    </a:lnT>
                    <a:lnB>
                      <a:noFill/>
                    </a:lnB>
                    <a:noFill/>
                  </a:tcPr>
                </a:tc>
                <a:extLst>
                  <a:ext uri="{0D108BD9-81ED-4DB2-BD59-A6C34878D82A}">
                    <a16:rowId xmlns:a16="http://schemas.microsoft.com/office/drawing/2014/main" val="3896956228"/>
                  </a:ext>
                </a:extLst>
              </a:tr>
              <a:tr h="292699">
                <a:tc>
                  <a:txBody>
                    <a:bodyPr/>
                    <a:lstStyle/>
                    <a:p>
                      <a:r>
                        <a:rPr lang="en-US" b="1"/>
                        <a:t>Data / Ledger</a:t>
                      </a:r>
                      <a:endParaRPr lang="en-US"/>
                    </a:p>
                  </a:txBody>
                  <a:tcPr anchor="ctr">
                    <a:lnL>
                      <a:noFill/>
                    </a:lnL>
                    <a:lnR>
                      <a:noFill/>
                    </a:lnR>
                    <a:lnT>
                      <a:noFill/>
                    </a:lnT>
                    <a:lnB>
                      <a:noFill/>
                    </a:lnB>
                    <a:noFill/>
                  </a:tcPr>
                </a:tc>
                <a:tc>
                  <a:txBody>
                    <a:bodyPr/>
                    <a:lstStyle/>
                    <a:p>
                      <a:r>
                        <a:rPr lang="en-US"/>
                        <a:t>RocksDB, LevelDB, IPFS</a:t>
                      </a:r>
                    </a:p>
                  </a:txBody>
                  <a:tcPr anchor="ctr">
                    <a:lnL>
                      <a:noFill/>
                    </a:lnL>
                    <a:lnR>
                      <a:noFill/>
                    </a:lnR>
                    <a:lnT>
                      <a:noFill/>
                    </a:lnT>
                    <a:lnB>
                      <a:noFill/>
                    </a:lnB>
                    <a:noFill/>
                  </a:tcPr>
                </a:tc>
                <a:tc>
                  <a:txBody>
                    <a:bodyPr/>
                    <a:lstStyle/>
                    <a:p>
                      <a:r>
                        <a:rPr lang="en-US" dirty="0"/>
                        <a:t>Immutable event and state storage</a:t>
                      </a:r>
                    </a:p>
                  </a:txBody>
                  <a:tcPr anchor="ctr">
                    <a:lnL>
                      <a:noFill/>
                    </a:lnL>
                    <a:lnR>
                      <a:noFill/>
                    </a:lnR>
                    <a:lnT>
                      <a:noFill/>
                    </a:lnT>
                    <a:lnB>
                      <a:noFill/>
                    </a:lnB>
                    <a:noFill/>
                  </a:tcPr>
                </a:tc>
                <a:extLst>
                  <a:ext uri="{0D108BD9-81ED-4DB2-BD59-A6C34878D82A}">
                    <a16:rowId xmlns:a16="http://schemas.microsoft.com/office/drawing/2014/main" val="2726315027"/>
                  </a:ext>
                </a:extLst>
              </a:tr>
            </a:tbl>
          </a:graphicData>
        </a:graphic>
      </p:graphicFrame>
    </p:spTree>
    <p:extLst>
      <p:ext uri="{BB962C8B-B14F-4D97-AF65-F5344CB8AC3E}">
        <p14:creationId xmlns:p14="http://schemas.microsoft.com/office/powerpoint/2010/main" val="26736507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F6862-9551-4C3B-3550-B047FA3281E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16E1B50-261D-1E1C-CB93-02E192700AB1}"/>
              </a:ext>
            </a:extLst>
          </p:cNvPr>
          <p:cNvSpPr/>
          <p:nvPr/>
        </p:nvSpPr>
        <p:spPr>
          <a:xfrm>
            <a:off x="8448" y="2550"/>
            <a:ext cx="12180896" cy="656492"/>
          </a:xfrm>
          <a:prstGeom prst="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2B58624B-FF52-FB2E-888E-2BCA89C15FA7}"/>
              </a:ext>
            </a:extLst>
          </p:cNvPr>
          <p:cNvSpPr txBox="1"/>
          <p:nvPr/>
        </p:nvSpPr>
        <p:spPr>
          <a:xfrm>
            <a:off x="96691" y="85357"/>
            <a:ext cx="10661981" cy="523220"/>
          </a:xfrm>
          <a:prstGeom prst="rect">
            <a:avLst/>
          </a:prstGeom>
          <a:noFill/>
        </p:spPr>
        <p:txBody>
          <a:bodyPr wrap="square" rtlCol="0">
            <a:spAutoFit/>
          </a:bodyPr>
          <a:lstStyle/>
          <a:p>
            <a:r>
              <a:rPr lang="en-US" sz="2800" b="1" dirty="0">
                <a:solidFill>
                  <a:schemeClr val="bg1">
                    <a:lumMod val="95000"/>
                  </a:schemeClr>
                </a:solidFill>
              </a:rPr>
              <a:t> Technical Architecture –  Function to Record Emission Data (3 of 3)</a:t>
            </a:r>
          </a:p>
        </p:txBody>
      </p:sp>
      <p:sp>
        <p:nvSpPr>
          <p:cNvPr id="4" name="TextBox 3">
            <a:extLst>
              <a:ext uri="{FF2B5EF4-FFF2-40B4-BE49-F238E27FC236}">
                <a16:creationId xmlns:a16="http://schemas.microsoft.com/office/drawing/2014/main" id="{8DC2692E-CEA1-AA16-FF5C-A8F7156A4AA4}"/>
              </a:ext>
            </a:extLst>
          </p:cNvPr>
          <p:cNvSpPr txBox="1"/>
          <p:nvPr/>
        </p:nvSpPr>
        <p:spPr>
          <a:xfrm>
            <a:off x="-4155" y="683499"/>
            <a:ext cx="12072168" cy="646331"/>
          </a:xfrm>
          <a:prstGeom prst="rect">
            <a:avLst/>
          </a:prstGeom>
          <a:noFill/>
          <a:ln>
            <a:solidFill>
              <a:schemeClr val="accent1"/>
            </a:solidFill>
          </a:ln>
        </p:spPr>
        <p:txBody>
          <a:bodyPr wrap="square">
            <a:spAutoFit/>
          </a:bodyPr>
          <a:lstStyle/>
          <a:p>
            <a:r>
              <a:rPr lang="en-US" dirty="0"/>
              <a:t>Example pseudo code representation for registering an IoT device on a blockchain. There are additional steps to be performed on the device itself prior to connection to the blockchain. Structures in a smart contract define these actions.</a:t>
            </a:r>
            <a:endParaRPr lang="en-US" dirty="0">
              <a:solidFill>
                <a:srgbClr val="001D35"/>
              </a:solidFill>
              <a:latin typeface="Google Sans"/>
            </a:endParaRPr>
          </a:p>
        </p:txBody>
      </p:sp>
      <p:sp>
        <p:nvSpPr>
          <p:cNvPr id="9" name="Rectangle: Folded Corner 8">
            <a:extLst>
              <a:ext uri="{FF2B5EF4-FFF2-40B4-BE49-F238E27FC236}">
                <a16:creationId xmlns:a16="http://schemas.microsoft.com/office/drawing/2014/main" id="{EC6BF3F1-54D3-6CEE-CB4E-4182CA8C37C4}"/>
              </a:ext>
            </a:extLst>
          </p:cNvPr>
          <p:cNvSpPr/>
          <p:nvPr/>
        </p:nvSpPr>
        <p:spPr>
          <a:xfrm>
            <a:off x="6777317" y="1499616"/>
            <a:ext cx="5313907" cy="5273027"/>
          </a:xfrm>
          <a:prstGeom prst="foldedCorner">
            <a:avLst>
              <a:gd name="adj" fmla="val 15966"/>
            </a:avLst>
          </a:prstGeom>
          <a:solidFill>
            <a:srgbClr val="CCECFF"/>
          </a:solid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tIns="9144" bIns="9144" rtlCol="0" anchor="ctr"/>
          <a:lstStyle/>
          <a:p>
            <a:r>
              <a:rPr lang="en-US" sz="1400" dirty="0">
                <a:solidFill>
                  <a:srgbClr val="001D35"/>
                </a:solidFill>
                <a:latin typeface="Google Sans"/>
              </a:rPr>
              <a:t> </a:t>
            </a:r>
          </a:p>
          <a:p>
            <a:endParaRPr lang="en-US" sz="1400" dirty="0">
              <a:solidFill>
                <a:srgbClr val="001D35"/>
              </a:solidFill>
              <a:latin typeface="Google Sans"/>
            </a:endParaRPr>
          </a:p>
          <a:p>
            <a:endParaRPr lang="en-US" sz="1400" dirty="0">
              <a:solidFill>
                <a:srgbClr val="C00000"/>
              </a:solidFill>
              <a:latin typeface="Google Sans"/>
            </a:endParaRPr>
          </a:p>
          <a:p>
            <a:r>
              <a:rPr lang="en-US" sz="1400" dirty="0">
                <a:solidFill>
                  <a:srgbClr val="C00000"/>
                </a:solidFill>
                <a:latin typeface="Google Sans"/>
              </a:rPr>
              <a:t>contract </a:t>
            </a:r>
            <a:r>
              <a:rPr lang="en-US" sz="1400" dirty="0" err="1">
                <a:solidFill>
                  <a:srgbClr val="C00000"/>
                </a:solidFill>
                <a:latin typeface="Google Sans"/>
              </a:rPr>
              <a:t>IoTDevices</a:t>
            </a:r>
            <a:r>
              <a:rPr lang="en-US" sz="1400" dirty="0">
                <a:solidFill>
                  <a:srgbClr val="C00000"/>
                </a:solidFill>
                <a:latin typeface="Google Sans"/>
              </a:rPr>
              <a:t> {</a:t>
            </a:r>
          </a:p>
          <a:p>
            <a:endParaRPr lang="en-US" sz="1400" dirty="0">
              <a:solidFill>
                <a:srgbClr val="001D35"/>
              </a:solidFill>
              <a:latin typeface="Google Sans"/>
            </a:endParaRPr>
          </a:p>
          <a:p>
            <a:r>
              <a:rPr lang="en-US" sz="1400" dirty="0">
                <a:solidFill>
                  <a:srgbClr val="001D35"/>
                </a:solidFill>
                <a:latin typeface="Google Sans"/>
              </a:rPr>
              <a:t>  function </a:t>
            </a:r>
            <a:r>
              <a:rPr lang="en-US" sz="1400" dirty="0" err="1">
                <a:solidFill>
                  <a:srgbClr val="001D35"/>
                </a:solidFill>
                <a:latin typeface="Google Sans"/>
              </a:rPr>
              <a:t>recordEmission</a:t>
            </a:r>
            <a:r>
              <a:rPr lang="en-US" sz="1400" dirty="0">
                <a:solidFill>
                  <a:srgbClr val="001D35"/>
                </a:solidFill>
                <a:latin typeface="Google Sans"/>
              </a:rPr>
              <a:t>( string memory _UUID,         </a:t>
            </a:r>
          </a:p>
          <a:p>
            <a:r>
              <a:rPr lang="en-US" sz="1400" dirty="0">
                <a:solidFill>
                  <a:srgbClr val="001D35"/>
                </a:solidFill>
                <a:latin typeface="Google Sans"/>
              </a:rPr>
              <a:t>                                                uint256 _</a:t>
            </a:r>
            <a:r>
              <a:rPr lang="en-US" sz="1400" dirty="0" err="1">
                <a:solidFill>
                  <a:srgbClr val="001D35"/>
                </a:solidFill>
                <a:latin typeface="Google Sans"/>
              </a:rPr>
              <a:t>emissionValue</a:t>
            </a:r>
            <a:r>
              <a:rPr lang="en-US" sz="1400" dirty="0">
                <a:solidFill>
                  <a:srgbClr val="001D35"/>
                </a:solidFill>
                <a:latin typeface="Google Sans"/>
              </a:rPr>
              <a:t>,</a:t>
            </a:r>
          </a:p>
          <a:p>
            <a:r>
              <a:rPr lang="en-US" sz="1400" dirty="0">
                <a:solidFill>
                  <a:srgbClr val="001D35"/>
                </a:solidFill>
                <a:latin typeface="Google Sans"/>
              </a:rPr>
              <a:t>                                                string memory _units) </a:t>
            </a:r>
          </a:p>
          <a:p>
            <a:r>
              <a:rPr lang="en-US" sz="1400" dirty="0">
                <a:solidFill>
                  <a:srgbClr val="001D35"/>
                </a:solidFill>
                <a:latin typeface="Google Sans"/>
              </a:rPr>
              <a:t>  </a:t>
            </a:r>
          </a:p>
          <a:p>
            <a:r>
              <a:rPr lang="en-US" sz="1400" dirty="0">
                <a:solidFill>
                  <a:srgbClr val="001D35"/>
                </a:solidFill>
                <a:latin typeface="Google Sans"/>
              </a:rPr>
              <a:t>     public {  require(devices[_UUID].</a:t>
            </a:r>
            <a:r>
              <a:rPr lang="en-US" sz="1400" dirty="0" err="1">
                <a:solidFill>
                  <a:srgbClr val="001D35"/>
                </a:solidFill>
                <a:latin typeface="Google Sans"/>
              </a:rPr>
              <a:t>isActive</a:t>
            </a:r>
            <a:r>
              <a:rPr lang="en-US" sz="1400" dirty="0">
                <a:solidFill>
                  <a:srgbClr val="001D35"/>
                </a:solidFill>
                <a:latin typeface="Google Sans"/>
              </a:rPr>
              <a:t>, "Device not active or not</a:t>
            </a:r>
          </a:p>
          <a:p>
            <a:r>
              <a:rPr lang="en-US" sz="1400" dirty="0">
                <a:solidFill>
                  <a:srgbClr val="001D35"/>
                </a:solidFill>
                <a:latin typeface="Google Sans"/>
              </a:rPr>
              <a:t>                  registered");</a:t>
            </a:r>
          </a:p>
          <a:p>
            <a:endParaRPr lang="en-US" sz="1400" dirty="0">
              <a:solidFill>
                <a:srgbClr val="001D35"/>
              </a:solidFill>
              <a:latin typeface="Google Sans"/>
            </a:endParaRPr>
          </a:p>
          <a:p>
            <a:r>
              <a:rPr lang="en-US" sz="1400" dirty="0">
                <a:solidFill>
                  <a:srgbClr val="001D35"/>
                </a:solidFill>
                <a:latin typeface="Google Sans"/>
              </a:rPr>
              <a:t>    </a:t>
            </a:r>
            <a:r>
              <a:rPr lang="en-US" sz="1400" dirty="0" err="1">
                <a:solidFill>
                  <a:srgbClr val="001D35"/>
                </a:solidFill>
                <a:latin typeface="Google Sans"/>
              </a:rPr>
              <a:t>emissionsByDevice</a:t>
            </a:r>
            <a:r>
              <a:rPr lang="en-US" sz="1400" dirty="0">
                <a:solidFill>
                  <a:srgbClr val="001D35"/>
                </a:solidFill>
                <a:latin typeface="Google Sans"/>
              </a:rPr>
              <a:t>[_UUID].push(</a:t>
            </a:r>
            <a:r>
              <a:rPr lang="en-US" sz="1400" dirty="0" err="1">
                <a:solidFill>
                  <a:srgbClr val="001D35"/>
                </a:solidFill>
                <a:latin typeface="Google Sans"/>
              </a:rPr>
              <a:t>EmissionData</a:t>
            </a:r>
            <a:r>
              <a:rPr lang="en-US" sz="1400" dirty="0">
                <a:solidFill>
                  <a:srgbClr val="001D35"/>
                </a:solidFill>
                <a:latin typeface="Google Sans"/>
              </a:rPr>
              <a:t>({ UUID: _UUID,</a:t>
            </a:r>
          </a:p>
          <a:p>
            <a:r>
              <a:rPr lang="en-US" sz="1400" dirty="0">
                <a:solidFill>
                  <a:srgbClr val="001D35"/>
                </a:solidFill>
                <a:latin typeface="Google Sans"/>
              </a:rPr>
              <a:t>                                         timestamp: </a:t>
            </a:r>
            <a:r>
              <a:rPr lang="en-US" sz="1400" dirty="0" err="1">
                <a:solidFill>
                  <a:srgbClr val="001D35"/>
                </a:solidFill>
                <a:latin typeface="Google Sans"/>
              </a:rPr>
              <a:t>block.timestamp</a:t>
            </a:r>
            <a:r>
              <a:rPr lang="en-US" sz="1400" dirty="0">
                <a:solidFill>
                  <a:srgbClr val="001D35"/>
                </a:solidFill>
                <a:latin typeface="Google Sans"/>
              </a:rPr>
              <a:t>,</a:t>
            </a:r>
          </a:p>
          <a:p>
            <a:r>
              <a:rPr lang="en-US" sz="1400" dirty="0">
                <a:solidFill>
                  <a:srgbClr val="001D35"/>
                </a:solidFill>
                <a:latin typeface="Google Sans"/>
              </a:rPr>
              <a:t>                                         </a:t>
            </a:r>
            <a:r>
              <a:rPr lang="en-US" sz="1400" dirty="0" err="1">
                <a:solidFill>
                  <a:srgbClr val="001D35"/>
                </a:solidFill>
                <a:latin typeface="Google Sans"/>
              </a:rPr>
              <a:t>emissionValue</a:t>
            </a:r>
            <a:r>
              <a:rPr lang="en-US" sz="1400" dirty="0">
                <a:solidFill>
                  <a:srgbClr val="001D35"/>
                </a:solidFill>
                <a:latin typeface="Google Sans"/>
              </a:rPr>
              <a:t>: _</a:t>
            </a:r>
            <a:r>
              <a:rPr lang="en-US" sz="1400" dirty="0" err="1">
                <a:solidFill>
                  <a:srgbClr val="001D35"/>
                </a:solidFill>
                <a:latin typeface="Google Sans"/>
              </a:rPr>
              <a:t>emissionValue</a:t>
            </a:r>
            <a:r>
              <a:rPr lang="en-US" sz="1400" dirty="0">
                <a:solidFill>
                  <a:srgbClr val="001D35"/>
                </a:solidFill>
                <a:latin typeface="Google Sans"/>
              </a:rPr>
              <a:t>,</a:t>
            </a:r>
          </a:p>
          <a:p>
            <a:r>
              <a:rPr lang="en-US" sz="1400" dirty="0">
                <a:solidFill>
                  <a:srgbClr val="001D35"/>
                </a:solidFill>
                <a:latin typeface="Google Sans"/>
              </a:rPr>
              <a:t>                                         units: _units</a:t>
            </a:r>
          </a:p>
          <a:p>
            <a:r>
              <a:rPr lang="en-US" sz="1400" dirty="0">
                <a:solidFill>
                  <a:srgbClr val="001D35"/>
                </a:solidFill>
                <a:latin typeface="Google Sans"/>
              </a:rPr>
              <a:t>    }));</a:t>
            </a:r>
          </a:p>
          <a:p>
            <a:r>
              <a:rPr lang="en-US" sz="1400" dirty="0">
                <a:solidFill>
                  <a:srgbClr val="001D35"/>
                </a:solidFill>
                <a:latin typeface="Google Sans"/>
              </a:rPr>
              <a:t>}</a:t>
            </a:r>
          </a:p>
          <a:p>
            <a:r>
              <a:rPr lang="en-US" sz="1400" dirty="0">
                <a:solidFill>
                  <a:srgbClr val="001D35"/>
                </a:solidFill>
                <a:latin typeface="Google Sans"/>
              </a:rPr>
              <a:t>✅ Summary of What’s Needed</a:t>
            </a:r>
          </a:p>
          <a:p>
            <a:r>
              <a:rPr lang="en-US" sz="1400" dirty="0">
                <a:solidFill>
                  <a:srgbClr val="001D35"/>
                </a:solidFill>
                <a:latin typeface="Google Sans"/>
              </a:rPr>
              <a:t>Component	Purpose</a:t>
            </a:r>
          </a:p>
          <a:p>
            <a:r>
              <a:rPr lang="en-US" sz="1400" dirty="0" err="1">
                <a:solidFill>
                  <a:srgbClr val="001D35"/>
                </a:solidFill>
                <a:latin typeface="Google Sans"/>
              </a:rPr>
              <a:t>EmissionData</a:t>
            </a:r>
            <a:r>
              <a:rPr lang="en-US" sz="1400" dirty="0">
                <a:solidFill>
                  <a:srgbClr val="001D35"/>
                </a:solidFill>
                <a:latin typeface="Google Sans"/>
              </a:rPr>
              <a:t> struct	Stores a single data point</a:t>
            </a:r>
          </a:p>
          <a:p>
            <a:r>
              <a:rPr lang="en-US" sz="1400" dirty="0" err="1">
                <a:solidFill>
                  <a:srgbClr val="001D35"/>
                </a:solidFill>
                <a:latin typeface="Google Sans"/>
              </a:rPr>
              <a:t>emissionsByDevice</a:t>
            </a:r>
            <a:r>
              <a:rPr lang="en-US" sz="1400" dirty="0">
                <a:solidFill>
                  <a:srgbClr val="001D35"/>
                </a:solidFill>
                <a:latin typeface="Google Sans"/>
              </a:rPr>
              <a:t> map	Links UUID to array of emissions</a:t>
            </a:r>
          </a:p>
          <a:p>
            <a:r>
              <a:rPr lang="en-US" sz="1400" dirty="0" err="1">
                <a:solidFill>
                  <a:srgbClr val="001D35"/>
                </a:solidFill>
                <a:latin typeface="Google Sans"/>
              </a:rPr>
              <a:t>registerDevice</a:t>
            </a:r>
            <a:r>
              <a:rPr lang="en-US" sz="1400" dirty="0">
                <a:solidFill>
                  <a:srgbClr val="001D35"/>
                </a:solidFill>
                <a:latin typeface="Google Sans"/>
              </a:rPr>
              <a:t>()	Registers and activates a device</a:t>
            </a:r>
          </a:p>
          <a:p>
            <a:r>
              <a:rPr lang="en-US" sz="1400" dirty="0" err="1">
                <a:solidFill>
                  <a:srgbClr val="001D35"/>
                </a:solidFill>
                <a:latin typeface="Google Sans"/>
              </a:rPr>
              <a:t>recordEmission</a:t>
            </a:r>
            <a:r>
              <a:rPr lang="en-US" sz="1400" dirty="0">
                <a:solidFill>
                  <a:srgbClr val="001D35"/>
                </a:solidFill>
                <a:latin typeface="Google Sans"/>
              </a:rPr>
              <a:t>()	Logs a CO₂ value from an active device </a:t>
            </a:r>
            <a:endParaRPr lang="en-US" sz="1100" dirty="0">
              <a:solidFill>
                <a:srgbClr val="C00000"/>
              </a:solidFill>
            </a:endParaRPr>
          </a:p>
        </p:txBody>
      </p:sp>
      <p:sp>
        <p:nvSpPr>
          <p:cNvPr id="12" name="TextBox 11">
            <a:extLst>
              <a:ext uri="{FF2B5EF4-FFF2-40B4-BE49-F238E27FC236}">
                <a16:creationId xmlns:a16="http://schemas.microsoft.com/office/drawing/2014/main" id="{AAC069C1-9AE1-C13E-2539-2CE46C7CE601}"/>
              </a:ext>
            </a:extLst>
          </p:cNvPr>
          <p:cNvSpPr txBox="1"/>
          <p:nvPr/>
        </p:nvSpPr>
        <p:spPr>
          <a:xfrm>
            <a:off x="48401" y="1403685"/>
            <a:ext cx="6614746" cy="5355312"/>
          </a:xfrm>
          <a:prstGeom prst="rect">
            <a:avLst/>
          </a:prstGeom>
          <a:noFill/>
        </p:spPr>
        <p:txBody>
          <a:bodyPr wrap="square" rtlCol="0">
            <a:spAutoFit/>
          </a:bodyPr>
          <a:lstStyle/>
          <a:p>
            <a:pPr marL="342900" indent="-342900">
              <a:buAutoNum type="arabicParenR"/>
            </a:pPr>
            <a:r>
              <a:rPr lang="en-US" dirty="0"/>
              <a:t>Here is the function to register the device on the blockchain.</a:t>
            </a:r>
          </a:p>
          <a:p>
            <a:r>
              <a:rPr lang="en-US" sz="1400" dirty="0">
                <a:solidFill>
                  <a:srgbClr val="001D35"/>
                </a:solidFill>
                <a:latin typeface="Google Sans"/>
              </a:rPr>
              <a:t>            a) create a unique identity using the IoT UUID or the device’s MAC address.</a:t>
            </a:r>
          </a:p>
          <a:p>
            <a:r>
              <a:rPr lang="en-US" sz="1400" dirty="0">
                <a:solidFill>
                  <a:srgbClr val="001D35"/>
                </a:solidFill>
                <a:latin typeface="Google Sans"/>
              </a:rPr>
              <a:t>            b) system controllers register devices using </a:t>
            </a:r>
            <a:r>
              <a:rPr lang="en-US" sz="1400" dirty="0" err="1">
                <a:solidFill>
                  <a:srgbClr val="001D35"/>
                </a:solidFill>
                <a:latin typeface="Google Sans"/>
              </a:rPr>
              <a:t>IoTDevice_register</a:t>
            </a:r>
            <a:r>
              <a:rPr lang="en-US" sz="1400" dirty="0">
                <a:solidFill>
                  <a:srgbClr val="001D35"/>
                </a:solidFill>
                <a:latin typeface="Google Sans"/>
              </a:rPr>
              <a:t> which includes the</a:t>
            </a:r>
          </a:p>
          <a:p>
            <a:r>
              <a:rPr lang="en-US" sz="1400" dirty="0">
                <a:solidFill>
                  <a:srgbClr val="001D35"/>
                </a:solidFill>
                <a:latin typeface="Google Sans"/>
              </a:rPr>
              <a:t>               , UUID, type, capabilities, and status.</a:t>
            </a:r>
          </a:p>
          <a:p>
            <a:endParaRPr lang="en-US" dirty="0"/>
          </a:p>
          <a:p>
            <a:r>
              <a:rPr lang="en-US" dirty="0"/>
              <a:t>2)   The signature for the function to register is the following:</a:t>
            </a:r>
          </a:p>
          <a:p>
            <a:r>
              <a:rPr lang="en-US" sz="1400" dirty="0">
                <a:solidFill>
                  <a:srgbClr val="001D35"/>
                </a:solidFill>
                <a:latin typeface="Google Sans"/>
              </a:rPr>
              <a:t>           await </a:t>
            </a:r>
            <a:r>
              <a:rPr lang="en-US" sz="1400" dirty="0" err="1">
                <a:solidFill>
                  <a:srgbClr val="001D35"/>
                </a:solidFill>
                <a:latin typeface="Google Sans"/>
              </a:rPr>
              <a:t>contract.methods.registerDevice</a:t>
            </a:r>
            <a:r>
              <a:rPr lang="en-US" sz="1400" dirty="0">
                <a:solidFill>
                  <a:srgbClr val="001D35"/>
                </a:solidFill>
                <a:latin typeface="Google Sans"/>
              </a:rPr>
              <a:t>(</a:t>
            </a:r>
          </a:p>
          <a:p>
            <a:r>
              <a:rPr lang="en-US" sz="1400" dirty="0">
                <a:solidFill>
                  <a:srgbClr val="001D35"/>
                </a:solidFill>
                <a:latin typeface="Google Sans"/>
              </a:rPr>
              <a:t>                       “some supplier Corp",</a:t>
            </a:r>
          </a:p>
          <a:p>
            <a:r>
              <a:rPr lang="en-US" sz="1400" dirty="0">
                <a:solidFill>
                  <a:srgbClr val="001D35"/>
                </a:solidFill>
                <a:latin typeface="Google Sans"/>
              </a:rPr>
              <a:t>                       “UUID",</a:t>
            </a:r>
          </a:p>
          <a:p>
            <a:r>
              <a:rPr lang="en-US" sz="1400" dirty="0">
                <a:solidFill>
                  <a:srgbClr val="001D35"/>
                </a:solidFill>
                <a:latin typeface="Google Sans"/>
              </a:rPr>
              <a:t>                       "CO2_Sensor",</a:t>
            </a:r>
          </a:p>
          <a:p>
            <a:r>
              <a:rPr lang="en-US" sz="1400" dirty="0">
                <a:solidFill>
                  <a:srgbClr val="001D35"/>
                </a:solidFill>
                <a:latin typeface="Google Sans"/>
              </a:rPr>
              <a:t>                       "</a:t>
            </a:r>
            <a:r>
              <a:rPr lang="en-US" sz="1400" dirty="0" err="1">
                <a:solidFill>
                  <a:srgbClr val="001D35"/>
                </a:solidFill>
                <a:latin typeface="Google Sans"/>
              </a:rPr>
              <a:t>emissions_reporting</a:t>
            </a:r>
            <a:r>
              <a:rPr lang="en-US" sz="1400" dirty="0">
                <a:solidFill>
                  <a:srgbClr val="001D35"/>
                </a:solidFill>
                <a:latin typeface="Google Sans"/>
              </a:rPr>
              <a:t>",</a:t>
            </a:r>
          </a:p>
          <a:p>
            <a:r>
              <a:rPr lang="en-US" sz="1400" dirty="0">
                <a:solidFill>
                  <a:srgbClr val="001D35"/>
                </a:solidFill>
                <a:latin typeface="Google Sans"/>
              </a:rPr>
              <a:t>                       "</a:t>
            </a:r>
            <a:r>
              <a:rPr lang="en-US" sz="1400" dirty="0" err="1">
                <a:solidFill>
                  <a:srgbClr val="001D35"/>
                </a:solidFill>
                <a:latin typeface="Google Sans"/>
              </a:rPr>
              <a:t>ipfs</a:t>
            </a:r>
            <a:r>
              <a:rPr lang="en-US" sz="1400" dirty="0">
                <a:solidFill>
                  <a:srgbClr val="001D35"/>
                </a:solidFill>
                <a:latin typeface="Google Sans"/>
              </a:rPr>
              <a:t>://example-data-link" ).send({ from: </a:t>
            </a:r>
            <a:r>
              <a:rPr lang="en-US" sz="1400" dirty="0" err="1">
                <a:solidFill>
                  <a:srgbClr val="001D35"/>
                </a:solidFill>
                <a:latin typeface="Google Sans"/>
              </a:rPr>
              <a:t>adminAddress</a:t>
            </a:r>
            <a:r>
              <a:rPr lang="en-US" sz="1400" dirty="0">
                <a:solidFill>
                  <a:srgbClr val="001D35"/>
                </a:solidFill>
                <a:latin typeface="Google Sans"/>
              </a:rPr>
              <a:t> });</a:t>
            </a:r>
          </a:p>
          <a:p>
            <a:r>
              <a:rPr lang="en-US" sz="1400" dirty="0">
                <a:solidFill>
                  <a:srgbClr val="001D35"/>
                </a:solidFill>
                <a:latin typeface="Google Sans"/>
              </a:rPr>
              <a:t>          - </a:t>
            </a:r>
            <a:r>
              <a:rPr lang="en-US" sz="1400" b="1" dirty="0">
                <a:solidFill>
                  <a:srgbClr val="001D35"/>
                </a:solidFill>
                <a:latin typeface="Google Sans"/>
              </a:rPr>
              <a:t>performed as a transaction to call this smart contract called “</a:t>
            </a:r>
            <a:r>
              <a:rPr lang="en-US" sz="1400" b="1" dirty="0" err="1">
                <a:solidFill>
                  <a:srgbClr val="001D35"/>
                </a:solidFill>
                <a:latin typeface="Google Sans"/>
              </a:rPr>
              <a:t>IoTDevices</a:t>
            </a:r>
            <a:endParaRPr lang="en-US" sz="1400" b="1" dirty="0">
              <a:solidFill>
                <a:srgbClr val="001D35"/>
              </a:solidFill>
              <a:latin typeface="Google Sans"/>
            </a:endParaRPr>
          </a:p>
          <a:p>
            <a:r>
              <a:rPr lang="en-US" sz="1400" b="1" dirty="0"/>
              <a:t>          - CALLED BY - IoT gateways or devices (via backend code using Web3.js, Web3.py,</a:t>
            </a:r>
          </a:p>
          <a:p>
            <a:r>
              <a:rPr lang="en-US" sz="1400" b="1" dirty="0"/>
              <a:t>             Ethers.js, etc.)</a:t>
            </a:r>
            <a:endParaRPr lang="en-US" sz="1400" b="1" dirty="0">
              <a:solidFill>
                <a:srgbClr val="001D35"/>
              </a:solidFill>
              <a:latin typeface="Google Sans"/>
            </a:endParaRPr>
          </a:p>
          <a:p>
            <a:r>
              <a:rPr lang="en-US" sz="1400" dirty="0">
                <a:solidFill>
                  <a:srgbClr val="001D35"/>
                </a:solidFill>
                <a:latin typeface="Google Sans"/>
              </a:rPr>
              <a:t>         </a:t>
            </a:r>
          </a:p>
          <a:p>
            <a:pPr marL="342900" indent="-342900">
              <a:buFont typeface="+mj-lt"/>
              <a:buAutoNum type="arabicParenR" startAt="3"/>
            </a:pPr>
            <a:r>
              <a:rPr lang="en-US" dirty="0"/>
              <a:t>What Happens on the Blockchain</a:t>
            </a:r>
          </a:p>
          <a:p>
            <a:r>
              <a:rPr lang="en-US" sz="1400" dirty="0"/>
              <a:t>            </a:t>
            </a:r>
            <a:r>
              <a:rPr lang="en-US" sz="1400" dirty="0">
                <a:latin typeface="Google Sans"/>
              </a:rPr>
              <a:t>a) </a:t>
            </a:r>
            <a:r>
              <a:rPr lang="en-US" sz="1400" dirty="0">
                <a:solidFill>
                  <a:srgbClr val="001D35"/>
                </a:solidFill>
                <a:latin typeface="Google Sans"/>
              </a:rPr>
              <a:t> The device info is stored immutably in the </a:t>
            </a:r>
            <a:r>
              <a:rPr lang="en-US" sz="1400" b="1" dirty="0">
                <a:solidFill>
                  <a:srgbClr val="001D35"/>
                </a:solidFill>
                <a:latin typeface="Google Sans"/>
              </a:rPr>
              <a:t>devices</a:t>
            </a:r>
            <a:r>
              <a:rPr lang="en-US" sz="1400" dirty="0">
                <a:solidFill>
                  <a:srgbClr val="001D35"/>
                </a:solidFill>
                <a:latin typeface="Google Sans"/>
              </a:rPr>
              <a:t> mapping</a:t>
            </a:r>
          </a:p>
          <a:p>
            <a:r>
              <a:rPr lang="en-US" sz="1400" dirty="0">
                <a:solidFill>
                  <a:srgbClr val="001D35"/>
                </a:solidFill>
                <a:latin typeface="Google Sans"/>
              </a:rPr>
              <a:t>            b)  The device can be looked up on the blockchain via </a:t>
            </a:r>
            <a:r>
              <a:rPr lang="en-US" sz="1400" b="1" dirty="0">
                <a:solidFill>
                  <a:srgbClr val="001D35"/>
                </a:solidFill>
                <a:latin typeface="Google Sans"/>
              </a:rPr>
              <a:t>devices[“UUID”]</a:t>
            </a:r>
          </a:p>
          <a:p>
            <a:endParaRPr lang="en-US" sz="1400" dirty="0">
              <a:latin typeface="Google Sans"/>
            </a:endParaRPr>
          </a:p>
          <a:p>
            <a:pPr marL="342900" indent="-342900">
              <a:buFont typeface="+mj-lt"/>
              <a:buAutoNum type="arabicParenR" startAt="4"/>
            </a:pPr>
            <a:r>
              <a:rPr lang="en-US" dirty="0"/>
              <a:t>Security</a:t>
            </a:r>
          </a:p>
          <a:p>
            <a:r>
              <a:rPr lang="en-US" sz="1400" dirty="0">
                <a:latin typeface="Google Sans"/>
              </a:rPr>
              <a:t>            a) If the policy is to allow anyone to register a device , remove the </a:t>
            </a:r>
            <a:r>
              <a:rPr lang="en-US" sz="1400" b="1" dirty="0" err="1">
                <a:latin typeface="Google Sans"/>
              </a:rPr>
              <a:t>onlyAdmin</a:t>
            </a:r>
            <a:endParaRPr lang="en-US" sz="1400" b="1" dirty="0">
              <a:latin typeface="Google Sans"/>
            </a:endParaRPr>
          </a:p>
          <a:p>
            <a:r>
              <a:rPr lang="en-US" sz="1400" b="1" dirty="0">
                <a:latin typeface="Google Sans"/>
              </a:rPr>
              <a:t>               </a:t>
            </a:r>
            <a:r>
              <a:rPr lang="en-US" sz="1400" dirty="0">
                <a:latin typeface="Google Sans"/>
              </a:rPr>
              <a:t> modifier.</a:t>
            </a:r>
            <a:endParaRPr lang="en-US" sz="1400" dirty="0">
              <a:solidFill>
                <a:srgbClr val="001D35"/>
              </a:solidFill>
              <a:latin typeface="Google Sans"/>
            </a:endParaRPr>
          </a:p>
        </p:txBody>
      </p:sp>
      <p:sp>
        <p:nvSpPr>
          <p:cNvPr id="2" name="AutoShape 2" descr="A detailed infographic illustrating the process of defining an IoT device on a blockchain. The image includes a flow from an IoT device (e.g., a sensor) to its integration with a blockchain system. Key elements include (1) Device Identity Registration with unique IDs and cryptographic keys, (2) Secure Communication using encryption, (3) Data Validation through blockchain nodes and oracles, (4) Integration with Smart Contracts showing automated triggers, (5) Off-Chain Data Storage connected to the blockchain using systems like IPFS, and (6) Scalability with Layer 2 solutions. The design is clean and professional, with arrows connecting each step, labeled sections, and a modern tech aesthetic.">
            <a:extLst>
              <a:ext uri="{FF2B5EF4-FFF2-40B4-BE49-F238E27FC236}">
                <a16:creationId xmlns:a16="http://schemas.microsoft.com/office/drawing/2014/main" id="{0C894B62-DC9A-31D2-766E-B0A3E7AAF66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14" name="Connector: Elbow 13">
            <a:extLst>
              <a:ext uri="{FF2B5EF4-FFF2-40B4-BE49-F238E27FC236}">
                <a16:creationId xmlns:a16="http://schemas.microsoft.com/office/drawing/2014/main" id="{0A54CEEE-4362-9432-E476-7EFB5894F78F}"/>
              </a:ext>
            </a:extLst>
          </p:cNvPr>
          <p:cNvCxnSpPr>
            <a:cxnSpLocks/>
          </p:cNvCxnSpPr>
          <p:nvPr/>
        </p:nvCxnSpPr>
        <p:spPr>
          <a:xfrm rot="10800000">
            <a:off x="3445453" y="2307891"/>
            <a:ext cx="3507438" cy="73001"/>
          </a:xfrm>
          <a:prstGeom prst="bentConnector3">
            <a:avLst/>
          </a:prstGeom>
          <a:ln w="222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id="{F4D4BCA0-41F4-4EF8-EEEC-7DA530B3030F}"/>
              </a:ext>
            </a:extLst>
          </p:cNvPr>
          <p:cNvCxnSpPr>
            <a:cxnSpLocks/>
          </p:cNvCxnSpPr>
          <p:nvPr/>
        </p:nvCxnSpPr>
        <p:spPr>
          <a:xfrm rot="10800000" flipV="1">
            <a:off x="5199174" y="4684143"/>
            <a:ext cx="1908992" cy="770172"/>
          </a:xfrm>
          <a:prstGeom prst="bentConnector3">
            <a:avLst/>
          </a:prstGeom>
          <a:ln w="2222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60613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DCA73251-CFEE-BD6A-1A09-1B1BACF98EAF}"/>
              </a:ext>
            </a:extLst>
          </p:cNvPr>
          <p:cNvSpPr txBox="1"/>
          <p:nvPr/>
        </p:nvSpPr>
        <p:spPr>
          <a:xfrm>
            <a:off x="96691" y="85357"/>
            <a:ext cx="10661981" cy="523220"/>
          </a:xfrm>
          <a:prstGeom prst="rect">
            <a:avLst/>
          </a:prstGeom>
          <a:noFill/>
        </p:spPr>
        <p:txBody>
          <a:bodyPr wrap="square" rtlCol="0">
            <a:spAutoFit/>
          </a:bodyPr>
          <a:lstStyle/>
          <a:p>
            <a:r>
              <a:rPr lang="en-US" sz="2800" b="1" dirty="0">
                <a:solidFill>
                  <a:schemeClr val="bg1">
                    <a:lumMod val="95000"/>
                  </a:schemeClr>
                </a:solidFill>
              </a:rPr>
              <a:t> </a:t>
            </a:r>
            <a:r>
              <a:rPr lang="en-US" sz="2000" b="1" dirty="0"/>
              <a:t>A Quick Mention of “State Variables” and their Usage for the Digital Twin  </a:t>
            </a:r>
          </a:p>
        </p:txBody>
      </p:sp>
      <p:sp>
        <p:nvSpPr>
          <p:cNvPr id="2" name="TextBox 9">
            <a:extLst>
              <a:ext uri="{FF2B5EF4-FFF2-40B4-BE49-F238E27FC236}">
                <a16:creationId xmlns:a16="http://schemas.microsoft.com/office/drawing/2014/main" id="{45A103E7-FD0A-2CE2-0458-D8700D9B0E51}"/>
              </a:ext>
            </a:extLst>
          </p:cNvPr>
          <p:cNvSpPr txBox="1"/>
          <p:nvPr/>
        </p:nvSpPr>
        <p:spPr>
          <a:xfrm>
            <a:off x="191579" y="5080667"/>
            <a:ext cx="9539016" cy="147732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Font typeface="+mj-lt"/>
              <a:buAutoNum type="arabicPeriod"/>
            </a:pPr>
            <a:r>
              <a:rPr lang="en-US" b="1" dirty="0"/>
              <a:t> </a:t>
            </a:r>
            <a:r>
              <a:rPr lang="en-US" dirty="0"/>
              <a:t>Supply chain digital twin configuration.</a:t>
            </a:r>
          </a:p>
          <a:p>
            <a:pPr>
              <a:buFont typeface="+mj-lt"/>
              <a:buAutoNum type="arabicPeriod"/>
            </a:pPr>
            <a:r>
              <a:rPr lang="en-US" b="1" dirty="0"/>
              <a:t> </a:t>
            </a:r>
            <a:r>
              <a:rPr lang="en-US" dirty="0"/>
              <a:t>Supply chain segments</a:t>
            </a:r>
            <a:endParaRPr lang="en-US" b="1" dirty="0"/>
          </a:p>
          <a:p>
            <a:pPr>
              <a:buFont typeface="+mj-lt"/>
              <a:buAutoNum type="arabicPeriod"/>
            </a:pPr>
            <a:r>
              <a:rPr lang="en-US" b="1" dirty="0"/>
              <a:t> </a:t>
            </a:r>
            <a:r>
              <a:rPr lang="en-US" dirty="0"/>
              <a:t>All greenhouse gas baselines associated with supply chain segments.</a:t>
            </a:r>
            <a:endParaRPr lang="en-US" b="1" dirty="0"/>
          </a:p>
          <a:p>
            <a:pPr>
              <a:buFont typeface="+mj-lt"/>
              <a:buAutoNum type="arabicPeriod"/>
            </a:pPr>
            <a:r>
              <a:rPr lang="en-US" b="1" dirty="0"/>
              <a:t> </a:t>
            </a:r>
            <a:r>
              <a:rPr lang="en-US" dirty="0"/>
              <a:t>Greenhouse gas emission sources.</a:t>
            </a:r>
            <a:endParaRPr lang="en-US" b="1" dirty="0"/>
          </a:p>
          <a:p>
            <a:pPr>
              <a:buFont typeface="+mj-lt"/>
              <a:buAutoNum type="arabicPeriod"/>
            </a:pPr>
            <a:r>
              <a:rPr lang="en-US" b="1" dirty="0"/>
              <a:t> </a:t>
            </a:r>
            <a:r>
              <a:rPr lang="en-US" dirty="0"/>
              <a:t>External emission measuring devices (IoT) registered on the blockchain.</a:t>
            </a:r>
            <a:endParaRPr lang="en-US" sz="1600" b="0" i="0" dirty="0">
              <a:solidFill>
                <a:srgbClr val="172B4D"/>
              </a:solidFill>
              <a:effectLst/>
              <a:latin typeface="ui-sans-serif"/>
            </a:endParaRPr>
          </a:p>
        </p:txBody>
      </p:sp>
      <p:cxnSp>
        <p:nvCxnSpPr>
          <p:cNvPr id="5" name="Straight Connector 4">
            <a:extLst>
              <a:ext uri="{FF2B5EF4-FFF2-40B4-BE49-F238E27FC236}">
                <a16:creationId xmlns:a16="http://schemas.microsoft.com/office/drawing/2014/main" id="{3E8E5FDC-EAF0-88F4-1705-996E3B31CF4B}"/>
              </a:ext>
            </a:extLst>
          </p:cNvPr>
          <p:cNvCxnSpPr/>
          <p:nvPr/>
        </p:nvCxnSpPr>
        <p:spPr>
          <a:xfrm>
            <a:off x="315244" y="621054"/>
            <a:ext cx="5253925"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2FD9323-9979-AD75-11CB-A071E9D797EC}"/>
              </a:ext>
            </a:extLst>
          </p:cNvPr>
          <p:cNvSpPr txBox="1"/>
          <p:nvPr/>
        </p:nvSpPr>
        <p:spPr>
          <a:xfrm>
            <a:off x="191579" y="725258"/>
            <a:ext cx="11894027" cy="4401205"/>
          </a:xfrm>
          <a:prstGeom prst="rect">
            <a:avLst/>
          </a:prstGeom>
          <a:noFill/>
        </p:spPr>
        <p:txBody>
          <a:bodyPr wrap="square" rtlCol="0">
            <a:spAutoFit/>
          </a:bodyPr>
          <a:lstStyle/>
          <a:p>
            <a:r>
              <a:rPr lang="en-US" sz="2000" dirty="0"/>
              <a:t>State variables encapsulating the Supply Chain Net Zero Digital Twin are persisted on the blockchain ledger. These variables are programmatically created, modified, or removed through smart contract transactions as operational requirements evolve. They hold the contract’s </a:t>
            </a:r>
            <a:r>
              <a:rPr lang="en-US" sz="2000" b="1" dirty="0"/>
              <a:t>data across transactions</a:t>
            </a:r>
            <a:r>
              <a:rPr lang="en-US" sz="2000" dirty="0"/>
              <a:t>—similar to global variables in traditional programming—but they’re stored </a:t>
            </a:r>
            <a:r>
              <a:rPr lang="en-US" sz="2000" b="1" dirty="0"/>
              <a:t>on-chain</a:t>
            </a:r>
            <a:r>
              <a:rPr lang="en-US" sz="2000" dirty="0"/>
              <a:t> and are part of the blockchain's state. </a:t>
            </a:r>
          </a:p>
          <a:p>
            <a:endParaRPr lang="en-US" sz="2000" dirty="0"/>
          </a:p>
          <a:p>
            <a:pPr>
              <a:buNone/>
            </a:pPr>
            <a:r>
              <a:rPr lang="en-US" sz="2000" dirty="0"/>
              <a:t>      </a:t>
            </a:r>
            <a:r>
              <a:rPr lang="en-US" sz="2000" b="1" dirty="0"/>
              <a:t>State variables are:</a:t>
            </a:r>
          </a:p>
          <a:p>
            <a:pPr>
              <a:buNone/>
            </a:pPr>
            <a:r>
              <a:rPr lang="en-US" sz="2000" dirty="0"/>
              <a:t>             Declared </a:t>
            </a:r>
            <a:r>
              <a:rPr lang="en-US" sz="2000" b="1" dirty="0"/>
              <a:t>outside</a:t>
            </a:r>
            <a:r>
              <a:rPr lang="en-US" sz="2000" dirty="0"/>
              <a:t> of functions.</a:t>
            </a:r>
          </a:p>
          <a:p>
            <a:pPr>
              <a:buNone/>
            </a:pPr>
            <a:r>
              <a:rPr lang="en-US" sz="2000" dirty="0"/>
              <a:t>             Stored permanently in the </a:t>
            </a:r>
            <a:r>
              <a:rPr lang="en-US" sz="2000" b="1" dirty="0"/>
              <a:t>contract's storage</a:t>
            </a:r>
            <a:r>
              <a:rPr lang="en-US" sz="2000" dirty="0"/>
              <a:t> on the blockchain.</a:t>
            </a:r>
          </a:p>
          <a:p>
            <a:pPr>
              <a:buNone/>
            </a:pPr>
            <a:r>
              <a:rPr lang="en-US" sz="2000" dirty="0"/>
              <a:t>             Updated only by transactions (calls that change state).</a:t>
            </a:r>
          </a:p>
          <a:p>
            <a:pPr>
              <a:buNone/>
            </a:pPr>
            <a:r>
              <a:rPr lang="en-US" sz="2000" dirty="0"/>
              <a:t>             Writing/updating uses gas, accessible throughout the contract, can be public, private, internal or external.</a:t>
            </a:r>
          </a:p>
          <a:p>
            <a:pPr>
              <a:buNone/>
            </a:pPr>
            <a:r>
              <a:rPr lang="en-US" sz="2000" dirty="0"/>
              <a:t>             Can not rely upon external data unless from the blockchain or oracle.</a:t>
            </a:r>
          </a:p>
          <a:p>
            <a:pPr>
              <a:buNone/>
            </a:pPr>
            <a:endParaRPr lang="en-US" sz="2000" dirty="0"/>
          </a:p>
          <a:p>
            <a:endParaRPr lang="en-US" sz="2000" dirty="0"/>
          </a:p>
          <a:p>
            <a:r>
              <a:rPr lang="en-US" sz="2000" dirty="0"/>
              <a:t>The following is the list of data classified and managed as “state variables”:</a:t>
            </a:r>
            <a:endParaRPr lang="en-US" sz="2000" b="1" dirty="0"/>
          </a:p>
        </p:txBody>
      </p:sp>
      <p:sp>
        <p:nvSpPr>
          <p:cNvPr id="8" name="Oval 7">
            <a:extLst>
              <a:ext uri="{FF2B5EF4-FFF2-40B4-BE49-F238E27FC236}">
                <a16:creationId xmlns:a16="http://schemas.microsoft.com/office/drawing/2014/main" id="{3B8CF70B-1770-2257-28DC-11DE5E23D742}"/>
              </a:ext>
            </a:extLst>
          </p:cNvPr>
          <p:cNvSpPr/>
          <p:nvPr/>
        </p:nvSpPr>
        <p:spPr>
          <a:xfrm>
            <a:off x="816234" y="2702048"/>
            <a:ext cx="136041" cy="1170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AE4692A-40D0-76B1-D899-D0E52DB1BD9E}"/>
              </a:ext>
            </a:extLst>
          </p:cNvPr>
          <p:cNvSpPr/>
          <p:nvPr/>
        </p:nvSpPr>
        <p:spPr>
          <a:xfrm>
            <a:off x="811467" y="2983040"/>
            <a:ext cx="136041" cy="1170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ECF80F4-6B66-0FAE-A0C6-0F27EA91BB9B}"/>
              </a:ext>
            </a:extLst>
          </p:cNvPr>
          <p:cNvSpPr/>
          <p:nvPr/>
        </p:nvSpPr>
        <p:spPr>
          <a:xfrm>
            <a:off x="806700" y="3292607"/>
            <a:ext cx="136041" cy="1170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E9D1EA0-C89F-A4B1-A186-FA66C84A9FF0}"/>
              </a:ext>
            </a:extLst>
          </p:cNvPr>
          <p:cNvSpPr/>
          <p:nvPr/>
        </p:nvSpPr>
        <p:spPr>
          <a:xfrm>
            <a:off x="803534" y="3589475"/>
            <a:ext cx="136041" cy="1170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6EE758A-4D44-E7C9-6A4D-60D7C4722A75}"/>
              </a:ext>
            </a:extLst>
          </p:cNvPr>
          <p:cNvSpPr/>
          <p:nvPr/>
        </p:nvSpPr>
        <p:spPr>
          <a:xfrm>
            <a:off x="797184" y="3887925"/>
            <a:ext cx="136041" cy="1170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8ED8FF3A-B5DF-5A9C-E11B-6AFE41352393}"/>
              </a:ext>
            </a:extLst>
          </p:cNvPr>
          <p:cNvCxnSpPr>
            <a:cxnSpLocks/>
          </p:cNvCxnSpPr>
          <p:nvPr/>
        </p:nvCxnSpPr>
        <p:spPr>
          <a:xfrm flipV="1">
            <a:off x="315244" y="4474232"/>
            <a:ext cx="8308056" cy="2518"/>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24337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Folded Corner 2">
            <a:extLst>
              <a:ext uri="{FF2B5EF4-FFF2-40B4-BE49-F238E27FC236}">
                <a16:creationId xmlns:a16="http://schemas.microsoft.com/office/drawing/2014/main" id="{0DD21E0F-64D7-FE8E-5DA7-A1CDE04C71B3}"/>
              </a:ext>
            </a:extLst>
          </p:cNvPr>
          <p:cNvSpPr/>
          <p:nvPr/>
        </p:nvSpPr>
        <p:spPr>
          <a:xfrm>
            <a:off x="8448" y="659043"/>
            <a:ext cx="12183552" cy="6198958"/>
          </a:xfrm>
          <a:prstGeom prst="foldedCorne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9CF6392-90C9-4ECE-941A-84CA8666738A}"/>
              </a:ext>
            </a:extLst>
          </p:cNvPr>
          <p:cNvSpPr/>
          <p:nvPr/>
        </p:nvSpPr>
        <p:spPr>
          <a:xfrm>
            <a:off x="8448" y="2550"/>
            <a:ext cx="12180896" cy="656492"/>
          </a:xfrm>
          <a:prstGeom prst="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DCA73251-CFEE-BD6A-1A09-1B1BACF98EAF}"/>
              </a:ext>
            </a:extLst>
          </p:cNvPr>
          <p:cNvSpPr txBox="1"/>
          <p:nvPr/>
        </p:nvSpPr>
        <p:spPr>
          <a:xfrm>
            <a:off x="96691" y="85357"/>
            <a:ext cx="10661981" cy="523220"/>
          </a:xfrm>
          <a:prstGeom prst="rect">
            <a:avLst/>
          </a:prstGeom>
          <a:noFill/>
        </p:spPr>
        <p:txBody>
          <a:bodyPr wrap="square" rtlCol="0">
            <a:spAutoFit/>
          </a:bodyPr>
          <a:lstStyle/>
          <a:p>
            <a:r>
              <a:rPr lang="en-US" sz="2800" b="1" dirty="0">
                <a:solidFill>
                  <a:schemeClr val="bg1">
                    <a:lumMod val="95000"/>
                  </a:schemeClr>
                </a:solidFill>
              </a:rPr>
              <a:t> Technical Architecture – Blockchain Definition of Digital Twin (1 of 3)</a:t>
            </a:r>
          </a:p>
        </p:txBody>
      </p:sp>
      <p:sp>
        <p:nvSpPr>
          <p:cNvPr id="2" name="TextBox 1">
            <a:extLst>
              <a:ext uri="{FF2B5EF4-FFF2-40B4-BE49-F238E27FC236}">
                <a16:creationId xmlns:a16="http://schemas.microsoft.com/office/drawing/2014/main" id="{0083BB98-5288-10C6-BFC7-9562F0831FBE}"/>
              </a:ext>
            </a:extLst>
          </p:cNvPr>
          <p:cNvSpPr txBox="1"/>
          <p:nvPr/>
        </p:nvSpPr>
        <p:spPr>
          <a:xfrm>
            <a:off x="96691" y="741680"/>
            <a:ext cx="10040367" cy="6063198"/>
          </a:xfrm>
          <a:prstGeom prst="rect">
            <a:avLst/>
          </a:prstGeom>
          <a:noFill/>
        </p:spPr>
        <p:txBody>
          <a:bodyPr wrap="square" rtlCol="0">
            <a:spAutoFit/>
          </a:bodyPr>
          <a:lstStyle/>
          <a:p>
            <a:r>
              <a:rPr lang="en-US" sz="2400" dirty="0"/>
              <a:t>How is the Digital Twin Deployed on a Blockchain………</a:t>
            </a:r>
          </a:p>
          <a:p>
            <a:endParaRPr lang="en-US" sz="2400" dirty="0"/>
          </a:p>
          <a:p>
            <a:pPr marL="285750" indent="-285750">
              <a:buFont typeface="Arial" panose="020B0604020202020204" pitchFamily="34" charset="0"/>
              <a:buChar char="•"/>
            </a:pPr>
            <a:r>
              <a:rPr lang="en-US" sz="2000" dirty="0"/>
              <a:t>Digital Twins are represented as structures within a Smart Contract.</a:t>
            </a:r>
          </a:p>
          <a:p>
            <a:endParaRPr lang="en-US" sz="2000" dirty="0"/>
          </a:p>
          <a:p>
            <a:pPr marL="285750" indent="-285750">
              <a:buFont typeface="Arial" panose="020B0604020202020204" pitchFamily="34" charset="0"/>
              <a:buChar char="•"/>
            </a:pPr>
            <a:r>
              <a:rPr lang="en-US" sz="2000" dirty="0"/>
              <a:t>In Hyperledger Fabric:</a:t>
            </a:r>
          </a:p>
          <a:p>
            <a:r>
              <a:rPr lang="en-US" sz="2000" dirty="0"/>
              <a:t>             - Smart Contracts are deployed on the blockchain through </a:t>
            </a:r>
            <a:r>
              <a:rPr lang="en-US" sz="2000" dirty="0" err="1"/>
              <a:t>chaincode</a:t>
            </a:r>
            <a:r>
              <a:rPr lang="en-US" sz="2000" dirty="0"/>
              <a:t>.</a:t>
            </a:r>
          </a:p>
          <a:p>
            <a:r>
              <a:rPr lang="en-US" sz="2000" dirty="0"/>
              <a:t>             - A Smart Contract is identified through a combination of </a:t>
            </a:r>
            <a:r>
              <a:rPr lang="en-US" sz="2000" dirty="0" err="1"/>
              <a:t>chaincode</a:t>
            </a:r>
            <a:r>
              <a:rPr lang="en-US" sz="2000" dirty="0"/>
              <a:t> name, version,</a:t>
            </a:r>
          </a:p>
          <a:p>
            <a:r>
              <a:rPr lang="en-US" sz="2000" dirty="0"/>
              <a:t>               package ID and Channel Name</a:t>
            </a:r>
          </a:p>
          <a:p>
            <a:r>
              <a:rPr lang="en-US" sz="2000" dirty="0"/>
              <a:t>             - A Transaction Context Interface(</a:t>
            </a:r>
            <a:r>
              <a:rPr lang="en-US" sz="2000" dirty="0" err="1"/>
              <a:t>ctx</a:t>
            </a:r>
            <a:r>
              <a:rPr lang="en-US" sz="2000" dirty="0"/>
              <a:t>) is assigned to enable the smart contract to access</a:t>
            </a:r>
          </a:p>
          <a:p>
            <a:r>
              <a:rPr lang="en-US" sz="2000" dirty="0"/>
              <a:t>                the blockchain ledger.</a:t>
            </a:r>
          </a:p>
          <a:p>
            <a:endParaRPr lang="en-US" sz="2000" dirty="0"/>
          </a:p>
          <a:p>
            <a:pPr marL="285750" indent="-285750">
              <a:buFont typeface="Arial" panose="020B0604020202020204" pitchFamily="34" charset="0"/>
              <a:buChar char="•"/>
            </a:pPr>
            <a:r>
              <a:rPr lang="en-US" sz="2000" dirty="0"/>
              <a:t>In Hyperledger </a:t>
            </a:r>
            <a:r>
              <a:rPr lang="en-US" sz="2000" dirty="0" err="1"/>
              <a:t>Besu</a:t>
            </a:r>
            <a:r>
              <a:rPr lang="en-US" sz="2000" dirty="0"/>
              <a:t>:</a:t>
            </a:r>
          </a:p>
          <a:p>
            <a:r>
              <a:rPr lang="en-US" sz="2000" dirty="0"/>
              <a:t>             - Smart Contracts are deployed on the blockchain using Truffle, Remix or other</a:t>
            </a:r>
          </a:p>
          <a:p>
            <a:r>
              <a:rPr lang="en-US" sz="2000" dirty="0"/>
              <a:t>                commercially available tools.</a:t>
            </a:r>
          </a:p>
          <a:p>
            <a:r>
              <a:rPr lang="en-US" sz="2000" dirty="0"/>
              <a:t>            - An Ethereum-style </a:t>
            </a:r>
            <a:r>
              <a:rPr lang="en-US" sz="2000" b="1" dirty="0"/>
              <a:t>contract address</a:t>
            </a:r>
            <a:r>
              <a:rPr lang="en-US" sz="2000" dirty="0"/>
              <a:t> is generated. This address is derived from the</a:t>
            </a:r>
          </a:p>
          <a:p>
            <a:r>
              <a:rPr lang="en-US" sz="2000" dirty="0"/>
              <a:t>              </a:t>
            </a:r>
            <a:r>
              <a:rPr lang="en-US" sz="2000" b="1" dirty="0"/>
              <a:t>address of the account</a:t>
            </a:r>
            <a:r>
              <a:rPr lang="en-US" sz="2000" dirty="0"/>
              <a:t> deploying the contract and the </a:t>
            </a:r>
            <a:r>
              <a:rPr lang="en-US" sz="2000" b="1" dirty="0"/>
              <a:t>nonce</a:t>
            </a:r>
            <a:r>
              <a:rPr lang="en-US" sz="2000" dirty="0"/>
              <a:t> (the number of</a:t>
            </a:r>
          </a:p>
          <a:p>
            <a:r>
              <a:rPr lang="en-US" sz="2000" dirty="0"/>
              <a:t>              transactions sent from that account).</a:t>
            </a:r>
          </a:p>
          <a:p>
            <a:r>
              <a:rPr lang="en-US" sz="2000" dirty="0"/>
              <a:t>            - The contract address is a </a:t>
            </a:r>
            <a:r>
              <a:rPr lang="en-US" sz="2000" b="1" dirty="0"/>
              <a:t>160-bit hexadecimal</a:t>
            </a:r>
            <a:r>
              <a:rPr lang="en-US" sz="2000" dirty="0"/>
              <a:t> string (similar to an Ethereum account</a:t>
            </a:r>
          </a:p>
          <a:p>
            <a:r>
              <a:rPr lang="en-US" sz="2000" dirty="0"/>
              <a:t>               address).  Example: 0x5aB398F3A12c546bB6eF83087Ad2E933C87B3F21</a:t>
            </a:r>
          </a:p>
        </p:txBody>
      </p:sp>
      <p:cxnSp>
        <p:nvCxnSpPr>
          <p:cNvPr id="11" name="Straight Connector 10">
            <a:extLst>
              <a:ext uri="{FF2B5EF4-FFF2-40B4-BE49-F238E27FC236}">
                <a16:creationId xmlns:a16="http://schemas.microsoft.com/office/drawing/2014/main" id="{2BF06A54-DD8F-98C9-FBCD-E75A4E8BC3AE}"/>
              </a:ext>
            </a:extLst>
          </p:cNvPr>
          <p:cNvCxnSpPr>
            <a:cxnSpLocks/>
          </p:cNvCxnSpPr>
          <p:nvPr/>
        </p:nvCxnSpPr>
        <p:spPr>
          <a:xfrm>
            <a:off x="226142" y="1327355"/>
            <a:ext cx="90035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051" name="Picture 3" descr="GitHub - hyperledger/besu: An enterprise-grade Java-based ...">
            <a:extLst>
              <a:ext uri="{FF2B5EF4-FFF2-40B4-BE49-F238E27FC236}">
                <a16:creationId xmlns:a16="http://schemas.microsoft.com/office/drawing/2014/main" id="{F28FD1D0-E417-05FE-1ADE-E0D1957E45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20177" y="4744633"/>
            <a:ext cx="1871330" cy="991136"/>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20240918 - Fabric Contributor Meeting">
            <a:extLst>
              <a:ext uri="{FF2B5EF4-FFF2-40B4-BE49-F238E27FC236}">
                <a16:creationId xmlns:a16="http://schemas.microsoft.com/office/drawing/2014/main" id="{5D9A04DD-05F7-7915-37BF-DBF97CE69E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0177" y="2440512"/>
            <a:ext cx="1871330" cy="897226"/>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Digital smart contract, isometric icon concept of electronic signature, blockchain technology crypto. Online e-contract document. Can use for web banner. Vector illustration Digital smart contract, isometric icon concept of electronic signature, blockchain technology crypto. Online e-contract document. smart contract stock illustrations">
            <a:extLst>
              <a:ext uri="{FF2B5EF4-FFF2-40B4-BE49-F238E27FC236}">
                <a16:creationId xmlns:a16="http://schemas.microsoft.com/office/drawing/2014/main" id="{483CA37B-8ACF-D778-E9C7-543A63B1D9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38672" y="989616"/>
            <a:ext cx="1871330" cy="1076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0364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43CBF-3F9E-67E1-C081-232F50480EE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47224B5F-E579-6688-3A27-2589E2CBC54D}"/>
              </a:ext>
            </a:extLst>
          </p:cNvPr>
          <p:cNvSpPr txBox="1"/>
          <p:nvPr/>
        </p:nvSpPr>
        <p:spPr>
          <a:xfrm>
            <a:off x="82296" y="621283"/>
            <a:ext cx="11354763" cy="5755422"/>
          </a:xfrm>
          <a:prstGeom prst="rect">
            <a:avLst/>
          </a:prstGeom>
          <a:noFill/>
        </p:spPr>
        <p:txBody>
          <a:bodyPr wrap="square" rtlCol="0">
            <a:spAutoFit/>
          </a:bodyPr>
          <a:lstStyle/>
          <a:p>
            <a:pPr marL="285750" indent="-285750">
              <a:buFont typeface="Arial" panose="020B0604020202020204" pitchFamily="34" charset="0"/>
              <a:buChar char="•"/>
            </a:pPr>
            <a:r>
              <a:rPr lang="en-US" sz="1600" dirty="0"/>
              <a:t>In </a:t>
            </a:r>
            <a:r>
              <a:rPr lang="en-US" sz="1600" b="1" dirty="0"/>
              <a:t>Hyperledger Fabric</a:t>
            </a:r>
            <a:r>
              <a:rPr lang="en-US" sz="1600" dirty="0"/>
              <a:t>, the </a:t>
            </a:r>
            <a:r>
              <a:rPr lang="en-US" sz="1600" b="1" dirty="0"/>
              <a:t>Membership Service Provider (MSP)</a:t>
            </a:r>
            <a:r>
              <a:rPr lang="en-US" sz="1600" dirty="0"/>
              <a:t> is a core component responsible for </a:t>
            </a:r>
            <a:r>
              <a:rPr lang="en-US" sz="1600" b="1" dirty="0"/>
              <a:t>identity management and access control</a:t>
            </a:r>
            <a:r>
              <a:rPr lang="en-US" sz="1600" dirty="0"/>
              <a:t>. It ensures that only authorized users and nodes can participate in the blockchain network.</a:t>
            </a:r>
          </a:p>
          <a:p>
            <a:pPr marL="285750" indent="-285750">
              <a:buFont typeface="Arial" panose="020B0604020202020204" pitchFamily="34" charset="0"/>
              <a:buChar char="•"/>
            </a:pPr>
            <a:r>
              <a:rPr lang="en-US" sz="1600" dirty="0"/>
              <a:t>Each supply chain participating </a:t>
            </a:r>
            <a:r>
              <a:rPr lang="en-US" sz="1600" b="1" dirty="0"/>
              <a:t>organization</a:t>
            </a:r>
            <a:r>
              <a:rPr lang="en-US" sz="1600" dirty="0"/>
              <a:t> has a </a:t>
            </a:r>
            <a:r>
              <a:rPr lang="en-US" sz="1600" b="1" dirty="0"/>
              <a:t>Membership Service Provider(MSP).  </a:t>
            </a:r>
            <a:r>
              <a:rPr lang="en-US" sz="1600" dirty="0"/>
              <a:t>The MSP performs the following:                </a:t>
            </a:r>
          </a:p>
          <a:p>
            <a:pPr marL="800100" lvl="1" indent="-342900">
              <a:buFont typeface="+mj-lt"/>
              <a:buAutoNum type="alphaLcParenR"/>
            </a:pPr>
            <a:r>
              <a:rPr lang="en-US" sz="1600" dirty="0"/>
              <a:t>defines the boundaries of the </a:t>
            </a:r>
            <a:r>
              <a:rPr lang="en-US" sz="1600" b="1" dirty="0"/>
              <a:t>fabric blockchain network</a:t>
            </a:r>
          </a:p>
          <a:p>
            <a:pPr marL="800100" lvl="1" indent="-342900">
              <a:buFont typeface="+mj-lt"/>
              <a:buAutoNum type="alphaLcParenR"/>
            </a:pPr>
            <a:r>
              <a:rPr lang="en-US" sz="1600" dirty="0"/>
              <a:t>run 1 or more peers, </a:t>
            </a:r>
            <a:r>
              <a:rPr lang="en-US" sz="1600" dirty="0" err="1"/>
              <a:t>orderers</a:t>
            </a:r>
            <a:r>
              <a:rPr lang="en-US" sz="1600" dirty="0"/>
              <a:t>, clients</a:t>
            </a:r>
          </a:p>
          <a:p>
            <a:pPr marL="800100" lvl="1" indent="-342900">
              <a:buFont typeface="+mj-lt"/>
              <a:buAutoNum type="alphaLcParenR"/>
            </a:pPr>
            <a:r>
              <a:rPr lang="en-US" sz="1600" dirty="0"/>
              <a:t>has an ID</a:t>
            </a:r>
          </a:p>
          <a:p>
            <a:pPr marL="800100" lvl="1" indent="-342900">
              <a:buFont typeface="+mj-lt"/>
              <a:buAutoNum type="alphaLcParenR"/>
            </a:pPr>
            <a:r>
              <a:rPr lang="en-US" sz="1600" dirty="0"/>
              <a:t>contains a list of users and their roles and permissions within the network</a:t>
            </a:r>
          </a:p>
          <a:p>
            <a:pPr marL="800100" lvl="1" indent="-342900">
              <a:buFont typeface="+mj-lt"/>
              <a:buAutoNum type="alphaLcParenR"/>
            </a:pPr>
            <a:r>
              <a:rPr lang="en-US" sz="1600" dirty="0"/>
              <a:t> has a keystore(private key for signing transactions</a:t>
            </a:r>
          </a:p>
          <a:p>
            <a:pPr marL="800100" lvl="1" indent="-342900">
              <a:buFont typeface="+mj-lt"/>
              <a:buAutoNum type="alphaLcParenR"/>
            </a:pPr>
            <a:r>
              <a:rPr lang="en-US" sz="1600" dirty="0"/>
              <a:t> </a:t>
            </a:r>
            <a:r>
              <a:rPr lang="en-US" sz="1600" dirty="0" err="1"/>
              <a:t>Signcert</a:t>
            </a:r>
            <a:r>
              <a:rPr lang="en-US" sz="1600" dirty="0"/>
              <a:t>(Public x.509 certificate – will also define roles for a user)</a:t>
            </a:r>
          </a:p>
          <a:p>
            <a:endParaRPr lang="en-US" dirty="0"/>
          </a:p>
          <a:p>
            <a:pPr marL="285750" indent="-285750">
              <a:buFont typeface="Arial" panose="020B0604020202020204" pitchFamily="34" charset="0"/>
              <a:buChar char="•"/>
            </a:pPr>
            <a:r>
              <a:rPr lang="en-US" sz="1600" dirty="0"/>
              <a:t>Network can contain multiple organizations referred to as a Consortium Network defining the trust domain of an organization.</a:t>
            </a:r>
          </a:p>
          <a:p>
            <a:endParaRPr lang="en-US" sz="1600" dirty="0"/>
          </a:p>
          <a:p>
            <a:endParaRPr lang="en-US" sz="1600" dirty="0"/>
          </a:p>
          <a:p>
            <a:pPr marL="285750" indent="-285750">
              <a:buFont typeface="Arial" panose="020B0604020202020204" pitchFamily="34" charset="0"/>
              <a:buChar char="•"/>
            </a:pPr>
            <a:r>
              <a:rPr lang="en-US" sz="1600" dirty="0"/>
              <a:t>Each peer in the consortium network has a  </a:t>
            </a:r>
          </a:p>
          <a:p>
            <a:r>
              <a:rPr lang="en-US" sz="1600" dirty="0"/>
              <a:t>      channel where smart contracts exist. </a:t>
            </a:r>
          </a:p>
          <a:p>
            <a:pPr marL="285750" indent="-285750">
              <a:buFont typeface="Arial" panose="020B0604020202020204" pitchFamily="34" charset="0"/>
              <a:buChar char="•"/>
            </a:pPr>
            <a:r>
              <a:rPr lang="en-US" sz="1600" dirty="0"/>
              <a:t>Each peer </a:t>
            </a:r>
            <a:r>
              <a:rPr lang="en-US" sz="1600" b="1" dirty="0"/>
              <a:t>within a channel </a:t>
            </a:r>
            <a:r>
              <a:rPr lang="en-US" sz="1600" dirty="0"/>
              <a:t>has the same </a:t>
            </a:r>
          </a:p>
          <a:p>
            <a:r>
              <a:rPr lang="en-US" sz="1600" dirty="0"/>
              <a:t>      smart contracts.</a:t>
            </a:r>
          </a:p>
          <a:p>
            <a:pPr marL="285750" indent="-285750">
              <a:buFont typeface="Arial" panose="020B0604020202020204" pitchFamily="34" charset="0"/>
              <a:buChar char="•"/>
            </a:pPr>
            <a:r>
              <a:rPr lang="en-US" sz="1600" dirty="0"/>
              <a:t>Each client application has a local MSP </a:t>
            </a:r>
          </a:p>
          <a:p>
            <a:r>
              <a:rPr lang="en-US" sz="1600" dirty="0"/>
              <a:t>     to store user identities. </a:t>
            </a:r>
          </a:p>
          <a:p>
            <a:pPr marL="285750" indent="-285750">
              <a:buFont typeface="Arial" panose="020B0604020202020204" pitchFamily="34" charset="0"/>
              <a:buChar char="•"/>
            </a:pPr>
            <a:r>
              <a:rPr lang="en-US" sz="1600" dirty="0"/>
              <a:t>MSPs check CRLs(Certificate Revocation Lists)</a:t>
            </a:r>
          </a:p>
          <a:p>
            <a:r>
              <a:rPr lang="en-US" sz="1600" dirty="0"/>
              <a:t>      to prevent compromised or invalid </a:t>
            </a:r>
          </a:p>
          <a:p>
            <a:r>
              <a:rPr lang="en-US" sz="1600" dirty="0"/>
              <a:t>      certificates from participating in the network.   </a:t>
            </a:r>
            <a:r>
              <a:rPr lang="en-US" sz="1400" dirty="0">
                <a:solidFill>
                  <a:srgbClr val="001D35"/>
                </a:solidFill>
                <a:latin typeface="Google Sans"/>
              </a:rPr>
              <a:t>  </a:t>
            </a:r>
          </a:p>
          <a:p>
            <a:r>
              <a:rPr lang="en-US" sz="1400" dirty="0">
                <a:solidFill>
                  <a:srgbClr val="001D35"/>
                </a:solidFill>
                <a:latin typeface="Google Sans"/>
              </a:rPr>
              <a:t>            </a:t>
            </a:r>
            <a:endParaRPr lang="en-US" sz="1400" dirty="0"/>
          </a:p>
        </p:txBody>
      </p:sp>
      <p:pic>
        <p:nvPicPr>
          <p:cNvPr id="3" name="Picture 2">
            <a:extLst>
              <a:ext uri="{FF2B5EF4-FFF2-40B4-BE49-F238E27FC236}">
                <a16:creationId xmlns:a16="http://schemas.microsoft.com/office/drawing/2014/main" id="{4201DB00-8422-798F-89C8-DC4DDD378C2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36615" y="3769024"/>
            <a:ext cx="7673089" cy="3024968"/>
          </a:xfrm>
          <a:prstGeom prst="rect">
            <a:avLst/>
          </a:prstGeom>
          <a:noFill/>
          <a:ln>
            <a:noFill/>
          </a:ln>
        </p:spPr>
      </p:pic>
      <p:sp>
        <p:nvSpPr>
          <p:cNvPr id="2" name="TextBox 1">
            <a:extLst>
              <a:ext uri="{FF2B5EF4-FFF2-40B4-BE49-F238E27FC236}">
                <a16:creationId xmlns:a16="http://schemas.microsoft.com/office/drawing/2014/main" id="{F7D5F24A-6152-E02D-70DA-48C3F8C47A0F}"/>
              </a:ext>
            </a:extLst>
          </p:cNvPr>
          <p:cNvSpPr txBox="1"/>
          <p:nvPr/>
        </p:nvSpPr>
        <p:spPr>
          <a:xfrm>
            <a:off x="234696" y="142096"/>
            <a:ext cx="10681310" cy="400110"/>
          </a:xfrm>
          <a:prstGeom prst="rect">
            <a:avLst/>
          </a:prstGeom>
          <a:noFill/>
        </p:spPr>
        <p:txBody>
          <a:bodyPr wrap="square" rtlCol="0">
            <a:spAutoFit/>
          </a:bodyPr>
          <a:lstStyle/>
          <a:p>
            <a:r>
              <a:rPr lang="en-US" sz="2000" b="1" u="sng" dirty="0"/>
              <a:t>Membership and Identity Management for the NZDT Blockchain in Hyperledger Fabric</a:t>
            </a:r>
          </a:p>
        </p:txBody>
      </p:sp>
    </p:spTree>
    <p:extLst>
      <p:ext uri="{BB962C8B-B14F-4D97-AF65-F5344CB8AC3E}">
        <p14:creationId xmlns:p14="http://schemas.microsoft.com/office/powerpoint/2010/main" val="29742672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49AE9-9C51-2FFC-037C-C6EB1A8A9C64}"/>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065BF734-9785-1C42-070A-1BE32824F058}"/>
              </a:ext>
            </a:extLst>
          </p:cNvPr>
          <p:cNvSpPr txBox="1"/>
          <p:nvPr/>
        </p:nvSpPr>
        <p:spPr>
          <a:xfrm>
            <a:off x="82296" y="621283"/>
            <a:ext cx="11354763" cy="3754874"/>
          </a:xfrm>
          <a:prstGeom prst="rect">
            <a:avLst/>
          </a:prstGeom>
          <a:noFill/>
        </p:spPr>
        <p:txBody>
          <a:bodyPr wrap="square" rtlCol="0">
            <a:spAutoFit/>
          </a:bodyPr>
          <a:lstStyle/>
          <a:p>
            <a:pPr marL="285750" indent="-285750">
              <a:buFont typeface="Arial" panose="020B0604020202020204" pitchFamily="34" charset="0"/>
              <a:buChar char="•"/>
            </a:pPr>
            <a:r>
              <a:rPr lang="en-US" sz="1400" dirty="0"/>
              <a:t>A </a:t>
            </a:r>
            <a:r>
              <a:rPr lang="en-US" sz="1400" b="1" dirty="0"/>
              <a:t>Hyperledger Fabric channel</a:t>
            </a:r>
            <a:r>
              <a:rPr lang="en-US" sz="1400" dirty="0"/>
              <a:t> is a </a:t>
            </a:r>
            <a:r>
              <a:rPr lang="en-US" sz="1400" b="1" dirty="0"/>
              <a:t>private communication layer</a:t>
            </a:r>
            <a:r>
              <a:rPr lang="en-US" sz="1400" dirty="0"/>
              <a:t> — a logical partition — that allows </a:t>
            </a:r>
            <a:r>
              <a:rPr lang="en-US" sz="1400" b="1" dirty="0"/>
              <a:t>a defined subset of network members to transact and view transactions privately</a:t>
            </a:r>
            <a:r>
              <a:rPr lang="en-US" sz="1400" dirty="0"/>
              <a:t> on a shared distributed ledger.</a:t>
            </a:r>
          </a:p>
          <a:p>
            <a:pPr marL="285750" indent="-285750">
              <a:buFont typeface="Arial" panose="020B0604020202020204" pitchFamily="34" charset="0"/>
              <a:buChar char="•"/>
            </a:pPr>
            <a:r>
              <a:rPr lang="en-US" sz="1400" dirty="0"/>
              <a:t>Each channel maintains its </a:t>
            </a:r>
            <a:r>
              <a:rPr lang="en-US" sz="1400" b="1" dirty="0"/>
              <a:t>own separate Ledger and Block Chain</a:t>
            </a:r>
            <a:r>
              <a:rPr lang="en-US" sz="1400" dirty="0"/>
              <a:t>. It is referred to as the configuration block.</a:t>
            </a:r>
            <a:br>
              <a:rPr lang="en-US" sz="1400" dirty="0"/>
            </a:br>
            <a:r>
              <a:rPr lang="en-US" sz="1400" dirty="0"/>
              <a:t>This means transactions and state data for Channel A are completely independent from Channel B.</a:t>
            </a:r>
          </a:p>
          <a:p>
            <a:pPr marL="285750" indent="-285750">
              <a:buFont typeface="Arial" panose="020B0604020202020204" pitchFamily="34" charset="0"/>
              <a:buChar char="•"/>
            </a:pPr>
            <a:r>
              <a:rPr lang="en-US" sz="1400" dirty="0"/>
              <a:t>A </a:t>
            </a:r>
            <a:r>
              <a:rPr lang="en-US" sz="1400" b="1" dirty="0"/>
              <a:t>Membership Service Provider (MSP)</a:t>
            </a:r>
            <a:r>
              <a:rPr lang="en-US" sz="1400" dirty="0"/>
              <a:t> controls which organizations are members of a particular channel.</a:t>
            </a:r>
            <a:br>
              <a:rPr lang="en-US" sz="1400" dirty="0"/>
            </a:br>
            <a:r>
              <a:rPr lang="en-US" sz="1400" dirty="0"/>
              <a:t>Any node (peer) that is </a:t>
            </a:r>
            <a:r>
              <a:rPr lang="en-US" sz="1400" b="1" dirty="0"/>
              <a:t>not a channel member</a:t>
            </a:r>
            <a:r>
              <a:rPr lang="en-US" sz="1400" dirty="0"/>
              <a:t> will have </a:t>
            </a:r>
            <a:r>
              <a:rPr lang="en-US" sz="1400" b="1" dirty="0"/>
              <a:t>no knowledge of transactions or state</a:t>
            </a:r>
            <a:r>
              <a:rPr lang="en-US" sz="1400" dirty="0"/>
              <a:t> within it.</a:t>
            </a:r>
          </a:p>
          <a:p>
            <a:r>
              <a:rPr lang="en-US" sz="1400" b="1" dirty="0"/>
              <a:t>Configuration Block:</a:t>
            </a:r>
            <a:br>
              <a:rPr lang="en-US" sz="1400" dirty="0"/>
            </a:br>
            <a:r>
              <a:rPr lang="en-US" sz="1400" dirty="0"/>
              <a:t>Every channel starts with a </a:t>
            </a:r>
            <a:r>
              <a:rPr lang="en-US" sz="1400" b="1" dirty="0"/>
              <a:t>genesis block</a:t>
            </a:r>
            <a:r>
              <a:rPr lang="en-US" sz="1400" dirty="0"/>
              <a:t>, called a </a:t>
            </a:r>
            <a:r>
              <a:rPr lang="en-US" sz="1400" b="1" dirty="0"/>
              <a:t>configuration block</a:t>
            </a:r>
            <a:r>
              <a:rPr lang="en-US" sz="1400" dirty="0"/>
              <a:t>, which contains:</a:t>
            </a:r>
          </a:p>
          <a:p>
            <a:r>
              <a:rPr lang="en-US" sz="1400" dirty="0"/>
              <a:t>The list of participating organizations’ MSP IDs.</a:t>
            </a:r>
          </a:p>
          <a:p>
            <a:r>
              <a:rPr lang="en-US" sz="1400" dirty="0"/>
              <a:t>The policies for adding, removing members, or updating configuration</a:t>
            </a:r>
          </a:p>
          <a:p>
            <a:pPr marL="285750" indent="-285750">
              <a:buFont typeface="Arial" panose="020B0604020202020204" pitchFamily="34" charset="0"/>
              <a:buChar char="•"/>
            </a:pPr>
            <a:r>
              <a:rPr lang="en-US" sz="1400" b="1" dirty="0"/>
              <a:t>Channel-Specific </a:t>
            </a:r>
            <a:r>
              <a:rPr lang="en-US" sz="1400" b="1" dirty="0" err="1"/>
              <a:t>Chaincode</a:t>
            </a:r>
            <a:r>
              <a:rPr lang="en-US" sz="1400" b="1" dirty="0"/>
              <a:t>:</a:t>
            </a:r>
            <a:br>
              <a:rPr lang="en-US" sz="1400" dirty="0"/>
            </a:br>
            <a:r>
              <a:rPr lang="en-US" sz="1400" dirty="0"/>
              <a:t>Peers can </a:t>
            </a:r>
            <a:r>
              <a:rPr lang="en-US" sz="1400" b="1" dirty="0"/>
              <a:t>install and approve </a:t>
            </a:r>
            <a:r>
              <a:rPr lang="en-US" sz="1400" b="1" dirty="0" err="1"/>
              <a:t>chaincode</a:t>
            </a:r>
            <a:r>
              <a:rPr lang="en-US" sz="1400" b="1" dirty="0"/>
              <a:t> separately for each channel</a:t>
            </a:r>
            <a:r>
              <a:rPr lang="en-US" sz="1400" dirty="0"/>
              <a:t>, allowing different business logic and state to reside on each.</a:t>
            </a:r>
          </a:p>
          <a:p>
            <a:r>
              <a:rPr lang="en-US" sz="1400" b="1" dirty="0"/>
              <a:t>Design Benefit:</a:t>
            </a:r>
          </a:p>
          <a:p>
            <a:r>
              <a:rPr lang="en-US" sz="1400" dirty="0"/>
              <a:t>✅ Allows </a:t>
            </a:r>
            <a:r>
              <a:rPr lang="en-US" sz="1400" b="1" dirty="0"/>
              <a:t>confidential transactions and data segmentation</a:t>
            </a:r>
            <a:r>
              <a:rPr lang="en-US" sz="1400" dirty="0"/>
              <a:t>.</a:t>
            </a:r>
            <a:br>
              <a:rPr lang="en-US" sz="1400" dirty="0"/>
            </a:br>
            <a:r>
              <a:rPr lang="en-US" sz="1400" dirty="0"/>
              <a:t>✅ Enables </a:t>
            </a:r>
            <a:r>
              <a:rPr lang="en-US" sz="1400" b="1" dirty="0"/>
              <a:t>network participants to form specialized subsets or consortia</a:t>
            </a:r>
            <a:r>
              <a:rPr lang="en-US" sz="1400" dirty="0"/>
              <a:t> without needing separate networks.</a:t>
            </a:r>
          </a:p>
          <a:p>
            <a:r>
              <a:rPr lang="en-US" sz="1400" dirty="0"/>
              <a:t>✅ Allows </a:t>
            </a:r>
            <a:r>
              <a:rPr lang="en-US" sz="1400" b="1" dirty="0"/>
              <a:t>isolation of business relationships and workloads</a:t>
            </a:r>
            <a:r>
              <a:rPr lang="en-US" sz="1400" dirty="0"/>
              <a:t>, reducing the risk of data leak, confusion, or policy violation.</a:t>
            </a:r>
          </a:p>
          <a:p>
            <a:pPr marL="285750" indent="-285750">
              <a:buFont typeface="Arial" panose="020B0604020202020204" pitchFamily="34" charset="0"/>
              <a:buChar char="•"/>
            </a:pPr>
            <a:endParaRPr lang="en-US" sz="1400" dirty="0"/>
          </a:p>
        </p:txBody>
      </p:sp>
      <p:sp>
        <p:nvSpPr>
          <p:cNvPr id="8" name="TextBox 7">
            <a:extLst>
              <a:ext uri="{FF2B5EF4-FFF2-40B4-BE49-F238E27FC236}">
                <a16:creationId xmlns:a16="http://schemas.microsoft.com/office/drawing/2014/main" id="{5077E717-1296-A7C0-52F8-69AB36B59072}"/>
              </a:ext>
            </a:extLst>
          </p:cNvPr>
          <p:cNvSpPr txBox="1"/>
          <p:nvPr/>
        </p:nvSpPr>
        <p:spPr>
          <a:xfrm>
            <a:off x="82296" y="82296"/>
            <a:ext cx="10681310" cy="400110"/>
          </a:xfrm>
          <a:prstGeom prst="rect">
            <a:avLst/>
          </a:prstGeom>
          <a:noFill/>
        </p:spPr>
        <p:txBody>
          <a:bodyPr wrap="square" rtlCol="0">
            <a:spAutoFit/>
          </a:bodyPr>
          <a:lstStyle/>
          <a:p>
            <a:r>
              <a:rPr lang="en-US" sz="2000" b="1" u="sng" dirty="0"/>
              <a:t>Collection of GHG Emissions Data and Privacy</a:t>
            </a:r>
          </a:p>
        </p:txBody>
      </p:sp>
      <p:pic>
        <p:nvPicPr>
          <p:cNvPr id="2" name="Picture 1">
            <a:extLst>
              <a:ext uri="{FF2B5EF4-FFF2-40B4-BE49-F238E27FC236}">
                <a16:creationId xmlns:a16="http://schemas.microsoft.com/office/drawing/2014/main" id="{71DA6E92-9F3F-F709-1F33-BF1A8CA3D84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4362704"/>
            <a:ext cx="5943600" cy="2413000"/>
          </a:xfrm>
          <a:prstGeom prst="rect">
            <a:avLst/>
          </a:prstGeom>
          <a:noFill/>
          <a:ln>
            <a:noFill/>
          </a:ln>
        </p:spPr>
      </p:pic>
    </p:spTree>
    <p:extLst>
      <p:ext uri="{BB962C8B-B14F-4D97-AF65-F5344CB8AC3E}">
        <p14:creationId xmlns:p14="http://schemas.microsoft.com/office/powerpoint/2010/main" val="848018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7F487-29E2-3169-7000-DBFE47F75BC9}"/>
            </a:ext>
          </a:extLst>
        </p:cNvPr>
        <p:cNvGrpSpPr/>
        <p:nvPr/>
      </p:nvGrpSpPr>
      <p:grpSpPr>
        <a:xfrm>
          <a:off x="0" y="0"/>
          <a:ext cx="0" cy="0"/>
          <a:chOff x="0" y="0"/>
          <a:chExt cx="0" cy="0"/>
        </a:xfrm>
      </p:grpSpPr>
      <p:sp>
        <p:nvSpPr>
          <p:cNvPr id="45" name="TextBox 44">
            <a:extLst>
              <a:ext uri="{FF2B5EF4-FFF2-40B4-BE49-F238E27FC236}">
                <a16:creationId xmlns:a16="http://schemas.microsoft.com/office/drawing/2014/main" id="{B97885B9-0832-A73C-4A49-FE85F5FD8BDE}"/>
              </a:ext>
            </a:extLst>
          </p:cNvPr>
          <p:cNvSpPr txBox="1"/>
          <p:nvPr/>
        </p:nvSpPr>
        <p:spPr>
          <a:xfrm>
            <a:off x="96691" y="85480"/>
            <a:ext cx="10661981" cy="523220"/>
          </a:xfrm>
          <a:prstGeom prst="rect">
            <a:avLst/>
          </a:prstGeom>
          <a:noFill/>
        </p:spPr>
        <p:txBody>
          <a:bodyPr wrap="square" rtlCol="0">
            <a:spAutoFit/>
          </a:bodyPr>
          <a:lstStyle/>
          <a:p>
            <a:r>
              <a:rPr lang="en-US" sz="2800" b="1" dirty="0">
                <a:solidFill>
                  <a:schemeClr val="bg1">
                    <a:lumMod val="95000"/>
                  </a:schemeClr>
                </a:solidFill>
              </a:rPr>
              <a:t> </a:t>
            </a:r>
            <a:r>
              <a:rPr lang="en-US" sz="2000" b="1" dirty="0"/>
              <a:t>Data Flow from IoT Device to Blockchain and/or Secondary Storage…..rewrite?   </a:t>
            </a:r>
          </a:p>
        </p:txBody>
      </p:sp>
      <p:sp>
        <p:nvSpPr>
          <p:cNvPr id="2" name="TextBox 9">
            <a:extLst>
              <a:ext uri="{FF2B5EF4-FFF2-40B4-BE49-F238E27FC236}">
                <a16:creationId xmlns:a16="http://schemas.microsoft.com/office/drawing/2014/main" id="{03B458F3-1447-9159-5F0C-388CB79C2B0E}"/>
              </a:ext>
            </a:extLst>
          </p:cNvPr>
          <p:cNvSpPr txBox="1"/>
          <p:nvPr/>
        </p:nvSpPr>
        <p:spPr>
          <a:xfrm>
            <a:off x="256479" y="1439376"/>
            <a:ext cx="5839521" cy="528176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0" i="0" dirty="0">
                <a:solidFill>
                  <a:srgbClr val="172B4D"/>
                </a:solidFill>
                <a:effectLst/>
                <a:latin typeface="ui-sans-serif"/>
              </a:rPr>
              <a:t>Example: JSON payload:</a:t>
            </a:r>
          </a:p>
          <a:p>
            <a:r>
              <a:rPr lang="en-US" sz="1600" b="0" i="0" dirty="0">
                <a:solidFill>
                  <a:srgbClr val="172B4D"/>
                </a:solidFill>
                <a:effectLst/>
                <a:latin typeface="ui-sans-serif"/>
              </a:rPr>
              <a:t>{</a:t>
            </a:r>
          </a:p>
          <a:p>
            <a:r>
              <a:rPr lang="en-US" sz="1600" b="0" i="0" dirty="0">
                <a:solidFill>
                  <a:srgbClr val="172B4D"/>
                </a:solidFill>
                <a:effectLst/>
                <a:latin typeface="ui-sans-serif"/>
              </a:rPr>
              <a:t>  "</a:t>
            </a:r>
            <a:r>
              <a:rPr lang="en-US" sz="1600" b="0" i="0" dirty="0" err="1">
                <a:solidFill>
                  <a:srgbClr val="172B4D"/>
                </a:solidFill>
                <a:effectLst/>
                <a:latin typeface="ui-sans-serif"/>
              </a:rPr>
              <a:t>device_id</a:t>
            </a:r>
            <a:r>
              <a:rPr lang="en-US" sz="1600" b="0" i="0" dirty="0">
                <a:solidFill>
                  <a:srgbClr val="172B4D"/>
                </a:solidFill>
                <a:effectLst/>
                <a:latin typeface="ui-sans-serif"/>
              </a:rPr>
              <a:t>": "sensor-abc123",</a:t>
            </a:r>
          </a:p>
          <a:p>
            <a:r>
              <a:rPr lang="en-US" sz="1600" b="0" i="0" dirty="0">
                <a:solidFill>
                  <a:srgbClr val="172B4D"/>
                </a:solidFill>
                <a:effectLst/>
                <a:latin typeface="ui-sans-serif"/>
              </a:rPr>
              <a:t>  "timestamp": "2025-05-08T12:00:00Z",</a:t>
            </a:r>
          </a:p>
          <a:p>
            <a:r>
              <a:rPr lang="en-US" sz="1600" b="0" i="0" dirty="0">
                <a:solidFill>
                  <a:srgbClr val="172B4D"/>
                </a:solidFill>
                <a:effectLst/>
                <a:latin typeface="ui-sans-serif"/>
              </a:rPr>
              <a:t>  "co2_ppm": 412.8,</a:t>
            </a:r>
          </a:p>
          <a:p>
            <a:r>
              <a:rPr lang="en-US" sz="1600" b="0" i="0" dirty="0">
                <a:solidFill>
                  <a:srgbClr val="172B4D"/>
                </a:solidFill>
                <a:effectLst/>
                <a:latin typeface="ui-sans-serif"/>
              </a:rPr>
              <a:t>  "location": "Factory-A"</a:t>
            </a:r>
          </a:p>
          <a:p>
            <a:r>
              <a:rPr lang="en-US" sz="1600" b="0" i="0" dirty="0">
                <a:solidFill>
                  <a:srgbClr val="172B4D"/>
                </a:solidFill>
                <a:effectLst/>
                <a:latin typeface="ui-sans-serif"/>
              </a:rPr>
              <a:t>}</a:t>
            </a:r>
          </a:p>
          <a:p>
            <a:endParaRPr lang="en-US" sz="1600" dirty="0">
              <a:solidFill>
                <a:srgbClr val="172B4D"/>
              </a:solidFill>
              <a:latin typeface="ui-sans-serif"/>
            </a:endParaRPr>
          </a:p>
          <a:p>
            <a:r>
              <a:rPr lang="en-US" sz="1600" b="0" i="0" dirty="0">
                <a:solidFill>
                  <a:srgbClr val="172B4D"/>
                </a:solidFill>
                <a:effectLst/>
                <a:latin typeface="ui-sans-serif"/>
              </a:rPr>
              <a:t>Edge Device]</a:t>
            </a:r>
          </a:p>
          <a:p>
            <a:pPr>
              <a:buFont typeface="+mj-lt"/>
              <a:buAutoNum type="arabicPeriod"/>
            </a:pPr>
            <a:r>
              <a:rPr lang="en-US" sz="1600" b="0" i="0" dirty="0">
                <a:solidFill>
                  <a:srgbClr val="172B4D"/>
                </a:solidFill>
                <a:effectLst/>
                <a:latin typeface="ui-sans-serif"/>
              </a:rPr>
              <a:t>   └─ Receives IoT data (e.g., via MQTT, USB, serial, etc.)</a:t>
            </a:r>
          </a:p>
          <a:p>
            <a:pPr>
              <a:buFont typeface="+mj-lt"/>
              <a:buAutoNum type="arabicPeriod"/>
            </a:pPr>
            <a:r>
              <a:rPr lang="en-US" sz="1600" b="0" i="0" dirty="0">
                <a:solidFill>
                  <a:srgbClr val="172B4D"/>
                </a:solidFill>
                <a:effectLst/>
                <a:latin typeface="ui-sans-serif"/>
              </a:rPr>
              <a:t>   └─ Transforms data to contract-compatible format</a:t>
            </a:r>
          </a:p>
          <a:p>
            <a:pPr>
              <a:buFont typeface="+mj-lt"/>
              <a:buAutoNum type="arabicPeriod"/>
            </a:pPr>
            <a:r>
              <a:rPr lang="en-US" sz="1600" b="0" i="0" dirty="0">
                <a:solidFill>
                  <a:srgbClr val="172B4D"/>
                </a:solidFill>
                <a:effectLst/>
                <a:latin typeface="ui-sans-serif"/>
              </a:rPr>
              <a:t>   └─ Uses SDK or RPC to connect to blockchain node</a:t>
            </a:r>
          </a:p>
          <a:p>
            <a:pPr>
              <a:buFont typeface="+mj-lt"/>
              <a:buAutoNum type="arabicPeriod"/>
            </a:pPr>
            <a:r>
              <a:rPr lang="en-US" sz="1600" b="0" i="0" dirty="0">
                <a:solidFill>
                  <a:srgbClr val="172B4D"/>
                </a:solidFill>
                <a:effectLst/>
                <a:latin typeface="ui-sans-serif"/>
              </a:rPr>
              <a:t>   └─ Builds + signs transaction</a:t>
            </a:r>
          </a:p>
          <a:p>
            <a:pPr>
              <a:buFont typeface="+mj-lt"/>
              <a:buAutoNum type="arabicPeriod"/>
            </a:pPr>
            <a:r>
              <a:rPr lang="en-US" sz="1600" b="0" i="0" dirty="0">
                <a:solidFill>
                  <a:srgbClr val="172B4D"/>
                </a:solidFill>
                <a:effectLst/>
                <a:latin typeface="ui-sans-serif"/>
              </a:rPr>
              <a:t>   └─ Submits transaction to blockchain node (peer or RPC </a:t>
            </a:r>
            <a:r>
              <a:rPr lang="en-US" sz="1600" b="0" i="0">
                <a:solidFill>
                  <a:srgbClr val="172B4D"/>
                </a:solidFill>
                <a:effectLst/>
                <a:latin typeface="ui-sans-serif"/>
              </a:rPr>
              <a:t>node)</a:t>
            </a:r>
            <a:endParaRPr lang="en-US" sz="1600" dirty="0">
              <a:solidFill>
                <a:srgbClr val="172B4D"/>
              </a:solidFill>
              <a:latin typeface="ui-sans-serif"/>
            </a:endParaRPr>
          </a:p>
          <a:p>
            <a:pPr algn="l">
              <a:lnSpc>
                <a:spcPts val="1650"/>
              </a:lnSpc>
              <a:spcBef>
                <a:spcPts val="750"/>
              </a:spcBef>
              <a:spcAft>
                <a:spcPts val="600"/>
              </a:spcAft>
            </a:pPr>
            <a:r>
              <a:rPr lang="en-US" sz="800" b="1" i="0" dirty="0">
                <a:solidFill>
                  <a:srgbClr val="001D35"/>
                </a:solidFill>
                <a:effectLst/>
                <a:latin typeface="Google Sans"/>
              </a:rPr>
              <a:t>Transaction Creation:  </a:t>
            </a:r>
            <a:r>
              <a:rPr lang="en-US" sz="800" b="0" i="0" dirty="0">
                <a:solidFill>
                  <a:srgbClr val="545D7E"/>
                </a:solidFill>
                <a:effectLst/>
                <a:latin typeface="Google Sans"/>
              </a:rPr>
              <a:t>The edge device creates a transaction or message containing the processed data and metadata (like the device's identity and other relevant information). </a:t>
            </a:r>
          </a:p>
          <a:p>
            <a:pPr algn="l">
              <a:lnSpc>
                <a:spcPts val="1650"/>
              </a:lnSpc>
              <a:spcBef>
                <a:spcPts val="750"/>
              </a:spcBef>
              <a:spcAft>
                <a:spcPts val="600"/>
              </a:spcAft>
            </a:pPr>
            <a:r>
              <a:rPr lang="en-US" sz="800" b="1" i="0" dirty="0">
                <a:solidFill>
                  <a:srgbClr val="001D35"/>
                </a:solidFill>
                <a:effectLst/>
                <a:latin typeface="Google Sans"/>
              </a:rPr>
              <a:t> API Gateway and Data Validation: </a:t>
            </a:r>
            <a:r>
              <a:rPr lang="en-US" sz="800" b="0" i="0" dirty="0">
                <a:solidFill>
                  <a:srgbClr val="545D7E"/>
                </a:solidFill>
                <a:effectLst/>
                <a:latin typeface="Google Sans"/>
              </a:rPr>
              <a:t>The edge device uses an </a:t>
            </a:r>
            <a:r>
              <a:rPr lang="en-US" sz="800" b="0" i="0" dirty="0">
                <a:solidFill>
                  <a:srgbClr val="545D7E"/>
                </a:solidFill>
                <a:effectLst/>
                <a:latin typeface="Google Sans"/>
                <a:hlinkClick r:id="rId2"/>
              </a:rPr>
              <a:t>HTTP API gateway</a:t>
            </a:r>
            <a:r>
              <a:rPr lang="en-US" sz="800" b="0" i="0" dirty="0">
                <a:solidFill>
                  <a:srgbClr val="545D7E"/>
                </a:solidFill>
                <a:effectLst/>
                <a:latin typeface="Google Sans"/>
              </a:rPr>
              <a:t> to send the transaction to a centralized API gateway. This gateway verifies the transaction's validity, including the signature, firmware, and Merkle tree proof stored on the blockchain. </a:t>
            </a:r>
            <a:endParaRPr lang="en-US" sz="800" b="0" i="0" dirty="0">
              <a:solidFill>
                <a:srgbClr val="0B57D0"/>
              </a:solidFill>
              <a:effectLst/>
              <a:latin typeface="Google Sans"/>
            </a:endParaRPr>
          </a:p>
          <a:p>
            <a:pPr algn="l">
              <a:lnSpc>
                <a:spcPts val="1650"/>
              </a:lnSpc>
              <a:spcBef>
                <a:spcPts val="750"/>
              </a:spcBef>
              <a:spcAft>
                <a:spcPts val="600"/>
              </a:spcAft>
            </a:pPr>
            <a:r>
              <a:rPr lang="en-US" sz="800" b="1" i="0" dirty="0">
                <a:solidFill>
                  <a:srgbClr val="001D35"/>
                </a:solidFill>
                <a:effectLst/>
                <a:latin typeface="Google Sans"/>
              </a:rPr>
              <a:t>Blockchain </a:t>
            </a:r>
            <a:r>
              <a:rPr lang="en-US" sz="800" b="1" i="0" dirty="0" err="1">
                <a:solidFill>
                  <a:srgbClr val="001D35"/>
                </a:solidFill>
                <a:effectLst/>
                <a:latin typeface="Google Sans"/>
              </a:rPr>
              <a:t>Integration:</a:t>
            </a:r>
            <a:r>
              <a:rPr lang="en-US" sz="800" b="0" i="0" dirty="0" err="1">
                <a:solidFill>
                  <a:srgbClr val="545D7E"/>
                </a:solidFill>
                <a:effectLst/>
                <a:latin typeface="Google Sans"/>
              </a:rPr>
              <a:t>Once</a:t>
            </a:r>
            <a:r>
              <a:rPr lang="en-US" sz="800" b="0" i="0" dirty="0">
                <a:solidFill>
                  <a:srgbClr val="545D7E"/>
                </a:solidFill>
                <a:effectLst/>
                <a:latin typeface="Google Sans"/>
              </a:rPr>
              <a:t> validated, the transaction is sent to the blockchain network, where a smart contract can access and process the data. </a:t>
            </a:r>
            <a:endParaRPr lang="en-US" sz="900" b="0" i="0" dirty="0">
              <a:solidFill>
                <a:srgbClr val="172B4D"/>
              </a:solidFill>
              <a:effectLst/>
              <a:latin typeface="ui-sans-serif"/>
            </a:endParaRPr>
          </a:p>
        </p:txBody>
      </p:sp>
      <p:cxnSp>
        <p:nvCxnSpPr>
          <p:cNvPr id="5" name="Straight Connector 4">
            <a:extLst>
              <a:ext uri="{FF2B5EF4-FFF2-40B4-BE49-F238E27FC236}">
                <a16:creationId xmlns:a16="http://schemas.microsoft.com/office/drawing/2014/main" id="{E12F91E2-4720-2CFD-4E0E-1758BE0BCB0E}"/>
              </a:ext>
            </a:extLst>
          </p:cNvPr>
          <p:cNvCxnSpPr>
            <a:cxnSpLocks/>
          </p:cNvCxnSpPr>
          <p:nvPr/>
        </p:nvCxnSpPr>
        <p:spPr>
          <a:xfrm flipV="1">
            <a:off x="315244" y="562271"/>
            <a:ext cx="10443428" cy="58783"/>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EE246BC-BE61-A31E-3FE6-A5F3AC7470D9}"/>
              </a:ext>
            </a:extLst>
          </p:cNvPr>
          <p:cNvCxnSpPr>
            <a:cxnSpLocks/>
          </p:cNvCxnSpPr>
          <p:nvPr/>
        </p:nvCxnSpPr>
        <p:spPr>
          <a:xfrm flipV="1">
            <a:off x="315244" y="876484"/>
            <a:ext cx="8308056" cy="2518"/>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4" name="TextBox 9">
            <a:extLst>
              <a:ext uri="{FF2B5EF4-FFF2-40B4-BE49-F238E27FC236}">
                <a16:creationId xmlns:a16="http://schemas.microsoft.com/office/drawing/2014/main" id="{83B0A198-4C29-5E0C-5340-E7579F1F621E}"/>
              </a:ext>
            </a:extLst>
          </p:cNvPr>
          <p:cNvSpPr txBox="1"/>
          <p:nvPr/>
        </p:nvSpPr>
        <p:spPr>
          <a:xfrm>
            <a:off x="6445134" y="1119081"/>
            <a:ext cx="5383876" cy="5216813"/>
          </a:xfrm>
          <a:prstGeom prst="rect">
            <a:avLst/>
          </a:prstGeom>
          <a:solidFill>
            <a:srgbClr val="FFFF99"/>
          </a:solidFill>
          <a:ln>
            <a:solidFill>
              <a:schemeClr val="accent1"/>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172B4D"/>
                </a:solidFill>
                <a:latin typeface="ui-sans-serif"/>
              </a:rPr>
              <a:t>import </a:t>
            </a:r>
            <a:r>
              <a:rPr lang="en-US" sz="1200" dirty="0" err="1">
                <a:solidFill>
                  <a:srgbClr val="172B4D"/>
                </a:solidFill>
                <a:latin typeface="ui-sans-serif"/>
              </a:rPr>
              <a:t>paho.mqtt.client</a:t>
            </a:r>
            <a:r>
              <a:rPr lang="en-US" sz="1200" dirty="0">
                <a:solidFill>
                  <a:srgbClr val="172B4D"/>
                </a:solidFill>
                <a:latin typeface="ui-sans-serif"/>
              </a:rPr>
              <a:t> as </a:t>
            </a:r>
            <a:r>
              <a:rPr lang="en-US" sz="1200" dirty="0" err="1">
                <a:solidFill>
                  <a:srgbClr val="172B4D"/>
                </a:solidFill>
                <a:latin typeface="ui-sans-serif"/>
              </a:rPr>
              <a:t>mqtt</a:t>
            </a:r>
            <a:endParaRPr lang="en-US" sz="1200" dirty="0">
              <a:solidFill>
                <a:srgbClr val="172B4D"/>
              </a:solidFill>
              <a:latin typeface="ui-sans-serif"/>
            </a:endParaRPr>
          </a:p>
          <a:p>
            <a:r>
              <a:rPr lang="en-US" sz="1200" dirty="0">
                <a:solidFill>
                  <a:srgbClr val="172B4D"/>
                </a:solidFill>
                <a:latin typeface="ui-sans-serif"/>
              </a:rPr>
              <a:t>from web3 import Web3</a:t>
            </a:r>
          </a:p>
          <a:p>
            <a:endParaRPr lang="en-US" sz="1200" dirty="0">
              <a:solidFill>
                <a:srgbClr val="172B4D"/>
              </a:solidFill>
              <a:latin typeface="ui-sans-serif"/>
            </a:endParaRPr>
          </a:p>
          <a:p>
            <a:r>
              <a:rPr lang="en-US" sz="1200" dirty="0">
                <a:solidFill>
                  <a:srgbClr val="172B4D"/>
                </a:solidFill>
                <a:latin typeface="ui-sans-serif"/>
              </a:rPr>
              <a:t># Initialize Web3 (for Ethereum)</a:t>
            </a:r>
          </a:p>
          <a:p>
            <a:r>
              <a:rPr lang="en-US" sz="1200" dirty="0">
                <a:solidFill>
                  <a:srgbClr val="172B4D"/>
                </a:solidFill>
                <a:latin typeface="ui-sans-serif"/>
              </a:rPr>
              <a:t>w3 = Web3(Web3.HTTPProvider("http://blockchain-node:8545"))</a:t>
            </a:r>
          </a:p>
          <a:p>
            <a:r>
              <a:rPr lang="en-US" sz="1200" dirty="0">
                <a:solidFill>
                  <a:srgbClr val="172B4D"/>
                </a:solidFill>
                <a:latin typeface="ui-sans-serif"/>
              </a:rPr>
              <a:t>contract = w3.eth.contract(address=CONTRACT_ADDR, </a:t>
            </a:r>
            <a:r>
              <a:rPr lang="en-US" sz="1200" dirty="0" err="1">
                <a:solidFill>
                  <a:srgbClr val="172B4D"/>
                </a:solidFill>
                <a:latin typeface="ui-sans-serif"/>
              </a:rPr>
              <a:t>abi</a:t>
            </a:r>
            <a:r>
              <a:rPr lang="en-US" sz="1200" dirty="0">
                <a:solidFill>
                  <a:srgbClr val="172B4D"/>
                </a:solidFill>
                <a:latin typeface="ui-sans-serif"/>
              </a:rPr>
              <a:t>=ABI)</a:t>
            </a:r>
          </a:p>
          <a:p>
            <a:endParaRPr lang="en-US" sz="1200" dirty="0">
              <a:solidFill>
                <a:srgbClr val="172B4D"/>
              </a:solidFill>
              <a:latin typeface="ui-sans-serif"/>
            </a:endParaRPr>
          </a:p>
          <a:p>
            <a:r>
              <a:rPr lang="en-US" sz="1200" dirty="0">
                <a:solidFill>
                  <a:srgbClr val="172B4D"/>
                </a:solidFill>
                <a:latin typeface="ui-sans-serif"/>
              </a:rPr>
              <a:t>def </a:t>
            </a:r>
            <a:r>
              <a:rPr lang="en-US" sz="1200" dirty="0" err="1">
                <a:solidFill>
                  <a:srgbClr val="172B4D"/>
                </a:solidFill>
                <a:latin typeface="ui-sans-serif"/>
              </a:rPr>
              <a:t>on_message</a:t>
            </a:r>
            <a:r>
              <a:rPr lang="en-US" sz="1200" dirty="0">
                <a:solidFill>
                  <a:srgbClr val="172B4D"/>
                </a:solidFill>
                <a:latin typeface="ui-sans-serif"/>
              </a:rPr>
              <a:t>(client, </a:t>
            </a:r>
            <a:r>
              <a:rPr lang="en-US" sz="1200" dirty="0" err="1">
                <a:solidFill>
                  <a:srgbClr val="172B4D"/>
                </a:solidFill>
                <a:latin typeface="ui-sans-serif"/>
              </a:rPr>
              <a:t>userdata</a:t>
            </a:r>
            <a:r>
              <a:rPr lang="en-US" sz="1200" dirty="0">
                <a:solidFill>
                  <a:srgbClr val="172B4D"/>
                </a:solidFill>
                <a:latin typeface="ui-sans-serif"/>
              </a:rPr>
              <a:t>, msg):</a:t>
            </a:r>
          </a:p>
          <a:p>
            <a:r>
              <a:rPr lang="en-US" sz="1200" dirty="0">
                <a:solidFill>
                  <a:srgbClr val="172B4D"/>
                </a:solidFill>
                <a:latin typeface="ui-sans-serif"/>
              </a:rPr>
              <a:t>    payload = </a:t>
            </a:r>
            <a:r>
              <a:rPr lang="en-US" sz="1200" dirty="0" err="1">
                <a:solidFill>
                  <a:srgbClr val="172B4D"/>
                </a:solidFill>
                <a:latin typeface="ui-sans-serif"/>
              </a:rPr>
              <a:t>json.loads</a:t>
            </a:r>
            <a:r>
              <a:rPr lang="en-US" sz="1200" dirty="0">
                <a:solidFill>
                  <a:srgbClr val="172B4D"/>
                </a:solidFill>
                <a:latin typeface="ui-sans-serif"/>
              </a:rPr>
              <a:t>(</a:t>
            </a:r>
            <a:r>
              <a:rPr lang="en-US" sz="1200" dirty="0" err="1">
                <a:solidFill>
                  <a:srgbClr val="172B4D"/>
                </a:solidFill>
                <a:latin typeface="ui-sans-serif"/>
              </a:rPr>
              <a:t>msg.payload.decode</a:t>
            </a:r>
            <a:r>
              <a:rPr lang="en-US" sz="1200" dirty="0">
                <a:solidFill>
                  <a:srgbClr val="172B4D"/>
                </a:solidFill>
                <a:latin typeface="ui-sans-serif"/>
              </a:rPr>
              <a:t>())</a:t>
            </a:r>
          </a:p>
          <a:p>
            <a:r>
              <a:rPr lang="en-US" sz="1200" dirty="0">
                <a:solidFill>
                  <a:srgbClr val="172B4D"/>
                </a:solidFill>
                <a:latin typeface="ui-sans-serif"/>
              </a:rPr>
              <a:t>    co2 = payload['co2_ppm']</a:t>
            </a:r>
          </a:p>
          <a:p>
            <a:r>
              <a:rPr lang="en-US" sz="1200" dirty="0">
                <a:solidFill>
                  <a:srgbClr val="172B4D"/>
                </a:solidFill>
                <a:latin typeface="ui-sans-serif"/>
              </a:rPr>
              <a:t>    </a:t>
            </a:r>
            <a:r>
              <a:rPr lang="en-US" sz="1200" dirty="0" err="1">
                <a:solidFill>
                  <a:srgbClr val="172B4D"/>
                </a:solidFill>
                <a:latin typeface="ui-sans-serif"/>
              </a:rPr>
              <a:t>device_id</a:t>
            </a:r>
            <a:r>
              <a:rPr lang="en-US" sz="1200" dirty="0">
                <a:solidFill>
                  <a:srgbClr val="172B4D"/>
                </a:solidFill>
                <a:latin typeface="ui-sans-serif"/>
              </a:rPr>
              <a:t> = payload['</a:t>
            </a:r>
            <a:r>
              <a:rPr lang="en-US" sz="1200" dirty="0" err="1">
                <a:solidFill>
                  <a:srgbClr val="172B4D"/>
                </a:solidFill>
                <a:latin typeface="ui-sans-serif"/>
              </a:rPr>
              <a:t>device_id</a:t>
            </a:r>
            <a:r>
              <a:rPr lang="en-US" sz="1200" dirty="0">
                <a:solidFill>
                  <a:srgbClr val="172B4D"/>
                </a:solidFill>
                <a:latin typeface="ui-sans-serif"/>
              </a:rPr>
              <a:t>']</a:t>
            </a:r>
          </a:p>
          <a:p>
            <a:r>
              <a:rPr lang="en-US" sz="1200" dirty="0">
                <a:solidFill>
                  <a:srgbClr val="172B4D"/>
                </a:solidFill>
                <a:latin typeface="ui-sans-serif"/>
              </a:rPr>
              <a:t>    </a:t>
            </a:r>
          </a:p>
          <a:p>
            <a:r>
              <a:rPr lang="en-US" sz="1200" dirty="0">
                <a:solidFill>
                  <a:srgbClr val="172B4D"/>
                </a:solidFill>
                <a:latin typeface="ui-sans-serif"/>
              </a:rPr>
              <a:t>    </a:t>
            </a:r>
            <a:r>
              <a:rPr lang="en-US" sz="1200" dirty="0" err="1">
                <a:solidFill>
                  <a:srgbClr val="172B4D"/>
                </a:solidFill>
                <a:latin typeface="ui-sans-serif"/>
              </a:rPr>
              <a:t>tx</a:t>
            </a:r>
            <a:r>
              <a:rPr lang="en-US" sz="1200" dirty="0">
                <a:solidFill>
                  <a:srgbClr val="172B4D"/>
                </a:solidFill>
                <a:latin typeface="ui-sans-serif"/>
              </a:rPr>
              <a:t> = </a:t>
            </a:r>
            <a:r>
              <a:rPr lang="en-US" sz="1200" dirty="0" err="1">
                <a:solidFill>
                  <a:srgbClr val="172B4D"/>
                </a:solidFill>
                <a:latin typeface="ui-sans-serif"/>
              </a:rPr>
              <a:t>contract.functions.recordEmission</a:t>
            </a:r>
            <a:r>
              <a:rPr lang="en-US" sz="1200" dirty="0">
                <a:solidFill>
                  <a:srgbClr val="172B4D"/>
                </a:solidFill>
                <a:latin typeface="ui-sans-serif"/>
              </a:rPr>
              <a:t>(</a:t>
            </a:r>
            <a:r>
              <a:rPr lang="en-US" sz="1200" dirty="0" err="1">
                <a:solidFill>
                  <a:srgbClr val="172B4D"/>
                </a:solidFill>
                <a:latin typeface="ui-sans-serif"/>
              </a:rPr>
              <a:t>device_id</a:t>
            </a:r>
            <a:r>
              <a:rPr lang="en-US" sz="1200" dirty="0">
                <a:solidFill>
                  <a:srgbClr val="172B4D"/>
                </a:solidFill>
                <a:latin typeface="ui-sans-serif"/>
              </a:rPr>
              <a:t>, co2).</a:t>
            </a:r>
            <a:r>
              <a:rPr lang="en-US" sz="1200" dirty="0" err="1">
                <a:solidFill>
                  <a:srgbClr val="172B4D"/>
                </a:solidFill>
                <a:latin typeface="ui-sans-serif"/>
              </a:rPr>
              <a:t>build_transaction</a:t>
            </a:r>
            <a:r>
              <a:rPr lang="en-US" sz="1200" dirty="0">
                <a:solidFill>
                  <a:srgbClr val="172B4D"/>
                </a:solidFill>
                <a:latin typeface="ui-sans-serif"/>
              </a:rPr>
              <a:t>({</a:t>
            </a:r>
          </a:p>
          <a:p>
            <a:r>
              <a:rPr lang="en-US" sz="1200" dirty="0">
                <a:solidFill>
                  <a:srgbClr val="172B4D"/>
                </a:solidFill>
                <a:latin typeface="ui-sans-serif"/>
              </a:rPr>
              <a:t>        'from': SENDER_ADDRESS,</a:t>
            </a:r>
          </a:p>
          <a:p>
            <a:r>
              <a:rPr lang="en-US" sz="1200" dirty="0">
                <a:solidFill>
                  <a:srgbClr val="172B4D"/>
                </a:solidFill>
                <a:latin typeface="ui-sans-serif"/>
              </a:rPr>
              <a:t>        'nonce': w3.eth.get_transaction_count(SENDER_ADDRESS),</a:t>
            </a:r>
          </a:p>
          <a:p>
            <a:r>
              <a:rPr lang="en-US" sz="1200" dirty="0">
                <a:solidFill>
                  <a:srgbClr val="172B4D"/>
                </a:solidFill>
                <a:latin typeface="ui-sans-serif"/>
              </a:rPr>
              <a:t>        'gas': 100000,</a:t>
            </a:r>
          </a:p>
          <a:p>
            <a:r>
              <a:rPr lang="en-US" sz="1200" dirty="0">
                <a:solidFill>
                  <a:srgbClr val="172B4D"/>
                </a:solidFill>
                <a:latin typeface="ui-sans-serif"/>
              </a:rPr>
              <a:t>        '</a:t>
            </a:r>
            <a:r>
              <a:rPr lang="en-US" sz="1200" dirty="0" err="1">
                <a:solidFill>
                  <a:srgbClr val="172B4D"/>
                </a:solidFill>
                <a:latin typeface="ui-sans-serif"/>
              </a:rPr>
              <a:t>gasPrice</a:t>
            </a:r>
            <a:r>
              <a:rPr lang="en-US" sz="1200" dirty="0">
                <a:solidFill>
                  <a:srgbClr val="172B4D"/>
                </a:solidFill>
                <a:latin typeface="ui-sans-serif"/>
              </a:rPr>
              <a:t>': w3.to_wei('20', '</a:t>
            </a:r>
            <a:r>
              <a:rPr lang="en-US" sz="1200" dirty="0" err="1">
                <a:solidFill>
                  <a:srgbClr val="172B4D"/>
                </a:solidFill>
                <a:latin typeface="ui-sans-serif"/>
              </a:rPr>
              <a:t>gwei</a:t>
            </a:r>
            <a:r>
              <a:rPr lang="en-US" sz="1200" dirty="0">
                <a:solidFill>
                  <a:srgbClr val="172B4D"/>
                </a:solidFill>
                <a:latin typeface="ui-sans-serif"/>
              </a:rPr>
              <a:t>'),</a:t>
            </a:r>
          </a:p>
          <a:p>
            <a:r>
              <a:rPr lang="en-US" sz="1200" dirty="0">
                <a:solidFill>
                  <a:srgbClr val="172B4D"/>
                </a:solidFill>
                <a:latin typeface="ui-sans-serif"/>
              </a:rPr>
              <a:t>    })</a:t>
            </a:r>
          </a:p>
          <a:p>
            <a:r>
              <a:rPr lang="en-US" sz="1200" dirty="0">
                <a:solidFill>
                  <a:srgbClr val="172B4D"/>
                </a:solidFill>
                <a:latin typeface="ui-sans-serif"/>
              </a:rPr>
              <a:t>    </a:t>
            </a:r>
            <a:r>
              <a:rPr lang="en-US" sz="1200" dirty="0" err="1">
                <a:solidFill>
                  <a:srgbClr val="172B4D"/>
                </a:solidFill>
                <a:latin typeface="ui-sans-serif"/>
              </a:rPr>
              <a:t>signed_tx</a:t>
            </a:r>
            <a:r>
              <a:rPr lang="en-US" sz="1200" dirty="0">
                <a:solidFill>
                  <a:srgbClr val="172B4D"/>
                </a:solidFill>
                <a:latin typeface="ui-sans-serif"/>
              </a:rPr>
              <a:t> = w3.eth.account.sign_transaction(</a:t>
            </a:r>
            <a:r>
              <a:rPr lang="en-US" sz="1200" dirty="0" err="1">
                <a:solidFill>
                  <a:srgbClr val="172B4D"/>
                </a:solidFill>
                <a:latin typeface="ui-sans-serif"/>
              </a:rPr>
              <a:t>tx</a:t>
            </a:r>
            <a:r>
              <a:rPr lang="en-US" sz="1200" dirty="0">
                <a:solidFill>
                  <a:srgbClr val="172B4D"/>
                </a:solidFill>
                <a:latin typeface="ui-sans-serif"/>
              </a:rPr>
              <a:t>, </a:t>
            </a:r>
            <a:r>
              <a:rPr lang="en-US" sz="1200" dirty="0" err="1">
                <a:solidFill>
                  <a:srgbClr val="172B4D"/>
                </a:solidFill>
                <a:latin typeface="ui-sans-serif"/>
              </a:rPr>
              <a:t>private_key</a:t>
            </a:r>
            <a:r>
              <a:rPr lang="en-US" sz="1200" dirty="0">
                <a:solidFill>
                  <a:srgbClr val="172B4D"/>
                </a:solidFill>
                <a:latin typeface="ui-sans-serif"/>
              </a:rPr>
              <a:t>=PRIVATE_KEY)</a:t>
            </a:r>
          </a:p>
          <a:p>
            <a:r>
              <a:rPr lang="en-US" sz="1200" dirty="0">
                <a:solidFill>
                  <a:srgbClr val="172B4D"/>
                </a:solidFill>
                <a:latin typeface="ui-sans-serif"/>
              </a:rPr>
              <a:t>    </a:t>
            </a:r>
            <a:r>
              <a:rPr lang="en-US" sz="1200" dirty="0" err="1">
                <a:solidFill>
                  <a:srgbClr val="172B4D"/>
                </a:solidFill>
                <a:latin typeface="ui-sans-serif"/>
              </a:rPr>
              <a:t>tx_hash</a:t>
            </a:r>
            <a:r>
              <a:rPr lang="en-US" sz="1200" dirty="0">
                <a:solidFill>
                  <a:srgbClr val="172B4D"/>
                </a:solidFill>
                <a:latin typeface="ui-sans-serif"/>
              </a:rPr>
              <a:t> = w3.eth.send_raw_transaction(</a:t>
            </a:r>
            <a:r>
              <a:rPr lang="en-US" sz="1200" dirty="0" err="1">
                <a:solidFill>
                  <a:srgbClr val="172B4D"/>
                </a:solidFill>
                <a:latin typeface="ui-sans-serif"/>
              </a:rPr>
              <a:t>signed_tx.rawTransaction</a:t>
            </a:r>
            <a:r>
              <a:rPr lang="en-US" sz="1200" dirty="0">
                <a:solidFill>
                  <a:srgbClr val="172B4D"/>
                </a:solidFill>
                <a:latin typeface="ui-sans-serif"/>
              </a:rPr>
              <a:t>)</a:t>
            </a:r>
          </a:p>
          <a:p>
            <a:r>
              <a:rPr lang="en-US" sz="1200" dirty="0">
                <a:solidFill>
                  <a:srgbClr val="172B4D"/>
                </a:solidFill>
                <a:latin typeface="ui-sans-serif"/>
              </a:rPr>
              <a:t>    print("Emission recorded, TX hash:", </a:t>
            </a:r>
            <a:r>
              <a:rPr lang="en-US" sz="1200" dirty="0" err="1">
                <a:solidFill>
                  <a:srgbClr val="172B4D"/>
                </a:solidFill>
                <a:latin typeface="ui-sans-serif"/>
              </a:rPr>
              <a:t>tx_hash.hex</a:t>
            </a:r>
            <a:r>
              <a:rPr lang="en-US" sz="1200" dirty="0">
                <a:solidFill>
                  <a:srgbClr val="172B4D"/>
                </a:solidFill>
                <a:latin typeface="ui-sans-serif"/>
              </a:rPr>
              <a:t>())</a:t>
            </a:r>
          </a:p>
          <a:p>
            <a:endParaRPr lang="en-US" sz="1200" dirty="0">
              <a:solidFill>
                <a:srgbClr val="172B4D"/>
              </a:solidFill>
              <a:latin typeface="ui-sans-serif"/>
            </a:endParaRPr>
          </a:p>
          <a:p>
            <a:r>
              <a:rPr lang="en-US" sz="1200" dirty="0">
                <a:solidFill>
                  <a:srgbClr val="172B4D"/>
                </a:solidFill>
                <a:latin typeface="ui-sans-serif"/>
              </a:rPr>
              <a:t>client = </a:t>
            </a:r>
            <a:r>
              <a:rPr lang="en-US" sz="1200" dirty="0" err="1">
                <a:solidFill>
                  <a:srgbClr val="172B4D"/>
                </a:solidFill>
                <a:latin typeface="ui-sans-serif"/>
              </a:rPr>
              <a:t>mqtt.Client</a:t>
            </a:r>
            <a:r>
              <a:rPr lang="en-US" sz="1200" dirty="0">
                <a:solidFill>
                  <a:srgbClr val="172B4D"/>
                </a:solidFill>
                <a:latin typeface="ui-sans-serif"/>
              </a:rPr>
              <a:t>()</a:t>
            </a:r>
          </a:p>
          <a:p>
            <a:r>
              <a:rPr lang="en-US" sz="1200" dirty="0" err="1">
                <a:solidFill>
                  <a:srgbClr val="172B4D"/>
                </a:solidFill>
                <a:latin typeface="ui-sans-serif"/>
              </a:rPr>
              <a:t>client.on_message</a:t>
            </a:r>
            <a:r>
              <a:rPr lang="en-US" sz="1200" dirty="0">
                <a:solidFill>
                  <a:srgbClr val="172B4D"/>
                </a:solidFill>
                <a:latin typeface="ui-sans-serif"/>
              </a:rPr>
              <a:t> = </a:t>
            </a:r>
            <a:r>
              <a:rPr lang="en-US" sz="1200" dirty="0" err="1">
                <a:solidFill>
                  <a:srgbClr val="172B4D"/>
                </a:solidFill>
                <a:latin typeface="ui-sans-serif"/>
              </a:rPr>
              <a:t>on_message</a:t>
            </a:r>
            <a:endParaRPr lang="en-US" sz="1200" dirty="0">
              <a:solidFill>
                <a:srgbClr val="172B4D"/>
              </a:solidFill>
              <a:latin typeface="ui-sans-serif"/>
            </a:endParaRPr>
          </a:p>
          <a:p>
            <a:r>
              <a:rPr lang="en-US" sz="1200" dirty="0" err="1">
                <a:solidFill>
                  <a:srgbClr val="172B4D"/>
                </a:solidFill>
                <a:latin typeface="ui-sans-serif"/>
              </a:rPr>
              <a:t>client.connect</a:t>
            </a:r>
            <a:r>
              <a:rPr lang="en-US" sz="1200" dirty="0">
                <a:solidFill>
                  <a:srgbClr val="172B4D"/>
                </a:solidFill>
                <a:latin typeface="ui-sans-serif"/>
              </a:rPr>
              <a:t>("localhost", 1883)</a:t>
            </a:r>
          </a:p>
          <a:p>
            <a:r>
              <a:rPr lang="en-US" sz="1200" dirty="0" err="1">
                <a:solidFill>
                  <a:srgbClr val="172B4D"/>
                </a:solidFill>
                <a:latin typeface="ui-sans-serif"/>
              </a:rPr>
              <a:t>client.subscribe</a:t>
            </a:r>
            <a:r>
              <a:rPr lang="en-US" sz="1200" dirty="0">
                <a:solidFill>
                  <a:srgbClr val="172B4D"/>
                </a:solidFill>
                <a:latin typeface="ui-sans-serif"/>
              </a:rPr>
              <a:t>("ghg/sensor")</a:t>
            </a:r>
          </a:p>
          <a:p>
            <a:r>
              <a:rPr lang="en-US" sz="1200" dirty="0" err="1">
                <a:solidFill>
                  <a:srgbClr val="172B4D"/>
                </a:solidFill>
                <a:latin typeface="ui-sans-serif"/>
              </a:rPr>
              <a:t>client.loop_forever</a:t>
            </a:r>
            <a:r>
              <a:rPr lang="en-US" sz="1200" dirty="0">
                <a:solidFill>
                  <a:srgbClr val="172B4D"/>
                </a:solidFill>
                <a:latin typeface="ui-sans-serif"/>
              </a:rPr>
              <a:t>()</a:t>
            </a:r>
          </a:p>
          <a:p>
            <a:endParaRPr lang="en-US" sz="900" b="0" i="0" dirty="0">
              <a:solidFill>
                <a:srgbClr val="172B4D"/>
              </a:solidFill>
              <a:effectLst/>
              <a:latin typeface="ui-sans-serif"/>
            </a:endParaRPr>
          </a:p>
        </p:txBody>
      </p:sp>
    </p:spTree>
    <p:extLst>
      <p:ext uri="{BB962C8B-B14F-4D97-AF65-F5344CB8AC3E}">
        <p14:creationId xmlns:p14="http://schemas.microsoft.com/office/powerpoint/2010/main" val="6259780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CE13275-6DF4-5662-06D0-36FA1A966095}"/>
              </a:ext>
            </a:extLst>
          </p:cNvPr>
          <p:cNvSpPr/>
          <p:nvPr/>
        </p:nvSpPr>
        <p:spPr>
          <a:xfrm>
            <a:off x="8371893" y="668419"/>
            <a:ext cx="3813773" cy="6210088"/>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7B7AD8F-3595-3946-3B6F-CED30E3E6728}"/>
              </a:ext>
            </a:extLst>
          </p:cNvPr>
          <p:cNvSpPr/>
          <p:nvPr/>
        </p:nvSpPr>
        <p:spPr>
          <a:xfrm>
            <a:off x="4094929" y="522745"/>
            <a:ext cx="4274847" cy="6469001"/>
          </a:xfrm>
          <a:prstGeom prst="rect">
            <a:avLst/>
          </a:prstGeom>
          <a:solidFill>
            <a:schemeClr val="tx2">
              <a:lumMod val="25000"/>
              <a:lumOff val="7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A899EA0E-A571-BAAA-478D-E3B2CDB05692}"/>
              </a:ext>
            </a:extLst>
          </p:cNvPr>
          <p:cNvSpPr/>
          <p:nvPr/>
        </p:nvSpPr>
        <p:spPr>
          <a:xfrm>
            <a:off x="4943486" y="2638739"/>
            <a:ext cx="1257554" cy="56528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75381B3-6447-6EB0-BBB8-F629251CD730}"/>
              </a:ext>
            </a:extLst>
          </p:cNvPr>
          <p:cNvSpPr/>
          <p:nvPr/>
        </p:nvSpPr>
        <p:spPr>
          <a:xfrm>
            <a:off x="-3" y="637638"/>
            <a:ext cx="4147137" cy="6210087"/>
          </a:xfrm>
          <a:prstGeom prst="rect">
            <a:avLst/>
          </a:prstGeom>
          <a:solidFill>
            <a:srgbClr val="FFFF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9CF6392-90C9-4ECE-941A-84CA8666738A}"/>
              </a:ext>
            </a:extLst>
          </p:cNvPr>
          <p:cNvSpPr/>
          <p:nvPr/>
        </p:nvSpPr>
        <p:spPr>
          <a:xfrm>
            <a:off x="8448" y="0"/>
            <a:ext cx="12180896" cy="656492"/>
          </a:xfrm>
          <a:prstGeom prst="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1A37C87-2367-488E-911E-FB0247783232}"/>
              </a:ext>
            </a:extLst>
          </p:cNvPr>
          <p:cNvSpPr txBox="1"/>
          <p:nvPr/>
        </p:nvSpPr>
        <p:spPr>
          <a:xfrm>
            <a:off x="96691" y="68099"/>
            <a:ext cx="11958289" cy="523220"/>
          </a:xfrm>
          <a:prstGeom prst="rect">
            <a:avLst/>
          </a:prstGeom>
          <a:solidFill>
            <a:srgbClr val="0099CC"/>
          </a:solidFill>
        </p:spPr>
        <p:txBody>
          <a:bodyPr wrap="square" rtlCol="0">
            <a:spAutoFit/>
          </a:bodyPr>
          <a:lstStyle/>
          <a:p>
            <a:r>
              <a:rPr lang="en-US" sz="2800" b="1" dirty="0">
                <a:solidFill>
                  <a:schemeClr val="bg1">
                    <a:lumMod val="95000"/>
                  </a:schemeClr>
                </a:solidFill>
              </a:rPr>
              <a:t> Process View – How the Digital Twin Compares Planned vs Actual </a:t>
            </a:r>
          </a:p>
        </p:txBody>
      </p:sp>
      <p:sp>
        <p:nvSpPr>
          <p:cNvPr id="65" name="AutoShape 2" descr="Cash Pictures, Cash Stock Photos &amp; Images | Depositphotos®">
            <a:extLst>
              <a:ext uri="{FF2B5EF4-FFF2-40B4-BE49-F238E27FC236}">
                <a16:creationId xmlns:a16="http://schemas.microsoft.com/office/drawing/2014/main" id="{E0F87420-C907-404A-8355-4C22CA4E51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76324356-DFA6-4B51-9B4E-50BF6CBE2E3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AE8BCBB3-3B6D-97F6-DC09-76AF52A3BDCC}"/>
              </a:ext>
            </a:extLst>
          </p:cNvPr>
          <p:cNvSpPr txBox="1"/>
          <p:nvPr/>
        </p:nvSpPr>
        <p:spPr>
          <a:xfrm>
            <a:off x="8449" y="853539"/>
            <a:ext cx="4147138" cy="6278642"/>
          </a:xfrm>
          <a:prstGeom prst="rect">
            <a:avLst/>
          </a:prstGeom>
          <a:noFill/>
        </p:spPr>
        <p:txBody>
          <a:bodyPr wrap="square" rtlCol="0">
            <a:spAutoFit/>
          </a:bodyPr>
          <a:lstStyle/>
          <a:p>
            <a:pPr marL="285750" indent="-285750">
              <a:buFont typeface="Arial" panose="020B0604020202020204" pitchFamily="34" charset="0"/>
              <a:buChar char="•"/>
            </a:pPr>
            <a:r>
              <a:rPr lang="en-US" sz="1600" dirty="0"/>
              <a:t>Each company/firm enters its GHG emission baseline value(s) as transactions for its supply chain segment.  Represents planned total emissions in this segment.</a:t>
            </a:r>
          </a:p>
          <a:p>
            <a:endParaRPr lang="en-US" sz="1600" dirty="0"/>
          </a:p>
          <a:p>
            <a:pPr marL="285750" indent="-285750">
              <a:buFont typeface="Arial" panose="020B0604020202020204" pitchFamily="34" charset="0"/>
              <a:buChar char="•"/>
            </a:pPr>
            <a:r>
              <a:rPr lang="en-US" sz="1600" dirty="0"/>
              <a:t>First, a blockchain transaction deploys </a:t>
            </a:r>
            <a:r>
              <a:rPr lang="en-US" sz="1600" dirty="0" err="1"/>
              <a:t>chaincode</a:t>
            </a:r>
            <a:r>
              <a:rPr lang="en-US" sz="1600" dirty="0"/>
              <a:t> containing the </a:t>
            </a:r>
            <a:r>
              <a:rPr lang="en-US" sz="1600" b="1" dirty="0"/>
              <a:t>smart contract </a:t>
            </a:r>
            <a:r>
              <a:rPr lang="en-US" sz="1600" dirty="0"/>
              <a:t>with an ID.</a:t>
            </a:r>
            <a:endParaRPr lang="en-US" sz="1600" b="1" dirty="0"/>
          </a:p>
          <a:p>
            <a:endParaRPr lang="en-US" sz="1600" b="1" dirty="0"/>
          </a:p>
          <a:p>
            <a:pPr marL="285750" indent="-285750">
              <a:buFont typeface="Arial" panose="020B0604020202020204" pitchFamily="34" charset="0"/>
              <a:buChar char="•"/>
            </a:pPr>
            <a:r>
              <a:rPr lang="en-US" sz="1600" dirty="0"/>
              <a:t>The smart contract will maintain </a:t>
            </a:r>
            <a:r>
              <a:rPr lang="en-US" sz="1600" b="1" dirty="0"/>
              <a:t>state variables</a:t>
            </a:r>
            <a:r>
              <a:rPr lang="en-US" sz="1600" dirty="0"/>
              <a:t> on the blockchain holding the baseline values for the company/firm.</a:t>
            </a:r>
          </a:p>
          <a:p>
            <a:endParaRPr lang="en-US" sz="1600" dirty="0"/>
          </a:p>
          <a:p>
            <a:pPr marL="285750" indent="-285750">
              <a:buFont typeface="Arial" panose="020B0604020202020204" pitchFamily="34" charset="0"/>
              <a:buChar char="•"/>
            </a:pPr>
            <a:r>
              <a:rPr lang="en-US" sz="1600" dirty="0"/>
              <a:t>The baseline emissions numeric value is placed in the digital twin blockchain as a </a:t>
            </a:r>
            <a:r>
              <a:rPr lang="en-US" sz="1600" b="1" dirty="0"/>
              <a:t>transaction</a:t>
            </a:r>
            <a:r>
              <a:rPr lang="en-US" sz="1600" dirty="0"/>
              <a:t> placing this value into the </a:t>
            </a:r>
            <a:r>
              <a:rPr lang="en-US" sz="1600" b="1" dirty="0"/>
              <a:t>state variable.</a:t>
            </a:r>
          </a:p>
          <a:p>
            <a:endParaRPr lang="en-US" sz="1600" b="1" dirty="0"/>
          </a:p>
          <a:p>
            <a:pPr marL="285750" indent="-285750">
              <a:buFont typeface="Arial" panose="020B0604020202020204" pitchFamily="34" charset="0"/>
              <a:buChar char="•"/>
            </a:pPr>
            <a:r>
              <a:rPr lang="en-US" sz="1600" dirty="0"/>
              <a:t>Example of the </a:t>
            </a:r>
            <a:r>
              <a:rPr lang="en-US" sz="1600" b="1" dirty="0"/>
              <a:t>state variable</a:t>
            </a:r>
            <a:r>
              <a:rPr lang="en-US" sz="1600" dirty="0"/>
              <a:t>:</a:t>
            </a:r>
          </a:p>
          <a:p>
            <a:r>
              <a:rPr lang="en-US" sz="1400" dirty="0"/>
              <a:t>            </a:t>
            </a:r>
            <a:r>
              <a:rPr lang="en-US" sz="1400" b="1" dirty="0"/>
              <a:t>struct</a:t>
            </a:r>
            <a:r>
              <a:rPr lang="en-US" sz="1400" dirty="0"/>
              <a:t> { ID string,</a:t>
            </a:r>
          </a:p>
          <a:p>
            <a:r>
              <a:rPr lang="en-US" sz="1400" dirty="0"/>
              <a:t>                         company  string format,</a:t>
            </a:r>
          </a:p>
          <a:p>
            <a:r>
              <a:rPr lang="en-US" sz="1400" dirty="0"/>
              <a:t>                         baseline decimal format,</a:t>
            </a:r>
          </a:p>
          <a:p>
            <a:r>
              <a:rPr lang="en-US" sz="1400" dirty="0"/>
              <a:t>                         </a:t>
            </a:r>
            <a:r>
              <a:rPr lang="en-US" sz="1400" dirty="0" err="1"/>
              <a:t>baseline_unit</a:t>
            </a:r>
            <a:r>
              <a:rPr lang="en-US" sz="1400" dirty="0"/>
              <a:t> string, (ex: emission/mile)</a:t>
            </a:r>
          </a:p>
          <a:p>
            <a:r>
              <a:rPr lang="en-US" sz="1400" dirty="0"/>
              <a:t>                         </a:t>
            </a:r>
            <a:r>
              <a:rPr lang="en-US" sz="1400" dirty="0" err="1"/>
              <a:t>runtime_total</a:t>
            </a:r>
            <a:r>
              <a:rPr lang="en-US" sz="1400" dirty="0"/>
              <a:t>  decimal format,</a:t>
            </a:r>
          </a:p>
          <a:p>
            <a:r>
              <a:rPr lang="en-US" sz="1400" dirty="0"/>
              <a:t>                         </a:t>
            </a:r>
            <a:r>
              <a:rPr lang="en-US" sz="1400" dirty="0" err="1"/>
              <a:t>supplychainSegment_ID</a:t>
            </a:r>
            <a:r>
              <a:rPr lang="en-US" sz="1400" dirty="0"/>
              <a:t> string format  }</a:t>
            </a:r>
          </a:p>
        </p:txBody>
      </p:sp>
      <p:sp>
        <p:nvSpPr>
          <p:cNvPr id="17" name="TextBox 16">
            <a:extLst>
              <a:ext uri="{FF2B5EF4-FFF2-40B4-BE49-F238E27FC236}">
                <a16:creationId xmlns:a16="http://schemas.microsoft.com/office/drawing/2014/main" id="{76698FD7-0C51-063A-2155-ED3D613614DA}"/>
              </a:ext>
            </a:extLst>
          </p:cNvPr>
          <p:cNvSpPr txBox="1"/>
          <p:nvPr/>
        </p:nvSpPr>
        <p:spPr>
          <a:xfrm>
            <a:off x="4136119" y="1058019"/>
            <a:ext cx="4310459" cy="369332"/>
          </a:xfrm>
          <a:prstGeom prst="rect">
            <a:avLst/>
          </a:prstGeom>
          <a:noFill/>
        </p:spPr>
        <p:txBody>
          <a:bodyPr wrap="square" rtlCol="0">
            <a:spAutoFit/>
          </a:bodyPr>
          <a:lstStyle/>
          <a:p>
            <a:pPr algn="ctr"/>
            <a:r>
              <a:rPr lang="en-US" b="1" dirty="0"/>
              <a:t>Digital Twin Peer Hyperledger Fabric Node</a:t>
            </a:r>
          </a:p>
        </p:txBody>
      </p:sp>
      <p:sp>
        <p:nvSpPr>
          <p:cNvPr id="19" name="TextBox 18">
            <a:extLst>
              <a:ext uri="{FF2B5EF4-FFF2-40B4-BE49-F238E27FC236}">
                <a16:creationId xmlns:a16="http://schemas.microsoft.com/office/drawing/2014/main" id="{6BBC8ED5-F696-14D8-2CF9-0886F2DD2930}"/>
              </a:ext>
            </a:extLst>
          </p:cNvPr>
          <p:cNvSpPr txBox="1"/>
          <p:nvPr/>
        </p:nvSpPr>
        <p:spPr>
          <a:xfrm>
            <a:off x="4318566" y="1783228"/>
            <a:ext cx="2075858" cy="276999"/>
          </a:xfrm>
          <a:prstGeom prst="rect">
            <a:avLst/>
          </a:prstGeom>
          <a:noFill/>
        </p:spPr>
        <p:txBody>
          <a:bodyPr wrap="square" rtlCol="0">
            <a:spAutoFit/>
          </a:bodyPr>
          <a:lstStyle/>
          <a:p>
            <a:pPr algn="ctr"/>
            <a:r>
              <a:rPr lang="en-US" sz="1200" b="1" dirty="0"/>
              <a:t>channel: digital-twin</a:t>
            </a:r>
          </a:p>
        </p:txBody>
      </p:sp>
      <p:sp>
        <p:nvSpPr>
          <p:cNvPr id="4" name="Rectangle: Rounded Corners 3">
            <a:extLst>
              <a:ext uri="{FF2B5EF4-FFF2-40B4-BE49-F238E27FC236}">
                <a16:creationId xmlns:a16="http://schemas.microsoft.com/office/drawing/2014/main" id="{05123F66-24CB-5944-98D9-3F6AE2C154B3}"/>
              </a:ext>
            </a:extLst>
          </p:cNvPr>
          <p:cNvSpPr/>
          <p:nvPr/>
        </p:nvSpPr>
        <p:spPr>
          <a:xfrm>
            <a:off x="4198963" y="3226197"/>
            <a:ext cx="4096979" cy="3631803"/>
          </a:xfrm>
          <a:prstGeom prst="roundRect">
            <a:avLst>
              <a:gd name="adj" fmla="val 5815"/>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FBE332CC-8249-9CC6-A58D-6025F7662596}"/>
              </a:ext>
            </a:extLst>
          </p:cNvPr>
          <p:cNvSpPr/>
          <p:nvPr/>
        </p:nvSpPr>
        <p:spPr>
          <a:xfrm>
            <a:off x="7111078" y="2170336"/>
            <a:ext cx="879025" cy="4534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Arrow Connector 101">
            <a:extLst>
              <a:ext uri="{FF2B5EF4-FFF2-40B4-BE49-F238E27FC236}">
                <a16:creationId xmlns:a16="http://schemas.microsoft.com/office/drawing/2014/main" id="{95E16B95-2E9C-C034-1DA2-3484363D1765}"/>
              </a:ext>
            </a:extLst>
          </p:cNvPr>
          <p:cNvCxnSpPr>
            <a:cxnSpLocks/>
          </p:cNvCxnSpPr>
          <p:nvPr/>
        </p:nvCxnSpPr>
        <p:spPr>
          <a:xfrm flipV="1">
            <a:off x="6686405" y="2373413"/>
            <a:ext cx="419266" cy="4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9675378C-4C3A-73CA-BDC7-CF2DDB9A33A0}"/>
              </a:ext>
            </a:extLst>
          </p:cNvPr>
          <p:cNvSpPr txBox="1"/>
          <p:nvPr/>
        </p:nvSpPr>
        <p:spPr>
          <a:xfrm>
            <a:off x="7122832" y="2153183"/>
            <a:ext cx="804233" cy="215444"/>
          </a:xfrm>
          <a:prstGeom prst="rect">
            <a:avLst/>
          </a:prstGeom>
          <a:noFill/>
        </p:spPr>
        <p:txBody>
          <a:bodyPr wrap="square" rtlCol="0">
            <a:spAutoFit/>
          </a:bodyPr>
          <a:lstStyle/>
          <a:p>
            <a:pPr algn="ctr"/>
            <a:r>
              <a:rPr lang="en-US" sz="800" dirty="0">
                <a:latin typeface="+mj-lt"/>
              </a:rPr>
              <a:t>Latest Block</a:t>
            </a:r>
          </a:p>
        </p:txBody>
      </p:sp>
      <p:cxnSp>
        <p:nvCxnSpPr>
          <p:cNvPr id="119" name="Straight Arrow Connector 118">
            <a:extLst>
              <a:ext uri="{FF2B5EF4-FFF2-40B4-BE49-F238E27FC236}">
                <a16:creationId xmlns:a16="http://schemas.microsoft.com/office/drawing/2014/main" id="{24018AC6-5CBE-C525-3299-F8941B3BB120}"/>
              </a:ext>
            </a:extLst>
          </p:cNvPr>
          <p:cNvCxnSpPr>
            <a:cxnSpLocks/>
          </p:cNvCxnSpPr>
          <p:nvPr/>
        </p:nvCxnSpPr>
        <p:spPr>
          <a:xfrm>
            <a:off x="8070079" y="1950270"/>
            <a:ext cx="0" cy="1270742"/>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182D2420-44D9-F4B6-B3A5-64866C5FAB78}"/>
              </a:ext>
            </a:extLst>
          </p:cNvPr>
          <p:cNvGrpSpPr/>
          <p:nvPr/>
        </p:nvGrpSpPr>
        <p:grpSpPr>
          <a:xfrm>
            <a:off x="4445220" y="2168677"/>
            <a:ext cx="3606762" cy="1056252"/>
            <a:chOff x="6140407" y="2595762"/>
            <a:chExt cx="3606762" cy="1056252"/>
          </a:xfrm>
        </p:grpSpPr>
        <p:sp>
          <p:nvSpPr>
            <p:cNvPr id="127" name="Oval 126">
              <a:extLst>
                <a:ext uri="{FF2B5EF4-FFF2-40B4-BE49-F238E27FC236}">
                  <a16:creationId xmlns:a16="http://schemas.microsoft.com/office/drawing/2014/main" id="{BF0AADCF-885F-846A-625F-08925305A32C}"/>
                </a:ext>
              </a:extLst>
            </p:cNvPr>
            <p:cNvSpPr/>
            <p:nvPr/>
          </p:nvSpPr>
          <p:spPr>
            <a:xfrm>
              <a:off x="7961115" y="3072378"/>
              <a:ext cx="1257554" cy="56528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F6EB57D-98C6-F89E-4357-5BB332D0CF84}"/>
                </a:ext>
              </a:extLst>
            </p:cNvPr>
            <p:cNvSpPr/>
            <p:nvPr/>
          </p:nvSpPr>
          <p:spPr>
            <a:xfrm>
              <a:off x="6192462" y="2601155"/>
              <a:ext cx="879025" cy="4534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A879C13-290F-A2BA-DD2B-7D71B02BB584}"/>
                </a:ext>
              </a:extLst>
            </p:cNvPr>
            <p:cNvSpPr txBox="1"/>
            <p:nvPr/>
          </p:nvSpPr>
          <p:spPr>
            <a:xfrm>
              <a:off x="6327285" y="2595762"/>
              <a:ext cx="633923" cy="215444"/>
            </a:xfrm>
            <a:prstGeom prst="rect">
              <a:avLst/>
            </a:prstGeom>
            <a:noFill/>
          </p:spPr>
          <p:txBody>
            <a:bodyPr wrap="square" rtlCol="0">
              <a:spAutoFit/>
            </a:bodyPr>
            <a:lstStyle/>
            <a:p>
              <a:pPr algn="ctr"/>
              <a:r>
                <a:rPr lang="en-US" sz="800" dirty="0">
                  <a:latin typeface="+mj-lt"/>
                </a:rPr>
                <a:t>Block: n+ 1</a:t>
              </a:r>
            </a:p>
          </p:txBody>
        </p:sp>
        <p:sp>
          <p:nvSpPr>
            <p:cNvPr id="33" name="TextBox 32">
              <a:extLst>
                <a:ext uri="{FF2B5EF4-FFF2-40B4-BE49-F238E27FC236}">
                  <a16:creationId xmlns:a16="http://schemas.microsoft.com/office/drawing/2014/main" id="{E5A98CDD-21D7-8D9F-91F6-BEA04C1ED8B8}"/>
                </a:ext>
              </a:extLst>
            </p:cNvPr>
            <p:cNvSpPr txBox="1"/>
            <p:nvPr/>
          </p:nvSpPr>
          <p:spPr>
            <a:xfrm>
              <a:off x="6140407" y="2747759"/>
              <a:ext cx="1001044" cy="338554"/>
            </a:xfrm>
            <a:prstGeom prst="rect">
              <a:avLst/>
            </a:prstGeom>
            <a:noFill/>
          </p:spPr>
          <p:txBody>
            <a:bodyPr wrap="square" rtlCol="0">
              <a:spAutoFit/>
            </a:bodyPr>
            <a:lstStyle/>
            <a:p>
              <a:pPr algn="ctr"/>
              <a:r>
                <a:rPr lang="en-US" sz="800" b="1" dirty="0">
                  <a:latin typeface="+mj-lt"/>
                </a:rPr>
                <a:t>Supply chain </a:t>
              </a:r>
            </a:p>
            <a:p>
              <a:r>
                <a:rPr lang="en-US" sz="800" b="1" dirty="0">
                  <a:latin typeface="+mj-lt"/>
                </a:rPr>
                <a:t>seg 1 baseline value</a:t>
              </a:r>
            </a:p>
          </p:txBody>
        </p:sp>
        <p:cxnSp>
          <p:nvCxnSpPr>
            <p:cNvPr id="16" name="Straight Arrow Connector 15">
              <a:extLst>
                <a:ext uri="{FF2B5EF4-FFF2-40B4-BE49-F238E27FC236}">
                  <a16:creationId xmlns:a16="http://schemas.microsoft.com/office/drawing/2014/main" id="{CB67244D-19D0-9464-DFF7-EC3B3965EC24}"/>
                </a:ext>
              </a:extLst>
            </p:cNvPr>
            <p:cNvCxnSpPr>
              <a:cxnSpLocks/>
              <a:stCxn id="5" idx="3"/>
              <a:endCxn id="96" idx="1"/>
            </p:cNvCxnSpPr>
            <p:nvPr/>
          </p:nvCxnSpPr>
          <p:spPr>
            <a:xfrm flipV="1">
              <a:off x="7071487" y="2823487"/>
              <a:ext cx="419266" cy="4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B17FE038-B560-9FA7-E8D1-87CC6E74EFD7}"/>
                </a:ext>
              </a:extLst>
            </p:cNvPr>
            <p:cNvSpPr txBox="1"/>
            <p:nvPr/>
          </p:nvSpPr>
          <p:spPr>
            <a:xfrm>
              <a:off x="7414063" y="2743200"/>
              <a:ext cx="1001044" cy="338554"/>
            </a:xfrm>
            <a:prstGeom prst="rect">
              <a:avLst/>
            </a:prstGeom>
            <a:noFill/>
          </p:spPr>
          <p:txBody>
            <a:bodyPr wrap="square" rtlCol="0">
              <a:spAutoFit/>
            </a:bodyPr>
            <a:lstStyle/>
            <a:p>
              <a:pPr algn="ctr"/>
              <a:r>
                <a:rPr lang="en-US" sz="800" b="1" dirty="0">
                  <a:latin typeface="+mj-lt"/>
                </a:rPr>
                <a:t>Supply chain </a:t>
              </a:r>
            </a:p>
            <a:p>
              <a:pPr algn="ctr"/>
              <a:r>
                <a:rPr lang="en-US" sz="800" b="1" dirty="0">
                  <a:latin typeface="+mj-lt"/>
                </a:rPr>
                <a:t>seg 2 baseline value</a:t>
              </a:r>
            </a:p>
          </p:txBody>
        </p:sp>
        <p:sp>
          <p:nvSpPr>
            <p:cNvPr id="96" name="Rectangle 95">
              <a:extLst>
                <a:ext uri="{FF2B5EF4-FFF2-40B4-BE49-F238E27FC236}">
                  <a16:creationId xmlns:a16="http://schemas.microsoft.com/office/drawing/2014/main" id="{BF609463-4390-A1AA-D01C-5A1BED63C2A4}"/>
                </a:ext>
              </a:extLst>
            </p:cNvPr>
            <p:cNvSpPr/>
            <p:nvPr/>
          </p:nvSpPr>
          <p:spPr>
            <a:xfrm>
              <a:off x="7490753" y="2596767"/>
              <a:ext cx="879025" cy="4534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TextBox 100">
              <a:extLst>
                <a:ext uri="{FF2B5EF4-FFF2-40B4-BE49-F238E27FC236}">
                  <a16:creationId xmlns:a16="http://schemas.microsoft.com/office/drawing/2014/main" id="{6170D58D-E074-E171-BE3F-D215E3D69157}"/>
                </a:ext>
              </a:extLst>
            </p:cNvPr>
            <p:cNvSpPr txBox="1"/>
            <p:nvPr/>
          </p:nvSpPr>
          <p:spPr>
            <a:xfrm>
              <a:off x="7589767" y="2596896"/>
              <a:ext cx="633923" cy="215444"/>
            </a:xfrm>
            <a:prstGeom prst="rect">
              <a:avLst/>
            </a:prstGeom>
            <a:noFill/>
          </p:spPr>
          <p:txBody>
            <a:bodyPr wrap="square" rtlCol="0">
              <a:spAutoFit/>
            </a:bodyPr>
            <a:lstStyle/>
            <a:p>
              <a:pPr algn="ctr"/>
              <a:r>
                <a:rPr lang="en-US" sz="800" dirty="0">
                  <a:latin typeface="+mj-lt"/>
                </a:rPr>
                <a:t>Block: n+ 2</a:t>
              </a:r>
            </a:p>
          </p:txBody>
        </p:sp>
        <p:sp>
          <p:nvSpPr>
            <p:cNvPr id="103" name="TextBox 102">
              <a:extLst>
                <a:ext uri="{FF2B5EF4-FFF2-40B4-BE49-F238E27FC236}">
                  <a16:creationId xmlns:a16="http://schemas.microsoft.com/office/drawing/2014/main" id="{72EBC91D-A7E8-0820-F48E-61F0BE4DA056}"/>
                </a:ext>
              </a:extLst>
            </p:cNvPr>
            <p:cNvSpPr txBox="1"/>
            <p:nvPr/>
          </p:nvSpPr>
          <p:spPr>
            <a:xfrm>
              <a:off x="8746125" y="2743200"/>
              <a:ext cx="1001044" cy="338554"/>
            </a:xfrm>
            <a:prstGeom prst="rect">
              <a:avLst/>
            </a:prstGeom>
            <a:noFill/>
          </p:spPr>
          <p:txBody>
            <a:bodyPr wrap="square" rtlCol="0">
              <a:spAutoFit/>
            </a:bodyPr>
            <a:lstStyle/>
            <a:p>
              <a:pPr algn="ctr"/>
              <a:r>
                <a:rPr lang="en-US" sz="800" b="1" dirty="0">
                  <a:latin typeface="+mj-lt"/>
                </a:rPr>
                <a:t>Supply chain </a:t>
              </a:r>
            </a:p>
            <a:p>
              <a:pPr algn="ctr"/>
              <a:r>
                <a:rPr lang="en-US" sz="800" b="1" dirty="0">
                  <a:latin typeface="+mj-lt"/>
                </a:rPr>
                <a:t>seg 3 baseline value</a:t>
              </a:r>
            </a:p>
          </p:txBody>
        </p:sp>
        <p:cxnSp>
          <p:nvCxnSpPr>
            <p:cNvPr id="114" name="Straight Arrow Connector 113">
              <a:extLst>
                <a:ext uri="{FF2B5EF4-FFF2-40B4-BE49-F238E27FC236}">
                  <a16:creationId xmlns:a16="http://schemas.microsoft.com/office/drawing/2014/main" id="{EA8310CB-2827-1788-AFC1-53CEAB0A3299}"/>
                </a:ext>
              </a:extLst>
            </p:cNvPr>
            <p:cNvCxnSpPr>
              <a:cxnSpLocks/>
            </p:cNvCxnSpPr>
            <p:nvPr/>
          </p:nvCxnSpPr>
          <p:spPr>
            <a:xfrm>
              <a:off x="6625608" y="3050123"/>
              <a:ext cx="0" cy="601891"/>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AFB7270A-7088-C1AC-0EB3-DCE60FF2C67B}"/>
                </a:ext>
              </a:extLst>
            </p:cNvPr>
            <p:cNvSpPr txBox="1"/>
            <p:nvPr/>
          </p:nvSpPr>
          <p:spPr>
            <a:xfrm>
              <a:off x="6568908" y="3176866"/>
              <a:ext cx="1388355" cy="338554"/>
            </a:xfrm>
            <a:prstGeom prst="rect">
              <a:avLst/>
            </a:prstGeom>
            <a:noFill/>
          </p:spPr>
          <p:txBody>
            <a:bodyPr wrap="square" rtlCol="0">
              <a:spAutoFit/>
            </a:bodyPr>
            <a:lstStyle/>
            <a:p>
              <a:pPr algn="ctr"/>
              <a:r>
                <a:rPr lang="en-US" sz="800" b="1" dirty="0">
                  <a:latin typeface="Abadi Extra Light" panose="020F0502020204030204" pitchFamily="34" charset="0"/>
                </a:rPr>
                <a:t>get emission baseline values for supply chain segments</a:t>
              </a:r>
            </a:p>
          </p:txBody>
        </p:sp>
        <p:sp>
          <p:nvSpPr>
            <p:cNvPr id="123" name="TextBox 122">
              <a:extLst>
                <a:ext uri="{FF2B5EF4-FFF2-40B4-BE49-F238E27FC236}">
                  <a16:creationId xmlns:a16="http://schemas.microsoft.com/office/drawing/2014/main" id="{DBA120C0-8CB2-53C3-E986-A9D7035704AA}"/>
                </a:ext>
              </a:extLst>
            </p:cNvPr>
            <p:cNvSpPr txBox="1"/>
            <p:nvPr/>
          </p:nvSpPr>
          <p:spPr>
            <a:xfrm>
              <a:off x="7896298" y="3185789"/>
              <a:ext cx="1388355" cy="338554"/>
            </a:xfrm>
            <a:prstGeom prst="rect">
              <a:avLst/>
            </a:prstGeom>
            <a:noFill/>
          </p:spPr>
          <p:txBody>
            <a:bodyPr wrap="square" rtlCol="0">
              <a:spAutoFit/>
            </a:bodyPr>
            <a:lstStyle/>
            <a:p>
              <a:pPr algn="ctr"/>
              <a:r>
                <a:rPr lang="en-US" sz="800" b="1" dirty="0">
                  <a:latin typeface="+mj-lt"/>
                </a:rPr>
                <a:t>get emission baseline values for supply chain segments</a:t>
              </a:r>
            </a:p>
          </p:txBody>
        </p:sp>
      </p:grpSp>
      <p:sp>
        <p:nvSpPr>
          <p:cNvPr id="128" name="TextBox 127">
            <a:extLst>
              <a:ext uri="{FF2B5EF4-FFF2-40B4-BE49-F238E27FC236}">
                <a16:creationId xmlns:a16="http://schemas.microsoft.com/office/drawing/2014/main" id="{C9B1631B-733A-F9FB-0A69-D2BC58C6A39A}"/>
              </a:ext>
            </a:extLst>
          </p:cNvPr>
          <p:cNvSpPr txBox="1"/>
          <p:nvPr/>
        </p:nvSpPr>
        <p:spPr>
          <a:xfrm>
            <a:off x="4166401" y="3310837"/>
            <a:ext cx="4181286" cy="3539430"/>
          </a:xfrm>
          <a:prstGeom prst="rect">
            <a:avLst/>
          </a:prstGeom>
          <a:noFill/>
        </p:spPr>
        <p:txBody>
          <a:bodyPr wrap="square" rtlCol="0">
            <a:spAutoFit/>
          </a:bodyPr>
          <a:lstStyle/>
          <a:p>
            <a:pPr marL="171450" indent="-171450">
              <a:buFont typeface="Arial" panose="020B0604020202020204" pitchFamily="34" charset="0"/>
              <a:buChar char="•"/>
            </a:pPr>
            <a:r>
              <a:rPr lang="en-US" sz="1600" b="1" dirty="0">
                <a:latin typeface="+mj-lt"/>
              </a:rPr>
              <a:t>At the start of the supply chain GHG emission baselines for a company are collected from the blockchain. Baselines and state variables represent expected emissions for that particular portion of the supply chain(i.e. truck, boat, original manufacturer). </a:t>
            </a:r>
          </a:p>
          <a:p>
            <a:pPr marL="171450" indent="-171450">
              <a:buFont typeface="Arial" panose="020B0604020202020204" pitchFamily="34" charset="0"/>
              <a:buChar char="•"/>
            </a:pPr>
            <a:r>
              <a:rPr lang="en-US" sz="1600" b="1" dirty="0">
                <a:latin typeface="+mj-lt"/>
              </a:rPr>
              <a:t>As emissions data are collected they are placed into the  blockchain as transactions in real-time.</a:t>
            </a:r>
          </a:p>
          <a:p>
            <a:pPr marL="171450" indent="-171450">
              <a:buFont typeface="Arial" panose="020B0604020202020204" pitchFamily="34" charset="0"/>
              <a:buChar char="•"/>
            </a:pPr>
            <a:r>
              <a:rPr lang="en-US" sz="1600" b="1" dirty="0">
                <a:latin typeface="+mj-lt"/>
              </a:rPr>
              <a:t>A transaction calls a smart contract to place emission data for a company into the next block.</a:t>
            </a:r>
          </a:p>
          <a:p>
            <a:pPr marL="171450" indent="-171450">
              <a:buFont typeface="Arial" panose="020B0604020202020204" pitchFamily="34" charset="0"/>
              <a:buChar char="•"/>
            </a:pPr>
            <a:r>
              <a:rPr lang="en-US" sz="1600" b="1" dirty="0">
                <a:latin typeface="+mj-lt"/>
              </a:rPr>
              <a:t>Company emissions data are collected real-time and compared against expected emission per mile, or time, or other metric</a:t>
            </a:r>
            <a:r>
              <a:rPr lang="en-US" sz="1000" b="1" dirty="0">
                <a:latin typeface="+mj-lt"/>
              </a:rPr>
              <a:t>.</a:t>
            </a:r>
          </a:p>
        </p:txBody>
      </p:sp>
      <p:sp>
        <p:nvSpPr>
          <p:cNvPr id="138" name="TextBox 137">
            <a:extLst>
              <a:ext uri="{FF2B5EF4-FFF2-40B4-BE49-F238E27FC236}">
                <a16:creationId xmlns:a16="http://schemas.microsoft.com/office/drawing/2014/main" id="{30BBC98C-909B-8A1F-91AD-C7B7E5030C68}"/>
              </a:ext>
            </a:extLst>
          </p:cNvPr>
          <p:cNvSpPr txBox="1">
            <a:spLocks noGrp="1" noRot="1" noMove="1" noResize="1" noEditPoints="1" noAdjustHandles="1" noChangeArrowheads="1" noChangeShapeType="1"/>
          </p:cNvSpPr>
          <p:nvPr/>
        </p:nvSpPr>
        <p:spPr>
          <a:xfrm>
            <a:off x="8394956" y="1025817"/>
            <a:ext cx="3774414" cy="3754874"/>
          </a:xfrm>
          <a:prstGeom prst="rect">
            <a:avLst/>
          </a:prstGeom>
          <a:noFill/>
        </p:spPr>
        <p:txBody>
          <a:bodyPr wrap="square" rtlCol="0">
            <a:spAutoFit/>
          </a:bodyPr>
          <a:lstStyle/>
          <a:p>
            <a:r>
              <a:rPr lang="en-US" sz="1400" dirty="0"/>
              <a:t>Continuous comparison against the </a:t>
            </a:r>
            <a:r>
              <a:rPr lang="en-US" sz="1400" b="1" dirty="0"/>
              <a:t>baseline</a:t>
            </a:r>
          </a:p>
          <a:p>
            <a:r>
              <a:rPr lang="en-US" sz="1400" b="1" dirty="0"/>
              <a:t>plan </a:t>
            </a:r>
            <a:r>
              <a:rPr lang="en-US" sz="1400" dirty="0"/>
              <a:t>as emission data arrive from the source.</a:t>
            </a:r>
          </a:p>
          <a:p>
            <a:r>
              <a:rPr lang="en-US" sz="1400" b="1" dirty="0">
                <a:solidFill>
                  <a:srgbClr val="FF0000"/>
                </a:solidFill>
              </a:rPr>
              <a:t>Key: </a:t>
            </a:r>
            <a:r>
              <a:rPr lang="en-US" sz="1400" dirty="0"/>
              <a:t>The emissions </a:t>
            </a:r>
            <a:r>
              <a:rPr lang="en-US" sz="1400" b="1" dirty="0"/>
              <a:t>baseline value </a:t>
            </a:r>
            <a:r>
              <a:rPr lang="en-US" sz="1400" dirty="0"/>
              <a:t>is derived from model and scenario analysis capability of the </a:t>
            </a:r>
            <a:r>
              <a:rPr lang="en-US" sz="1400" b="1" dirty="0">
                <a:solidFill>
                  <a:srgbClr val="FF0000"/>
                </a:solidFill>
              </a:rPr>
              <a:t>digital twin.</a:t>
            </a:r>
          </a:p>
          <a:p>
            <a:endParaRPr lang="en-US" sz="1400" b="1" dirty="0">
              <a:latin typeface="+mj-lt"/>
            </a:endParaRPr>
          </a:p>
          <a:p>
            <a:endParaRPr lang="en-US" sz="1400" b="1" dirty="0">
              <a:latin typeface="+mj-lt"/>
            </a:endParaRPr>
          </a:p>
          <a:p>
            <a:endParaRPr lang="en-US" sz="1400" b="1" dirty="0">
              <a:latin typeface="+mj-lt"/>
            </a:endParaRPr>
          </a:p>
          <a:p>
            <a:endParaRPr lang="en-US" sz="1400" dirty="0"/>
          </a:p>
          <a:p>
            <a:endParaRPr lang="en-US" sz="1400" dirty="0">
              <a:latin typeface="+mj-lt"/>
            </a:endParaRPr>
          </a:p>
          <a:p>
            <a:endParaRPr lang="en-US" sz="1400" dirty="0">
              <a:latin typeface="+mj-lt"/>
            </a:endParaRPr>
          </a:p>
          <a:p>
            <a:endParaRPr lang="en-US" sz="1400" dirty="0">
              <a:latin typeface="+mj-lt"/>
            </a:endParaRPr>
          </a:p>
          <a:p>
            <a:endParaRPr lang="en-US" sz="1400" dirty="0">
              <a:latin typeface="+mj-lt"/>
            </a:endParaRPr>
          </a:p>
          <a:p>
            <a:endParaRPr lang="en-US" sz="1400" dirty="0">
              <a:latin typeface="+mj-lt"/>
            </a:endParaRPr>
          </a:p>
          <a:p>
            <a:endParaRPr lang="en-US" sz="1400" dirty="0">
              <a:latin typeface="+mj-lt"/>
            </a:endParaRPr>
          </a:p>
          <a:p>
            <a:endParaRPr lang="en-US" sz="1400" dirty="0">
              <a:latin typeface="+mj-lt"/>
            </a:endParaRPr>
          </a:p>
          <a:p>
            <a:endParaRPr lang="en-US" sz="1400" dirty="0">
              <a:latin typeface="+mj-lt"/>
            </a:endParaRPr>
          </a:p>
        </p:txBody>
      </p:sp>
      <p:sp>
        <p:nvSpPr>
          <p:cNvPr id="140" name="TextBox 139">
            <a:extLst>
              <a:ext uri="{FF2B5EF4-FFF2-40B4-BE49-F238E27FC236}">
                <a16:creationId xmlns:a16="http://schemas.microsoft.com/office/drawing/2014/main" id="{6D34BBE1-9FB8-22E7-48E7-645E54CBD1A2}"/>
              </a:ext>
            </a:extLst>
          </p:cNvPr>
          <p:cNvSpPr txBox="1"/>
          <p:nvPr/>
        </p:nvSpPr>
        <p:spPr>
          <a:xfrm>
            <a:off x="8402338" y="2398596"/>
            <a:ext cx="3652642" cy="2062103"/>
          </a:xfrm>
          <a:prstGeom prst="rect">
            <a:avLst/>
          </a:prstGeom>
          <a:noFill/>
        </p:spPr>
        <p:txBody>
          <a:bodyPr wrap="square" rtlCol="0">
            <a:spAutoFit/>
          </a:bodyPr>
          <a:lstStyle/>
          <a:p>
            <a:r>
              <a:rPr lang="en-US" sz="1600" b="1" dirty="0">
                <a:solidFill>
                  <a:schemeClr val="tx2">
                    <a:lumMod val="75000"/>
                    <a:lumOff val="25000"/>
                  </a:schemeClr>
                </a:solidFill>
              </a:rPr>
              <a:t>Real-Time Comparison:</a:t>
            </a:r>
            <a:endParaRPr lang="en-US" sz="1400" dirty="0"/>
          </a:p>
          <a:p>
            <a:r>
              <a:rPr lang="en-US" sz="1400" dirty="0"/>
              <a:t>compares the expected emissions for the supply chain segment against planned (baseline)</a:t>
            </a:r>
          </a:p>
          <a:p>
            <a:endParaRPr lang="en-US" sz="1400" dirty="0"/>
          </a:p>
          <a:p>
            <a:r>
              <a:rPr lang="en-US" sz="1400" b="1" dirty="0">
                <a:latin typeface="+mj-lt"/>
              </a:rPr>
              <a:t>state variable(a): </a:t>
            </a:r>
            <a:r>
              <a:rPr lang="en-US" sz="1400" b="1" dirty="0">
                <a:solidFill>
                  <a:schemeClr val="tx2">
                    <a:lumMod val="75000"/>
                    <a:lumOff val="25000"/>
                  </a:schemeClr>
                </a:solidFill>
                <a:latin typeface="+mj-lt"/>
              </a:rPr>
              <a:t> </a:t>
            </a:r>
            <a:r>
              <a:rPr lang="en-US" sz="1400" b="1" dirty="0">
                <a:latin typeface="+mj-lt"/>
              </a:rPr>
              <a:t>baseline/expected emissions</a:t>
            </a:r>
            <a:r>
              <a:rPr lang="en-US" sz="1400" b="1" dirty="0">
                <a:solidFill>
                  <a:schemeClr val="tx2">
                    <a:lumMod val="75000"/>
                    <a:lumOff val="25000"/>
                  </a:schemeClr>
                </a:solidFill>
                <a:latin typeface="+mj-lt"/>
              </a:rPr>
              <a:t>                </a:t>
            </a:r>
          </a:p>
          <a:p>
            <a:r>
              <a:rPr lang="en-US" sz="1400" b="1" dirty="0">
                <a:latin typeface="+mj-lt"/>
              </a:rPr>
              <a:t>state variable(b) : emission running total</a:t>
            </a:r>
          </a:p>
          <a:p>
            <a:r>
              <a:rPr lang="en-US" sz="1400" b="1" dirty="0">
                <a:solidFill>
                  <a:srgbClr val="FF0000"/>
                </a:solidFill>
                <a:latin typeface="+mj-lt"/>
              </a:rPr>
              <a:t>Deviation from plan = </a:t>
            </a:r>
            <a:r>
              <a:rPr lang="en-US" sz="1400" b="1" dirty="0">
                <a:latin typeface="+mj-lt"/>
              </a:rPr>
              <a:t>state variable(b) – </a:t>
            </a:r>
          </a:p>
          <a:p>
            <a:r>
              <a:rPr lang="en-US" sz="1400" b="1" dirty="0">
                <a:latin typeface="+mj-lt"/>
              </a:rPr>
              <a:t>                                       state variable(a):</a:t>
            </a:r>
            <a:endParaRPr lang="en-US" sz="1400" dirty="0"/>
          </a:p>
        </p:txBody>
      </p:sp>
      <p:sp>
        <p:nvSpPr>
          <p:cNvPr id="21" name="TextBox 20">
            <a:extLst>
              <a:ext uri="{FF2B5EF4-FFF2-40B4-BE49-F238E27FC236}">
                <a16:creationId xmlns:a16="http://schemas.microsoft.com/office/drawing/2014/main" id="{C5D09132-236C-06AF-BEDB-02F63F10874F}"/>
              </a:ext>
            </a:extLst>
          </p:cNvPr>
          <p:cNvSpPr txBox="1"/>
          <p:nvPr/>
        </p:nvSpPr>
        <p:spPr>
          <a:xfrm>
            <a:off x="303910" y="563417"/>
            <a:ext cx="3045619" cy="369332"/>
          </a:xfrm>
          <a:prstGeom prst="rect">
            <a:avLst/>
          </a:prstGeom>
          <a:noFill/>
        </p:spPr>
        <p:txBody>
          <a:bodyPr wrap="square" rtlCol="0">
            <a:spAutoFit/>
          </a:bodyPr>
          <a:lstStyle/>
          <a:p>
            <a:pPr algn="ctr"/>
            <a:r>
              <a:rPr lang="en-US" b="1" u="sng" dirty="0"/>
              <a:t>Emissions Baseline Entry</a:t>
            </a:r>
          </a:p>
        </p:txBody>
      </p:sp>
      <p:sp>
        <p:nvSpPr>
          <p:cNvPr id="22" name="TextBox 21">
            <a:extLst>
              <a:ext uri="{FF2B5EF4-FFF2-40B4-BE49-F238E27FC236}">
                <a16:creationId xmlns:a16="http://schemas.microsoft.com/office/drawing/2014/main" id="{A1321B77-827F-16F6-E991-D15B5448A359}"/>
              </a:ext>
            </a:extLst>
          </p:cNvPr>
          <p:cNvSpPr txBox="1"/>
          <p:nvPr/>
        </p:nvSpPr>
        <p:spPr>
          <a:xfrm>
            <a:off x="4777626" y="629847"/>
            <a:ext cx="3045619" cy="369332"/>
          </a:xfrm>
          <a:prstGeom prst="rect">
            <a:avLst/>
          </a:prstGeom>
          <a:noFill/>
        </p:spPr>
        <p:txBody>
          <a:bodyPr wrap="square" rtlCol="0">
            <a:spAutoFit/>
          </a:bodyPr>
          <a:lstStyle/>
          <a:p>
            <a:pPr algn="ctr"/>
            <a:r>
              <a:rPr lang="en-US" b="1" u="sng" dirty="0"/>
              <a:t>Transactions - Emissions Entry</a:t>
            </a:r>
          </a:p>
        </p:txBody>
      </p:sp>
      <p:sp>
        <p:nvSpPr>
          <p:cNvPr id="25" name="Rectangle: Folded Corner 24">
            <a:extLst>
              <a:ext uri="{FF2B5EF4-FFF2-40B4-BE49-F238E27FC236}">
                <a16:creationId xmlns:a16="http://schemas.microsoft.com/office/drawing/2014/main" id="{7841FF49-A10E-DD7C-1456-531B00585917}"/>
              </a:ext>
            </a:extLst>
          </p:cNvPr>
          <p:cNvSpPr/>
          <p:nvPr/>
        </p:nvSpPr>
        <p:spPr>
          <a:xfrm>
            <a:off x="6330303" y="1463068"/>
            <a:ext cx="1965640" cy="494756"/>
          </a:xfrm>
          <a:prstGeom prst="foldedCorne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9A7F5DB-14EE-241A-A593-797F2A10655D}"/>
              </a:ext>
            </a:extLst>
          </p:cNvPr>
          <p:cNvSpPr txBox="1"/>
          <p:nvPr/>
        </p:nvSpPr>
        <p:spPr>
          <a:xfrm>
            <a:off x="6280440" y="1475234"/>
            <a:ext cx="2204043" cy="507831"/>
          </a:xfrm>
          <a:prstGeom prst="rect">
            <a:avLst/>
          </a:prstGeom>
          <a:noFill/>
        </p:spPr>
        <p:txBody>
          <a:bodyPr wrap="square" rtlCol="0">
            <a:spAutoFit/>
          </a:bodyPr>
          <a:lstStyle/>
          <a:p>
            <a:r>
              <a:rPr lang="en-US" sz="900" b="1" dirty="0"/>
              <a:t>Company X is an organization </a:t>
            </a:r>
            <a:r>
              <a:rPr lang="en-US" sz="900" dirty="0"/>
              <a:t>approved through MSP to send transactions to this blockchain.  </a:t>
            </a:r>
          </a:p>
        </p:txBody>
      </p:sp>
      <p:cxnSp>
        <p:nvCxnSpPr>
          <p:cNvPr id="27" name="Straight Arrow Connector 26">
            <a:extLst>
              <a:ext uri="{FF2B5EF4-FFF2-40B4-BE49-F238E27FC236}">
                <a16:creationId xmlns:a16="http://schemas.microsoft.com/office/drawing/2014/main" id="{4BFA7328-18E4-45DE-4EE1-6C9C52114DFA}"/>
              </a:ext>
            </a:extLst>
          </p:cNvPr>
          <p:cNvCxnSpPr>
            <a:cxnSpLocks/>
          </p:cNvCxnSpPr>
          <p:nvPr/>
        </p:nvCxnSpPr>
        <p:spPr>
          <a:xfrm>
            <a:off x="6227596" y="2619121"/>
            <a:ext cx="0" cy="601891"/>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FB9E34A-7B00-232C-E700-95DD8F2A683D}"/>
              </a:ext>
            </a:extLst>
          </p:cNvPr>
          <p:cNvCxnSpPr>
            <a:cxnSpLocks/>
          </p:cNvCxnSpPr>
          <p:nvPr/>
        </p:nvCxnSpPr>
        <p:spPr>
          <a:xfrm>
            <a:off x="7626254" y="2616802"/>
            <a:ext cx="0" cy="601891"/>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B7A5E19A-60BE-1761-216B-BFEFC06E0389}"/>
              </a:ext>
            </a:extLst>
          </p:cNvPr>
          <p:cNvSpPr txBox="1"/>
          <p:nvPr/>
        </p:nvSpPr>
        <p:spPr>
          <a:xfrm>
            <a:off x="8703767" y="635287"/>
            <a:ext cx="3045619" cy="369332"/>
          </a:xfrm>
          <a:prstGeom prst="rect">
            <a:avLst/>
          </a:prstGeom>
          <a:noFill/>
        </p:spPr>
        <p:txBody>
          <a:bodyPr wrap="square" rtlCol="0">
            <a:spAutoFit/>
          </a:bodyPr>
          <a:lstStyle/>
          <a:p>
            <a:pPr algn="ctr"/>
            <a:r>
              <a:rPr lang="en-US" b="1" u="sng" dirty="0"/>
              <a:t>Real-Time Emissions Tracking</a:t>
            </a:r>
          </a:p>
        </p:txBody>
      </p:sp>
      <p:cxnSp>
        <p:nvCxnSpPr>
          <p:cNvPr id="133" name="Straight Connector 132">
            <a:extLst>
              <a:ext uri="{FF2B5EF4-FFF2-40B4-BE49-F238E27FC236}">
                <a16:creationId xmlns:a16="http://schemas.microsoft.com/office/drawing/2014/main" id="{481551AA-F170-5236-761C-882692EADAA3}"/>
              </a:ext>
            </a:extLst>
          </p:cNvPr>
          <p:cNvCxnSpPr>
            <a:cxnSpLocks/>
          </p:cNvCxnSpPr>
          <p:nvPr/>
        </p:nvCxnSpPr>
        <p:spPr>
          <a:xfrm>
            <a:off x="8465690" y="2310113"/>
            <a:ext cx="3687126"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30FBEA5-5929-E1AE-5364-533EF0B2F33D}"/>
              </a:ext>
            </a:extLst>
          </p:cNvPr>
          <p:cNvCxnSpPr>
            <a:cxnSpLocks/>
          </p:cNvCxnSpPr>
          <p:nvPr/>
        </p:nvCxnSpPr>
        <p:spPr>
          <a:xfrm>
            <a:off x="8482244" y="4540692"/>
            <a:ext cx="3687126"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2D40AC7-BF84-627D-25CA-2056632A253C}"/>
              </a:ext>
            </a:extLst>
          </p:cNvPr>
          <p:cNvSpPr txBox="1"/>
          <p:nvPr/>
        </p:nvSpPr>
        <p:spPr>
          <a:xfrm>
            <a:off x="8402338" y="4610812"/>
            <a:ext cx="3774414" cy="2277547"/>
          </a:xfrm>
          <a:prstGeom prst="rect">
            <a:avLst/>
          </a:prstGeom>
          <a:noFill/>
        </p:spPr>
        <p:txBody>
          <a:bodyPr wrap="square" rtlCol="0">
            <a:spAutoFit/>
          </a:bodyPr>
          <a:lstStyle/>
          <a:p>
            <a:r>
              <a:rPr lang="en-US" sz="1600" b="1" dirty="0">
                <a:solidFill>
                  <a:schemeClr val="tx2">
                    <a:lumMod val="75000"/>
                    <a:lumOff val="25000"/>
                  </a:schemeClr>
                </a:solidFill>
              </a:rPr>
              <a:t>Real-Time Reporting:</a:t>
            </a:r>
            <a:endParaRPr lang="en-US" sz="1400" dirty="0">
              <a:latin typeface="+mj-lt"/>
            </a:endParaRPr>
          </a:p>
          <a:p>
            <a:pPr marL="285750" indent="-285750">
              <a:buFont typeface="Arial" panose="020B0604020202020204" pitchFamily="34" charset="0"/>
              <a:buChar char="•"/>
            </a:pPr>
            <a:r>
              <a:rPr lang="en-US" sz="1400" dirty="0">
                <a:latin typeface="+mj-lt"/>
              </a:rPr>
              <a:t>Report status on current emissions for the segment of the supply chain tracked.</a:t>
            </a:r>
          </a:p>
          <a:p>
            <a:endParaRPr lang="en-US" sz="1400" b="1" dirty="0"/>
          </a:p>
          <a:p>
            <a:pPr marL="285750" indent="-285750">
              <a:buFontTx/>
              <a:buChar char="-"/>
            </a:pPr>
            <a:r>
              <a:rPr lang="en-US" sz="1400" b="1" dirty="0"/>
              <a:t>Hyperledger Explorer </a:t>
            </a:r>
            <a:r>
              <a:rPr lang="en-US" sz="1400" dirty="0"/>
              <a:t>(Dashboard)</a:t>
            </a:r>
          </a:p>
          <a:p>
            <a:pPr marL="285750" indent="-285750">
              <a:buFontTx/>
              <a:buChar char="-"/>
            </a:pPr>
            <a:r>
              <a:rPr lang="en-US" sz="1400" dirty="0">
                <a:latin typeface="+mj-lt"/>
              </a:rPr>
              <a:t>send alerts and display on interactive dashboard</a:t>
            </a:r>
            <a:endParaRPr lang="en-US" sz="1400" dirty="0"/>
          </a:p>
          <a:p>
            <a:pPr marL="285750" indent="-285750">
              <a:buFontTx/>
              <a:buChar char="-"/>
            </a:pPr>
            <a:r>
              <a:rPr lang="en-US" sz="1400" dirty="0"/>
              <a:t>Use </a:t>
            </a:r>
            <a:r>
              <a:rPr lang="en-US" sz="1400" dirty="0">
                <a:solidFill>
                  <a:srgbClr val="FF0000"/>
                </a:solidFill>
              </a:rPr>
              <a:t>AI</a:t>
            </a:r>
            <a:r>
              <a:rPr lang="en-US" sz="1400" dirty="0"/>
              <a:t> for analysis and remediation strategy.</a:t>
            </a:r>
          </a:p>
          <a:p>
            <a:pPr marL="285750" indent="-285750">
              <a:buFontTx/>
              <a:buChar char="-"/>
            </a:pPr>
            <a:r>
              <a:rPr lang="en-US" sz="1400" dirty="0"/>
              <a:t>Alert GHG emission specialists on any abnormal emissions for analysis and strategy.</a:t>
            </a:r>
          </a:p>
        </p:txBody>
      </p:sp>
    </p:spTree>
    <p:extLst>
      <p:ext uri="{BB962C8B-B14F-4D97-AF65-F5344CB8AC3E}">
        <p14:creationId xmlns:p14="http://schemas.microsoft.com/office/powerpoint/2010/main" val="9611587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D75381B3-6447-6EB0-BBB8-F629251CD730}"/>
              </a:ext>
            </a:extLst>
          </p:cNvPr>
          <p:cNvSpPr/>
          <p:nvPr/>
        </p:nvSpPr>
        <p:spPr>
          <a:xfrm>
            <a:off x="-1" y="647912"/>
            <a:ext cx="2158563" cy="621008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ight Triangle 50">
            <a:extLst>
              <a:ext uri="{FF2B5EF4-FFF2-40B4-BE49-F238E27FC236}">
                <a16:creationId xmlns:a16="http://schemas.microsoft.com/office/drawing/2014/main" id="{A6803859-11E5-4B07-0557-2D7383FEB9D1}"/>
              </a:ext>
            </a:extLst>
          </p:cNvPr>
          <p:cNvSpPr/>
          <p:nvPr/>
        </p:nvSpPr>
        <p:spPr>
          <a:xfrm rot="5400000">
            <a:off x="1487960" y="1337709"/>
            <a:ext cx="6183210" cy="4842004"/>
          </a:xfrm>
          <a:prstGeom prst="rtTriangl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05CB134-6CAF-7466-AE0A-4530E05CB6AC}"/>
              </a:ext>
            </a:extLst>
          </p:cNvPr>
          <p:cNvSpPr/>
          <p:nvPr/>
        </p:nvSpPr>
        <p:spPr>
          <a:xfrm>
            <a:off x="6566678" y="2347156"/>
            <a:ext cx="4125904" cy="3822474"/>
          </a:xfrm>
          <a:prstGeom prst="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B</a:t>
            </a:r>
          </a:p>
        </p:txBody>
      </p:sp>
      <p:sp>
        <p:nvSpPr>
          <p:cNvPr id="7" name="Rectangle 6">
            <a:extLst>
              <a:ext uri="{FF2B5EF4-FFF2-40B4-BE49-F238E27FC236}">
                <a16:creationId xmlns:a16="http://schemas.microsoft.com/office/drawing/2014/main" id="{89CF6392-90C9-4ECE-941A-84CA8666738A}"/>
              </a:ext>
            </a:extLst>
          </p:cNvPr>
          <p:cNvSpPr/>
          <p:nvPr/>
        </p:nvSpPr>
        <p:spPr>
          <a:xfrm>
            <a:off x="8448" y="0"/>
            <a:ext cx="12180896" cy="656492"/>
          </a:xfrm>
          <a:prstGeom prst="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1A37C87-2367-488E-911E-FB0247783232}"/>
              </a:ext>
            </a:extLst>
          </p:cNvPr>
          <p:cNvSpPr txBox="1"/>
          <p:nvPr/>
        </p:nvSpPr>
        <p:spPr>
          <a:xfrm>
            <a:off x="96691" y="68099"/>
            <a:ext cx="11898085" cy="523220"/>
          </a:xfrm>
          <a:prstGeom prst="rect">
            <a:avLst/>
          </a:prstGeom>
          <a:solidFill>
            <a:srgbClr val="0099CC"/>
          </a:solidFill>
        </p:spPr>
        <p:txBody>
          <a:bodyPr wrap="square" rtlCol="0">
            <a:spAutoFit/>
          </a:bodyPr>
          <a:lstStyle/>
          <a:p>
            <a:r>
              <a:rPr lang="en-US" sz="2800" b="1" dirty="0">
                <a:solidFill>
                  <a:schemeClr val="bg1">
                    <a:lumMod val="95000"/>
                  </a:schemeClr>
                </a:solidFill>
              </a:rPr>
              <a:t> Transaction Processing of GHG Emissions Data in Real Time(addition of data)</a:t>
            </a:r>
          </a:p>
        </p:txBody>
      </p:sp>
      <p:sp>
        <p:nvSpPr>
          <p:cNvPr id="65" name="AutoShape 2" descr="Cash Pictures, Cash Stock Photos &amp; Images | Depositphotos®">
            <a:extLst>
              <a:ext uri="{FF2B5EF4-FFF2-40B4-BE49-F238E27FC236}">
                <a16:creationId xmlns:a16="http://schemas.microsoft.com/office/drawing/2014/main" id="{E0F87420-C907-404A-8355-4C22CA4E51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76324356-DFA6-4B51-9B4E-50BF6CBE2E3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Flowchart: Magnetic Disk 1">
            <a:extLst>
              <a:ext uri="{FF2B5EF4-FFF2-40B4-BE49-F238E27FC236}">
                <a16:creationId xmlns:a16="http://schemas.microsoft.com/office/drawing/2014/main" id="{63C11F8F-32EF-25D7-0EB7-539B720CE21A}"/>
              </a:ext>
            </a:extLst>
          </p:cNvPr>
          <p:cNvSpPr/>
          <p:nvPr/>
        </p:nvSpPr>
        <p:spPr>
          <a:xfrm>
            <a:off x="4236002" y="4157823"/>
            <a:ext cx="757559" cy="484245"/>
          </a:xfrm>
          <a:prstGeom prst="flowChartMagneticDisk">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xxDB</a:t>
            </a:r>
            <a:endParaRPr lang="en-US" dirty="0">
              <a:solidFill>
                <a:schemeClr val="tx1"/>
              </a:solidFill>
            </a:endParaRPr>
          </a:p>
        </p:txBody>
      </p:sp>
      <p:sp>
        <p:nvSpPr>
          <p:cNvPr id="8" name="Oval 7">
            <a:extLst>
              <a:ext uri="{FF2B5EF4-FFF2-40B4-BE49-F238E27FC236}">
                <a16:creationId xmlns:a16="http://schemas.microsoft.com/office/drawing/2014/main" id="{87947708-B9BC-2F6A-D1F5-0C0C1D844FF5}"/>
              </a:ext>
            </a:extLst>
          </p:cNvPr>
          <p:cNvSpPr/>
          <p:nvPr/>
        </p:nvSpPr>
        <p:spPr>
          <a:xfrm>
            <a:off x="5298983" y="1724608"/>
            <a:ext cx="6599207" cy="503203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Folded Corner 8">
            <a:extLst>
              <a:ext uri="{FF2B5EF4-FFF2-40B4-BE49-F238E27FC236}">
                <a16:creationId xmlns:a16="http://schemas.microsoft.com/office/drawing/2014/main" id="{C835F618-539F-1762-3D22-4EA142B416D7}"/>
              </a:ext>
            </a:extLst>
          </p:cNvPr>
          <p:cNvSpPr/>
          <p:nvPr/>
        </p:nvSpPr>
        <p:spPr>
          <a:xfrm>
            <a:off x="3349783" y="5367763"/>
            <a:ext cx="1479553" cy="1055496"/>
          </a:xfrm>
          <a:prstGeom prst="foldedCorne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AE8BCBB3-3B6D-97F6-DC09-76AF52A3BDCC}"/>
              </a:ext>
            </a:extLst>
          </p:cNvPr>
          <p:cNvSpPr txBox="1"/>
          <p:nvPr/>
        </p:nvSpPr>
        <p:spPr>
          <a:xfrm>
            <a:off x="-11821" y="655988"/>
            <a:ext cx="6432552" cy="6155531"/>
          </a:xfrm>
          <a:prstGeom prst="rect">
            <a:avLst/>
          </a:prstGeom>
          <a:noFill/>
        </p:spPr>
        <p:txBody>
          <a:bodyPr wrap="square" rtlCol="0">
            <a:spAutoFit/>
          </a:bodyPr>
          <a:lstStyle/>
          <a:p>
            <a:r>
              <a:rPr lang="en-US" sz="1600" b="1" dirty="0"/>
              <a:t>Hyperledger Fabric Sequence of Steps for Data Collection and Storage</a:t>
            </a:r>
          </a:p>
          <a:p>
            <a:r>
              <a:rPr lang="en-US" sz="1400" b="0" i="1" dirty="0">
                <a:solidFill>
                  <a:srgbClr val="010101"/>
                </a:solidFill>
                <a:effectLst/>
                <a:latin typeface="Lato" panose="020F0502020204030203" pitchFamily="34" charset="0"/>
              </a:rPr>
              <a:t>Key: When a peer connects to a channel, its digital certificate identifies its owning organization via a channel MSP.</a:t>
            </a:r>
            <a:endParaRPr lang="en-US" sz="1400" dirty="0"/>
          </a:p>
          <a:p>
            <a:pPr marL="285750" indent="-285750">
              <a:buFont typeface="Arial" panose="020B0604020202020204" pitchFamily="34" charset="0"/>
              <a:buChar char="•"/>
            </a:pPr>
            <a:r>
              <a:rPr lang="en-US" sz="1400" dirty="0"/>
              <a:t>An application initiates a transaction request to blockchain by sending the data  through an API. Note: can be a digital thread collecting data.</a:t>
            </a:r>
          </a:p>
          <a:p>
            <a:pPr marL="285750" indent="-285750">
              <a:buFont typeface="Arial" panose="020B0604020202020204" pitchFamily="34" charset="0"/>
              <a:buChar char="•"/>
            </a:pPr>
            <a:r>
              <a:rPr lang="en-US" sz="1400" dirty="0"/>
              <a:t>The transaction request has a “Context” that identifies a “Smart Contract” to perform business logic.</a:t>
            </a:r>
          </a:p>
          <a:p>
            <a:pPr marL="285750" indent="-285750">
              <a:buFont typeface="Arial" panose="020B0604020202020204" pitchFamily="34" charset="0"/>
              <a:buChar char="•"/>
            </a:pPr>
            <a:r>
              <a:rPr lang="en-US" sz="1400" dirty="0"/>
              <a:t>A Smart Contract can perform the following:</a:t>
            </a:r>
          </a:p>
          <a:p>
            <a:r>
              <a:rPr lang="en-US" sz="1400" dirty="0"/>
              <a:t>          1)  Store data “on-chain” as entries into the Fabric blockchain</a:t>
            </a:r>
          </a:p>
          <a:p>
            <a:r>
              <a:rPr lang="en-US" sz="1400" dirty="0"/>
              <a:t>          2)  Store data “off-chain” into other storage such as IPFS </a:t>
            </a:r>
          </a:p>
          <a:p>
            <a:r>
              <a:rPr lang="en-US" sz="1400" dirty="0"/>
              <a:t>          3)  Update “State Variables” representing “totals”, “averages” </a:t>
            </a:r>
          </a:p>
          <a:p>
            <a:r>
              <a:rPr lang="en-US" sz="1400" dirty="0"/>
              <a:t>                and/or values. For example, the running total of GHG</a:t>
            </a:r>
          </a:p>
          <a:p>
            <a:r>
              <a:rPr lang="en-US" sz="1400" dirty="0"/>
              <a:t>                emissions is computed within the logic of the smart</a:t>
            </a:r>
          </a:p>
          <a:p>
            <a:r>
              <a:rPr lang="en-US" sz="1400" dirty="0"/>
              <a:t>                contract and managed within the code. These</a:t>
            </a:r>
          </a:p>
          <a:p>
            <a:r>
              <a:rPr lang="en-US" sz="1400" dirty="0"/>
              <a:t>                variables are not stored in the blockchain.</a:t>
            </a:r>
          </a:p>
          <a:p>
            <a:pPr marL="285750" indent="-285750">
              <a:buFont typeface="Arial" panose="020B0604020202020204" pitchFamily="34" charset="0"/>
              <a:buChar char="•"/>
            </a:pPr>
            <a:r>
              <a:rPr lang="en-US" sz="1400" dirty="0"/>
              <a:t>“Off-Chain” storage is an option related to very</a:t>
            </a:r>
          </a:p>
          <a:p>
            <a:r>
              <a:rPr lang="en-US" sz="1400" dirty="0"/>
              <a:t>        high volumes of data received in real time. </a:t>
            </a:r>
          </a:p>
          <a:p>
            <a:pPr marL="285750" indent="-285750">
              <a:buFont typeface="Arial" panose="020B0604020202020204" pitchFamily="34" charset="0"/>
              <a:buChar char="•"/>
            </a:pPr>
            <a:r>
              <a:rPr lang="en-US" sz="1400" dirty="0"/>
              <a:t>Storing data “off-chain” involves hashing the </a:t>
            </a:r>
          </a:p>
          <a:p>
            <a:r>
              <a:rPr lang="en-US" sz="1400" dirty="0"/>
              <a:t>       data held in the off-chain system and then</a:t>
            </a:r>
          </a:p>
          <a:p>
            <a:r>
              <a:rPr lang="en-US" sz="1400" dirty="0"/>
              <a:t>       transmitting the hash to the Fabric </a:t>
            </a:r>
          </a:p>
          <a:p>
            <a:r>
              <a:rPr lang="en-US" sz="1400" dirty="0"/>
              <a:t>       blockchain as a reference to the data.</a:t>
            </a:r>
          </a:p>
          <a:p>
            <a:pPr marL="285750" indent="-285750">
              <a:buFont typeface="Arial" panose="020B0604020202020204" pitchFamily="34" charset="0"/>
              <a:buChar char="•"/>
            </a:pPr>
            <a:r>
              <a:rPr lang="en-US" sz="1400" dirty="0"/>
              <a:t>Each data feed to the blockchain has</a:t>
            </a:r>
          </a:p>
          <a:p>
            <a:r>
              <a:rPr lang="en-US" sz="1400" dirty="0"/>
              <a:t>        its own “Smart Contract” defined.</a:t>
            </a:r>
          </a:p>
          <a:p>
            <a:pPr marL="285750" indent="-285750">
              <a:buFont typeface="Arial" panose="020B0604020202020204" pitchFamily="34" charset="0"/>
              <a:buChar char="•"/>
            </a:pPr>
            <a:r>
              <a:rPr lang="en-US" sz="1400" dirty="0"/>
              <a:t> AI-Driven “Smart Contracts” are</a:t>
            </a:r>
          </a:p>
          <a:p>
            <a:r>
              <a:rPr lang="en-US" sz="1400" dirty="0"/>
              <a:t>        integrated to an AI engine</a:t>
            </a:r>
          </a:p>
          <a:p>
            <a:r>
              <a:rPr lang="en-US" sz="1400" dirty="0"/>
              <a:t>        allowing for the recognition</a:t>
            </a:r>
          </a:p>
          <a:p>
            <a:r>
              <a:rPr lang="en-US" sz="1400" dirty="0"/>
              <a:t>        of patterns for </a:t>
            </a:r>
          </a:p>
          <a:p>
            <a:r>
              <a:rPr lang="en-US" sz="1400" dirty="0"/>
              <a:t>        recommendations.</a:t>
            </a:r>
          </a:p>
        </p:txBody>
      </p:sp>
      <p:sp>
        <p:nvSpPr>
          <p:cNvPr id="17" name="TextBox 16">
            <a:extLst>
              <a:ext uri="{FF2B5EF4-FFF2-40B4-BE49-F238E27FC236}">
                <a16:creationId xmlns:a16="http://schemas.microsoft.com/office/drawing/2014/main" id="{76698FD7-0C51-063A-2155-ED3D613614DA}"/>
              </a:ext>
            </a:extLst>
          </p:cNvPr>
          <p:cNvSpPr txBox="1"/>
          <p:nvPr/>
        </p:nvSpPr>
        <p:spPr>
          <a:xfrm>
            <a:off x="6456727" y="2066176"/>
            <a:ext cx="4310459" cy="369332"/>
          </a:xfrm>
          <a:prstGeom prst="rect">
            <a:avLst/>
          </a:prstGeom>
          <a:noFill/>
        </p:spPr>
        <p:txBody>
          <a:bodyPr wrap="square" rtlCol="0">
            <a:spAutoFit/>
          </a:bodyPr>
          <a:lstStyle/>
          <a:p>
            <a:pPr algn="ctr"/>
            <a:r>
              <a:rPr lang="en-US" b="1" dirty="0"/>
              <a:t>Digital Twin Peer Hyperledger Fabric Node</a:t>
            </a:r>
          </a:p>
        </p:txBody>
      </p:sp>
      <p:sp>
        <p:nvSpPr>
          <p:cNvPr id="18" name="TextBox 17">
            <a:extLst>
              <a:ext uri="{FF2B5EF4-FFF2-40B4-BE49-F238E27FC236}">
                <a16:creationId xmlns:a16="http://schemas.microsoft.com/office/drawing/2014/main" id="{690D9D1D-0202-63B3-88CB-FD483987D733}"/>
              </a:ext>
            </a:extLst>
          </p:cNvPr>
          <p:cNvSpPr txBox="1"/>
          <p:nvPr/>
        </p:nvSpPr>
        <p:spPr>
          <a:xfrm>
            <a:off x="9106046" y="905757"/>
            <a:ext cx="2572774" cy="400110"/>
          </a:xfrm>
          <a:prstGeom prst="rect">
            <a:avLst/>
          </a:prstGeom>
          <a:noFill/>
        </p:spPr>
        <p:txBody>
          <a:bodyPr wrap="square" rtlCol="0">
            <a:spAutoFit/>
          </a:bodyPr>
          <a:lstStyle/>
          <a:p>
            <a:pPr algn="ctr"/>
            <a:r>
              <a:rPr lang="en-US" sz="2000" b="1" dirty="0"/>
              <a:t>Simplified View</a:t>
            </a:r>
          </a:p>
        </p:txBody>
      </p:sp>
      <p:sp>
        <p:nvSpPr>
          <p:cNvPr id="19" name="TextBox 18">
            <a:extLst>
              <a:ext uri="{FF2B5EF4-FFF2-40B4-BE49-F238E27FC236}">
                <a16:creationId xmlns:a16="http://schemas.microsoft.com/office/drawing/2014/main" id="{6BBC8ED5-F696-14D8-2CF9-0886F2DD2930}"/>
              </a:ext>
            </a:extLst>
          </p:cNvPr>
          <p:cNvSpPr txBox="1"/>
          <p:nvPr/>
        </p:nvSpPr>
        <p:spPr>
          <a:xfrm>
            <a:off x="7601572" y="6245151"/>
            <a:ext cx="2572774" cy="338554"/>
          </a:xfrm>
          <a:prstGeom prst="rect">
            <a:avLst/>
          </a:prstGeom>
          <a:noFill/>
        </p:spPr>
        <p:txBody>
          <a:bodyPr wrap="square" rtlCol="0">
            <a:spAutoFit/>
          </a:bodyPr>
          <a:lstStyle/>
          <a:p>
            <a:r>
              <a:rPr lang="en-US" sz="1600" b="1" dirty="0"/>
              <a:t>channel: digital-twin</a:t>
            </a:r>
          </a:p>
        </p:txBody>
      </p:sp>
      <p:sp>
        <p:nvSpPr>
          <p:cNvPr id="4" name="Rectangle: Rounded Corners 3">
            <a:extLst>
              <a:ext uri="{FF2B5EF4-FFF2-40B4-BE49-F238E27FC236}">
                <a16:creationId xmlns:a16="http://schemas.microsoft.com/office/drawing/2014/main" id="{05123F66-24CB-5944-98D9-3F6AE2C154B3}"/>
              </a:ext>
            </a:extLst>
          </p:cNvPr>
          <p:cNvSpPr/>
          <p:nvPr/>
        </p:nvSpPr>
        <p:spPr>
          <a:xfrm>
            <a:off x="6616368" y="3476365"/>
            <a:ext cx="2067851" cy="2359559"/>
          </a:xfrm>
          <a:prstGeom prst="round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3B47B74B-E0EC-9E24-CC20-0A85A4E48943}"/>
              </a:ext>
            </a:extLst>
          </p:cNvPr>
          <p:cNvSpPr txBox="1"/>
          <p:nvPr/>
        </p:nvSpPr>
        <p:spPr>
          <a:xfrm>
            <a:off x="9180311" y="3476365"/>
            <a:ext cx="794454" cy="215444"/>
          </a:xfrm>
          <a:prstGeom prst="rect">
            <a:avLst/>
          </a:prstGeom>
          <a:noFill/>
        </p:spPr>
        <p:txBody>
          <a:bodyPr wrap="square" rtlCol="0">
            <a:spAutoFit/>
          </a:bodyPr>
          <a:lstStyle/>
          <a:p>
            <a:pPr algn="ctr"/>
            <a:r>
              <a:rPr lang="en-US" sz="800" dirty="0" err="1">
                <a:latin typeface="+mj-lt"/>
              </a:rPr>
              <a:t>Blockhash</a:t>
            </a:r>
            <a:r>
              <a:rPr lang="en-US" sz="800" dirty="0">
                <a:latin typeface="+mj-lt"/>
              </a:rPr>
              <a:t> : 3</a:t>
            </a:r>
          </a:p>
        </p:txBody>
      </p:sp>
      <p:sp>
        <p:nvSpPr>
          <p:cNvPr id="37" name="TextBox 36">
            <a:extLst>
              <a:ext uri="{FF2B5EF4-FFF2-40B4-BE49-F238E27FC236}">
                <a16:creationId xmlns:a16="http://schemas.microsoft.com/office/drawing/2014/main" id="{525893DA-3C7B-655F-3BA7-EC7D5B2FB363}"/>
              </a:ext>
            </a:extLst>
          </p:cNvPr>
          <p:cNvSpPr txBox="1"/>
          <p:nvPr/>
        </p:nvSpPr>
        <p:spPr>
          <a:xfrm>
            <a:off x="8465157" y="3065695"/>
            <a:ext cx="794454" cy="215444"/>
          </a:xfrm>
          <a:prstGeom prst="rect">
            <a:avLst/>
          </a:prstGeom>
          <a:noFill/>
        </p:spPr>
        <p:txBody>
          <a:bodyPr wrap="square" rtlCol="0">
            <a:spAutoFit/>
          </a:bodyPr>
          <a:lstStyle/>
          <a:p>
            <a:pPr algn="ctr"/>
            <a:r>
              <a:rPr lang="en-US" sz="800" dirty="0" err="1">
                <a:latin typeface="+mj-lt"/>
              </a:rPr>
              <a:t>Blockhash</a:t>
            </a:r>
            <a:r>
              <a:rPr lang="en-US" sz="800" dirty="0">
                <a:latin typeface="+mj-lt"/>
              </a:rPr>
              <a:t> : 2</a:t>
            </a:r>
          </a:p>
        </p:txBody>
      </p:sp>
      <p:grpSp>
        <p:nvGrpSpPr>
          <p:cNvPr id="44" name="Group 43">
            <a:extLst>
              <a:ext uri="{FF2B5EF4-FFF2-40B4-BE49-F238E27FC236}">
                <a16:creationId xmlns:a16="http://schemas.microsoft.com/office/drawing/2014/main" id="{763F7D9A-1EA6-BFD3-DA4F-6196D0F42076}"/>
              </a:ext>
            </a:extLst>
          </p:cNvPr>
          <p:cNvGrpSpPr/>
          <p:nvPr/>
        </p:nvGrpSpPr>
        <p:grpSpPr>
          <a:xfrm>
            <a:off x="7775291" y="2452274"/>
            <a:ext cx="2884049" cy="1830557"/>
            <a:chOff x="7914539" y="2220081"/>
            <a:chExt cx="2884049" cy="1830557"/>
          </a:xfrm>
        </p:grpSpPr>
        <p:sp>
          <p:nvSpPr>
            <p:cNvPr id="36" name="TextBox 35">
              <a:extLst>
                <a:ext uri="{FF2B5EF4-FFF2-40B4-BE49-F238E27FC236}">
                  <a16:creationId xmlns:a16="http://schemas.microsoft.com/office/drawing/2014/main" id="{B04635C9-3938-F09B-F5D8-A645D413D473}"/>
                </a:ext>
              </a:extLst>
            </p:cNvPr>
            <p:cNvSpPr txBox="1"/>
            <p:nvPr/>
          </p:nvSpPr>
          <p:spPr>
            <a:xfrm>
              <a:off x="10004134" y="3712421"/>
              <a:ext cx="794454" cy="215444"/>
            </a:xfrm>
            <a:prstGeom prst="rect">
              <a:avLst/>
            </a:prstGeom>
            <a:noFill/>
          </p:spPr>
          <p:txBody>
            <a:bodyPr wrap="square" rtlCol="0">
              <a:spAutoFit/>
            </a:bodyPr>
            <a:lstStyle/>
            <a:p>
              <a:pPr algn="ctr"/>
              <a:r>
                <a:rPr lang="en-US" sz="800" dirty="0" err="1">
                  <a:latin typeface="+mj-lt"/>
                </a:rPr>
                <a:t>Blockhash</a:t>
              </a:r>
              <a:r>
                <a:rPr lang="en-US" sz="800" dirty="0">
                  <a:latin typeface="+mj-lt"/>
                </a:rPr>
                <a:t> : n</a:t>
              </a:r>
            </a:p>
          </p:txBody>
        </p:sp>
        <p:grpSp>
          <p:nvGrpSpPr>
            <p:cNvPr id="43" name="Group 42">
              <a:extLst>
                <a:ext uri="{FF2B5EF4-FFF2-40B4-BE49-F238E27FC236}">
                  <a16:creationId xmlns:a16="http://schemas.microsoft.com/office/drawing/2014/main" id="{5CF8278F-AB0C-5C5B-F935-718BA068CAA4}"/>
                </a:ext>
              </a:extLst>
            </p:cNvPr>
            <p:cNvGrpSpPr/>
            <p:nvPr/>
          </p:nvGrpSpPr>
          <p:grpSpPr>
            <a:xfrm>
              <a:off x="7914539" y="2220081"/>
              <a:ext cx="2839564" cy="1830557"/>
              <a:chOff x="7577721" y="2698630"/>
              <a:chExt cx="2839564" cy="1830557"/>
            </a:xfrm>
          </p:grpSpPr>
          <p:grpSp>
            <p:nvGrpSpPr>
              <p:cNvPr id="23" name="Group 22">
                <a:extLst>
                  <a:ext uri="{FF2B5EF4-FFF2-40B4-BE49-F238E27FC236}">
                    <a16:creationId xmlns:a16="http://schemas.microsoft.com/office/drawing/2014/main" id="{890579A4-7895-FAF1-4C0A-A98A38EF3CEE}"/>
                  </a:ext>
                </a:extLst>
              </p:cNvPr>
              <p:cNvGrpSpPr/>
              <p:nvPr/>
            </p:nvGrpSpPr>
            <p:grpSpPr>
              <a:xfrm>
                <a:off x="7598749" y="2718187"/>
                <a:ext cx="2818536" cy="1811000"/>
                <a:chOff x="8824662" y="3632230"/>
                <a:chExt cx="2818536" cy="1811000"/>
              </a:xfrm>
            </p:grpSpPr>
            <p:sp>
              <p:nvSpPr>
                <p:cNvPr id="5" name="Rectangle 4">
                  <a:extLst>
                    <a:ext uri="{FF2B5EF4-FFF2-40B4-BE49-F238E27FC236}">
                      <a16:creationId xmlns:a16="http://schemas.microsoft.com/office/drawing/2014/main" id="{BF6EB57D-98C6-F89E-4357-5BB332D0CF84}"/>
                    </a:ext>
                  </a:extLst>
                </p:cNvPr>
                <p:cNvSpPr/>
                <p:nvPr/>
              </p:nvSpPr>
              <p:spPr>
                <a:xfrm>
                  <a:off x="8824662" y="3632230"/>
                  <a:ext cx="705483" cy="4534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154E8A7-01ED-E04B-D045-7CCAE0B4A0C2}"/>
                    </a:ext>
                  </a:extLst>
                </p:cNvPr>
                <p:cNvSpPr/>
                <p:nvPr/>
              </p:nvSpPr>
              <p:spPr>
                <a:xfrm>
                  <a:off x="10232232" y="4536350"/>
                  <a:ext cx="705483" cy="4534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9991CAD-D5CC-E2C0-A119-BFC2DC903DB4}"/>
                    </a:ext>
                  </a:extLst>
                </p:cNvPr>
                <p:cNvSpPr/>
                <p:nvPr/>
              </p:nvSpPr>
              <p:spPr>
                <a:xfrm>
                  <a:off x="9530145" y="4086179"/>
                  <a:ext cx="705483" cy="4534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DE132E0-20BF-C557-A83A-815295B8B6E4}"/>
                    </a:ext>
                  </a:extLst>
                </p:cNvPr>
                <p:cNvSpPr/>
                <p:nvPr/>
              </p:nvSpPr>
              <p:spPr>
                <a:xfrm>
                  <a:off x="10937715" y="4989790"/>
                  <a:ext cx="705483" cy="4534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5" name="Connector: Elbow 24">
                <a:extLst>
                  <a:ext uri="{FF2B5EF4-FFF2-40B4-BE49-F238E27FC236}">
                    <a16:creationId xmlns:a16="http://schemas.microsoft.com/office/drawing/2014/main" id="{F7D294A0-5FE7-30B7-5426-022A2DFC4C03}"/>
                  </a:ext>
                </a:extLst>
              </p:cNvPr>
              <p:cNvCxnSpPr>
                <a:cxnSpLocks/>
                <a:stCxn id="5" idx="3"/>
                <a:endCxn id="21" idx="0"/>
              </p:cNvCxnSpPr>
              <p:nvPr/>
            </p:nvCxnSpPr>
            <p:spPr>
              <a:xfrm>
                <a:off x="8304232" y="2944907"/>
                <a:ext cx="352742" cy="22722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D1571A8D-FCE1-DAE9-1EE6-D4A9FF3B5B93}"/>
                  </a:ext>
                </a:extLst>
              </p:cNvPr>
              <p:cNvCxnSpPr>
                <a:cxnSpLocks/>
              </p:cNvCxnSpPr>
              <p:nvPr/>
            </p:nvCxnSpPr>
            <p:spPr>
              <a:xfrm>
                <a:off x="9022944" y="3385284"/>
                <a:ext cx="352742" cy="22722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4C722DEC-57B9-A793-8660-C603AEC37870}"/>
                  </a:ext>
                </a:extLst>
              </p:cNvPr>
              <p:cNvCxnSpPr>
                <a:cxnSpLocks/>
              </p:cNvCxnSpPr>
              <p:nvPr/>
            </p:nvCxnSpPr>
            <p:spPr>
              <a:xfrm>
                <a:off x="9719542" y="3858950"/>
                <a:ext cx="352742" cy="22722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A879C13-290F-A2BA-DD2B-7D71B02BB584}"/>
                  </a:ext>
                </a:extLst>
              </p:cNvPr>
              <p:cNvSpPr txBox="1"/>
              <p:nvPr/>
            </p:nvSpPr>
            <p:spPr>
              <a:xfrm>
                <a:off x="7635844" y="2698630"/>
                <a:ext cx="590177" cy="215444"/>
              </a:xfrm>
              <a:prstGeom prst="rect">
                <a:avLst/>
              </a:prstGeom>
              <a:noFill/>
            </p:spPr>
            <p:txBody>
              <a:bodyPr wrap="square" rtlCol="0">
                <a:spAutoFit/>
              </a:bodyPr>
              <a:lstStyle/>
              <a:p>
                <a:pPr algn="ctr"/>
                <a:r>
                  <a:rPr lang="en-US" sz="800" dirty="0">
                    <a:latin typeface="+mj-lt"/>
                  </a:rPr>
                  <a:t>Block: 1</a:t>
                </a:r>
              </a:p>
            </p:txBody>
          </p:sp>
          <p:sp>
            <p:nvSpPr>
              <p:cNvPr id="30" name="TextBox 29">
                <a:extLst>
                  <a:ext uri="{FF2B5EF4-FFF2-40B4-BE49-F238E27FC236}">
                    <a16:creationId xmlns:a16="http://schemas.microsoft.com/office/drawing/2014/main" id="{55FEEC5D-2045-BF1C-78DB-A2F93B75679F}"/>
                  </a:ext>
                </a:extLst>
              </p:cNvPr>
              <p:cNvSpPr txBox="1"/>
              <p:nvPr/>
            </p:nvSpPr>
            <p:spPr>
              <a:xfrm>
                <a:off x="8352676" y="3169840"/>
                <a:ext cx="590177" cy="215444"/>
              </a:xfrm>
              <a:prstGeom prst="rect">
                <a:avLst/>
              </a:prstGeom>
              <a:noFill/>
            </p:spPr>
            <p:txBody>
              <a:bodyPr wrap="square" rtlCol="0">
                <a:spAutoFit/>
              </a:bodyPr>
              <a:lstStyle/>
              <a:p>
                <a:pPr algn="ctr"/>
                <a:r>
                  <a:rPr lang="en-US" sz="800" dirty="0">
                    <a:latin typeface="+mj-lt"/>
                  </a:rPr>
                  <a:t>Block: 2</a:t>
                </a:r>
              </a:p>
            </p:txBody>
          </p:sp>
          <p:sp>
            <p:nvSpPr>
              <p:cNvPr id="31" name="TextBox 30">
                <a:extLst>
                  <a:ext uri="{FF2B5EF4-FFF2-40B4-BE49-F238E27FC236}">
                    <a16:creationId xmlns:a16="http://schemas.microsoft.com/office/drawing/2014/main" id="{DE11B122-4EFC-D1AB-8837-DE52A92168DD}"/>
                  </a:ext>
                </a:extLst>
              </p:cNvPr>
              <p:cNvSpPr txBox="1"/>
              <p:nvPr/>
            </p:nvSpPr>
            <p:spPr>
              <a:xfrm>
                <a:off x="9036057" y="3599082"/>
                <a:ext cx="590177" cy="215444"/>
              </a:xfrm>
              <a:prstGeom prst="rect">
                <a:avLst/>
              </a:prstGeom>
              <a:noFill/>
            </p:spPr>
            <p:txBody>
              <a:bodyPr wrap="square" rtlCol="0">
                <a:spAutoFit/>
              </a:bodyPr>
              <a:lstStyle/>
              <a:p>
                <a:pPr algn="ctr"/>
                <a:r>
                  <a:rPr lang="en-US" sz="800" dirty="0">
                    <a:latin typeface="+mj-lt"/>
                  </a:rPr>
                  <a:t>Block: 3</a:t>
                </a:r>
              </a:p>
            </p:txBody>
          </p:sp>
          <p:sp>
            <p:nvSpPr>
              <p:cNvPr id="32" name="TextBox 31">
                <a:extLst>
                  <a:ext uri="{FF2B5EF4-FFF2-40B4-BE49-F238E27FC236}">
                    <a16:creationId xmlns:a16="http://schemas.microsoft.com/office/drawing/2014/main" id="{57DF5642-B5C2-231D-4635-59B6A6203C4A}"/>
                  </a:ext>
                </a:extLst>
              </p:cNvPr>
              <p:cNvSpPr txBox="1"/>
              <p:nvPr/>
            </p:nvSpPr>
            <p:spPr>
              <a:xfrm>
                <a:off x="9711802" y="4083248"/>
                <a:ext cx="590177" cy="215444"/>
              </a:xfrm>
              <a:prstGeom prst="rect">
                <a:avLst/>
              </a:prstGeom>
              <a:noFill/>
            </p:spPr>
            <p:txBody>
              <a:bodyPr wrap="square" rtlCol="0">
                <a:spAutoFit/>
              </a:bodyPr>
              <a:lstStyle/>
              <a:p>
                <a:pPr algn="ctr"/>
                <a:r>
                  <a:rPr lang="en-US" sz="800" dirty="0">
                    <a:latin typeface="+mj-lt"/>
                  </a:rPr>
                  <a:t>Block: n</a:t>
                </a:r>
              </a:p>
            </p:txBody>
          </p:sp>
          <p:sp>
            <p:nvSpPr>
              <p:cNvPr id="33" name="TextBox 32">
                <a:extLst>
                  <a:ext uri="{FF2B5EF4-FFF2-40B4-BE49-F238E27FC236}">
                    <a16:creationId xmlns:a16="http://schemas.microsoft.com/office/drawing/2014/main" id="{E5A98CDD-21D7-8D9F-91F6-BEA04C1ED8B8}"/>
                  </a:ext>
                </a:extLst>
              </p:cNvPr>
              <p:cNvSpPr txBox="1"/>
              <p:nvPr/>
            </p:nvSpPr>
            <p:spPr>
              <a:xfrm>
                <a:off x="7577721" y="2871138"/>
                <a:ext cx="794454" cy="215444"/>
              </a:xfrm>
              <a:prstGeom prst="rect">
                <a:avLst/>
              </a:prstGeom>
              <a:noFill/>
            </p:spPr>
            <p:txBody>
              <a:bodyPr wrap="square" rtlCol="0">
                <a:spAutoFit/>
              </a:bodyPr>
              <a:lstStyle/>
              <a:p>
                <a:pPr algn="ctr"/>
                <a:r>
                  <a:rPr lang="en-US" sz="800" dirty="0" err="1">
                    <a:latin typeface="+mj-lt"/>
                  </a:rPr>
                  <a:t>Blockhash</a:t>
                </a:r>
                <a:r>
                  <a:rPr lang="en-US" sz="800" dirty="0">
                    <a:latin typeface="+mj-lt"/>
                  </a:rPr>
                  <a:t> : 1</a:t>
                </a:r>
              </a:p>
            </p:txBody>
          </p:sp>
          <p:sp>
            <p:nvSpPr>
              <p:cNvPr id="39" name="TextBox 38">
                <a:extLst>
                  <a:ext uri="{FF2B5EF4-FFF2-40B4-BE49-F238E27FC236}">
                    <a16:creationId xmlns:a16="http://schemas.microsoft.com/office/drawing/2014/main" id="{F52CB510-E364-A8BE-7FBB-D70AF91FAAE0}"/>
                  </a:ext>
                </a:extLst>
              </p:cNvPr>
              <p:cNvSpPr txBox="1"/>
              <p:nvPr/>
            </p:nvSpPr>
            <p:spPr>
              <a:xfrm>
                <a:off x="7656402" y="2970094"/>
                <a:ext cx="590177" cy="215444"/>
              </a:xfrm>
              <a:prstGeom prst="rect">
                <a:avLst/>
              </a:prstGeom>
              <a:noFill/>
            </p:spPr>
            <p:txBody>
              <a:bodyPr wrap="square" rtlCol="0">
                <a:spAutoFit/>
              </a:bodyPr>
              <a:lstStyle/>
              <a:p>
                <a:pPr algn="ctr"/>
                <a:r>
                  <a:rPr lang="en-US" sz="800" dirty="0">
                    <a:latin typeface="+mj-lt"/>
                  </a:rPr>
                  <a:t>………</a:t>
                </a:r>
              </a:p>
            </p:txBody>
          </p:sp>
          <p:sp>
            <p:nvSpPr>
              <p:cNvPr id="40" name="TextBox 39">
                <a:extLst>
                  <a:ext uri="{FF2B5EF4-FFF2-40B4-BE49-F238E27FC236}">
                    <a16:creationId xmlns:a16="http://schemas.microsoft.com/office/drawing/2014/main" id="{336FFD53-26B9-49CB-64F6-02C0E2F24DE1}"/>
                  </a:ext>
                </a:extLst>
              </p:cNvPr>
              <p:cNvSpPr txBox="1"/>
              <p:nvPr/>
            </p:nvSpPr>
            <p:spPr>
              <a:xfrm>
                <a:off x="8397160" y="3397069"/>
                <a:ext cx="590177" cy="215444"/>
              </a:xfrm>
              <a:prstGeom prst="rect">
                <a:avLst/>
              </a:prstGeom>
              <a:noFill/>
            </p:spPr>
            <p:txBody>
              <a:bodyPr wrap="square" rtlCol="0">
                <a:spAutoFit/>
              </a:bodyPr>
              <a:lstStyle/>
              <a:p>
                <a:pPr algn="ctr"/>
                <a:r>
                  <a:rPr lang="en-US" sz="800" dirty="0">
                    <a:latin typeface="+mj-lt"/>
                  </a:rPr>
                  <a:t>………</a:t>
                </a:r>
              </a:p>
            </p:txBody>
          </p:sp>
          <p:sp>
            <p:nvSpPr>
              <p:cNvPr id="41" name="TextBox 40">
                <a:extLst>
                  <a:ext uri="{FF2B5EF4-FFF2-40B4-BE49-F238E27FC236}">
                    <a16:creationId xmlns:a16="http://schemas.microsoft.com/office/drawing/2014/main" id="{EAAD1EAE-AF5F-ABE0-B648-F9B34A7604C9}"/>
                  </a:ext>
                </a:extLst>
              </p:cNvPr>
              <p:cNvSpPr txBox="1"/>
              <p:nvPr/>
            </p:nvSpPr>
            <p:spPr>
              <a:xfrm>
                <a:off x="9080597" y="3833808"/>
                <a:ext cx="590177" cy="215444"/>
              </a:xfrm>
              <a:prstGeom prst="rect">
                <a:avLst/>
              </a:prstGeom>
              <a:noFill/>
            </p:spPr>
            <p:txBody>
              <a:bodyPr wrap="square" rtlCol="0">
                <a:spAutoFit/>
              </a:bodyPr>
              <a:lstStyle/>
              <a:p>
                <a:pPr algn="ctr"/>
                <a:r>
                  <a:rPr lang="en-US" sz="800" dirty="0">
                    <a:latin typeface="+mj-lt"/>
                  </a:rPr>
                  <a:t>………</a:t>
                </a:r>
              </a:p>
            </p:txBody>
          </p:sp>
          <p:sp>
            <p:nvSpPr>
              <p:cNvPr id="42" name="TextBox 41">
                <a:extLst>
                  <a:ext uri="{FF2B5EF4-FFF2-40B4-BE49-F238E27FC236}">
                    <a16:creationId xmlns:a16="http://schemas.microsoft.com/office/drawing/2014/main" id="{D0390513-2ADC-928B-54B3-39986B9ECC13}"/>
                  </a:ext>
                </a:extLst>
              </p:cNvPr>
              <p:cNvSpPr txBox="1"/>
              <p:nvPr/>
            </p:nvSpPr>
            <p:spPr>
              <a:xfrm>
                <a:off x="9777195" y="4312796"/>
                <a:ext cx="590177" cy="215444"/>
              </a:xfrm>
              <a:prstGeom prst="rect">
                <a:avLst/>
              </a:prstGeom>
              <a:noFill/>
            </p:spPr>
            <p:txBody>
              <a:bodyPr wrap="square" rtlCol="0">
                <a:spAutoFit/>
              </a:bodyPr>
              <a:lstStyle/>
              <a:p>
                <a:pPr algn="ctr"/>
                <a:r>
                  <a:rPr lang="en-US" sz="800" dirty="0">
                    <a:latin typeface="+mj-lt"/>
                  </a:rPr>
                  <a:t>………</a:t>
                </a:r>
              </a:p>
            </p:txBody>
          </p:sp>
        </p:grpSp>
      </p:grpSp>
      <p:sp>
        <p:nvSpPr>
          <p:cNvPr id="45" name="TextBox 44">
            <a:extLst>
              <a:ext uri="{FF2B5EF4-FFF2-40B4-BE49-F238E27FC236}">
                <a16:creationId xmlns:a16="http://schemas.microsoft.com/office/drawing/2014/main" id="{A3B3C4F4-36E7-6FF0-016B-3DF8642ACBE6}"/>
              </a:ext>
            </a:extLst>
          </p:cNvPr>
          <p:cNvSpPr txBox="1"/>
          <p:nvPr/>
        </p:nvSpPr>
        <p:spPr>
          <a:xfrm>
            <a:off x="6399387" y="5172636"/>
            <a:ext cx="2572774" cy="707886"/>
          </a:xfrm>
          <a:prstGeom prst="rect">
            <a:avLst/>
          </a:prstGeom>
          <a:noFill/>
        </p:spPr>
        <p:txBody>
          <a:bodyPr wrap="square" rtlCol="0">
            <a:spAutoFit/>
          </a:bodyPr>
          <a:lstStyle/>
          <a:p>
            <a:pPr algn="ctr"/>
            <a:r>
              <a:rPr lang="en-US" sz="2000" b="1" dirty="0">
                <a:solidFill>
                  <a:srgbClr val="FF0000"/>
                </a:solidFill>
              </a:rPr>
              <a:t>AI-Driven</a:t>
            </a:r>
          </a:p>
          <a:p>
            <a:pPr algn="ctr"/>
            <a:r>
              <a:rPr lang="en-US" sz="2000" b="1" dirty="0">
                <a:solidFill>
                  <a:srgbClr val="FF0000"/>
                </a:solidFill>
              </a:rPr>
              <a:t>Smart Contract</a:t>
            </a:r>
          </a:p>
        </p:txBody>
      </p:sp>
      <p:cxnSp>
        <p:nvCxnSpPr>
          <p:cNvPr id="54" name="Straight Arrow Connector 53">
            <a:extLst>
              <a:ext uri="{FF2B5EF4-FFF2-40B4-BE49-F238E27FC236}">
                <a16:creationId xmlns:a16="http://schemas.microsoft.com/office/drawing/2014/main" id="{9A494CC5-C79F-02D9-2D22-6EBFB19032E9}"/>
              </a:ext>
            </a:extLst>
          </p:cNvPr>
          <p:cNvCxnSpPr>
            <a:cxnSpLocks/>
          </p:cNvCxnSpPr>
          <p:nvPr/>
        </p:nvCxnSpPr>
        <p:spPr>
          <a:xfrm>
            <a:off x="4818731" y="5877518"/>
            <a:ext cx="1292637" cy="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55BF4455-5074-AB79-359A-63427A0CEAF4}"/>
              </a:ext>
            </a:extLst>
          </p:cNvPr>
          <p:cNvCxnSpPr/>
          <p:nvPr/>
        </p:nvCxnSpPr>
        <p:spPr>
          <a:xfrm>
            <a:off x="8684219" y="4066440"/>
            <a:ext cx="1232893" cy="93618"/>
          </a:xfrm>
          <a:prstGeom prst="bentConnector3">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28B7FFD-969B-BE70-61C9-C07B73D9F364}"/>
              </a:ext>
            </a:extLst>
          </p:cNvPr>
          <p:cNvSpPr txBox="1"/>
          <p:nvPr/>
        </p:nvSpPr>
        <p:spPr>
          <a:xfrm>
            <a:off x="6677213" y="3479844"/>
            <a:ext cx="1891699" cy="2169825"/>
          </a:xfrm>
          <a:prstGeom prst="rect">
            <a:avLst/>
          </a:prstGeom>
          <a:noFill/>
        </p:spPr>
        <p:txBody>
          <a:bodyPr wrap="square" rtlCol="0">
            <a:spAutoFit/>
          </a:bodyPr>
          <a:lstStyle/>
          <a:p>
            <a:pPr marL="171450" indent="-171450">
              <a:buFont typeface="Arial" panose="020B0604020202020204" pitchFamily="34" charset="0"/>
              <a:buChar char="•"/>
            </a:pPr>
            <a:r>
              <a:rPr lang="en-US" sz="900" dirty="0"/>
              <a:t>called by transaction request</a:t>
            </a:r>
          </a:p>
          <a:p>
            <a:pPr marL="171450" indent="-171450">
              <a:buFont typeface="Arial" panose="020B0604020202020204" pitchFamily="34" charset="0"/>
              <a:buChar char="•"/>
            </a:pPr>
            <a:r>
              <a:rPr lang="en-US" sz="900" dirty="0"/>
              <a:t>places data into a transaction for storage into blockchain</a:t>
            </a:r>
          </a:p>
          <a:p>
            <a:pPr marL="171450" indent="-171450">
              <a:buFont typeface="Arial" panose="020B0604020202020204" pitchFamily="34" charset="0"/>
              <a:buChar char="•"/>
            </a:pPr>
            <a:r>
              <a:rPr lang="en-US" sz="900" dirty="0"/>
              <a:t>updates all “state variables”</a:t>
            </a:r>
          </a:p>
          <a:p>
            <a:pPr marL="171450" indent="-171450">
              <a:buFont typeface="Arial" panose="020B0604020202020204" pitchFamily="34" charset="0"/>
              <a:buChar char="•"/>
            </a:pPr>
            <a:r>
              <a:rPr lang="en-US" sz="900" dirty="0"/>
              <a:t>starts process to ‘validate” this transaction</a:t>
            </a:r>
          </a:p>
          <a:p>
            <a:pPr marL="171450" indent="-171450">
              <a:buFont typeface="Arial" panose="020B0604020202020204" pitchFamily="34" charset="0"/>
              <a:buChar char="•"/>
            </a:pPr>
            <a:r>
              <a:rPr lang="en-US" sz="900" dirty="0"/>
              <a:t>data storage options include on-chain and off-chain </a:t>
            </a:r>
          </a:p>
          <a:p>
            <a:pPr marL="171450" indent="-171450">
              <a:buFont typeface="Arial" panose="020B0604020202020204" pitchFamily="34" charset="0"/>
              <a:buChar char="•"/>
            </a:pPr>
            <a:r>
              <a:rPr lang="en-US" sz="900" dirty="0"/>
              <a:t>“state variables” contain GHG emission </a:t>
            </a:r>
            <a:r>
              <a:rPr lang="en-US" sz="900" b="1" dirty="0"/>
              <a:t>running</a:t>
            </a:r>
            <a:r>
              <a:rPr lang="en-US" sz="900" dirty="0"/>
              <a:t> totals</a:t>
            </a:r>
          </a:p>
          <a:p>
            <a:pPr marL="171450" indent="-171450">
              <a:buFont typeface="Arial" panose="020B0604020202020204" pitchFamily="34" charset="0"/>
              <a:buChar char="•"/>
            </a:pPr>
            <a:r>
              <a:rPr lang="en-US" sz="900" dirty="0">
                <a:solidFill>
                  <a:srgbClr val="FF0000"/>
                </a:solidFill>
              </a:rPr>
              <a:t>AI-Driven enables “smart contracts” to have AI capability</a:t>
            </a:r>
          </a:p>
          <a:p>
            <a:pPr marL="171450" indent="-171450">
              <a:buFont typeface="Arial" panose="020B0604020202020204" pitchFamily="34" charset="0"/>
              <a:buChar char="•"/>
            </a:pPr>
            <a:endParaRPr lang="en-US" sz="900" dirty="0"/>
          </a:p>
          <a:p>
            <a:endParaRPr lang="en-US" sz="900" dirty="0"/>
          </a:p>
          <a:p>
            <a:pPr marL="171450" indent="-171450">
              <a:buFont typeface="Arial" panose="020B0604020202020204" pitchFamily="34" charset="0"/>
              <a:buChar char="•"/>
            </a:pPr>
            <a:endParaRPr lang="en-US" sz="900" dirty="0"/>
          </a:p>
        </p:txBody>
      </p:sp>
      <p:sp>
        <p:nvSpPr>
          <p:cNvPr id="59" name="Rectangle: Folded Corner 58">
            <a:extLst>
              <a:ext uri="{FF2B5EF4-FFF2-40B4-BE49-F238E27FC236}">
                <a16:creationId xmlns:a16="http://schemas.microsoft.com/office/drawing/2014/main" id="{5030177E-6D2B-2FBB-44AE-064AAE5B8365}"/>
              </a:ext>
            </a:extLst>
          </p:cNvPr>
          <p:cNvSpPr/>
          <p:nvPr/>
        </p:nvSpPr>
        <p:spPr>
          <a:xfrm>
            <a:off x="7048140" y="701577"/>
            <a:ext cx="1806404" cy="606461"/>
          </a:xfrm>
          <a:prstGeom prst="foldedCorne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69431466-9F89-839C-7897-10C817C4C421}"/>
              </a:ext>
            </a:extLst>
          </p:cNvPr>
          <p:cNvCxnSpPr>
            <a:cxnSpLocks/>
          </p:cNvCxnSpPr>
          <p:nvPr/>
        </p:nvCxnSpPr>
        <p:spPr>
          <a:xfrm>
            <a:off x="7718237" y="1309879"/>
            <a:ext cx="9750" cy="490276"/>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668D6319-DF14-E7D2-B2BB-AC14C81EF338}"/>
              </a:ext>
            </a:extLst>
          </p:cNvPr>
          <p:cNvCxnSpPr>
            <a:cxnSpLocks/>
          </p:cNvCxnSpPr>
          <p:nvPr/>
        </p:nvCxnSpPr>
        <p:spPr>
          <a:xfrm>
            <a:off x="8694471" y="5513990"/>
            <a:ext cx="3377146" cy="0"/>
          </a:xfrm>
          <a:prstGeom prst="straightConnector1">
            <a:avLst/>
          </a:prstGeom>
          <a:ln w="2222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14705B5-17D4-8A4A-E3EB-8289969A4BBD}"/>
              </a:ext>
            </a:extLst>
          </p:cNvPr>
          <p:cNvCxnSpPr>
            <a:cxnSpLocks/>
          </p:cNvCxnSpPr>
          <p:nvPr/>
        </p:nvCxnSpPr>
        <p:spPr>
          <a:xfrm>
            <a:off x="8694471" y="5145504"/>
            <a:ext cx="3377146"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832430F8-4FE1-D4FA-DBAA-39A3341E8E7E}"/>
              </a:ext>
            </a:extLst>
          </p:cNvPr>
          <p:cNvSpPr txBox="1"/>
          <p:nvPr/>
        </p:nvSpPr>
        <p:spPr>
          <a:xfrm>
            <a:off x="8669571" y="5206580"/>
            <a:ext cx="3100955" cy="369332"/>
          </a:xfrm>
          <a:prstGeom prst="rect">
            <a:avLst/>
          </a:prstGeom>
          <a:noFill/>
        </p:spPr>
        <p:txBody>
          <a:bodyPr wrap="square" rtlCol="0">
            <a:spAutoFit/>
          </a:bodyPr>
          <a:lstStyle/>
          <a:p>
            <a:pPr algn="ctr"/>
            <a:r>
              <a:rPr lang="en-US" b="1" dirty="0">
                <a:solidFill>
                  <a:srgbClr val="FF0000"/>
                </a:solidFill>
              </a:rPr>
              <a:t>deliver predictions / strategy</a:t>
            </a:r>
          </a:p>
        </p:txBody>
      </p:sp>
      <p:sp>
        <p:nvSpPr>
          <p:cNvPr id="70" name="TextBox 69">
            <a:extLst>
              <a:ext uri="{FF2B5EF4-FFF2-40B4-BE49-F238E27FC236}">
                <a16:creationId xmlns:a16="http://schemas.microsoft.com/office/drawing/2014/main" id="{9A96BEF5-142E-B582-3899-CF8D4D71B02C}"/>
              </a:ext>
            </a:extLst>
          </p:cNvPr>
          <p:cNvSpPr txBox="1"/>
          <p:nvPr/>
        </p:nvSpPr>
        <p:spPr>
          <a:xfrm>
            <a:off x="8767091" y="4845356"/>
            <a:ext cx="2581180" cy="369332"/>
          </a:xfrm>
          <a:prstGeom prst="rect">
            <a:avLst/>
          </a:prstGeom>
          <a:noFill/>
        </p:spPr>
        <p:txBody>
          <a:bodyPr wrap="square" rtlCol="0">
            <a:spAutoFit/>
          </a:bodyPr>
          <a:lstStyle/>
          <a:p>
            <a:pPr algn="ctr"/>
            <a:r>
              <a:rPr lang="en-US" b="1" dirty="0">
                <a:solidFill>
                  <a:srgbClr val="FF0000"/>
                </a:solidFill>
              </a:rPr>
              <a:t>send data to AI engine</a:t>
            </a:r>
          </a:p>
        </p:txBody>
      </p:sp>
      <p:sp>
        <p:nvSpPr>
          <p:cNvPr id="71" name="TextBox 70">
            <a:extLst>
              <a:ext uri="{FF2B5EF4-FFF2-40B4-BE49-F238E27FC236}">
                <a16:creationId xmlns:a16="http://schemas.microsoft.com/office/drawing/2014/main" id="{96CC904B-4EA7-1DE0-0379-56CF8453401B}"/>
              </a:ext>
            </a:extLst>
          </p:cNvPr>
          <p:cNvSpPr txBox="1"/>
          <p:nvPr/>
        </p:nvSpPr>
        <p:spPr>
          <a:xfrm>
            <a:off x="3360812" y="5334542"/>
            <a:ext cx="1479553" cy="1107996"/>
          </a:xfrm>
          <a:prstGeom prst="rect">
            <a:avLst/>
          </a:prstGeom>
          <a:noFill/>
        </p:spPr>
        <p:txBody>
          <a:bodyPr wrap="square" rtlCol="0">
            <a:spAutoFit/>
          </a:bodyPr>
          <a:lstStyle/>
          <a:p>
            <a:r>
              <a:rPr lang="en-US" sz="1100" b="1" dirty="0"/>
              <a:t>Company B is an organization </a:t>
            </a:r>
            <a:r>
              <a:rPr lang="en-US" sz="1100" dirty="0"/>
              <a:t>approved through MSP to send transactions to this blockchain channel.</a:t>
            </a:r>
          </a:p>
        </p:txBody>
      </p:sp>
      <p:sp>
        <p:nvSpPr>
          <p:cNvPr id="72" name="TextBox 71">
            <a:extLst>
              <a:ext uri="{FF2B5EF4-FFF2-40B4-BE49-F238E27FC236}">
                <a16:creationId xmlns:a16="http://schemas.microsoft.com/office/drawing/2014/main" id="{C4201C03-87D6-45B1-678A-548013F55C11}"/>
              </a:ext>
            </a:extLst>
          </p:cNvPr>
          <p:cNvSpPr txBox="1"/>
          <p:nvPr/>
        </p:nvSpPr>
        <p:spPr>
          <a:xfrm>
            <a:off x="6972215" y="722471"/>
            <a:ext cx="2139856" cy="600164"/>
          </a:xfrm>
          <a:prstGeom prst="rect">
            <a:avLst/>
          </a:prstGeom>
          <a:noFill/>
        </p:spPr>
        <p:txBody>
          <a:bodyPr wrap="square" rtlCol="0">
            <a:spAutoFit/>
          </a:bodyPr>
          <a:lstStyle/>
          <a:p>
            <a:r>
              <a:rPr lang="en-US" sz="1100" b="1" dirty="0"/>
              <a:t>Company A is an organization </a:t>
            </a:r>
            <a:r>
              <a:rPr lang="en-US" sz="1100" dirty="0"/>
              <a:t>approved through MSP to send transactions to this blockchain.  </a:t>
            </a:r>
          </a:p>
        </p:txBody>
      </p:sp>
      <p:sp>
        <p:nvSpPr>
          <p:cNvPr id="73" name="TextBox 72">
            <a:extLst>
              <a:ext uri="{FF2B5EF4-FFF2-40B4-BE49-F238E27FC236}">
                <a16:creationId xmlns:a16="http://schemas.microsoft.com/office/drawing/2014/main" id="{FF476C09-A474-501D-D180-3C8E1DBE50B9}"/>
              </a:ext>
            </a:extLst>
          </p:cNvPr>
          <p:cNvSpPr txBox="1"/>
          <p:nvPr/>
        </p:nvSpPr>
        <p:spPr>
          <a:xfrm>
            <a:off x="7670517" y="1362169"/>
            <a:ext cx="1875364" cy="261610"/>
          </a:xfrm>
          <a:prstGeom prst="rect">
            <a:avLst/>
          </a:prstGeom>
          <a:noFill/>
        </p:spPr>
        <p:txBody>
          <a:bodyPr wrap="square" rtlCol="0">
            <a:spAutoFit/>
          </a:bodyPr>
          <a:lstStyle/>
          <a:p>
            <a:r>
              <a:rPr lang="en-US" sz="1100" b="1" dirty="0"/>
              <a:t>data -&gt; transaction request</a:t>
            </a:r>
          </a:p>
        </p:txBody>
      </p:sp>
      <p:sp>
        <p:nvSpPr>
          <p:cNvPr id="74" name="TextBox 73">
            <a:extLst>
              <a:ext uri="{FF2B5EF4-FFF2-40B4-BE49-F238E27FC236}">
                <a16:creationId xmlns:a16="http://schemas.microsoft.com/office/drawing/2014/main" id="{12BAA7F8-1F2E-D9E4-08A1-F784FF095C89}"/>
              </a:ext>
            </a:extLst>
          </p:cNvPr>
          <p:cNvSpPr txBox="1"/>
          <p:nvPr/>
        </p:nvSpPr>
        <p:spPr>
          <a:xfrm>
            <a:off x="4744007" y="5908020"/>
            <a:ext cx="1875364" cy="261610"/>
          </a:xfrm>
          <a:prstGeom prst="rect">
            <a:avLst/>
          </a:prstGeom>
          <a:noFill/>
        </p:spPr>
        <p:txBody>
          <a:bodyPr wrap="square" rtlCol="0">
            <a:spAutoFit/>
          </a:bodyPr>
          <a:lstStyle/>
          <a:p>
            <a:r>
              <a:rPr lang="en-US" sz="1100" b="1" dirty="0"/>
              <a:t>data -&gt; transaction request</a:t>
            </a:r>
          </a:p>
        </p:txBody>
      </p:sp>
      <p:sp>
        <p:nvSpPr>
          <p:cNvPr id="75" name="Flowchart: Magnetic Disk 74">
            <a:extLst>
              <a:ext uri="{FF2B5EF4-FFF2-40B4-BE49-F238E27FC236}">
                <a16:creationId xmlns:a16="http://schemas.microsoft.com/office/drawing/2014/main" id="{E41DE019-CA44-FF0E-6E76-B92C1680275B}"/>
              </a:ext>
            </a:extLst>
          </p:cNvPr>
          <p:cNvSpPr/>
          <p:nvPr/>
        </p:nvSpPr>
        <p:spPr>
          <a:xfrm>
            <a:off x="11014750" y="1643312"/>
            <a:ext cx="757559" cy="484245"/>
          </a:xfrm>
          <a:prstGeom prst="flowChartMagneticDisk">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IPFS</a:t>
            </a:r>
          </a:p>
        </p:txBody>
      </p:sp>
      <p:sp>
        <p:nvSpPr>
          <p:cNvPr id="76" name="Flowchart: Magnetic Disk 75">
            <a:extLst>
              <a:ext uri="{FF2B5EF4-FFF2-40B4-BE49-F238E27FC236}">
                <a16:creationId xmlns:a16="http://schemas.microsoft.com/office/drawing/2014/main" id="{949A0D5E-D2B7-1018-0188-1AE79B5B7BA4}"/>
              </a:ext>
            </a:extLst>
          </p:cNvPr>
          <p:cNvSpPr/>
          <p:nvPr/>
        </p:nvSpPr>
        <p:spPr>
          <a:xfrm>
            <a:off x="11140631" y="1824053"/>
            <a:ext cx="757559" cy="484245"/>
          </a:xfrm>
          <a:prstGeom prst="flowChartMagneticDisk">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IPFS</a:t>
            </a:r>
          </a:p>
        </p:txBody>
      </p:sp>
      <p:sp>
        <p:nvSpPr>
          <p:cNvPr id="77" name="Flowchart: Magnetic Disk 76">
            <a:extLst>
              <a:ext uri="{FF2B5EF4-FFF2-40B4-BE49-F238E27FC236}">
                <a16:creationId xmlns:a16="http://schemas.microsoft.com/office/drawing/2014/main" id="{CE05D40F-34E0-E364-F4A7-CED43454CDA0}"/>
              </a:ext>
            </a:extLst>
          </p:cNvPr>
          <p:cNvSpPr/>
          <p:nvPr/>
        </p:nvSpPr>
        <p:spPr>
          <a:xfrm>
            <a:off x="11293031" y="1976453"/>
            <a:ext cx="757559" cy="484245"/>
          </a:xfrm>
          <a:prstGeom prst="flowChartMagneticDisk">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IPFS</a:t>
            </a:r>
          </a:p>
        </p:txBody>
      </p:sp>
      <p:sp>
        <p:nvSpPr>
          <p:cNvPr id="78" name="Flowchart: Magnetic Disk 77">
            <a:extLst>
              <a:ext uri="{FF2B5EF4-FFF2-40B4-BE49-F238E27FC236}">
                <a16:creationId xmlns:a16="http://schemas.microsoft.com/office/drawing/2014/main" id="{74C769CB-A60F-23BB-D202-3B398E6B5507}"/>
              </a:ext>
            </a:extLst>
          </p:cNvPr>
          <p:cNvSpPr/>
          <p:nvPr/>
        </p:nvSpPr>
        <p:spPr>
          <a:xfrm>
            <a:off x="4338309" y="4377394"/>
            <a:ext cx="757559" cy="484245"/>
          </a:xfrm>
          <a:prstGeom prst="flowChartMagneticDisk">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xxDB</a:t>
            </a:r>
            <a:endParaRPr lang="en-US" dirty="0">
              <a:solidFill>
                <a:schemeClr val="tx1"/>
              </a:solidFill>
            </a:endParaRPr>
          </a:p>
        </p:txBody>
      </p:sp>
      <p:cxnSp>
        <p:nvCxnSpPr>
          <p:cNvPr id="79" name="Connector: Elbow 78">
            <a:extLst>
              <a:ext uri="{FF2B5EF4-FFF2-40B4-BE49-F238E27FC236}">
                <a16:creationId xmlns:a16="http://schemas.microsoft.com/office/drawing/2014/main" id="{3E1B0BC0-7C3A-1AC8-F69B-3239D3A9E0FC}"/>
              </a:ext>
            </a:extLst>
          </p:cNvPr>
          <p:cNvCxnSpPr>
            <a:cxnSpLocks/>
          </p:cNvCxnSpPr>
          <p:nvPr/>
        </p:nvCxnSpPr>
        <p:spPr>
          <a:xfrm>
            <a:off x="5095414" y="4741193"/>
            <a:ext cx="1449833" cy="86899"/>
          </a:xfrm>
          <a:prstGeom prst="bentConnector3">
            <a:avLst/>
          </a:prstGeom>
          <a:ln w="31750">
            <a:headEnd type="triangle"/>
            <a:tailEnd type="non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5BD6BD98-4413-8FE8-02F5-08CC8078975F}"/>
              </a:ext>
            </a:extLst>
          </p:cNvPr>
          <p:cNvSpPr txBox="1"/>
          <p:nvPr/>
        </p:nvSpPr>
        <p:spPr>
          <a:xfrm>
            <a:off x="3704472" y="4846109"/>
            <a:ext cx="1875364" cy="261610"/>
          </a:xfrm>
          <a:prstGeom prst="rect">
            <a:avLst/>
          </a:prstGeom>
          <a:noFill/>
        </p:spPr>
        <p:txBody>
          <a:bodyPr wrap="square" rtlCol="0">
            <a:spAutoFit/>
          </a:bodyPr>
          <a:lstStyle/>
          <a:p>
            <a:r>
              <a:rPr lang="en-US" sz="1100" b="1" dirty="0"/>
              <a:t>“off-chain storage to DB”</a:t>
            </a:r>
          </a:p>
        </p:txBody>
      </p:sp>
      <p:cxnSp>
        <p:nvCxnSpPr>
          <p:cNvPr id="82" name="Connector: Elbow 81">
            <a:extLst>
              <a:ext uri="{FF2B5EF4-FFF2-40B4-BE49-F238E27FC236}">
                <a16:creationId xmlns:a16="http://schemas.microsoft.com/office/drawing/2014/main" id="{9F93F911-C147-7290-14B8-56D4CAE8B2D2}"/>
              </a:ext>
            </a:extLst>
          </p:cNvPr>
          <p:cNvCxnSpPr>
            <a:cxnSpLocks/>
          </p:cNvCxnSpPr>
          <p:nvPr/>
        </p:nvCxnSpPr>
        <p:spPr>
          <a:xfrm flipV="1">
            <a:off x="8679959" y="2580742"/>
            <a:ext cx="2991852" cy="2058049"/>
          </a:xfrm>
          <a:prstGeom prst="bentConnector2">
            <a:avLst/>
          </a:prstGeom>
          <a:ln w="31750">
            <a:headEnd type="triangle"/>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5080E793-460B-8E0E-59A6-8EDF4F551185}"/>
              </a:ext>
            </a:extLst>
          </p:cNvPr>
          <p:cNvSpPr txBox="1"/>
          <p:nvPr/>
        </p:nvSpPr>
        <p:spPr>
          <a:xfrm>
            <a:off x="9332171" y="4400361"/>
            <a:ext cx="1875364" cy="261610"/>
          </a:xfrm>
          <a:prstGeom prst="rect">
            <a:avLst/>
          </a:prstGeom>
          <a:noFill/>
        </p:spPr>
        <p:txBody>
          <a:bodyPr wrap="square" rtlCol="0">
            <a:spAutoFit/>
          </a:bodyPr>
          <a:lstStyle/>
          <a:p>
            <a:r>
              <a:rPr lang="en-US" sz="1100" b="1" dirty="0"/>
              <a:t>“off-chain storage to IPFS”</a:t>
            </a:r>
          </a:p>
        </p:txBody>
      </p:sp>
      <p:cxnSp>
        <p:nvCxnSpPr>
          <p:cNvPr id="85" name="Straight Arrow Connector 84">
            <a:extLst>
              <a:ext uri="{FF2B5EF4-FFF2-40B4-BE49-F238E27FC236}">
                <a16:creationId xmlns:a16="http://schemas.microsoft.com/office/drawing/2014/main" id="{4C301783-BD2D-FCAB-AC19-7E35DA632E87}"/>
              </a:ext>
            </a:extLst>
          </p:cNvPr>
          <p:cNvCxnSpPr>
            <a:cxnSpLocks/>
            <a:endCxn id="12" idx="1"/>
          </p:cNvCxnSpPr>
          <p:nvPr/>
        </p:nvCxnSpPr>
        <p:spPr>
          <a:xfrm flipV="1">
            <a:off x="5009431" y="4258393"/>
            <a:ext cx="1557247" cy="12451"/>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261C1B00-70A7-F200-EE3A-F25520E0BA7F}"/>
              </a:ext>
            </a:extLst>
          </p:cNvPr>
          <p:cNvSpPr txBox="1"/>
          <p:nvPr/>
        </p:nvSpPr>
        <p:spPr>
          <a:xfrm>
            <a:off x="4809012" y="4068751"/>
            <a:ext cx="1875364" cy="261610"/>
          </a:xfrm>
          <a:prstGeom prst="rect">
            <a:avLst/>
          </a:prstGeom>
          <a:noFill/>
        </p:spPr>
        <p:txBody>
          <a:bodyPr wrap="square" rtlCol="0">
            <a:spAutoFit/>
          </a:bodyPr>
          <a:lstStyle/>
          <a:p>
            <a:pPr algn="ctr"/>
            <a:r>
              <a:rPr lang="en-US" sz="1100" b="1" dirty="0"/>
              <a:t>File hash to blockchain</a:t>
            </a:r>
          </a:p>
        </p:txBody>
      </p:sp>
      <p:sp>
        <p:nvSpPr>
          <p:cNvPr id="90" name="TextBox 89">
            <a:extLst>
              <a:ext uri="{FF2B5EF4-FFF2-40B4-BE49-F238E27FC236}">
                <a16:creationId xmlns:a16="http://schemas.microsoft.com/office/drawing/2014/main" id="{54923973-5817-5A8E-0DA6-05AD0F47779A}"/>
              </a:ext>
            </a:extLst>
          </p:cNvPr>
          <p:cNvSpPr txBox="1"/>
          <p:nvPr/>
        </p:nvSpPr>
        <p:spPr>
          <a:xfrm>
            <a:off x="8845334" y="4603638"/>
            <a:ext cx="1875364" cy="261610"/>
          </a:xfrm>
          <a:prstGeom prst="rect">
            <a:avLst/>
          </a:prstGeom>
          <a:noFill/>
        </p:spPr>
        <p:txBody>
          <a:bodyPr wrap="square" rtlCol="0">
            <a:spAutoFit/>
          </a:bodyPr>
          <a:lstStyle/>
          <a:p>
            <a:pPr algn="ctr"/>
            <a:r>
              <a:rPr lang="en-US" sz="1100" b="1" dirty="0"/>
              <a:t>file hash to blockchain</a:t>
            </a:r>
          </a:p>
        </p:txBody>
      </p:sp>
      <p:cxnSp>
        <p:nvCxnSpPr>
          <p:cNvPr id="92" name="Connector: Elbow 91">
            <a:extLst>
              <a:ext uri="{FF2B5EF4-FFF2-40B4-BE49-F238E27FC236}">
                <a16:creationId xmlns:a16="http://schemas.microsoft.com/office/drawing/2014/main" id="{65E5E0CE-B2FC-8E3D-FF4A-447CB8F5C053}"/>
              </a:ext>
            </a:extLst>
          </p:cNvPr>
          <p:cNvCxnSpPr>
            <a:stCxn id="45" idx="2"/>
          </p:cNvCxnSpPr>
          <p:nvPr/>
        </p:nvCxnSpPr>
        <p:spPr>
          <a:xfrm rot="16200000" flipH="1">
            <a:off x="9728985" y="3837311"/>
            <a:ext cx="125995" cy="4212416"/>
          </a:xfrm>
          <a:prstGeom prst="bentConnector2">
            <a:avLst/>
          </a:prstGeom>
          <a:ln w="22225">
            <a:solidFill>
              <a:srgbClr val="0000CC"/>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FF538FE2-6F37-A66B-E713-4212443EC28F}"/>
              </a:ext>
            </a:extLst>
          </p:cNvPr>
          <p:cNvSpPr txBox="1"/>
          <p:nvPr/>
        </p:nvSpPr>
        <p:spPr>
          <a:xfrm>
            <a:off x="7980785" y="5700036"/>
            <a:ext cx="4310459" cy="369332"/>
          </a:xfrm>
          <a:prstGeom prst="rect">
            <a:avLst/>
          </a:prstGeom>
          <a:noFill/>
        </p:spPr>
        <p:txBody>
          <a:bodyPr wrap="square" rtlCol="0">
            <a:spAutoFit/>
          </a:bodyPr>
          <a:lstStyle/>
          <a:p>
            <a:pPr algn="ctr"/>
            <a:r>
              <a:rPr lang="en-US" b="1" dirty="0"/>
              <a:t>data to emission report systems </a:t>
            </a:r>
          </a:p>
        </p:txBody>
      </p:sp>
      <p:cxnSp>
        <p:nvCxnSpPr>
          <p:cNvPr id="94" name="Connector: Elbow 93">
            <a:extLst>
              <a:ext uri="{FF2B5EF4-FFF2-40B4-BE49-F238E27FC236}">
                <a16:creationId xmlns:a16="http://schemas.microsoft.com/office/drawing/2014/main" id="{7DD0A98E-615A-46FE-0DD3-6D930D07D0A0}"/>
              </a:ext>
            </a:extLst>
          </p:cNvPr>
          <p:cNvCxnSpPr>
            <a:cxnSpLocks/>
            <a:stCxn id="39" idx="2"/>
          </p:cNvCxnSpPr>
          <p:nvPr/>
        </p:nvCxnSpPr>
        <p:spPr>
          <a:xfrm rot="5400000">
            <a:off x="7686467" y="2978452"/>
            <a:ext cx="501865" cy="423325"/>
          </a:xfrm>
          <a:prstGeom prst="bentConnector3">
            <a:avLst/>
          </a:prstGeom>
          <a:ln w="31750">
            <a:headEnd type="triangle"/>
            <a:tailEnd type="non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7680A5B6-97D3-6B94-AA55-04B737C68F56}"/>
              </a:ext>
            </a:extLst>
          </p:cNvPr>
          <p:cNvSpPr txBox="1"/>
          <p:nvPr/>
        </p:nvSpPr>
        <p:spPr>
          <a:xfrm>
            <a:off x="6468777" y="2972691"/>
            <a:ext cx="1566712" cy="430887"/>
          </a:xfrm>
          <a:prstGeom prst="rect">
            <a:avLst/>
          </a:prstGeom>
          <a:noFill/>
        </p:spPr>
        <p:txBody>
          <a:bodyPr wrap="square" rtlCol="0">
            <a:spAutoFit/>
          </a:bodyPr>
          <a:lstStyle/>
          <a:p>
            <a:pPr algn="ctr"/>
            <a:r>
              <a:rPr lang="en-US" sz="1100" b="1" dirty="0"/>
              <a:t>Smart contract stored on blockchain</a:t>
            </a:r>
          </a:p>
        </p:txBody>
      </p:sp>
    </p:spTree>
    <p:extLst>
      <p:ext uri="{BB962C8B-B14F-4D97-AF65-F5344CB8AC3E}">
        <p14:creationId xmlns:p14="http://schemas.microsoft.com/office/powerpoint/2010/main" val="42173631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Oval 125">
            <a:extLst>
              <a:ext uri="{FF2B5EF4-FFF2-40B4-BE49-F238E27FC236}">
                <a16:creationId xmlns:a16="http://schemas.microsoft.com/office/drawing/2014/main" id="{84711927-BCF6-75C1-7F04-B2B5DD3385F3}"/>
              </a:ext>
            </a:extLst>
          </p:cNvPr>
          <p:cNvSpPr/>
          <p:nvPr/>
        </p:nvSpPr>
        <p:spPr>
          <a:xfrm>
            <a:off x="9275519" y="3076300"/>
            <a:ext cx="1257554" cy="56528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BF0AADCF-885F-846A-625F-08925305A32C}"/>
              </a:ext>
            </a:extLst>
          </p:cNvPr>
          <p:cNvSpPr/>
          <p:nvPr/>
        </p:nvSpPr>
        <p:spPr>
          <a:xfrm>
            <a:off x="7961115" y="3072378"/>
            <a:ext cx="1257554" cy="56528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A899EA0E-A571-BAAA-478D-E3B2CDB05692}"/>
              </a:ext>
            </a:extLst>
          </p:cNvPr>
          <p:cNvSpPr/>
          <p:nvPr/>
        </p:nvSpPr>
        <p:spPr>
          <a:xfrm>
            <a:off x="6645234" y="3077284"/>
            <a:ext cx="1257554" cy="56528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75381B3-6447-6EB0-BBB8-F629251CD730}"/>
              </a:ext>
            </a:extLst>
          </p:cNvPr>
          <p:cNvSpPr/>
          <p:nvPr/>
        </p:nvSpPr>
        <p:spPr>
          <a:xfrm>
            <a:off x="-3" y="647912"/>
            <a:ext cx="5227285" cy="621008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9CF6392-90C9-4ECE-941A-84CA8666738A}"/>
              </a:ext>
            </a:extLst>
          </p:cNvPr>
          <p:cNvSpPr/>
          <p:nvPr/>
        </p:nvSpPr>
        <p:spPr>
          <a:xfrm>
            <a:off x="8448" y="0"/>
            <a:ext cx="12180896" cy="656492"/>
          </a:xfrm>
          <a:prstGeom prst="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1A37C87-2367-488E-911E-FB0247783232}"/>
              </a:ext>
            </a:extLst>
          </p:cNvPr>
          <p:cNvSpPr txBox="1"/>
          <p:nvPr/>
        </p:nvSpPr>
        <p:spPr>
          <a:xfrm>
            <a:off x="96691" y="68099"/>
            <a:ext cx="10661981" cy="523220"/>
          </a:xfrm>
          <a:prstGeom prst="rect">
            <a:avLst/>
          </a:prstGeom>
          <a:solidFill>
            <a:srgbClr val="0099CC"/>
          </a:solidFill>
        </p:spPr>
        <p:txBody>
          <a:bodyPr wrap="square" rtlCol="0">
            <a:spAutoFit/>
          </a:bodyPr>
          <a:lstStyle/>
          <a:p>
            <a:r>
              <a:rPr lang="en-US" sz="2800" b="1" dirty="0">
                <a:solidFill>
                  <a:schemeClr val="bg1">
                    <a:lumMod val="95000"/>
                  </a:schemeClr>
                </a:solidFill>
              </a:rPr>
              <a:t> Business View - Digital Twin GHG Emission Monitoring </a:t>
            </a:r>
          </a:p>
        </p:txBody>
      </p:sp>
      <p:sp>
        <p:nvSpPr>
          <p:cNvPr id="65" name="AutoShape 2" descr="Cash Pictures, Cash Stock Photos &amp; Images | Depositphotos®">
            <a:extLst>
              <a:ext uri="{FF2B5EF4-FFF2-40B4-BE49-F238E27FC236}">
                <a16:creationId xmlns:a16="http://schemas.microsoft.com/office/drawing/2014/main" id="{E0F87420-C907-404A-8355-4C22CA4E51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76324356-DFA6-4B51-9B4E-50BF6CBE2E3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Oval 7">
            <a:extLst>
              <a:ext uri="{FF2B5EF4-FFF2-40B4-BE49-F238E27FC236}">
                <a16:creationId xmlns:a16="http://schemas.microsoft.com/office/drawing/2014/main" id="{87947708-B9BC-2F6A-D1F5-0C0C1D844FF5}"/>
              </a:ext>
            </a:extLst>
          </p:cNvPr>
          <p:cNvSpPr/>
          <p:nvPr/>
        </p:nvSpPr>
        <p:spPr>
          <a:xfrm>
            <a:off x="5298983" y="1724608"/>
            <a:ext cx="6599207" cy="5032030"/>
          </a:xfrm>
          <a:prstGeom prst="ellipse">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E8BCBB3-3B6D-97F6-DC09-76AF52A3BDCC}"/>
              </a:ext>
            </a:extLst>
          </p:cNvPr>
          <p:cNvSpPr txBox="1"/>
          <p:nvPr/>
        </p:nvSpPr>
        <p:spPr>
          <a:xfrm>
            <a:off x="29822" y="595939"/>
            <a:ext cx="5175074" cy="6370975"/>
          </a:xfrm>
          <a:prstGeom prst="rect">
            <a:avLst/>
          </a:prstGeom>
          <a:noFill/>
        </p:spPr>
        <p:txBody>
          <a:bodyPr wrap="square" rtlCol="0">
            <a:spAutoFit/>
          </a:bodyPr>
          <a:lstStyle/>
          <a:p>
            <a:r>
              <a:rPr lang="en-US" sz="1600" b="1" u="sng" dirty="0"/>
              <a:t>Monitor, Report Deviations, and Remediate Emissions</a:t>
            </a:r>
          </a:p>
          <a:p>
            <a:pPr marL="285750" indent="-285750">
              <a:buFont typeface="Arial" panose="020B0604020202020204" pitchFamily="34" charset="0"/>
              <a:buChar char="•"/>
            </a:pPr>
            <a:r>
              <a:rPr lang="en-US" sz="1400" dirty="0"/>
              <a:t>An application initiates a transaction for the following:</a:t>
            </a:r>
          </a:p>
          <a:p>
            <a:r>
              <a:rPr lang="en-US" sz="1400" dirty="0"/>
              <a:t>              1.  store an emissions baseline value representing the</a:t>
            </a:r>
          </a:p>
          <a:p>
            <a:r>
              <a:rPr lang="en-US" sz="1400" dirty="0"/>
              <a:t>                   expected GHG emissions for a segment of the supply</a:t>
            </a:r>
          </a:p>
          <a:p>
            <a:r>
              <a:rPr lang="en-US" sz="1400" dirty="0"/>
              <a:t>                   chain(or entire chain).</a:t>
            </a:r>
          </a:p>
          <a:p>
            <a:r>
              <a:rPr lang="en-US" sz="1400" dirty="0"/>
              <a:t>               2. manual or electronic entry of data representing the</a:t>
            </a:r>
          </a:p>
          <a:p>
            <a:r>
              <a:rPr lang="en-US" sz="1400" dirty="0"/>
              <a:t>                   amount of emissions over a time period. </a:t>
            </a:r>
          </a:p>
          <a:p>
            <a:pPr marL="285750" indent="-285750">
              <a:buFont typeface="Arial" panose="020B0604020202020204" pitchFamily="34" charset="0"/>
              <a:buChar char="•"/>
            </a:pPr>
            <a:r>
              <a:rPr lang="en-US" sz="1400" dirty="0"/>
              <a:t>A smart contract is called to perform the following:</a:t>
            </a:r>
          </a:p>
          <a:p>
            <a:r>
              <a:rPr lang="en-US" sz="1400" dirty="0"/>
              <a:t>              1.) build a transaction to store the data point on the Fabric</a:t>
            </a:r>
          </a:p>
          <a:p>
            <a:r>
              <a:rPr lang="en-US" sz="1400" dirty="0"/>
              <a:t>                   blockchain. If data are to be stored “off-chain” send them</a:t>
            </a:r>
          </a:p>
          <a:p>
            <a:r>
              <a:rPr lang="en-US" sz="1400" dirty="0"/>
              <a:t>                   to this location.</a:t>
            </a:r>
          </a:p>
          <a:p>
            <a:r>
              <a:rPr lang="en-US" sz="1400" dirty="0"/>
              <a:t>              2.  update “state variable” which is a running total of</a:t>
            </a:r>
          </a:p>
          <a:p>
            <a:r>
              <a:rPr lang="en-US" sz="1400" dirty="0"/>
              <a:t>                   emissions for the segment of the supply chain. </a:t>
            </a:r>
          </a:p>
          <a:p>
            <a:pPr marL="285750" indent="-285750">
              <a:buFont typeface="Arial" panose="020B0604020202020204" pitchFamily="34" charset="0"/>
              <a:buChar char="•"/>
            </a:pPr>
            <a:r>
              <a:rPr lang="en-US" sz="1400" dirty="0"/>
              <a:t>Smart Contract retrieves emission baselines for each defined segment of the supply chain.</a:t>
            </a:r>
          </a:p>
          <a:p>
            <a:pPr marL="285750" indent="-285750">
              <a:buFont typeface="Arial" panose="020B0604020202020204" pitchFamily="34" charset="0"/>
              <a:buChar char="•"/>
            </a:pPr>
            <a:r>
              <a:rPr lang="en-US" sz="1400" b="1" dirty="0"/>
              <a:t>Process for emissions tracking in real-time</a:t>
            </a:r>
          </a:p>
          <a:p>
            <a:r>
              <a:rPr lang="en-US" sz="1400" b="1" dirty="0"/>
              <a:t>              </a:t>
            </a:r>
            <a:r>
              <a:rPr lang="en-US" sz="1400" dirty="0"/>
              <a:t>1.  as emission values arrive, subtract from the baseline to </a:t>
            </a:r>
          </a:p>
          <a:p>
            <a:r>
              <a:rPr lang="en-US" sz="1400" dirty="0"/>
              <a:t>                   determine if rate of emissions is as expected.</a:t>
            </a:r>
          </a:p>
          <a:p>
            <a:r>
              <a:rPr lang="en-US" sz="1400" dirty="0"/>
              <a:t>              2.  provide real-time information to the tracking dashboard.</a:t>
            </a:r>
            <a:endParaRPr lang="en-US" sz="1400" b="1" dirty="0"/>
          </a:p>
          <a:p>
            <a:pPr marL="285750" indent="-285750">
              <a:buFont typeface="Arial" panose="020B0604020202020204" pitchFamily="34" charset="0"/>
              <a:buChar char="•"/>
            </a:pPr>
            <a:r>
              <a:rPr lang="en-US" sz="1400" dirty="0"/>
              <a:t>Smart Contract provides Hyperledger Explorer most up to date</a:t>
            </a:r>
          </a:p>
          <a:p>
            <a:r>
              <a:rPr lang="en-US" sz="1400" dirty="0"/>
              <a:t>       information to show emissions as the supply chain is in</a:t>
            </a:r>
          </a:p>
          <a:p>
            <a:r>
              <a:rPr lang="en-US" sz="1400" dirty="0"/>
              <a:t>       operation. </a:t>
            </a:r>
          </a:p>
          <a:p>
            <a:pPr marL="285750" indent="-285750">
              <a:buFont typeface="Arial" panose="020B0604020202020204" pitchFamily="34" charset="0"/>
              <a:buChar char="•"/>
            </a:pPr>
            <a:r>
              <a:rPr lang="en-US" sz="1400" dirty="0"/>
              <a:t>Any deviation from the emission plan results in these options:</a:t>
            </a:r>
            <a:endParaRPr lang="en-US" sz="1400" b="1" dirty="0"/>
          </a:p>
          <a:p>
            <a:r>
              <a:rPr lang="en-US" sz="1400" dirty="0"/>
              <a:t>              1.  alerts to GHG emissions accounting specialists and/or</a:t>
            </a:r>
          </a:p>
          <a:p>
            <a:r>
              <a:rPr lang="en-US" sz="1400" dirty="0"/>
              <a:t>                   management. </a:t>
            </a:r>
            <a:r>
              <a:rPr lang="en-US" sz="1400" b="1" dirty="0"/>
              <a:t>Alerts may not be needed if the purpose is</a:t>
            </a:r>
          </a:p>
          <a:p>
            <a:r>
              <a:rPr lang="en-US" sz="1400" b="1" dirty="0"/>
              <a:t>                   to only measure current emissions across the supply</a:t>
            </a:r>
          </a:p>
          <a:p>
            <a:r>
              <a:rPr lang="en-US" sz="1400" b="1" dirty="0"/>
              <a:t>                   chain.</a:t>
            </a:r>
          </a:p>
          <a:p>
            <a:r>
              <a:rPr lang="en-US" sz="1400" dirty="0"/>
              <a:t>              2.  utilize AI to track related data(ex. Traffic) that impacts</a:t>
            </a:r>
          </a:p>
          <a:p>
            <a:r>
              <a:rPr lang="en-US" sz="1400" dirty="0"/>
              <a:t>                   emissions to enable remediation strategy.         </a:t>
            </a:r>
          </a:p>
        </p:txBody>
      </p:sp>
      <p:sp>
        <p:nvSpPr>
          <p:cNvPr id="17" name="TextBox 16">
            <a:extLst>
              <a:ext uri="{FF2B5EF4-FFF2-40B4-BE49-F238E27FC236}">
                <a16:creationId xmlns:a16="http://schemas.microsoft.com/office/drawing/2014/main" id="{76698FD7-0C51-063A-2155-ED3D613614DA}"/>
              </a:ext>
            </a:extLst>
          </p:cNvPr>
          <p:cNvSpPr txBox="1"/>
          <p:nvPr/>
        </p:nvSpPr>
        <p:spPr>
          <a:xfrm>
            <a:off x="6443356" y="2250217"/>
            <a:ext cx="4310459" cy="369332"/>
          </a:xfrm>
          <a:prstGeom prst="rect">
            <a:avLst/>
          </a:prstGeom>
          <a:noFill/>
        </p:spPr>
        <p:txBody>
          <a:bodyPr wrap="square" rtlCol="0">
            <a:spAutoFit/>
          </a:bodyPr>
          <a:lstStyle/>
          <a:p>
            <a:pPr algn="ctr"/>
            <a:r>
              <a:rPr lang="en-US" b="1" dirty="0"/>
              <a:t>Digital Twin Peer Hyperledger Fabric Node</a:t>
            </a:r>
          </a:p>
        </p:txBody>
      </p:sp>
      <p:sp>
        <p:nvSpPr>
          <p:cNvPr id="18" name="TextBox 17">
            <a:extLst>
              <a:ext uri="{FF2B5EF4-FFF2-40B4-BE49-F238E27FC236}">
                <a16:creationId xmlns:a16="http://schemas.microsoft.com/office/drawing/2014/main" id="{690D9D1D-0202-63B3-88CB-FD483987D733}"/>
              </a:ext>
            </a:extLst>
          </p:cNvPr>
          <p:cNvSpPr txBox="1"/>
          <p:nvPr/>
        </p:nvSpPr>
        <p:spPr>
          <a:xfrm>
            <a:off x="7786169" y="720442"/>
            <a:ext cx="3782522" cy="400110"/>
          </a:xfrm>
          <a:prstGeom prst="rect">
            <a:avLst/>
          </a:prstGeom>
          <a:noFill/>
        </p:spPr>
        <p:txBody>
          <a:bodyPr wrap="square" rtlCol="0">
            <a:spAutoFit/>
          </a:bodyPr>
          <a:lstStyle/>
          <a:p>
            <a:pPr algn="ctr"/>
            <a:r>
              <a:rPr lang="en-US" sz="2000" b="1" dirty="0"/>
              <a:t>GHG Emissions Tracking View</a:t>
            </a:r>
          </a:p>
        </p:txBody>
      </p:sp>
      <p:sp>
        <p:nvSpPr>
          <p:cNvPr id="19" name="TextBox 18">
            <a:extLst>
              <a:ext uri="{FF2B5EF4-FFF2-40B4-BE49-F238E27FC236}">
                <a16:creationId xmlns:a16="http://schemas.microsoft.com/office/drawing/2014/main" id="{6BBC8ED5-F696-14D8-2CF9-0886F2DD2930}"/>
              </a:ext>
            </a:extLst>
          </p:cNvPr>
          <p:cNvSpPr txBox="1"/>
          <p:nvPr/>
        </p:nvSpPr>
        <p:spPr>
          <a:xfrm>
            <a:off x="7560656" y="1779480"/>
            <a:ext cx="2075858" cy="338554"/>
          </a:xfrm>
          <a:prstGeom prst="rect">
            <a:avLst/>
          </a:prstGeom>
          <a:noFill/>
        </p:spPr>
        <p:txBody>
          <a:bodyPr wrap="square" rtlCol="0">
            <a:spAutoFit/>
          </a:bodyPr>
          <a:lstStyle/>
          <a:p>
            <a:pPr algn="ctr"/>
            <a:r>
              <a:rPr lang="en-US" sz="1600" b="1" dirty="0"/>
              <a:t>channel: digital-twin</a:t>
            </a:r>
          </a:p>
        </p:txBody>
      </p:sp>
      <p:sp>
        <p:nvSpPr>
          <p:cNvPr id="4" name="Rectangle: Rounded Corners 3">
            <a:extLst>
              <a:ext uri="{FF2B5EF4-FFF2-40B4-BE49-F238E27FC236}">
                <a16:creationId xmlns:a16="http://schemas.microsoft.com/office/drawing/2014/main" id="{05123F66-24CB-5944-98D9-3F6AE2C154B3}"/>
              </a:ext>
            </a:extLst>
          </p:cNvPr>
          <p:cNvSpPr/>
          <p:nvPr/>
        </p:nvSpPr>
        <p:spPr>
          <a:xfrm>
            <a:off x="5493304" y="3652014"/>
            <a:ext cx="6185516" cy="1643582"/>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3B47B74B-E0EC-9E24-CC20-0A85A4E48943}"/>
              </a:ext>
            </a:extLst>
          </p:cNvPr>
          <p:cNvSpPr txBox="1"/>
          <p:nvPr/>
        </p:nvSpPr>
        <p:spPr>
          <a:xfrm>
            <a:off x="5566016" y="4575846"/>
            <a:ext cx="5870423" cy="553998"/>
          </a:xfrm>
          <a:prstGeom prst="rect">
            <a:avLst/>
          </a:prstGeom>
          <a:noFill/>
        </p:spPr>
        <p:txBody>
          <a:bodyPr wrap="square" rtlCol="0">
            <a:spAutoFit/>
          </a:bodyPr>
          <a:lstStyle/>
          <a:p>
            <a:r>
              <a:rPr lang="en-US" sz="1000" b="1" dirty="0">
                <a:solidFill>
                  <a:schemeClr val="tx2">
                    <a:lumMod val="75000"/>
                    <a:lumOff val="25000"/>
                  </a:schemeClr>
                </a:solidFill>
                <a:latin typeface="+mj-lt"/>
              </a:rPr>
              <a:t>Track GHG Emissions and Report                     / </a:t>
            </a:r>
          </a:p>
          <a:p>
            <a:r>
              <a:rPr lang="en-US" sz="1000" b="1" dirty="0">
                <a:latin typeface="+mj-lt"/>
              </a:rPr>
              <a:t>state variable: </a:t>
            </a:r>
            <a:r>
              <a:rPr lang="en-US" sz="1000" b="1" dirty="0">
                <a:solidFill>
                  <a:schemeClr val="tx2">
                    <a:lumMod val="75000"/>
                    <a:lumOff val="25000"/>
                  </a:schemeClr>
                </a:solidFill>
                <a:latin typeface="+mj-lt"/>
              </a:rPr>
              <a:t> </a:t>
            </a:r>
            <a:r>
              <a:rPr lang="en-US" sz="1000" b="1" dirty="0">
                <a:latin typeface="+mj-lt"/>
              </a:rPr>
              <a:t>baseline/expected emissions</a:t>
            </a:r>
            <a:r>
              <a:rPr lang="en-US" sz="1000" b="1" dirty="0">
                <a:solidFill>
                  <a:schemeClr val="tx2">
                    <a:lumMod val="75000"/>
                    <a:lumOff val="25000"/>
                  </a:schemeClr>
                </a:solidFill>
                <a:latin typeface="+mj-lt"/>
              </a:rPr>
              <a:t>                </a:t>
            </a:r>
          </a:p>
          <a:p>
            <a:r>
              <a:rPr lang="en-US" sz="1000" b="1" dirty="0">
                <a:latin typeface="+mj-lt"/>
              </a:rPr>
              <a:t>state variable : emission running total</a:t>
            </a:r>
          </a:p>
        </p:txBody>
      </p:sp>
      <p:sp>
        <p:nvSpPr>
          <p:cNvPr id="5" name="Rectangle 4">
            <a:extLst>
              <a:ext uri="{FF2B5EF4-FFF2-40B4-BE49-F238E27FC236}">
                <a16:creationId xmlns:a16="http://schemas.microsoft.com/office/drawing/2014/main" id="{BF6EB57D-98C6-F89E-4357-5BB332D0CF84}"/>
              </a:ext>
            </a:extLst>
          </p:cNvPr>
          <p:cNvSpPr/>
          <p:nvPr/>
        </p:nvSpPr>
        <p:spPr>
          <a:xfrm>
            <a:off x="6192462" y="2601155"/>
            <a:ext cx="879025" cy="4534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A879C13-290F-A2BA-DD2B-7D71B02BB584}"/>
              </a:ext>
            </a:extLst>
          </p:cNvPr>
          <p:cNvSpPr txBox="1"/>
          <p:nvPr/>
        </p:nvSpPr>
        <p:spPr>
          <a:xfrm>
            <a:off x="6327285" y="2595762"/>
            <a:ext cx="633923" cy="215444"/>
          </a:xfrm>
          <a:prstGeom prst="rect">
            <a:avLst/>
          </a:prstGeom>
          <a:noFill/>
        </p:spPr>
        <p:txBody>
          <a:bodyPr wrap="square" rtlCol="0">
            <a:spAutoFit/>
          </a:bodyPr>
          <a:lstStyle/>
          <a:p>
            <a:pPr algn="ctr"/>
            <a:r>
              <a:rPr lang="en-US" sz="800" dirty="0">
                <a:latin typeface="+mj-lt"/>
              </a:rPr>
              <a:t>Block: n+ 1</a:t>
            </a:r>
          </a:p>
        </p:txBody>
      </p:sp>
      <p:sp>
        <p:nvSpPr>
          <p:cNvPr id="33" name="TextBox 32">
            <a:extLst>
              <a:ext uri="{FF2B5EF4-FFF2-40B4-BE49-F238E27FC236}">
                <a16:creationId xmlns:a16="http://schemas.microsoft.com/office/drawing/2014/main" id="{E5A98CDD-21D7-8D9F-91F6-BEA04C1ED8B8}"/>
              </a:ext>
            </a:extLst>
          </p:cNvPr>
          <p:cNvSpPr txBox="1"/>
          <p:nvPr/>
        </p:nvSpPr>
        <p:spPr>
          <a:xfrm>
            <a:off x="6140407" y="2747759"/>
            <a:ext cx="1001044" cy="338554"/>
          </a:xfrm>
          <a:prstGeom prst="rect">
            <a:avLst/>
          </a:prstGeom>
          <a:noFill/>
        </p:spPr>
        <p:txBody>
          <a:bodyPr wrap="square" rtlCol="0">
            <a:spAutoFit/>
          </a:bodyPr>
          <a:lstStyle/>
          <a:p>
            <a:pPr algn="ctr"/>
            <a:r>
              <a:rPr lang="en-US" sz="800" b="1" dirty="0">
                <a:latin typeface="+mj-lt"/>
              </a:rPr>
              <a:t>Supply chain </a:t>
            </a:r>
          </a:p>
          <a:p>
            <a:r>
              <a:rPr lang="en-US" sz="800" b="1" dirty="0">
                <a:latin typeface="+mj-lt"/>
              </a:rPr>
              <a:t>seg 1 baseline value</a:t>
            </a:r>
          </a:p>
        </p:txBody>
      </p:sp>
      <p:sp>
        <p:nvSpPr>
          <p:cNvPr id="45" name="TextBox 44">
            <a:extLst>
              <a:ext uri="{FF2B5EF4-FFF2-40B4-BE49-F238E27FC236}">
                <a16:creationId xmlns:a16="http://schemas.microsoft.com/office/drawing/2014/main" id="{A3B3C4F4-36E7-6FF0-016B-3DF8642ACBE6}"/>
              </a:ext>
            </a:extLst>
          </p:cNvPr>
          <p:cNvSpPr txBox="1"/>
          <p:nvPr/>
        </p:nvSpPr>
        <p:spPr>
          <a:xfrm>
            <a:off x="5651091" y="5087946"/>
            <a:ext cx="1784083" cy="253916"/>
          </a:xfrm>
          <a:prstGeom prst="rect">
            <a:avLst/>
          </a:prstGeom>
          <a:noFill/>
        </p:spPr>
        <p:txBody>
          <a:bodyPr wrap="square" rtlCol="0">
            <a:spAutoFit/>
          </a:bodyPr>
          <a:lstStyle/>
          <a:p>
            <a:r>
              <a:rPr lang="en-US" sz="1050" b="1" dirty="0">
                <a:solidFill>
                  <a:srgbClr val="FF0000"/>
                </a:solidFill>
              </a:rPr>
              <a:t>Smart Contract</a:t>
            </a:r>
          </a:p>
        </p:txBody>
      </p:sp>
      <p:sp>
        <p:nvSpPr>
          <p:cNvPr id="59" name="Rectangle: Folded Corner 58">
            <a:extLst>
              <a:ext uri="{FF2B5EF4-FFF2-40B4-BE49-F238E27FC236}">
                <a16:creationId xmlns:a16="http://schemas.microsoft.com/office/drawing/2014/main" id="{5030177E-6D2B-2FBB-44AE-064AAE5B8365}"/>
              </a:ext>
            </a:extLst>
          </p:cNvPr>
          <p:cNvSpPr/>
          <p:nvPr/>
        </p:nvSpPr>
        <p:spPr>
          <a:xfrm>
            <a:off x="5472677" y="701577"/>
            <a:ext cx="1941379" cy="606461"/>
          </a:xfrm>
          <a:prstGeom prst="foldedCorne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69431466-9F89-839C-7897-10C817C4C421}"/>
              </a:ext>
            </a:extLst>
          </p:cNvPr>
          <p:cNvCxnSpPr>
            <a:cxnSpLocks/>
          </p:cNvCxnSpPr>
          <p:nvPr/>
        </p:nvCxnSpPr>
        <p:spPr>
          <a:xfrm>
            <a:off x="5799808" y="1344033"/>
            <a:ext cx="0" cy="2280332"/>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C4201C03-87D6-45B1-678A-548013F55C11}"/>
              </a:ext>
            </a:extLst>
          </p:cNvPr>
          <p:cNvSpPr txBox="1"/>
          <p:nvPr/>
        </p:nvSpPr>
        <p:spPr>
          <a:xfrm>
            <a:off x="5463066" y="710810"/>
            <a:ext cx="2204043" cy="600164"/>
          </a:xfrm>
          <a:prstGeom prst="rect">
            <a:avLst/>
          </a:prstGeom>
          <a:noFill/>
        </p:spPr>
        <p:txBody>
          <a:bodyPr wrap="square" rtlCol="0">
            <a:spAutoFit/>
          </a:bodyPr>
          <a:lstStyle/>
          <a:p>
            <a:r>
              <a:rPr lang="en-US" sz="1100" b="1" dirty="0"/>
              <a:t>Company A is an organization </a:t>
            </a:r>
            <a:r>
              <a:rPr lang="en-US" sz="1100" dirty="0"/>
              <a:t>approved through MSP to send transactions to this blockchain.  </a:t>
            </a:r>
          </a:p>
        </p:txBody>
      </p:sp>
      <p:sp>
        <p:nvSpPr>
          <p:cNvPr id="73" name="TextBox 72">
            <a:extLst>
              <a:ext uri="{FF2B5EF4-FFF2-40B4-BE49-F238E27FC236}">
                <a16:creationId xmlns:a16="http://schemas.microsoft.com/office/drawing/2014/main" id="{FF476C09-A474-501D-D180-3C8E1DBE50B9}"/>
              </a:ext>
            </a:extLst>
          </p:cNvPr>
          <p:cNvSpPr txBox="1"/>
          <p:nvPr/>
        </p:nvSpPr>
        <p:spPr>
          <a:xfrm>
            <a:off x="5730000" y="1638286"/>
            <a:ext cx="1875364" cy="261610"/>
          </a:xfrm>
          <a:prstGeom prst="rect">
            <a:avLst/>
          </a:prstGeom>
          <a:noFill/>
        </p:spPr>
        <p:txBody>
          <a:bodyPr wrap="square" rtlCol="0">
            <a:spAutoFit/>
          </a:bodyPr>
          <a:lstStyle/>
          <a:p>
            <a:r>
              <a:rPr lang="en-US" sz="1100" b="1" dirty="0"/>
              <a:t>data -&gt; transaction request</a:t>
            </a:r>
          </a:p>
        </p:txBody>
      </p:sp>
      <p:cxnSp>
        <p:nvCxnSpPr>
          <p:cNvPr id="16" name="Straight Arrow Connector 15">
            <a:extLst>
              <a:ext uri="{FF2B5EF4-FFF2-40B4-BE49-F238E27FC236}">
                <a16:creationId xmlns:a16="http://schemas.microsoft.com/office/drawing/2014/main" id="{CB67244D-19D0-9464-DFF7-EC3B3965EC24}"/>
              </a:ext>
            </a:extLst>
          </p:cNvPr>
          <p:cNvCxnSpPr>
            <a:cxnSpLocks/>
            <a:stCxn id="5" idx="3"/>
            <a:endCxn id="96" idx="1"/>
          </p:cNvCxnSpPr>
          <p:nvPr/>
        </p:nvCxnSpPr>
        <p:spPr>
          <a:xfrm flipV="1">
            <a:off x="7071487" y="2823487"/>
            <a:ext cx="419266" cy="4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F863F30-FB11-E453-68D5-B9206F6E1B4E}"/>
              </a:ext>
            </a:extLst>
          </p:cNvPr>
          <p:cNvCxnSpPr/>
          <p:nvPr/>
        </p:nvCxnSpPr>
        <p:spPr>
          <a:xfrm>
            <a:off x="6350065" y="2774836"/>
            <a:ext cx="52944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B17FE038-B560-9FA7-E8D1-87CC6E74EFD7}"/>
              </a:ext>
            </a:extLst>
          </p:cNvPr>
          <p:cNvSpPr txBox="1"/>
          <p:nvPr/>
        </p:nvSpPr>
        <p:spPr>
          <a:xfrm>
            <a:off x="7414063" y="2743200"/>
            <a:ext cx="1001044" cy="338554"/>
          </a:xfrm>
          <a:prstGeom prst="rect">
            <a:avLst/>
          </a:prstGeom>
          <a:noFill/>
        </p:spPr>
        <p:txBody>
          <a:bodyPr wrap="square" rtlCol="0">
            <a:spAutoFit/>
          </a:bodyPr>
          <a:lstStyle/>
          <a:p>
            <a:pPr algn="ctr"/>
            <a:r>
              <a:rPr lang="en-US" sz="800" b="1" dirty="0">
                <a:latin typeface="+mj-lt"/>
              </a:rPr>
              <a:t>Supply chain </a:t>
            </a:r>
          </a:p>
          <a:p>
            <a:pPr algn="ctr"/>
            <a:r>
              <a:rPr lang="en-US" sz="800" b="1" dirty="0">
                <a:latin typeface="+mj-lt"/>
              </a:rPr>
              <a:t>seg 2 baseline value</a:t>
            </a:r>
          </a:p>
        </p:txBody>
      </p:sp>
      <p:sp>
        <p:nvSpPr>
          <p:cNvPr id="96" name="Rectangle 95">
            <a:extLst>
              <a:ext uri="{FF2B5EF4-FFF2-40B4-BE49-F238E27FC236}">
                <a16:creationId xmlns:a16="http://schemas.microsoft.com/office/drawing/2014/main" id="{BF609463-4390-A1AA-D01C-5A1BED63C2A4}"/>
              </a:ext>
            </a:extLst>
          </p:cNvPr>
          <p:cNvSpPr/>
          <p:nvPr/>
        </p:nvSpPr>
        <p:spPr>
          <a:xfrm>
            <a:off x="7490753" y="2596767"/>
            <a:ext cx="879025" cy="4534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FBE332CC-8249-9CC6-A58D-6025F7662596}"/>
              </a:ext>
            </a:extLst>
          </p:cNvPr>
          <p:cNvSpPr/>
          <p:nvPr/>
        </p:nvSpPr>
        <p:spPr>
          <a:xfrm>
            <a:off x="8798405" y="2598976"/>
            <a:ext cx="879025" cy="4534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6BF73369-4819-CE69-EC76-343E3A3DEF3D}"/>
              </a:ext>
            </a:extLst>
          </p:cNvPr>
          <p:cNvSpPr/>
          <p:nvPr/>
        </p:nvSpPr>
        <p:spPr>
          <a:xfrm>
            <a:off x="10078187" y="2599677"/>
            <a:ext cx="879025" cy="4534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0" name="Straight Connector 99">
            <a:extLst>
              <a:ext uri="{FF2B5EF4-FFF2-40B4-BE49-F238E27FC236}">
                <a16:creationId xmlns:a16="http://schemas.microsoft.com/office/drawing/2014/main" id="{DB5E6597-A47C-415B-0C37-633DF4193B1A}"/>
              </a:ext>
            </a:extLst>
          </p:cNvPr>
          <p:cNvCxnSpPr/>
          <p:nvPr/>
        </p:nvCxnSpPr>
        <p:spPr>
          <a:xfrm>
            <a:off x="7646159" y="2774836"/>
            <a:ext cx="52944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6170D58D-E074-E171-BE3F-D215E3D69157}"/>
              </a:ext>
            </a:extLst>
          </p:cNvPr>
          <p:cNvSpPr txBox="1"/>
          <p:nvPr/>
        </p:nvSpPr>
        <p:spPr>
          <a:xfrm>
            <a:off x="7589767" y="2596896"/>
            <a:ext cx="633923" cy="215444"/>
          </a:xfrm>
          <a:prstGeom prst="rect">
            <a:avLst/>
          </a:prstGeom>
          <a:noFill/>
        </p:spPr>
        <p:txBody>
          <a:bodyPr wrap="square" rtlCol="0">
            <a:spAutoFit/>
          </a:bodyPr>
          <a:lstStyle/>
          <a:p>
            <a:pPr algn="ctr"/>
            <a:r>
              <a:rPr lang="en-US" sz="800" dirty="0">
                <a:latin typeface="+mj-lt"/>
              </a:rPr>
              <a:t>Block: n+ 2</a:t>
            </a:r>
          </a:p>
        </p:txBody>
      </p:sp>
      <p:cxnSp>
        <p:nvCxnSpPr>
          <p:cNvPr id="102" name="Straight Arrow Connector 101">
            <a:extLst>
              <a:ext uri="{FF2B5EF4-FFF2-40B4-BE49-F238E27FC236}">
                <a16:creationId xmlns:a16="http://schemas.microsoft.com/office/drawing/2014/main" id="{95E16B95-2E9C-C034-1DA2-3484363D1765}"/>
              </a:ext>
            </a:extLst>
          </p:cNvPr>
          <p:cNvCxnSpPr>
            <a:cxnSpLocks/>
          </p:cNvCxnSpPr>
          <p:nvPr/>
        </p:nvCxnSpPr>
        <p:spPr>
          <a:xfrm flipV="1">
            <a:off x="8381072" y="2819099"/>
            <a:ext cx="419266" cy="4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72EBC91D-A7E8-0820-F48E-61F0BE4DA056}"/>
              </a:ext>
            </a:extLst>
          </p:cNvPr>
          <p:cNvSpPr txBox="1"/>
          <p:nvPr/>
        </p:nvSpPr>
        <p:spPr>
          <a:xfrm>
            <a:off x="8746125" y="2743200"/>
            <a:ext cx="1001044" cy="338554"/>
          </a:xfrm>
          <a:prstGeom prst="rect">
            <a:avLst/>
          </a:prstGeom>
          <a:noFill/>
        </p:spPr>
        <p:txBody>
          <a:bodyPr wrap="square" rtlCol="0">
            <a:spAutoFit/>
          </a:bodyPr>
          <a:lstStyle/>
          <a:p>
            <a:pPr algn="ctr"/>
            <a:r>
              <a:rPr lang="en-US" sz="800" b="1" dirty="0">
                <a:latin typeface="+mj-lt"/>
              </a:rPr>
              <a:t>Supply chain </a:t>
            </a:r>
          </a:p>
          <a:p>
            <a:pPr algn="ctr"/>
            <a:r>
              <a:rPr lang="en-US" sz="800" b="1" dirty="0">
                <a:latin typeface="+mj-lt"/>
              </a:rPr>
              <a:t>seg 3 baseline value</a:t>
            </a:r>
          </a:p>
        </p:txBody>
      </p:sp>
      <p:sp>
        <p:nvSpPr>
          <p:cNvPr id="104" name="TextBox 103">
            <a:extLst>
              <a:ext uri="{FF2B5EF4-FFF2-40B4-BE49-F238E27FC236}">
                <a16:creationId xmlns:a16="http://schemas.microsoft.com/office/drawing/2014/main" id="{9675378C-4C3A-73CA-BDC7-CF2DDB9A33A0}"/>
              </a:ext>
            </a:extLst>
          </p:cNvPr>
          <p:cNvSpPr txBox="1"/>
          <p:nvPr/>
        </p:nvSpPr>
        <p:spPr>
          <a:xfrm>
            <a:off x="8906727" y="2602956"/>
            <a:ext cx="633923" cy="215444"/>
          </a:xfrm>
          <a:prstGeom prst="rect">
            <a:avLst/>
          </a:prstGeom>
          <a:noFill/>
        </p:spPr>
        <p:txBody>
          <a:bodyPr wrap="square" rtlCol="0">
            <a:spAutoFit/>
          </a:bodyPr>
          <a:lstStyle/>
          <a:p>
            <a:pPr algn="ctr"/>
            <a:r>
              <a:rPr lang="en-US" sz="800" dirty="0">
                <a:latin typeface="+mj-lt"/>
              </a:rPr>
              <a:t>Block: n+ 3</a:t>
            </a:r>
          </a:p>
        </p:txBody>
      </p:sp>
      <p:cxnSp>
        <p:nvCxnSpPr>
          <p:cNvPr id="105" name="Straight Connector 104">
            <a:extLst>
              <a:ext uri="{FF2B5EF4-FFF2-40B4-BE49-F238E27FC236}">
                <a16:creationId xmlns:a16="http://schemas.microsoft.com/office/drawing/2014/main" id="{A094210B-8B12-1995-F101-768BD1C01510}"/>
              </a:ext>
            </a:extLst>
          </p:cNvPr>
          <p:cNvCxnSpPr/>
          <p:nvPr/>
        </p:nvCxnSpPr>
        <p:spPr>
          <a:xfrm>
            <a:off x="8973193" y="2774836"/>
            <a:ext cx="529447"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75DC385D-4F87-6479-E2CB-2C5D158A9733}"/>
              </a:ext>
            </a:extLst>
          </p:cNvPr>
          <p:cNvCxnSpPr/>
          <p:nvPr/>
        </p:nvCxnSpPr>
        <p:spPr>
          <a:xfrm>
            <a:off x="10252975" y="2785515"/>
            <a:ext cx="529447"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4F73C1C5-4512-0CC0-0E1C-3E5051F7ED99}"/>
              </a:ext>
            </a:extLst>
          </p:cNvPr>
          <p:cNvCxnSpPr>
            <a:cxnSpLocks/>
          </p:cNvCxnSpPr>
          <p:nvPr/>
        </p:nvCxnSpPr>
        <p:spPr>
          <a:xfrm flipV="1">
            <a:off x="9661354" y="2828113"/>
            <a:ext cx="419266" cy="4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57294ED4-90A7-0A50-1956-051F7885634F}"/>
              </a:ext>
            </a:extLst>
          </p:cNvPr>
          <p:cNvSpPr txBox="1"/>
          <p:nvPr/>
        </p:nvSpPr>
        <p:spPr>
          <a:xfrm>
            <a:off x="10018394" y="2757206"/>
            <a:ext cx="1001044" cy="338554"/>
          </a:xfrm>
          <a:prstGeom prst="rect">
            <a:avLst/>
          </a:prstGeom>
          <a:noFill/>
        </p:spPr>
        <p:txBody>
          <a:bodyPr wrap="square" rtlCol="0">
            <a:spAutoFit/>
          </a:bodyPr>
          <a:lstStyle/>
          <a:p>
            <a:pPr algn="ctr"/>
            <a:r>
              <a:rPr lang="en-US" sz="800" b="1" dirty="0">
                <a:latin typeface="+mj-lt"/>
              </a:rPr>
              <a:t>Supply chain </a:t>
            </a:r>
          </a:p>
          <a:p>
            <a:pPr algn="ctr"/>
            <a:r>
              <a:rPr lang="en-US" sz="800" b="1" dirty="0">
                <a:latin typeface="+mj-lt"/>
              </a:rPr>
              <a:t>seg 4 baseline value</a:t>
            </a:r>
          </a:p>
        </p:txBody>
      </p:sp>
      <p:sp>
        <p:nvSpPr>
          <p:cNvPr id="109" name="TextBox 108">
            <a:extLst>
              <a:ext uri="{FF2B5EF4-FFF2-40B4-BE49-F238E27FC236}">
                <a16:creationId xmlns:a16="http://schemas.microsoft.com/office/drawing/2014/main" id="{8C44E0E0-5384-5951-448E-D0F3AEB3082C}"/>
              </a:ext>
            </a:extLst>
          </p:cNvPr>
          <p:cNvSpPr txBox="1"/>
          <p:nvPr/>
        </p:nvSpPr>
        <p:spPr>
          <a:xfrm>
            <a:off x="10144526" y="2606620"/>
            <a:ext cx="767285" cy="215444"/>
          </a:xfrm>
          <a:prstGeom prst="rect">
            <a:avLst/>
          </a:prstGeom>
          <a:noFill/>
        </p:spPr>
        <p:txBody>
          <a:bodyPr wrap="square" rtlCol="0">
            <a:spAutoFit/>
          </a:bodyPr>
          <a:lstStyle/>
          <a:p>
            <a:pPr algn="ctr"/>
            <a:r>
              <a:rPr lang="en-US" sz="800" dirty="0">
                <a:latin typeface="+mj-lt"/>
              </a:rPr>
              <a:t>Latest Block</a:t>
            </a:r>
          </a:p>
        </p:txBody>
      </p:sp>
      <p:sp>
        <p:nvSpPr>
          <p:cNvPr id="111" name="Oval 110">
            <a:extLst>
              <a:ext uri="{FF2B5EF4-FFF2-40B4-BE49-F238E27FC236}">
                <a16:creationId xmlns:a16="http://schemas.microsoft.com/office/drawing/2014/main" id="{0B5EC041-4199-8495-D1DC-462EC484FF85}"/>
              </a:ext>
            </a:extLst>
          </p:cNvPr>
          <p:cNvSpPr/>
          <p:nvPr/>
        </p:nvSpPr>
        <p:spPr>
          <a:xfrm>
            <a:off x="5445009" y="1659435"/>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endParaRPr lang="en-US" dirty="0">
              <a:solidFill>
                <a:schemeClr val="tx1"/>
              </a:solidFill>
            </a:endParaRPr>
          </a:p>
        </p:txBody>
      </p:sp>
      <p:cxnSp>
        <p:nvCxnSpPr>
          <p:cNvPr id="112" name="Straight Arrow Connector 111">
            <a:extLst>
              <a:ext uri="{FF2B5EF4-FFF2-40B4-BE49-F238E27FC236}">
                <a16:creationId xmlns:a16="http://schemas.microsoft.com/office/drawing/2014/main" id="{DE36912B-B573-BA7B-B814-8AFE3B0B3C88}"/>
              </a:ext>
            </a:extLst>
          </p:cNvPr>
          <p:cNvCxnSpPr>
            <a:cxnSpLocks/>
          </p:cNvCxnSpPr>
          <p:nvPr/>
        </p:nvCxnSpPr>
        <p:spPr>
          <a:xfrm flipV="1">
            <a:off x="10943387" y="2832588"/>
            <a:ext cx="419266" cy="4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A8310CB-2827-1788-AFC1-53CEAB0A3299}"/>
              </a:ext>
            </a:extLst>
          </p:cNvPr>
          <p:cNvCxnSpPr>
            <a:cxnSpLocks/>
          </p:cNvCxnSpPr>
          <p:nvPr/>
        </p:nvCxnSpPr>
        <p:spPr>
          <a:xfrm>
            <a:off x="6625608" y="3050123"/>
            <a:ext cx="0" cy="601891"/>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24018AC6-5CBE-C525-3299-F8941B3BB120}"/>
              </a:ext>
            </a:extLst>
          </p:cNvPr>
          <p:cNvCxnSpPr>
            <a:cxnSpLocks/>
          </p:cNvCxnSpPr>
          <p:nvPr/>
        </p:nvCxnSpPr>
        <p:spPr>
          <a:xfrm>
            <a:off x="7939216" y="3050123"/>
            <a:ext cx="0" cy="601891"/>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96783D49-B919-D124-33D4-AE23CB341505}"/>
              </a:ext>
            </a:extLst>
          </p:cNvPr>
          <p:cNvCxnSpPr>
            <a:cxnSpLocks/>
          </p:cNvCxnSpPr>
          <p:nvPr/>
        </p:nvCxnSpPr>
        <p:spPr>
          <a:xfrm>
            <a:off x="10561832" y="3050123"/>
            <a:ext cx="0" cy="601891"/>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23A389D6-D05A-02E6-E348-EAB49713EC32}"/>
              </a:ext>
            </a:extLst>
          </p:cNvPr>
          <p:cNvCxnSpPr>
            <a:cxnSpLocks/>
          </p:cNvCxnSpPr>
          <p:nvPr/>
        </p:nvCxnSpPr>
        <p:spPr>
          <a:xfrm>
            <a:off x="9223688" y="3050123"/>
            <a:ext cx="0" cy="601891"/>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C9B1631B-733A-F9FB-0A69-D2BC58C6A39A}"/>
              </a:ext>
            </a:extLst>
          </p:cNvPr>
          <p:cNvSpPr txBox="1"/>
          <p:nvPr/>
        </p:nvSpPr>
        <p:spPr>
          <a:xfrm>
            <a:off x="5608909" y="3664792"/>
            <a:ext cx="5943435" cy="861774"/>
          </a:xfrm>
          <a:prstGeom prst="rect">
            <a:avLst/>
          </a:prstGeom>
          <a:noFill/>
        </p:spPr>
        <p:txBody>
          <a:bodyPr wrap="square" rtlCol="0">
            <a:spAutoFit/>
          </a:bodyPr>
          <a:lstStyle/>
          <a:p>
            <a:pPr marL="171450" indent="-171450">
              <a:buFont typeface="Arial" panose="020B0604020202020204" pitchFamily="34" charset="0"/>
              <a:buChar char="•"/>
            </a:pPr>
            <a:r>
              <a:rPr lang="en-US" sz="1000" b="1" dirty="0">
                <a:latin typeface="+mj-lt"/>
              </a:rPr>
              <a:t>smart contract collects data in real time, creates a transaction to place  data in the next block</a:t>
            </a:r>
          </a:p>
          <a:p>
            <a:pPr marL="171450" indent="-171450">
              <a:buFont typeface="Arial" panose="020B0604020202020204" pitchFamily="34" charset="0"/>
              <a:buChar char="•"/>
            </a:pPr>
            <a:r>
              <a:rPr lang="en-US" sz="1000" b="1" dirty="0">
                <a:latin typeface="+mj-lt"/>
              </a:rPr>
              <a:t>GHG emission baselines are collected from the blockchain. Baselines and state variables represent expected emissions for that particular portion of the supply chain(i.e. truck, boat, original manufacturer).</a:t>
            </a:r>
          </a:p>
          <a:p>
            <a:pPr marL="171450" indent="-171450">
              <a:buFont typeface="Arial" panose="020B0604020202020204" pitchFamily="34" charset="0"/>
              <a:buChar char="•"/>
            </a:pPr>
            <a:r>
              <a:rPr lang="en-US" sz="1000" b="1" dirty="0">
                <a:latin typeface="+mj-lt"/>
              </a:rPr>
              <a:t>at the start of the supply chain, emissions data are collected real-time and compared against expected emission per mile, or time, or other metric.</a:t>
            </a:r>
          </a:p>
        </p:txBody>
      </p:sp>
      <p:cxnSp>
        <p:nvCxnSpPr>
          <p:cNvPr id="129" name="Straight Arrow Connector 128">
            <a:extLst>
              <a:ext uri="{FF2B5EF4-FFF2-40B4-BE49-F238E27FC236}">
                <a16:creationId xmlns:a16="http://schemas.microsoft.com/office/drawing/2014/main" id="{13EF6D2D-8128-73D1-5FC1-F6D73E2BF30E}"/>
              </a:ext>
            </a:extLst>
          </p:cNvPr>
          <p:cNvCxnSpPr>
            <a:cxnSpLocks/>
          </p:cNvCxnSpPr>
          <p:nvPr/>
        </p:nvCxnSpPr>
        <p:spPr>
          <a:xfrm>
            <a:off x="6852057" y="5315665"/>
            <a:ext cx="0" cy="212352"/>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481551AA-F170-5236-761C-882692EADAA3}"/>
              </a:ext>
            </a:extLst>
          </p:cNvPr>
          <p:cNvCxnSpPr>
            <a:cxnSpLocks/>
          </p:cNvCxnSpPr>
          <p:nvPr/>
        </p:nvCxnSpPr>
        <p:spPr>
          <a:xfrm>
            <a:off x="5651091" y="4529651"/>
            <a:ext cx="5901253"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30BBC98C-909B-8A1F-91AD-C7B7E5030C68}"/>
              </a:ext>
            </a:extLst>
          </p:cNvPr>
          <p:cNvSpPr txBox="1"/>
          <p:nvPr/>
        </p:nvSpPr>
        <p:spPr>
          <a:xfrm>
            <a:off x="7898103" y="4586588"/>
            <a:ext cx="3348078" cy="707886"/>
          </a:xfrm>
          <a:prstGeom prst="rect">
            <a:avLst/>
          </a:prstGeom>
          <a:noFill/>
        </p:spPr>
        <p:txBody>
          <a:bodyPr wrap="square" rtlCol="0">
            <a:spAutoFit/>
          </a:bodyPr>
          <a:lstStyle/>
          <a:p>
            <a:r>
              <a:rPr lang="en-US" sz="1000" dirty="0"/>
              <a:t> </a:t>
            </a:r>
            <a:r>
              <a:rPr lang="en-US" sz="1000" b="1" dirty="0">
                <a:solidFill>
                  <a:schemeClr val="tx2">
                    <a:lumMod val="75000"/>
                    <a:lumOff val="25000"/>
                  </a:schemeClr>
                </a:solidFill>
                <a:latin typeface="+mj-lt"/>
              </a:rPr>
              <a:t>Real Time Tracking of GHG Emission(s) against Baseline </a:t>
            </a:r>
          </a:p>
          <a:p>
            <a:r>
              <a:rPr lang="en-US" sz="1000" b="1" dirty="0">
                <a:solidFill>
                  <a:schemeClr val="tx2">
                    <a:lumMod val="75000"/>
                    <a:lumOff val="25000"/>
                  </a:schemeClr>
                </a:solidFill>
                <a:latin typeface="+mj-lt"/>
              </a:rPr>
              <a:t>      - report </a:t>
            </a:r>
            <a:r>
              <a:rPr lang="en-US" sz="1000" b="1" dirty="0">
                <a:solidFill>
                  <a:schemeClr val="accent1"/>
                </a:solidFill>
                <a:latin typeface="+mj-lt"/>
              </a:rPr>
              <a:t>status</a:t>
            </a:r>
            <a:r>
              <a:rPr lang="en-US" sz="1000" b="1" dirty="0">
                <a:solidFill>
                  <a:schemeClr val="tx2">
                    <a:lumMod val="75000"/>
                    <a:lumOff val="25000"/>
                  </a:schemeClr>
                </a:solidFill>
                <a:latin typeface="+mj-lt"/>
              </a:rPr>
              <a:t> on current emissions for the segment of </a:t>
            </a:r>
            <a:r>
              <a:rPr lang="en-US" sz="1000" b="1" dirty="0">
                <a:solidFill>
                  <a:srgbClr val="FF0000"/>
                </a:solidFill>
                <a:latin typeface="+mj-lt"/>
              </a:rPr>
              <a:t>the</a:t>
            </a:r>
          </a:p>
          <a:p>
            <a:r>
              <a:rPr lang="en-US" sz="1000" b="1" dirty="0">
                <a:solidFill>
                  <a:srgbClr val="FF0000"/>
                </a:solidFill>
                <a:latin typeface="+mj-lt"/>
              </a:rPr>
              <a:t>         supply chain </a:t>
            </a:r>
            <a:r>
              <a:rPr lang="en-US" sz="1000" b="1" dirty="0">
                <a:solidFill>
                  <a:schemeClr val="tx2">
                    <a:lumMod val="75000"/>
                    <a:lumOff val="25000"/>
                  </a:schemeClr>
                </a:solidFill>
                <a:latin typeface="+mj-lt"/>
              </a:rPr>
              <a:t>tracked</a:t>
            </a:r>
          </a:p>
          <a:p>
            <a:r>
              <a:rPr lang="en-US" sz="1000" b="1" dirty="0">
                <a:solidFill>
                  <a:schemeClr val="tx2">
                    <a:lumMod val="75000"/>
                    <a:lumOff val="25000"/>
                  </a:schemeClr>
                </a:solidFill>
                <a:latin typeface="+mj-lt"/>
              </a:rPr>
              <a:t>      - send alerts and display on interactive dashboard</a:t>
            </a:r>
            <a:endParaRPr lang="en-US" sz="1000" dirty="0"/>
          </a:p>
        </p:txBody>
      </p:sp>
      <p:pic>
        <p:nvPicPr>
          <p:cNvPr id="7170" name="Picture 2" descr="Hyperledger Explorer quick start. Screenshots and ...">
            <a:extLst>
              <a:ext uri="{FF2B5EF4-FFF2-40B4-BE49-F238E27FC236}">
                <a16:creationId xmlns:a16="http://schemas.microsoft.com/office/drawing/2014/main" id="{ABE4BC38-9837-96B8-45ED-77CBEAD827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3243" y="5503072"/>
            <a:ext cx="911484" cy="585779"/>
          </a:xfrm>
          <a:prstGeom prst="rect">
            <a:avLst/>
          </a:prstGeom>
          <a:noFill/>
          <a:extLst>
            <a:ext uri="{909E8E84-426E-40DD-AFC4-6F175D3DCCD1}">
              <a14:hiddenFill xmlns:a14="http://schemas.microsoft.com/office/drawing/2010/main">
                <a:solidFill>
                  <a:srgbClr val="FFFFFF"/>
                </a:solidFill>
              </a14:hiddenFill>
            </a:ext>
          </a:extLst>
        </p:spPr>
      </p:pic>
      <p:sp>
        <p:nvSpPr>
          <p:cNvPr id="140" name="TextBox 139">
            <a:extLst>
              <a:ext uri="{FF2B5EF4-FFF2-40B4-BE49-F238E27FC236}">
                <a16:creationId xmlns:a16="http://schemas.microsoft.com/office/drawing/2014/main" id="{6D34BBE1-9FB8-22E7-48E7-645E54CBD1A2}"/>
              </a:ext>
            </a:extLst>
          </p:cNvPr>
          <p:cNvSpPr txBox="1"/>
          <p:nvPr/>
        </p:nvSpPr>
        <p:spPr>
          <a:xfrm>
            <a:off x="7367617" y="5306403"/>
            <a:ext cx="3366319" cy="1384995"/>
          </a:xfrm>
          <a:prstGeom prst="rect">
            <a:avLst/>
          </a:prstGeom>
          <a:noFill/>
        </p:spPr>
        <p:txBody>
          <a:bodyPr wrap="square" rtlCol="0">
            <a:spAutoFit/>
          </a:bodyPr>
          <a:lstStyle/>
          <a:p>
            <a:pPr marL="285750" indent="-285750">
              <a:buFontTx/>
              <a:buChar char="-"/>
            </a:pPr>
            <a:r>
              <a:rPr lang="en-US" sz="1400" b="1" dirty="0"/>
              <a:t>Hyperledger Explorer </a:t>
            </a:r>
            <a:r>
              <a:rPr lang="en-US" sz="1400" dirty="0"/>
              <a:t>(Dashboard)</a:t>
            </a:r>
          </a:p>
          <a:p>
            <a:pPr marL="285750" indent="-285750">
              <a:buFontTx/>
              <a:buChar char="-"/>
            </a:pPr>
            <a:r>
              <a:rPr lang="en-US" sz="1400" dirty="0"/>
              <a:t>Use </a:t>
            </a:r>
            <a:r>
              <a:rPr lang="en-US" sz="1400" dirty="0">
                <a:solidFill>
                  <a:srgbClr val="FF0000"/>
                </a:solidFill>
              </a:rPr>
              <a:t>AI</a:t>
            </a:r>
            <a:r>
              <a:rPr lang="en-US" sz="1400" dirty="0"/>
              <a:t> for analysis and remediation strategy.</a:t>
            </a:r>
          </a:p>
          <a:p>
            <a:pPr marL="285750" indent="-285750">
              <a:buFontTx/>
              <a:buChar char="-"/>
            </a:pPr>
            <a:r>
              <a:rPr lang="en-US" sz="1400" dirty="0"/>
              <a:t>Alert GHG emission specialists on any abnormal emissions for analysis </a:t>
            </a:r>
          </a:p>
          <a:p>
            <a:r>
              <a:rPr lang="en-US" sz="1400" dirty="0"/>
              <a:t>       and strategy.</a:t>
            </a:r>
          </a:p>
        </p:txBody>
      </p:sp>
      <p:sp>
        <p:nvSpPr>
          <p:cNvPr id="142" name="Oval 141">
            <a:extLst>
              <a:ext uri="{FF2B5EF4-FFF2-40B4-BE49-F238E27FC236}">
                <a16:creationId xmlns:a16="http://schemas.microsoft.com/office/drawing/2014/main" id="{33282D7F-1D3F-0023-72CB-3BCEF4058A04}"/>
              </a:ext>
            </a:extLst>
          </p:cNvPr>
          <p:cNvSpPr/>
          <p:nvPr/>
        </p:nvSpPr>
        <p:spPr>
          <a:xfrm>
            <a:off x="5922336" y="2755966"/>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endParaRPr lang="en-US" dirty="0">
              <a:solidFill>
                <a:schemeClr val="tx1"/>
              </a:solidFill>
            </a:endParaRPr>
          </a:p>
        </p:txBody>
      </p:sp>
      <p:sp>
        <p:nvSpPr>
          <p:cNvPr id="143" name="Oval 142">
            <a:extLst>
              <a:ext uri="{FF2B5EF4-FFF2-40B4-BE49-F238E27FC236}">
                <a16:creationId xmlns:a16="http://schemas.microsoft.com/office/drawing/2014/main" id="{CD82033D-18B0-502A-63A3-0DF19097FF68}"/>
              </a:ext>
            </a:extLst>
          </p:cNvPr>
          <p:cNvSpPr/>
          <p:nvPr/>
        </p:nvSpPr>
        <p:spPr>
          <a:xfrm>
            <a:off x="6371658" y="3271553"/>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endParaRPr lang="en-US" dirty="0">
              <a:solidFill>
                <a:schemeClr val="tx1"/>
              </a:solidFill>
            </a:endParaRPr>
          </a:p>
        </p:txBody>
      </p:sp>
      <p:sp>
        <p:nvSpPr>
          <p:cNvPr id="145" name="Oval 144">
            <a:extLst>
              <a:ext uri="{FF2B5EF4-FFF2-40B4-BE49-F238E27FC236}">
                <a16:creationId xmlns:a16="http://schemas.microsoft.com/office/drawing/2014/main" id="{447C6492-C5BF-EB44-7BD8-480A1412F739}"/>
              </a:ext>
            </a:extLst>
          </p:cNvPr>
          <p:cNvSpPr/>
          <p:nvPr/>
        </p:nvSpPr>
        <p:spPr>
          <a:xfrm>
            <a:off x="11135871" y="4138564"/>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endParaRPr lang="en-US" dirty="0">
              <a:solidFill>
                <a:schemeClr val="tx1"/>
              </a:solidFill>
            </a:endParaRPr>
          </a:p>
        </p:txBody>
      </p:sp>
      <p:sp>
        <p:nvSpPr>
          <p:cNvPr id="146" name="Oval 145">
            <a:extLst>
              <a:ext uri="{FF2B5EF4-FFF2-40B4-BE49-F238E27FC236}">
                <a16:creationId xmlns:a16="http://schemas.microsoft.com/office/drawing/2014/main" id="{B770E2C2-FBCE-BB84-F18F-DDFADADEEBE2}"/>
              </a:ext>
            </a:extLst>
          </p:cNvPr>
          <p:cNvSpPr/>
          <p:nvPr/>
        </p:nvSpPr>
        <p:spPr>
          <a:xfrm>
            <a:off x="7785988" y="4984672"/>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endParaRPr lang="en-US" dirty="0">
              <a:solidFill>
                <a:schemeClr val="tx1"/>
              </a:solidFill>
            </a:endParaRPr>
          </a:p>
        </p:txBody>
      </p:sp>
      <p:sp>
        <p:nvSpPr>
          <p:cNvPr id="147" name="Oval 146">
            <a:extLst>
              <a:ext uri="{FF2B5EF4-FFF2-40B4-BE49-F238E27FC236}">
                <a16:creationId xmlns:a16="http://schemas.microsoft.com/office/drawing/2014/main" id="{02D7C5FC-DE7B-32D7-8D41-B0ED85FF0F32}"/>
              </a:ext>
            </a:extLst>
          </p:cNvPr>
          <p:cNvSpPr/>
          <p:nvPr/>
        </p:nvSpPr>
        <p:spPr>
          <a:xfrm>
            <a:off x="6096000" y="5480938"/>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endParaRPr lang="en-US" dirty="0">
              <a:solidFill>
                <a:schemeClr val="tx1"/>
              </a:solidFill>
            </a:endParaRPr>
          </a:p>
        </p:txBody>
      </p:sp>
      <p:sp>
        <p:nvSpPr>
          <p:cNvPr id="2" name="Oval 1">
            <a:extLst>
              <a:ext uri="{FF2B5EF4-FFF2-40B4-BE49-F238E27FC236}">
                <a16:creationId xmlns:a16="http://schemas.microsoft.com/office/drawing/2014/main" id="{43E314C4-2E50-3938-3A19-6A61E2D7F143}"/>
              </a:ext>
            </a:extLst>
          </p:cNvPr>
          <p:cNvSpPr/>
          <p:nvPr/>
        </p:nvSpPr>
        <p:spPr>
          <a:xfrm>
            <a:off x="96691" y="901706"/>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endParaRPr lang="en-US" dirty="0">
              <a:solidFill>
                <a:schemeClr val="tx1"/>
              </a:solidFill>
            </a:endParaRPr>
          </a:p>
        </p:txBody>
      </p:sp>
      <p:sp>
        <p:nvSpPr>
          <p:cNvPr id="3" name="Oval 2">
            <a:extLst>
              <a:ext uri="{FF2B5EF4-FFF2-40B4-BE49-F238E27FC236}">
                <a16:creationId xmlns:a16="http://schemas.microsoft.com/office/drawing/2014/main" id="{688CAF20-DA14-955E-2640-96471B0F551B}"/>
              </a:ext>
            </a:extLst>
          </p:cNvPr>
          <p:cNvSpPr/>
          <p:nvPr/>
        </p:nvSpPr>
        <p:spPr>
          <a:xfrm>
            <a:off x="96690" y="2161014"/>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endParaRPr lang="en-US" dirty="0">
              <a:solidFill>
                <a:schemeClr val="tx1"/>
              </a:solidFill>
            </a:endParaRPr>
          </a:p>
        </p:txBody>
      </p:sp>
      <p:sp>
        <p:nvSpPr>
          <p:cNvPr id="6" name="Oval 5">
            <a:extLst>
              <a:ext uri="{FF2B5EF4-FFF2-40B4-BE49-F238E27FC236}">
                <a16:creationId xmlns:a16="http://schemas.microsoft.com/office/drawing/2014/main" id="{BAC30F4C-0E32-14ED-8852-C520D01D6566}"/>
              </a:ext>
            </a:extLst>
          </p:cNvPr>
          <p:cNvSpPr/>
          <p:nvPr/>
        </p:nvSpPr>
        <p:spPr>
          <a:xfrm>
            <a:off x="100584" y="3433574"/>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endParaRPr lang="en-US" dirty="0">
              <a:solidFill>
                <a:schemeClr val="tx1"/>
              </a:solidFill>
            </a:endParaRPr>
          </a:p>
        </p:txBody>
      </p:sp>
      <p:sp>
        <p:nvSpPr>
          <p:cNvPr id="9" name="Oval 8">
            <a:extLst>
              <a:ext uri="{FF2B5EF4-FFF2-40B4-BE49-F238E27FC236}">
                <a16:creationId xmlns:a16="http://schemas.microsoft.com/office/drawing/2014/main" id="{0A4FCFF1-C153-EB32-339D-5F2B9A864C39}"/>
              </a:ext>
            </a:extLst>
          </p:cNvPr>
          <p:cNvSpPr/>
          <p:nvPr/>
        </p:nvSpPr>
        <p:spPr>
          <a:xfrm>
            <a:off x="100584" y="3882939"/>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endParaRPr lang="en-US" dirty="0">
              <a:solidFill>
                <a:schemeClr val="tx1"/>
              </a:solidFill>
            </a:endParaRPr>
          </a:p>
        </p:txBody>
      </p:sp>
      <p:sp>
        <p:nvSpPr>
          <p:cNvPr id="12" name="Oval 11">
            <a:extLst>
              <a:ext uri="{FF2B5EF4-FFF2-40B4-BE49-F238E27FC236}">
                <a16:creationId xmlns:a16="http://schemas.microsoft.com/office/drawing/2014/main" id="{9B902767-A2B1-A6C2-01C9-95110B39BD8F}"/>
              </a:ext>
            </a:extLst>
          </p:cNvPr>
          <p:cNvSpPr/>
          <p:nvPr/>
        </p:nvSpPr>
        <p:spPr>
          <a:xfrm>
            <a:off x="100584" y="4706365"/>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endParaRPr lang="en-US" dirty="0">
              <a:solidFill>
                <a:schemeClr val="tx1"/>
              </a:solidFill>
            </a:endParaRPr>
          </a:p>
        </p:txBody>
      </p:sp>
      <p:sp>
        <p:nvSpPr>
          <p:cNvPr id="13" name="Oval 12">
            <a:extLst>
              <a:ext uri="{FF2B5EF4-FFF2-40B4-BE49-F238E27FC236}">
                <a16:creationId xmlns:a16="http://schemas.microsoft.com/office/drawing/2014/main" id="{E208AF9E-22A4-87B1-4028-A151168AC555}"/>
              </a:ext>
            </a:extLst>
          </p:cNvPr>
          <p:cNvSpPr/>
          <p:nvPr/>
        </p:nvSpPr>
        <p:spPr>
          <a:xfrm>
            <a:off x="100584" y="5341025"/>
            <a:ext cx="220619" cy="22748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endParaRPr lang="en-US" dirty="0">
              <a:solidFill>
                <a:schemeClr val="tx1"/>
              </a:solidFill>
            </a:endParaRPr>
          </a:p>
        </p:txBody>
      </p:sp>
      <p:sp>
        <p:nvSpPr>
          <p:cNvPr id="14" name="Oval 13">
            <a:extLst>
              <a:ext uri="{FF2B5EF4-FFF2-40B4-BE49-F238E27FC236}">
                <a16:creationId xmlns:a16="http://schemas.microsoft.com/office/drawing/2014/main" id="{00E39C9F-BE92-1460-1CE7-628C22B70CF7}"/>
              </a:ext>
            </a:extLst>
          </p:cNvPr>
          <p:cNvSpPr/>
          <p:nvPr/>
        </p:nvSpPr>
        <p:spPr>
          <a:xfrm>
            <a:off x="6657769" y="3059527"/>
            <a:ext cx="1257554" cy="56528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TextBox 121">
            <a:extLst>
              <a:ext uri="{FF2B5EF4-FFF2-40B4-BE49-F238E27FC236}">
                <a16:creationId xmlns:a16="http://schemas.microsoft.com/office/drawing/2014/main" id="{AFB7270A-7088-C1AC-0EB3-DCE60FF2C67B}"/>
              </a:ext>
            </a:extLst>
          </p:cNvPr>
          <p:cNvSpPr txBox="1"/>
          <p:nvPr/>
        </p:nvSpPr>
        <p:spPr>
          <a:xfrm>
            <a:off x="6568908" y="3176866"/>
            <a:ext cx="1388355" cy="338554"/>
          </a:xfrm>
          <a:prstGeom prst="rect">
            <a:avLst/>
          </a:prstGeom>
          <a:noFill/>
        </p:spPr>
        <p:txBody>
          <a:bodyPr wrap="square" rtlCol="0">
            <a:spAutoFit/>
          </a:bodyPr>
          <a:lstStyle/>
          <a:p>
            <a:pPr algn="ctr"/>
            <a:r>
              <a:rPr lang="en-US" sz="800" b="1" dirty="0">
                <a:latin typeface="Abadi Extra Light" panose="020F0502020204030204" pitchFamily="34" charset="0"/>
              </a:rPr>
              <a:t>get emission baseline values for supply chain segments</a:t>
            </a:r>
          </a:p>
        </p:txBody>
      </p:sp>
      <p:sp>
        <p:nvSpPr>
          <p:cNvPr id="15" name="Oval 14">
            <a:extLst>
              <a:ext uri="{FF2B5EF4-FFF2-40B4-BE49-F238E27FC236}">
                <a16:creationId xmlns:a16="http://schemas.microsoft.com/office/drawing/2014/main" id="{537B0FB7-FC8C-1C21-7C23-D0EFA8F3446E}"/>
              </a:ext>
            </a:extLst>
          </p:cNvPr>
          <p:cNvSpPr/>
          <p:nvPr/>
        </p:nvSpPr>
        <p:spPr>
          <a:xfrm>
            <a:off x="7943620" y="3059812"/>
            <a:ext cx="1257554" cy="56528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TextBox 122">
            <a:extLst>
              <a:ext uri="{FF2B5EF4-FFF2-40B4-BE49-F238E27FC236}">
                <a16:creationId xmlns:a16="http://schemas.microsoft.com/office/drawing/2014/main" id="{DBA120C0-8CB2-53C3-E986-A9D7035704AA}"/>
              </a:ext>
            </a:extLst>
          </p:cNvPr>
          <p:cNvSpPr txBox="1"/>
          <p:nvPr/>
        </p:nvSpPr>
        <p:spPr>
          <a:xfrm>
            <a:off x="7896298" y="3185789"/>
            <a:ext cx="1388355" cy="338554"/>
          </a:xfrm>
          <a:prstGeom prst="rect">
            <a:avLst/>
          </a:prstGeom>
          <a:noFill/>
        </p:spPr>
        <p:txBody>
          <a:bodyPr wrap="square" rtlCol="0">
            <a:spAutoFit/>
          </a:bodyPr>
          <a:lstStyle/>
          <a:p>
            <a:pPr algn="ctr"/>
            <a:r>
              <a:rPr lang="en-US" sz="800" b="1" dirty="0">
                <a:latin typeface="+mj-lt"/>
              </a:rPr>
              <a:t>get emission baseline values for supply chain segments</a:t>
            </a:r>
          </a:p>
        </p:txBody>
      </p:sp>
      <p:sp>
        <p:nvSpPr>
          <p:cNvPr id="20" name="Oval 19">
            <a:extLst>
              <a:ext uri="{FF2B5EF4-FFF2-40B4-BE49-F238E27FC236}">
                <a16:creationId xmlns:a16="http://schemas.microsoft.com/office/drawing/2014/main" id="{20961E3C-DF75-7A75-E84C-8FEC33948556}"/>
              </a:ext>
            </a:extLst>
          </p:cNvPr>
          <p:cNvSpPr/>
          <p:nvPr/>
        </p:nvSpPr>
        <p:spPr>
          <a:xfrm>
            <a:off x="9258622" y="3053800"/>
            <a:ext cx="1257554" cy="56528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TextBox 123">
            <a:extLst>
              <a:ext uri="{FF2B5EF4-FFF2-40B4-BE49-F238E27FC236}">
                <a16:creationId xmlns:a16="http://schemas.microsoft.com/office/drawing/2014/main" id="{EC8DA63F-6CEB-0C92-89AA-ACE46F320BFE}"/>
              </a:ext>
            </a:extLst>
          </p:cNvPr>
          <p:cNvSpPr txBox="1"/>
          <p:nvPr/>
        </p:nvSpPr>
        <p:spPr>
          <a:xfrm>
            <a:off x="9204064" y="3185789"/>
            <a:ext cx="1388355" cy="338554"/>
          </a:xfrm>
          <a:prstGeom prst="rect">
            <a:avLst/>
          </a:prstGeom>
          <a:noFill/>
        </p:spPr>
        <p:txBody>
          <a:bodyPr wrap="square" rtlCol="0">
            <a:spAutoFit/>
          </a:bodyPr>
          <a:lstStyle/>
          <a:p>
            <a:pPr algn="ctr"/>
            <a:r>
              <a:rPr lang="en-US" sz="800" b="1" dirty="0">
                <a:latin typeface="+mj-lt"/>
              </a:rPr>
              <a:t>get emission baseline values for supply chain segments</a:t>
            </a:r>
          </a:p>
        </p:txBody>
      </p:sp>
    </p:spTree>
    <p:extLst>
      <p:ext uri="{BB962C8B-B14F-4D97-AF65-F5344CB8AC3E}">
        <p14:creationId xmlns:p14="http://schemas.microsoft.com/office/powerpoint/2010/main" val="13477453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CF6392-90C9-4ECE-941A-84CA8666738A}"/>
              </a:ext>
            </a:extLst>
          </p:cNvPr>
          <p:cNvSpPr/>
          <p:nvPr/>
        </p:nvSpPr>
        <p:spPr>
          <a:xfrm rot="5400000">
            <a:off x="-381000" y="381000"/>
            <a:ext cx="6858000" cy="6096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8080"/>
              </a:highlight>
            </a:endParaRPr>
          </a:p>
        </p:txBody>
      </p:sp>
      <p:sp>
        <p:nvSpPr>
          <p:cNvPr id="10" name="TextBox 9">
            <a:extLst>
              <a:ext uri="{FF2B5EF4-FFF2-40B4-BE49-F238E27FC236}">
                <a16:creationId xmlns:a16="http://schemas.microsoft.com/office/drawing/2014/main" id="{61A37C87-2367-488E-911E-FB0247783232}"/>
              </a:ext>
            </a:extLst>
          </p:cNvPr>
          <p:cNvSpPr txBox="1"/>
          <p:nvPr/>
        </p:nvSpPr>
        <p:spPr>
          <a:xfrm>
            <a:off x="34504" y="2195344"/>
            <a:ext cx="5943600" cy="1938992"/>
          </a:xfrm>
          <a:prstGeom prst="rect">
            <a:avLst/>
          </a:prstGeom>
          <a:noFill/>
        </p:spPr>
        <p:txBody>
          <a:bodyPr wrap="square" rtlCol="0">
            <a:spAutoFit/>
          </a:bodyPr>
          <a:lstStyle/>
          <a:p>
            <a:pPr algn="ctr"/>
            <a:r>
              <a:rPr lang="en-US" sz="4000" b="1" dirty="0">
                <a:solidFill>
                  <a:schemeClr val="bg1">
                    <a:lumMod val="95000"/>
                  </a:schemeClr>
                </a:solidFill>
              </a:rPr>
              <a:t> Data Architecture</a:t>
            </a:r>
          </a:p>
          <a:p>
            <a:pPr algn="ctr"/>
            <a:r>
              <a:rPr lang="en-US" sz="4000" b="1" dirty="0">
                <a:solidFill>
                  <a:schemeClr val="bg1">
                    <a:lumMod val="95000"/>
                  </a:schemeClr>
                </a:solidFill>
              </a:rPr>
              <a:t>And </a:t>
            </a:r>
          </a:p>
          <a:p>
            <a:pPr algn="ctr"/>
            <a:r>
              <a:rPr lang="en-US" sz="4000" b="1" dirty="0">
                <a:solidFill>
                  <a:schemeClr val="bg1">
                    <a:lumMod val="95000"/>
                  </a:schemeClr>
                </a:solidFill>
              </a:rPr>
              <a:t>Ontology</a:t>
            </a:r>
            <a:r>
              <a:rPr lang="en-US" sz="4000" b="1" dirty="0"/>
              <a:t> </a:t>
            </a:r>
          </a:p>
        </p:txBody>
      </p:sp>
      <p:sp>
        <p:nvSpPr>
          <p:cNvPr id="65" name="AutoShape 2" descr="Cash Pictures, Cash Stock Photos &amp; Images | Depositphotos®">
            <a:extLst>
              <a:ext uri="{FF2B5EF4-FFF2-40B4-BE49-F238E27FC236}">
                <a16:creationId xmlns:a16="http://schemas.microsoft.com/office/drawing/2014/main" id="{E0F87420-C907-404A-8355-4C22CA4E51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76324356-DFA6-4B51-9B4E-50BF6CBE2E3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Data architecture Stock Photos, Royalty Free Data ...">
            <a:extLst>
              <a:ext uri="{FF2B5EF4-FFF2-40B4-BE49-F238E27FC236}">
                <a16:creationId xmlns:a16="http://schemas.microsoft.com/office/drawing/2014/main" id="{366477D0-C3E3-3357-37C1-F9DFD19831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5042" y="8679"/>
            <a:ext cx="3616958" cy="17430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ata Architecture Explained: Components ...">
            <a:extLst>
              <a:ext uri="{FF2B5EF4-FFF2-40B4-BE49-F238E27FC236}">
                <a16:creationId xmlns:a16="http://schemas.microsoft.com/office/drawing/2014/main" id="{B0A314D0-1DB3-2419-67E6-38A6F35391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9497" y="3276600"/>
            <a:ext cx="2544024" cy="246591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ata Architecture ...">
            <a:extLst>
              <a:ext uri="{FF2B5EF4-FFF2-40B4-BE49-F238E27FC236}">
                <a16:creationId xmlns:a16="http://schemas.microsoft.com/office/drawing/2014/main" id="{9F376E08-7283-EBFE-EC63-794B7A9762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320" y="6456"/>
            <a:ext cx="2458721"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99965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FECB6-3721-97C9-F160-01EBD75B33A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C5ED4EB-F5D7-16FD-8327-ABA7D3AE435E}"/>
              </a:ext>
            </a:extLst>
          </p:cNvPr>
          <p:cNvSpPr/>
          <p:nvPr/>
        </p:nvSpPr>
        <p:spPr>
          <a:xfrm>
            <a:off x="8448" y="2550"/>
            <a:ext cx="12180896" cy="656492"/>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890F2D85-5C3F-A966-2C44-9D8EFEA4D2C4}"/>
              </a:ext>
            </a:extLst>
          </p:cNvPr>
          <p:cNvSpPr txBox="1"/>
          <p:nvPr/>
        </p:nvSpPr>
        <p:spPr>
          <a:xfrm>
            <a:off x="96691" y="85357"/>
            <a:ext cx="10661981" cy="523220"/>
          </a:xfrm>
          <a:prstGeom prst="rect">
            <a:avLst/>
          </a:prstGeom>
          <a:noFill/>
        </p:spPr>
        <p:txBody>
          <a:bodyPr wrap="square" rtlCol="0">
            <a:spAutoFit/>
          </a:bodyPr>
          <a:lstStyle/>
          <a:p>
            <a:r>
              <a:rPr lang="en-US" sz="2800" b="1" dirty="0">
                <a:solidFill>
                  <a:schemeClr val="bg1">
                    <a:lumMod val="95000"/>
                  </a:schemeClr>
                </a:solidFill>
              </a:rPr>
              <a:t> Data Architecture Knowledge Graph   (1 of 3)</a:t>
            </a:r>
          </a:p>
        </p:txBody>
      </p:sp>
      <p:sp>
        <p:nvSpPr>
          <p:cNvPr id="2" name="TextBox 9">
            <a:extLst>
              <a:ext uri="{FF2B5EF4-FFF2-40B4-BE49-F238E27FC236}">
                <a16:creationId xmlns:a16="http://schemas.microsoft.com/office/drawing/2014/main" id="{0F685007-08B0-A95C-C2AE-017B0AA6AA88}"/>
              </a:ext>
            </a:extLst>
          </p:cNvPr>
          <p:cNvSpPr txBox="1"/>
          <p:nvPr/>
        </p:nvSpPr>
        <p:spPr>
          <a:xfrm>
            <a:off x="315244" y="782122"/>
            <a:ext cx="11561511" cy="529375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1D35"/>
                </a:solidFill>
                <a:latin typeface="Google Sans"/>
              </a:rPr>
              <a:t>A digital twin will typically have to interact with a combination of climate/environmental accounting protocols, standards, and methodologies. To facilitate consistent data handling and accounting across these different protocols, standards and methodologies, the digital twin can utilize the AIA Ontology developed by LFDT’s Climate Action and Accounting SIG “Standards Working Group”.    </a:t>
            </a:r>
          </a:p>
          <a:p>
            <a:endParaRPr lang="en-US" dirty="0">
              <a:solidFill>
                <a:srgbClr val="001D35"/>
              </a:solidFill>
              <a:latin typeface="Google Sans"/>
            </a:endParaRPr>
          </a:p>
          <a:p>
            <a:pPr algn="l">
              <a:spcBef>
                <a:spcPts val="750"/>
              </a:spcBef>
            </a:pPr>
            <a:r>
              <a:rPr lang="en-US" sz="1600" b="0" i="0" dirty="0">
                <a:solidFill>
                  <a:srgbClr val="172B4D"/>
                </a:solidFill>
                <a:effectLst/>
                <a:latin typeface="ui-sans-serif"/>
              </a:rPr>
              <a:t>Several </a:t>
            </a:r>
            <a:r>
              <a:rPr lang="en-US" sz="1600" dirty="0">
                <a:solidFill>
                  <a:srgbClr val="172B4D"/>
                </a:solidFill>
                <a:latin typeface="ui-sans-serif"/>
              </a:rPr>
              <a:t>types of protocols, standards and methodologies are used in the environmental impact / GHG accounting space:</a:t>
            </a:r>
          </a:p>
          <a:p>
            <a:pPr algn="l">
              <a:spcBef>
                <a:spcPts val="750"/>
              </a:spcBef>
            </a:pPr>
            <a:r>
              <a:rPr lang="en-US" sz="1600" b="0" i="0" dirty="0">
                <a:solidFill>
                  <a:srgbClr val="172B4D"/>
                </a:solidFill>
                <a:effectLst/>
                <a:latin typeface="ui-sans-serif"/>
              </a:rPr>
              <a:t>1. </a:t>
            </a:r>
            <a:r>
              <a:rPr lang="en-US" sz="1600" b="0" i="1" dirty="0">
                <a:solidFill>
                  <a:srgbClr val="172B4D"/>
                </a:solidFill>
                <a:effectLst/>
                <a:latin typeface="ui-sans-serif"/>
              </a:rPr>
              <a:t>Measurement collection standards</a:t>
            </a:r>
            <a:r>
              <a:rPr lang="en-US" sz="1600" b="0" i="0" dirty="0">
                <a:solidFill>
                  <a:srgbClr val="172B4D"/>
                </a:solidFill>
                <a:effectLst/>
                <a:latin typeface="ui-sans-serif"/>
              </a:rPr>
              <a:t>: These are standards for measuring aspects of activities and processes</a:t>
            </a:r>
            <a:r>
              <a:rPr lang="en-US" sz="1600" dirty="0">
                <a:solidFill>
                  <a:srgbClr val="172B4D"/>
                </a:solidFill>
                <a:latin typeface="ui-sans-serif"/>
              </a:rPr>
              <a:t>. </a:t>
            </a:r>
            <a:r>
              <a:rPr lang="en-US" sz="1600" b="0" i="0" dirty="0">
                <a:solidFill>
                  <a:srgbClr val="172B4D"/>
                </a:solidFill>
                <a:effectLst/>
                <a:latin typeface="ui-sans-serif"/>
              </a:rPr>
              <a:t>They focus on how the measurements are made, and concern things like the calibration and correct use of instruments. Application of these standards produce valid and trustworthy measurement data.</a:t>
            </a:r>
          </a:p>
          <a:p>
            <a:pPr algn="l">
              <a:spcBef>
                <a:spcPts val="750"/>
              </a:spcBef>
              <a:buFont typeface="+mj-lt"/>
              <a:buAutoNum type="arabicPeriod"/>
            </a:pPr>
            <a:r>
              <a:rPr lang="en-US" sz="1600" b="0" i="0" dirty="0">
                <a:solidFill>
                  <a:srgbClr val="172B4D"/>
                </a:solidFill>
                <a:effectLst/>
                <a:latin typeface="ui-sans-serif"/>
              </a:rPr>
              <a:t> </a:t>
            </a:r>
            <a:r>
              <a:rPr lang="en-US" sz="1600" b="0" i="1" dirty="0">
                <a:solidFill>
                  <a:srgbClr val="172B4D"/>
                </a:solidFill>
                <a:effectLst/>
                <a:latin typeface="ui-sans-serif"/>
              </a:rPr>
              <a:t>Calculation methodologies</a:t>
            </a:r>
            <a:r>
              <a:rPr lang="en-US" sz="1600" b="0" i="0" dirty="0">
                <a:solidFill>
                  <a:srgbClr val="172B4D"/>
                </a:solidFill>
                <a:effectLst/>
                <a:latin typeface="ui-sans-serif"/>
              </a:rPr>
              <a:t> and </a:t>
            </a:r>
            <a:r>
              <a:rPr lang="en-US" sz="1600" b="0" i="1" dirty="0">
                <a:solidFill>
                  <a:srgbClr val="172B4D"/>
                </a:solidFill>
                <a:effectLst/>
                <a:latin typeface="ui-sans-serif"/>
              </a:rPr>
              <a:t>data processing standards</a:t>
            </a:r>
            <a:r>
              <a:rPr lang="en-US" sz="1600" b="0" i="0" dirty="0">
                <a:solidFill>
                  <a:srgbClr val="172B4D"/>
                </a:solidFill>
                <a:effectLst/>
                <a:latin typeface="ui-sans-serif"/>
              </a:rPr>
              <a:t>: These are guidelines and standards for the transformation, evaluation and aggregation of data and metadata. Their application produces indicators, metrics and indices with well-defined meanings.</a:t>
            </a:r>
          </a:p>
          <a:p>
            <a:pPr algn="l">
              <a:spcBef>
                <a:spcPts val="750"/>
              </a:spcBef>
              <a:buFont typeface="+mj-lt"/>
              <a:buAutoNum type="arabicPeriod"/>
            </a:pPr>
            <a:r>
              <a:rPr lang="en-US" sz="1600" b="0" i="0" dirty="0">
                <a:solidFill>
                  <a:srgbClr val="172B4D"/>
                </a:solidFill>
                <a:effectLst/>
                <a:latin typeface="ui-sans-serif"/>
              </a:rPr>
              <a:t> </a:t>
            </a:r>
            <a:r>
              <a:rPr lang="en-US" sz="1600" b="0" i="1" dirty="0">
                <a:solidFill>
                  <a:srgbClr val="172B4D"/>
                </a:solidFill>
                <a:effectLst/>
                <a:latin typeface="ui-sans-serif"/>
              </a:rPr>
              <a:t>Reporting standards</a:t>
            </a:r>
            <a:r>
              <a:rPr lang="en-US" sz="1600" b="0" i="0" dirty="0">
                <a:solidFill>
                  <a:srgbClr val="172B4D"/>
                </a:solidFill>
                <a:effectLst/>
                <a:latin typeface="ui-sans-serif"/>
              </a:rPr>
              <a:t>: These concern how claims or assertions about entities or activities, such as a report on the yearly emissions of a company, are made. Application of these standards yield reports of a targeted degree of depth, completeness, clarity and transparency. </a:t>
            </a:r>
          </a:p>
          <a:p>
            <a:pPr algn="l">
              <a:spcBef>
                <a:spcPts val="750"/>
              </a:spcBef>
              <a:buFont typeface="+mj-lt"/>
              <a:buAutoNum type="arabicPeriod"/>
            </a:pPr>
            <a:r>
              <a:rPr lang="en-US" sz="1600" dirty="0">
                <a:solidFill>
                  <a:srgbClr val="172B4D"/>
                </a:solidFill>
                <a:latin typeface="ui-sans-serif"/>
              </a:rPr>
              <a:t> </a:t>
            </a:r>
            <a:r>
              <a:rPr lang="en-US" sz="1600" i="1" dirty="0">
                <a:solidFill>
                  <a:srgbClr val="172B4D"/>
                </a:solidFill>
                <a:latin typeface="ui-sans-serif"/>
              </a:rPr>
              <a:t>Verification standards</a:t>
            </a:r>
            <a:r>
              <a:rPr lang="en-US" sz="1600" dirty="0">
                <a:solidFill>
                  <a:srgbClr val="172B4D"/>
                </a:solidFill>
                <a:latin typeface="ui-sans-serif"/>
              </a:rPr>
              <a:t> or </a:t>
            </a:r>
            <a:r>
              <a:rPr lang="en-US" sz="1600" i="1" dirty="0">
                <a:solidFill>
                  <a:srgbClr val="172B4D"/>
                </a:solidFill>
                <a:latin typeface="ui-sans-serif"/>
              </a:rPr>
              <a:t>verification protocols</a:t>
            </a:r>
            <a:r>
              <a:rPr lang="en-US" sz="1600" dirty="0">
                <a:solidFill>
                  <a:srgbClr val="172B4D"/>
                </a:solidFill>
                <a:latin typeface="ui-sans-serif"/>
              </a:rPr>
              <a:t>: </a:t>
            </a:r>
            <a:r>
              <a:rPr lang="en-US" sz="1600" b="0" i="0" dirty="0">
                <a:solidFill>
                  <a:srgbClr val="172B4D"/>
                </a:solidFill>
                <a:effectLst/>
                <a:latin typeface="ui-sans-serif"/>
              </a:rPr>
              <a:t>These concern the process of verifying a claim made by another entity regarding their compliance with some other standard. Their application produce certifications or assurance.</a:t>
            </a:r>
            <a:endParaRPr lang="en-US" sz="1600" b="0" i="0" dirty="0">
              <a:solidFill>
                <a:srgbClr val="001D35"/>
              </a:solidFill>
              <a:effectLst/>
              <a:latin typeface="Google Sans"/>
            </a:endParaRPr>
          </a:p>
          <a:p>
            <a:pPr algn="l">
              <a:spcBef>
                <a:spcPts val="750"/>
              </a:spcBef>
            </a:pPr>
            <a:r>
              <a:rPr lang="en-US" sz="1600" dirty="0">
                <a:solidFill>
                  <a:srgbClr val="001D35"/>
                </a:solidFill>
                <a:latin typeface="Google Sans"/>
              </a:rPr>
              <a:t>Protocols, standards and methodologies are created by many different organizations and regulatory bodies. These entities have different priorities and concerns, and often use different terms for the same things. The purpose of the AIA Ontology is to enable data and accounting systems to translate between and aggregate across these different focus areas and terminologies.</a:t>
            </a:r>
            <a:endParaRPr lang="en-US" sz="1600" b="0" i="0" dirty="0">
              <a:solidFill>
                <a:srgbClr val="172B4D"/>
              </a:solidFill>
              <a:effectLst/>
              <a:latin typeface="ui-sans-serif"/>
            </a:endParaRPr>
          </a:p>
        </p:txBody>
      </p:sp>
      <p:sp>
        <p:nvSpPr>
          <p:cNvPr id="4" name="Rectangle 3">
            <a:extLst>
              <a:ext uri="{FF2B5EF4-FFF2-40B4-BE49-F238E27FC236}">
                <a16:creationId xmlns:a16="http://schemas.microsoft.com/office/drawing/2014/main" id="{48D2A5A1-C120-20CC-17AF-C98DC0F70FC5}"/>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AIA stands for “Anthropogenic Impact Accounting”</a:t>
            </a:r>
          </a:p>
        </p:txBody>
      </p:sp>
      <p:cxnSp>
        <p:nvCxnSpPr>
          <p:cNvPr id="5" name="Straight Connector 4">
            <a:extLst>
              <a:ext uri="{FF2B5EF4-FFF2-40B4-BE49-F238E27FC236}">
                <a16:creationId xmlns:a16="http://schemas.microsoft.com/office/drawing/2014/main" id="{51696E50-0B59-18E4-45D4-B2F34DE1FC3D}"/>
              </a:ext>
            </a:extLst>
          </p:cNvPr>
          <p:cNvCxnSpPr/>
          <p:nvPr/>
        </p:nvCxnSpPr>
        <p:spPr>
          <a:xfrm>
            <a:off x="416766" y="2100069"/>
            <a:ext cx="525392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23259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BDE62-8529-1E09-C239-68D801B97C0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46D0B12-AB9E-0E84-3BBF-978F763A87EF}"/>
              </a:ext>
            </a:extLst>
          </p:cNvPr>
          <p:cNvSpPr/>
          <p:nvPr/>
        </p:nvSpPr>
        <p:spPr>
          <a:xfrm>
            <a:off x="8448" y="2550"/>
            <a:ext cx="12180896" cy="656492"/>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811FDEE2-66A2-F350-CA6D-A7C6539F0809}"/>
              </a:ext>
            </a:extLst>
          </p:cNvPr>
          <p:cNvSpPr txBox="1"/>
          <p:nvPr/>
        </p:nvSpPr>
        <p:spPr>
          <a:xfrm>
            <a:off x="96691" y="85357"/>
            <a:ext cx="10661981" cy="523220"/>
          </a:xfrm>
          <a:prstGeom prst="rect">
            <a:avLst/>
          </a:prstGeom>
          <a:noFill/>
        </p:spPr>
        <p:txBody>
          <a:bodyPr wrap="square" rtlCol="0">
            <a:spAutoFit/>
          </a:bodyPr>
          <a:lstStyle/>
          <a:p>
            <a:r>
              <a:rPr lang="en-US" sz="2800" b="1" dirty="0">
                <a:solidFill>
                  <a:schemeClr val="bg1">
                    <a:lumMod val="95000"/>
                  </a:schemeClr>
                </a:solidFill>
              </a:rPr>
              <a:t> Data Architecture Knowledge Graph – Data Sets   (2 of 3)</a:t>
            </a:r>
          </a:p>
        </p:txBody>
      </p:sp>
      <p:sp>
        <p:nvSpPr>
          <p:cNvPr id="10" name="TextBox 9">
            <a:extLst>
              <a:ext uri="{FF2B5EF4-FFF2-40B4-BE49-F238E27FC236}">
                <a16:creationId xmlns:a16="http://schemas.microsoft.com/office/drawing/2014/main" id="{99BB6272-B66D-50E4-48C7-43E814F6B133}"/>
              </a:ext>
            </a:extLst>
          </p:cNvPr>
          <p:cNvSpPr txBox="1"/>
          <p:nvPr/>
        </p:nvSpPr>
        <p:spPr>
          <a:xfrm>
            <a:off x="59246" y="741849"/>
            <a:ext cx="11638875" cy="646331"/>
          </a:xfrm>
          <a:prstGeom prst="rect">
            <a:avLst/>
          </a:prstGeom>
          <a:noFill/>
        </p:spPr>
        <p:txBody>
          <a:bodyPr wrap="square">
            <a:spAutoFit/>
          </a:bodyPr>
          <a:lstStyle/>
          <a:p>
            <a:r>
              <a:rPr lang="en-US" b="0" i="0" dirty="0">
                <a:solidFill>
                  <a:srgbClr val="001D35"/>
                </a:solidFill>
                <a:effectLst/>
                <a:latin typeface="Google Sans"/>
              </a:rPr>
              <a:t>Utilizing the aforementioned Standards WG </a:t>
            </a:r>
            <a:r>
              <a:rPr lang="en-US" dirty="0">
                <a:solidFill>
                  <a:srgbClr val="001D35"/>
                </a:solidFill>
                <a:latin typeface="Google Sans"/>
              </a:rPr>
              <a:t>data ontology as a model, a knowledge graph for the digital twin has been produced. </a:t>
            </a:r>
            <a:endParaRPr lang="en-US" b="0" i="0" dirty="0">
              <a:solidFill>
                <a:srgbClr val="001D35"/>
              </a:solidFill>
              <a:effectLst/>
              <a:latin typeface="Google Sans"/>
            </a:endParaRPr>
          </a:p>
        </p:txBody>
      </p:sp>
      <p:pic>
        <p:nvPicPr>
          <p:cNvPr id="1026" name="Picture 2">
            <a:extLst>
              <a:ext uri="{FF2B5EF4-FFF2-40B4-BE49-F238E27FC236}">
                <a16:creationId xmlns:a16="http://schemas.microsoft.com/office/drawing/2014/main" id="{EE8ECD01-4D44-D984-C172-4A89F944BE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 y="1467321"/>
            <a:ext cx="5124009" cy="5323321"/>
          </a:xfrm>
          <a:prstGeom prst="rect">
            <a:avLst/>
          </a:prstGeom>
          <a:noFill/>
          <a:ln>
            <a:noFill/>
          </a:ln>
        </p:spPr>
      </p:pic>
      <p:grpSp>
        <p:nvGrpSpPr>
          <p:cNvPr id="5" name="Group 4">
            <a:extLst>
              <a:ext uri="{FF2B5EF4-FFF2-40B4-BE49-F238E27FC236}">
                <a16:creationId xmlns:a16="http://schemas.microsoft.com/office/drawing/2014/main" id="{4B88011D-E700-BD41-A6DC-69011B01E4E4}"/>
              </a:ext>
            </a:extLst>
          </p:cNvPr>
          <p:cNvGrpSpPr/>
          <p:nvPr/>
        </p:nvGrpSpPr>
        <p:grpSpPr>
          <a:xfrm>
            <a:off x="6861405" y="1337379"/>
            <a:ext cx="5046116" cy="5384463"/>
            <a:chOff x="3671164" y="632061"/>
            <a:chExt cx="5110831" cy="5700514"/>
          </a:xfrm>
        </p:grpSpPr>
        <p:cxnSp>
          <p:nvCxnSpPr>
            <p:cNvPr id="6" name="Straight Connector 5">
              <a:extLst>
                <a:ext uri="{FF2B5EF4-FFF2-40B4-BE49-F238E27FC236}">
                  <a16:creationId xmlns:a16="http://schemas.microsoft.com/office/drawing/2014/main" id="{D1C116DB-94E6-C2CC-D3EC-6F08B070DDC6}"/>
                </a:ext>
              </a:extLst>
            </p:cNvPr>
            <p:cNvCxnSpPr>
              <a:cxnSpLocks/>
            </p:cNvCxnSpPr>
            <p:nvPr/>
          </p:nvCxnSpPr>
          <p:spPr>
            <a:xfrm flipH="1">
              <a:off x="5467009" y="4639056"/>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BEA1F3C-9846-17A0-6057-5350F631862C}"/>
                </a:ext>
              </a:extLst>
            </p:cNvPr>
            <p:cNvCxnSpPr>
              <a:cxnSpLocks/>
            </p:cNvCxnSpPr>
            <p:nvPr/>
          </p:nvCxnSpPr>
          <p:spPr>
            <a:xfrm>
              <a:off x="5452494" y="769312"/>
              <a:ext cx="26618" cy="54341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DE6768DA-0462-E447-D556-1679C3E7F13C}"/>
                </a:ext>
              </a:extLst>
            </p:cNvPr>
            <p:cNvSpPr/>
            <p:nvPr/>
          </p:nvSpPr>
          <p:spPr>
            <a:xfrm>
              <a:off x="5787232" y="632061"/>
              <a:ext cx="1453204"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process (supply chain)</a:t>
              </a:r>
            </a:p>
          </p:txBody>
        </p:sp>
        <p:cxnSp>
          <p:nvCxnSpPr>
            <p:cNvPr id="13" name="Connector: Curved 12">
              <a:extLst>
                <a:ext uri="{FF2B5EF4-FFF2-40B4-BE49-F238E27FC236}">
                  <a16:creationId xmlns:a16="http://schemas.microsoft.com/office/drawing/2014/main" id="{13145A1B-7EB8-B833-09F7-1EBFD5D57388}"/>
                </a:ext>
              </a:extLst>
            </p:cNvPr>
            <p:cNvCxnSpPr>
              <a:cxnSpLocks/>
              <a:stCxn id="12" idx="3"/>
              <a:endCxn id="18" idx="3"/>
            </p:cNvCxnSpPr>
            <p:nvPr/>
          </p:nvCxnSpPr>
          <p:spPr>
            <a:xfrm>
              <a:off x="7240436" y="755172"/>
              <a:ext cx="12700" cy="577560"/>
            </a:xfrm>
            <a:prstGeom prst="curvedConnector3">
              <a:avLst>
                <a:gd name="adj1" fmla="val 1800000"/>
              </a:avLst>
            </a:prstGeom>
            <a:ln w="12700">
              <a:solidFill>
                <a:srgbClr val="0033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ACD0ADF-F8E8-281D-6AA7-36FB081E403D}"/>
                </a:ext>
              </a:extLst>
            </p:cNvPr>
            <p:cNvSpPr txBox="1"/>
            <p:nvPr/>
          </p:nvSpPr>
          <p:spPr>
            <a:xfrm>
              <a:off x="7213268" y="890413"/>
              <a:ext cx="497434" cy="215444"/>
            </a:xfrm>
            <a:prstGeom prst="rect">
              <a:avLst/>
            </a:prstGeom>
            <a:noFill/>
          </p:spPr>
          <p:txBody>
            <a:bodyPr wrap="square" rtlCol="0">
              <a:spAutoFit/>
            </a:bodyPr>
            <a:lstStyle/>
            <a:p>
              <a:pPr algn="ctr"/>
              <a:r>
                <a:rPr lang="en-US" sz="800" dirty="0">
                  <a:highlight>
                    <a:srgbClr val="FFFFCC"/>
                  </a:highlight>
                </a:rPr>
                <a:t>has</a:t>
              </a:r>
            </a:p>
          </p:txBody>
        </p:sp>
        <p:sp>
          <p:nvSpPr>
            <p:cNvPr id="18" name="Rectangle: Rounded Corners 17">
              <a:extLst>
                <a:ext uri="{FF2B5EF4-FFF2-40B4-BE49-F238E27FC236}">
                  <a16:creationId xmlns:a16="http://schemas.microsoft.com/office/drawing/2014/main" id="{2C85C86E-710C-8607-088F-FCB85208E92C}"/>
                </a:ext>
              </a:extLst>
            </p:cNvPr>
            <p:cNvSpPr/>
            <p:nvPr/>
          </p:nvSpPr>
          <p:spPr>
            <a:xfrm>
              <a:off x="5787232" y="1209621"/>
              <a:ext cx="1453204"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activity (segments)</a:t>
              </a:r>
            </a:p>
          </p:txBody>
        </p:sp>
        <p:sp>
          <p:nvSpPr>
            <p:cNvPr id="19" name="Rectangle: Rounded Corners 18">
              <a:extLst>
                <a:ext uri="{FF2B5EF4-FFF2-40B4-BE49-F238E27FC236}">
                  <a16:creationId xmlns:a16="http://schemas.microsoft.com/office/drawing/2014/main" id="{9170CB08-96C0-205C-4753-E95C3044EF9E}"/>
                </a:ext>
              </a:extLst>
            </p:cNvPr>
            <p:cNvSpPr/>
            <p:nvPr/>
          </p:nvSpPr>
          <p:spPr>
            <a:xfrm>
              <a:off x="5787232" y="2863539"/>
              <a:ext cx="1426132"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baseline (state)</a:t>
              </a:r>
            </a:p>
          </p:txBody>
        </p:sp>
        <p:sp>
          <p:nvSpPr>
            <p:cNvPr id="21" name="Rectangle: Rounded Corners 20">
              <a:extLst>
                <a:ext uri="{FF2B5EF4-FFF2-40B4-BE49-F238E27FC236}">
                  <a16:creationId xmlns:a16="http://schemas.microsoft.com/office/drawing/2014/main" id="{354A46F2-2DEF-4E9D-EA7C-F3A01DF47BAE}"/>
                </a:ext>
              </a:extLst>
            </p:cNvPr>
            <p:cNvSpPr/>
            <p:nvPr/>
          </p:nvSpPr>
          <p:spPr>
            <a:xfrm>
              <a:off x="5787231" y="3989917"/>
              <a:ext cx="1426037"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event</a:t>
              </a:r>
            </a:p>
          </p:txBody>
        </p:sp>
        <p:sp>
          <p:nvSpPr>
            <p:cNvPr id="22" name="Rectangle: Rounded Corners 21">
              <a:extLst>
                <a:ext uri="{FF2B5EF4-FFF2-40B4-BE49-F238E27FC236}">
                  <a16:creationId xmlns:a16="http://schemas.microsoft.com/office/drawing/2014/main" id="{9BD9EC96-3B11-CBA5-6BF1-89CD138109FA}"/>
                </a:ext>
              </a:extLst>
            </p:cNvPr>
            <p:cNvSpPr/>
            <p:nvPr/>
          </p:nvSpPr>
          <p:spPr>
            <a:xfrm>
              <a:off x="5787232" y="2309908"/>
              <a:ext cx="1440408"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claim</a:t>
              </a:r>
            </a:p>
          </p:txBody>
        </p:sp>
        <p:sp>
          <p:nvSpPr>
            <p:cNvPr id="23" name="Rectangle: Rounded Corners 22">
              <a:extLst>
                <a:ext uri="{FF2B5EF4-FFF2-40B4-BE49-F238E27FC236}">
                  <a16:creationId xmlns:a16="http://schemas.microsoft.com/office/drawing/2014/main" id="{52B2B40A-B47D-AEAE-2073-1BC359914171}"/>
                </a:ext>
              </a:extLst>
            </p:cNvPr>
            <p:cNvSpPr/>
            <p:nvPr/>
          </p:nvSpPr>
          <p:spPr>
            <a:xfrm>
              <a:off x="5787231" y="3445429"/>
              <a:ext cx="1426131"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environment</a:t>
              </a:r>
            </a:p>
          </p:txBody>
        </p:sp>
        <p:sp>
          <p:nvSpPr>
            <p:cNvPr id="24" name="Rectangle: Rounded Corners 23">
              <a:extLst>
                <a:ext uri="{FF2B5EF4-FFF2-40B4-BE49-F238E27FC236}">
                  <a16:creationId xmlns:a16="http://schemas.microsoft.com/office/drawing/2014/main" id="{FB8AADB2-1292-DF0D-B8C9-3E5BF70A3261}"/>
                </a:ext>
              </a:extLst>
            </p:cNvPr>
            <p:cNvSpPr/>
            <p:nvPr/>
          </p:nvSpPr>
          <p:spPr>
            <a:xfrm>
              <a:off x="5787232" y="5581800"/>
              <a:ext cx="1425942"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parameter</a:t>
              </a:r>
            </a:p>
          </p:txBody>
        </p:sp>
        <p:sp>
          <p:nvSpPr>
            <p:cNvPr id="25" name="Rectangle: Rounded Corners 24">
              <a:extLst>
                <a:ext uri="{FF2B5EF4-FFF2-40B4-BE49-F238E27FC236}">
                  <a16:creationId xmlns:a16="http://schemas.microsoft.com/office/drawing/2014/main" id="{08236656-D886-816C-9FCA-C432B3C66A1E}"/>
                </a:ext>
              </a:extLst>
            </p:cNvPr>
            <p:cNvSpPr/>
            <p:nvPr/>
          </p:nvSpPr>
          <p:spPr>
            <a:xfrm>
              <a:off x="5787232" y="5033160"/>
              <a:ext cx="1425942"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instrument</a:t>
              </a:r>
            </a:p>
          </p:txBody>
        </p:sp>
        <p:sp>
          <p:nvSpPr>
            <p:cNvPr id="26" name="TextBox 25">
              <a:extLst>
                <a:ext uri="{FF2B5EF4-FFF2-40B4-BE49-F238E27FC236}">
                  <a16:creationId xmlns:a16="http://schemas.microsoft.com/office/drawing/2014/main" id="{9E74CC90-51F1-141F-04F4-15A8B831E158}"/>
                </a:ext>
              </a:extLst>
            </p:cNvPr>
            <p:cNvSpPr txBox="1"/>
            <p:nvPr/>
          </p:nvSpPr>
          <p:spPr>
            <a:xfrm>
              <a:off x="5333855" y="2097518"/>
              <a:ext cx="586435" cy="215444"/>
            </a:xfrm>
            <a:prstGeom prst="rect">
              <a:avLst/>
            </a:prstGeom>
            <a:noFill/>
          </p:spPr>
          <p:txBody>
            <a:bodyPr wrap="square" rtlCol="0">
              <a:spAutoFit/>
            </a:bodyPr>
            <a:lstStyle/>
            <a:p>
              <a:pPr algn="ctr"/>
              <a:r>
                <a:rPr lang="en-US" sz="800" dirty="0">
                  <a:highlight>
                    <a:srgbClr val="FFFFCC"/>
                  </a:highlight>
                </a:rPr>
                <a:t>makes</a:t>
              </a:r>
            </a:p>
          </p:txBody>
        </p:sp>
        <p:sp>
          <p:nvSpPr>
            <p:cNvPr id="28" name="Rectangle: Rounded Corners 27">
              <a:extLst>
                <a:ext uri="{FF2B5EF4-FFF2-40B4-BE49-F238E27FC236}">
                  <a16:creationId xmlns:a16="http://schemas.microsoft.com/office/drawing/2014/main" id="{20464862-B37F-D9D3-287C-73BBF9B5F153}"/>
                </a:ext>
              </a:extLst>
            </p:cNvPr>
            <p:cNvSpPr/>
            <p:nvPr/>
          </p:nvSpPr>
          <p:spPr>
            <a:xfrm>
              <a:off x="7824000" y="3977436"/>
              <a:ext cx="878574" cy="246221"/>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rPr>
                <a:t>activity</a:t>
              </a:r>
            </a:p>
          </p:txBody>
        </p:sp>
        <p:cxnSp>
          <p:nvCxnSpPr>
            <p:cNvPr id="29" name="Connector: Curved 28">
              <a:extLst>
                <a:ext uri="{FF2B5EF4-FFF2-40B4-BE49-F238E27FC236}">
                  <a16:creationId xmlns:a16="http://schemas.microsoft.com/office/drawing/2014/main" id="{F228F61D-374C-14F9-2D6D-8E052BA84BDA}"/>
                </a:ext>
              </a:extLst>
            </p:cNvPr>
            <p:cNvCxnSpPr>
              <a:cxnSpLocks/>
              <a:stCxn id="18" idx="3"/>
              <a:endCxn id="1049" idx="3"/>
            </p:cNvCxnSpPr>
            <p:nvPr/>
          </p:nvCxnSpPr>
          <p:spPr>
            <a:xfrm flipH="1">
              <a:off x="7227640" y="1332732"/>
              <a:ext cx="12796" cy="553687"/>
            </a:xfrm>
            <a:prstGeom prst="curvedConnector3">
              <a:avLst>
                <a:gd name="adj1" fmla="val -1786496"/>
              </a:avLst>
            </a:prstGeom>
            <a:ln w="12700">
              <a:prstDash val="dash"/>
              <a:headEnd type="triangle"/>
              <a:tailEnd type="non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4018BB1-603C-4B78-196D-9186F2EBA505}"/>
                </a:ext>
              </a:extLst>
            </p:cNvPr>
            <p:cNvSpPr txBox="1"/>
            <p:nvPr/>
          </p:nvSpPr>
          <p:spPr>
            <a:xfrm>
              <a:off x="3752787" y="1332731"/>
              <a:ext cx="1165479" cy="215444"/>
            </a:xfrm>
            <a:prstGeom prst="rect">
              <a:avLst/>
            </a:prstGeom>
            <a:noFill/>
          </p:spPr>
          <p:txBody>
            <a:bodyPr wrap="square" rtlCol="0">
              <a:spAutoFit/>
            </a:bodyPr>
            <a:lstStyle/>
            <a:p>
              <a:pPr algn="ctr"/>
              <a:r>
                <a:rPr lang="en-US" sz="800" dirty="0" err="1">
                  <a:highlight>
                    <a:srgbClr val="FFFFCC"/>
                  </a:highlight>
                </a:rPr>
                <a:t>hasAggregateBaseline</a:t>
              </a:r>
              <a:endParaRPr lang="en-US" sz="800" dirty="0">
                <a:highlight>
                  <a:srgbClr val="FFFFCC"/>
                </a:highlight>
              </a:endParaRPr>
            </a:p>
          </p:txBody>
        </p:sp>
        <p:sp>
          <p:nvSpPr>
            <p:cNvPr id="34" name="Rectangle: Rounded Corners 33">
              <a:extLst>
                <a:ext uri="{FF2B5EF4-FFF2-40B4-BE49-F238E27FC236}">
                  <a16:creationId xmlns:a16="http://schemas.microsoft.com/office/drawing/2014/main" id="{9BDB29D7-5132-0E4D-5B27-49843F2F09A1}"/>
                </a:ext>
              </a:extLst>
            </p:cNvPr>
            <p:cNvSpPr/>
            <p:nvPr/>
          </p:nvSpPr>
          <p:spPr>
            <a:xfrm>
              <a:off x="3671164" y="3403866"/>
              <a:ext cx="878574" cy="246221"/>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rPr>
                <a:t>thing</a:t>
              </a:r>
            </a:p>
          </p:txBody>
        </p:sp>
        <p:cxnSp>
          <p:nvCxnSpPr>
            <p:cNvPr id="36" name="Connector: Curved 35">
              <a:extLst>
                <a:ext uri="{FF2B5EF4-FFF2-40B4-BE49-F238E27FC236}">
                  <a16:creationId xmlns:a16="http://schemas.microsoft.com/office/drawing/2014/main" id="{AB94BE21-3D92-CC88-D599-FA13706AC6F9}"/>
                </a:ext>
              </a:extLst>
            </p:cNvPr>
            <p:cNvCxnSpPr>
              <a:cxnSpLocks/>
              <a:stCxn id="24" idx="3"/>
              <a:endCxn id="19" idx="3"/>
            </p:cNvCxnSpPr>
            <p:nvPr/>
          </p:nvCxnSpPr>
          <p:spPr>
            <a:xfrm flipV="1">
              <a:off x="7213174" y="2986650"/>
              <a:ext cx="190" cy="2718261"/>
            </a:xfrm>
            <a:prstGeom prst="curvedConnector3">
              <a:avLst>
                <a:gd name="adj1" fmla="val 26223684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F30D66C7-201A-ACC5-B5CA-D0EBEA29C98F}"/>
                </a:ext>
              </a:extLst>
            </p:cNvPr>
            <p:cNvSpPr txBox="1"/>
            <p:nvPr/>
          </p:nvSpPr>
          <p:spPr>
            <a:xfrm>
              <a:off x="7177589" y="5241314"/>
              <a:ext cx="1198818" cy="215444"/>
            </a:xfrm>
            <a:prstGeom prst="rect">
              <a:avLst/>
            </a:prstGeom>
            <a:noFill/>
          </p:spPr>
          <p:txBody>
            <a:bodyPr wrap="square" rtlCol="0">
              <a:spAutoFit/>
            </a:bodyPr>
            <a:lstStyle/>
            <a:p>
              <a:pPr algn="ctr"/>
              <a:r>
                <a:rPr lang="en-US" sz="800" dirty="0" err="1">
                  <a:highlight>
                    <a:srgbClr val="FFFFCC"/>
                  </a:highlight>
                </a:rPr>
                <a:t>digitaltwinproduces</a:t>
              </a:r>
              <a:endParaRPr lang="en-US" sz="800" dirty="0">
                <a:highlight>
                  <a:srgbClr val="FFFFCC"/>
                </a:highlight>
              </a:endParaRPr>
            </a:p>
          </p:txBody>
        </p:sp>
        <p:cxnSp>
          <p:nvCxnSpPr>
            <p:cNvPr id="38" name="Connector: Curved 37">
              <a:extLst>
                <a:ext uri="{FF2B5EF4-FFF2-40B4-BE49-F238E27FC236}">
                  <a16:creationId xmlns:a16="http://schemas.microsoft.com/office/drawing/2014/main" id="{04979C0F-2E3A-5582-8DA5-ABD2DD0775AE}"/>
                </a:ext>
              </a:extLst>
            </p:cNvPr>
            <p:cNvCxnSpPr>
              <a:cxnSpLocks/>
              <a:stCxn id="18" idx="1"/>
              <a:endCxn id="19" idx="1"/>
            </p:cNvCxnSpPr>
            <p:nvPr/>
          </p:nvCxnSpPr>
          <p:spPr>
            <a:xfrm rot="10800000" flipV="1">
              <a:off x="5787232" y="1332732"/>
              <a:ext cx="12700" cy="1653918"/>
            </a:xfrm>
            <a:prstGeom prst="curvedConnector3">
              <a:avLst>
                <a:gd name="adj1" fmla="val 6120000"/>
              </a:avLst>
            </a:prstGeom>
            <a:ln w="12700">
              <a:prstDash val="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9" name="Connector: Curved 38">
              <a:extLst>
                <a:ext uri="{FF2B5EF4-FFF2-40B4-BE49-F238E27FC236}">
                  <a16:creationId xmlns:a16="http://schemas.microsoft.com/office/drawing/2014/main" id="{47246D3E-AB9F-2681-42D2-4E12304DC713}"/>
                </a:ext>
              </a:extLst>
            </p:cNvPr>
            <p:cNvCxnSpPr>
              <a:cxnSpLocks/>
              <a:stCxn id="19" idx="1"/>
              <a:endCxn id="23" idx="1"/>
            </p:cNvCxnSpPr>
            <p:nvPr/>
          </p:nvCxnSpPr>
          <p:spPr>
            <a:xfrm rot="10800000" flipV="1">
              <a:off x="5787232" y="2986650"/>
              <a:ext cx="1" cy="581890"/>
            </a:xfrm>
            <a:prstGeom prst="curvedConnector3">
              <a:avLst>
                <a:gd name="adj1" fmla="val 22860100000"/>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1B03DD2-6F5D-281B-72D0-3CC6BB2D02A2}"/>
                </a:ext>
              </a:extLst>
            </p:cNvPr>
            <p:cNvSpPr txBox="1"/>
            <p:nvPr/>
          </p:nvSpPr>
          <p:spPr>
            <a:xfrm>
              <a:off x="3933724" y="4873218"/>
              <a:ext cx="1389696" cy="246221"/>
            </a:xfrm>
            <a:prstGeom prst="rect">
              <a:avLst/>
            </a:prstGeom>
            <a:noFill/>
          </p:spPr>
          <p:txBody>
            <a:bodyPr wrap="square" rtlCol="0">
              <a:spAutoFit/>
            </a:bodyPr>
            <a:lstStyle/>
            <a:p>
              <a:pPr algn="ctr"/>
              <a:r>
                <a:rPr lang="en-US" sz="1000" dirty="0" err="1">
                  <a:highlight>
                    <a:srgbClr val="FFFFCC"/>
                  </a:highlight>
                </a:rPr>
                <a:t>ismodelledtoNetZero</a:t>
              </a:r>
              <a:endParaRPr lang="en-US" sz="1000" dirty="0">
                <a:highlight>
                  <a:srgbClr val="FFFFCC"/>
                </a:highlight>
              </a:endParaRPr>
            </a:p>
          </p:txBody>
        </p:sp>
        <p:sp>
          <p:nvSpPr>
            <p:cNvPr id="41" name="Rectangle: Rounded Corners 40">
              <a:extLst>
                <a:ext uri="{FF2B5EF4-FFF2-40B4-BE49-F238E27FC236}">
                  <a16:creationId xmlns:a16="http://schemas.microsoft.com/office/drawing/2014/main" id="{BD9B1F29-7167-58DC-F3EB-671582D417BB}"/>
                </a:ext>
              </a:extLst>
            </p:cNvPr>
            <p:cNvSpPr/>
            <p:nvPr/>
          </p:nvSpPr>
          <p:spPr>
            <a:xfrm>
              <a:off x="5787138" y="4491451"/>
              <a:ext cx="1426036"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control</a:t>
              </a:r>
            </a:p>
          </p:txBody>
        </p:sp>
        <p:sp>
          <p:nvSpPr>
            <p:cNvPr id="42" name="TextBox 41">
              <a:extLst>
                <a:ext uri="{FF2B5EF4-FFF2-40B4-BE49-F238E27FC236}">
                  <a16:creationId xmlns:a16="http://schemas.microsoft.com/office/drawing/2014/main" id="{89F0660B-8AF3-957A-B1ED-157ADDEBF584}"/>
                </a:ext>
              </a:extLst>
            </p:cNvPr>
            <p:cNvSpPr txBox="1"/>
            <p:nvPr/>
          </p:nvSpPr>
          <p:spPr>
            <a:xfrm>
              <a:off x="5395004" y="4782709"/>
              <a:ext cx="1536491" cy="246221"/>
            </a:xfrm>
            <a:prstGeom prst="rect">
              <a:avLst/>
            </a:prstGeom>
            <a:noFill/>
          </p:spPr>
          <p:txBody>
            <a:bodyPr wrap="square" rtlCol="0">
              <a:spAutoFit/>
            </a:bodyPr>
            <a:lstStyle/>
            <a:p>
              <a:pPr algn="ctr"/>
              <a:r>
                <a:rPr lang="en-US" sz="1000" dirty="0" err="1">
                  <a:highlight>
                    <a:srgbClr val="FFFFCC"/>
                  </a:highlight>
                </a:rPr>
                <a:t>hasMeasurementSystem</a:t>
              </a:r>
              <a:endParaRPr lang="en-US" sz="1000" dirty="0">
                <a:highlight>
                  <a:srgbClr val="FFFFCC"/>
                </a:highlight>
              </a:endParaRPr>
            </a:p>
          </p:txBody>
        </p:sp>
        <p:sp>
          <p:nvSpPr>
            <p:cNvPr id="43" name="TextBox 42">
              <a:extLst>
                <a:ext uri="{FF2B5EF4-FFF2-40B4-BE49-F238E27FC236}">
                  <a16:creationId xmlns:a16="http://schemas.microsoft.com/office/drawing/2014/main" id="{3A734A22-BE1B-5F74-904A-897C15881E8E}"/>
                </a:ext>
              </a:extLst>
            </p:cNvPr>
            <p:cNvSpPr txBox="1"/>
            <p:nvPr/>
          </p:nvSpPr>
          <p:spPr>
            <a:xfrm>
              <a:off x="5318129" y="4264105"/>
              <a:ext cx="727158" cy="215444"/>
            </a:xfrm>
            <a:prstGeom prst="rect">
              <a:avLst/>
            </a:prstGeom>
            <a:noFill/>
          </p:spPr>
          <p:txBody>
            <a:bodyPr wrap="square" rtlCol="0">
              <a:spAutoFit/>
            </a:bodyPr>
            <a:lstStyle/>
            <a:p>
              <a:pPr algn="ctr"/>
              <a:r>
                <a:rPr lang="en-US" sz="800" dirty="0" err="1">
                  <a:highlight>
                    <a:srgbClr val="FFFFCC"/>
                  </a:highlight>
                </a:rPr>
                <a:t>hasCalcs</a:t>
              </a:r>
              <a:endParaRPr lang="en-US" sz="800" dirty="0">
                <a:highlight>
                  <a:srgbClr val="FFFFCC"/>
                </a:highlight>
              </a:endParaRPr>
            </a:p>
          </p:txBody>
        </p:sp>
        <p:cxnSp>
          <p:nvCxnSpPr>
            <p:cNvPr id="44" name="Connector: Curved 43">
              <a:extLst>
                <a:ext uri="{FF2B5EF4-FFF2-40B4-BE49-F238E27FC236}">
                  <a16:creationId xmlns:a16="http://schemas.microsoft.com/office/drawing/2014/main" id="{FB288A5C-E505-B230-5FC0-8259485198BC}"/>
                </a:ext>
              </a:extLst>
            </p:cNvPr>
            <p:cNvCxnSpPr>
              <a:cxnSpLocks/>
              <a:stCxn id="21" idx="3"/>
              <a:endCxn id="23" idx="3"/>
            </p:cNvCxnSpPr>
            <p:nvPr/>
          </p:nvCxnSpPr>
          <p:spPr>
            <a:xfrm flipV="1">
              <a:off x="7213268" y="3568540"/>
              <a:ext cx="94" cy="544488"/>
            </a:xfrm>
            <a:prstGeom prst="curvedConnector3">
              <a:avLst>
                <a:gd name="adj1" fmla="val 243291489"/>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47621B6-CE36-66C9-7EFE-E6C51B778691}"/>
                </a:ext>
              </a:extLst>
            </p:cNvPr>
            <p:cNvSpPr txBox="1"/>
            <p:nvPr/>
          </p:nvSpPr>
          <p:spPr>
            <a:xfrm>
              <a:off x="5278555" y="3253531"/>
              <a:ext cx="1165480" cy="215444"/>
            </a:xfrm>
            <a:prstGeom prst="rect">
              <a:avLst/>
            </a:prstGeom>
            <a:noFill/>
          </p:spPr>
          <p:txBody>
            <a:bodyPr wrap="square" rtlCol="0">
              <a:spAutoFit/>
            </a:bodyPr>
            <a:lstStyle/>
            <a:p>
              <a:pPr algn="ctr"/>
              <a:r>
                <a:rPr lang="en-US" sz="800" dirty="0" err="1">
                  <a:highlight>
                    <a:srgbClr val="FFFFCC"/>
                  </a:highlight>
                </a:rPr>
                <a:t>hasNetZeroTarget</a:t>
              </a:r>
              <a:endParaRPr lang="en-US" sz="800" dirty="0">
                <a:highlight>
                  <a:srgbClr val="FFFFCC"/>
                </a:highlight>
              </a:endParaRPr>
            </a:p>
          </p:txBody>
        </p:sp>
        <p:cxnSp>
          <p:nvCxnSpPr>
            <p:cNvPr id="52" name="Connector: Curved 51">
              <a:extLst>
                <a:ext uri="{FF2B5EF4-FFF2-40B4-BE49-F238E27FC236}">
                  <a16:creationId xmlns:a16="http://schemas.microsoft.com/office/drawing/2014/main" id="{6BEAB867-90C6-F413-1178-84144BD03BB3}"/>
                </a:ext>
              </a:extLst>
            </p:cNvPr>
            <p:cNvCxnSpPr>
              <a:cxnSpLocks/>
              <a:stCxn id="22" idx="3"/>
              <a:endCxn id="23" idx="3"/>
            </p:cNvCxnSpPr>
            <p:nvPr/>
          </p:nvCxnSpPr>
          <p:spPr>
            <a:xfrm flipH="1">
              <a:off x="7213362" y="2433019"/>
              <a:ext cx="14278" cy="1135521"/>
            </a:xfrm>
            <a:prstGeom prst="curvedConnector3">
              <a:avLst>
                <a:gd name="adj1" fmla="val -334768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AC5274A4-AFC4-4D4F-DD18-D8A39A459243}"/>
                </a:ext>
              </a:extLst>
            </p:cNvPr>
            <p:cNvSpPr txBox="1"/>
            <p:nvPr/>
          </p:nvSpPr>
          <p:spPr>
            <a:xfrm>
              <a:off x="7279156" y="2872246"/>
              <a:ext cx="769691" cy="215444"/>
            </a:xfrm>
            <a:prstGeom prst="rect">
              <a:avLst/>
            </a:prstGeom>
            <a:noFill/>
          </p:spPr>
          <p:txBody>
            <a:bodyPr wrap="square" rtlCol="0">
              <a:spAutoFit/>
            </a:bodyPr>
            <a:lstStyle/>
            <a:p>
              <a:pPr algn="ctr"/>
              <a:r>
                <a:rPr lang="en-US" sz="800" dirty="0" err="1">
                  <a:highlight>
                    <a:srgbClr val="FFFFCC"/>
                  </a:highlight>
                </a:rPr>
                <a:t>hasImpact</a:t>
              </a:r>
              <a:endParaRPr lang="en-US" sz="800" dirty="0">
                <a:highlight>
                  <a:srgbClr val="FFFFCC"/>
                </a:highlight>
              </a:endParaRPr>
            </a:p>
          </p:txBody>
        </p:sp>
        <p:cxnSp>
          <p:nvCxnSpPr>
            <p:cNvPr id="57" name="Connector: Curved 56">
              <a:extLst>
                <a:ext uri="{FF2B5EF4-FFF2-40B4-BE49-F238E27FC236}">
                  <a16:creationId xmlns:a16="http://schemas.microsoft.com/office/drawing/2014/main" id="{A19C006A-4715-17B8-4526-D3CAEA42BDC3}"/>
                </a:ext>
              </a:extLst>
            </p:cNvPr>
            <p:cNvCxnSpPr>
              <a:cxnSpLocks/>
              <a:stCxn id="1049" idx="3"/>
              <a:endCxn id="28" idx="0"/>
            </p:cNvCxnSpPr>
            <p:nvPr/>
          </p:nvCxnSpPr>
          <p:spPr>
            <a:xfrm>
              <a:off x="7227640" y="1886419"/>
              <a:ext cx="1035647" cy="2091017"/>
            </a:xfrm>
            <a:prstGeom prst="curvedConnector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163D9425-2F64-5E47-C032-BAE0E67A01CC}"/>
                </a:ext>
              </a:extLst>
            </p:cNvPr>
            <p:cNvSpPr txBox="1"/>
            <p:nvPr/>
          </p:nvSpPr>
          <p:spPr>
            <a:xfrm>
              <a:off x="7533300" y="2495565"/>
              <a:ext cx="992237" cy="215444"/>
            </a:xfrm>
            <a:prstGeom prst="rect">
              <a:avLst/>
            </a:prstGeom>
            <a:noFill/>
          </p:spPr>
          <p:txBody>
            <a:bodyPr wrap="square" rtlCol="0">
              <a:spAutoFit/>
            </a:bodyPr>
            <a:lstStyle/>
            <a:p>
              <a:pPr algn="ctr"/>
              <a:r>
                <a:rPr lang="en-US" sz="800" dirty="0" err="1">
                  <a:highlight>
                    <a:srgbClr val="FFFFCC"/>
                  </a:highlight>
                </a:rPr>
                <a:t>engagesin</a:t>
              </a:r>
              <a:endParaRPr lang="en-US" sz="800" dirty="0">
                <a:highlight>
                  <a:srgbClr val="FFFFCC"/>
                </a:highlight>
              </a:endParaRPr>
            </a:p>
          </p:txBody>
        </p:sp>
        <p:cxnSp>
          <p:nvCxnSpPr>
            <p:cNvPr id="61" name="Connector: Curved 60">
              <a:extLst>
                <a:ext uri="{FF2B5EF4-FFF2-40B4-BE49-F238E27FC236}">
                  <a16:creationId xmlns:a16="http://schemas.microsoft.com/office/drawing/2014/main" id="{AB6D937E-F03B-A5FA-97FC-C7FB205EB8B7}"/>
                </a:ext>
              </a:extLst>
            </p:cNvPr>
            <p:cNvCxnSpPr>
              <a:cxnSpLocks/>
              <a:stCxn id="28" idx="2"/>
              <a:endCxn id="25" idx="3"/>
            </p:cNvCxnSpPr>
            <p:nvPr/>
          </p:nvCxnSpPr>
          <p:spPr>
            <a:xfrm rot="5400000">
              <a:off x="7271924" y="4164908"/>
              <a:ext cx="932614" cy="1050113"/>
            </a:xfrm>
            <a:prstGeom prst="curvedConnector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24" name="Connector: Curved 1023">
              <a:extLst>
                <a:ext uri="{FF2B5EF4-FFF2-40B4-BE49-F238E27FC236}">
                  <a16:creationId xmlns:a16="http://schemas.microsoft.com/office/drawing/2014/main" id="{CDB849D4-422A-B2A4-4369-D5A6793A5694}"/>
                </a:ext>
              </a:extLst>
            </p:cNvPr>
            <p:cNvCxnSpPr>
              <a:cxnSpLocks/>
              <a:stCxn id="41" idx="1"/>
              <a:endCxn id="25" idx="1"/>
            </p:cNvCxnSpPr>
            <p:nvPr/>
          </p:nvCxnSpPr>
          <p:spPr>
            <a:xfrm rot="10800000" flipH="1" flipV="1">
              <a:off x="5787138" y="4614561"/>
              <a:ext cx="94" cy="541709"/>
            </a:xfrm>
            <a:prstGeom prst="curvedConnector3">
              <a:avLst>
                <a:gd name="adj1" fmla="val -243191489"/>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025" name="TextBox 1024">
              <a:extLst>
                <a:ext uri="{FF2B5EF4-FFF2-40B4-BE49-F238E27FC236}">
                  <a16:creationId xmlns:a16="http://schemas.microsoft.com/office/drawing/2014/main" id="{4C5A5648-2EE8-7C27-089B-5767D1C7B3D2}"/>
                </a:ext>
              </a:extLst>
            </p:cNvPr>
            <p:cNvSpPr txBox="1"/>
            <p:nvPr/>
          </p:nvSpPr>
          <p:spPr>
            <a:xfrm>
              <a:off x="7616800" y="4500978"/>
              <a:ext cx="1165195" cy="215444"/>
            </a:xfrm>
            <a:prstGeom prst="rect">
              <a:avLst/>
            </a:prstGeom>
            <a:noFill/>
          </p:spPr>
          <p:txBody>
            <a:bodyPr wrap="square" rtlCol="0">
              <a:spAutoFit/>
            </a:bodyPr>
            <a:lstStyle/>
            <a:p>
              <a:pPr algn="ctr"/>
              <a:r>
                <a:rPr lang="en-US" sz="800" dirty="0" err="1">
                  <a:highlight>
                    <a:srgbClr val="FFFFCC"/>
                  </a:highlight>
                </a:rPr>
                <a:t>isPerformedWith</a:t>
              </a:r>
              <a:endParaRPr lang="en-US" sz="800" dirty="0">
                <a:highlight>
                  <a:srgbClr val="FFFFCC"/>
                </a:highlight>
              </a:endParaRPr>
            </a:p>
          </p:txBody>
        </p:sp>
        <p:cxnSp>
          <p:nvCxnSpPr>
            <p:cNvPr id="1027" name="Connector: Curved 1026">
              <a:extLst>
                <a:ext uri="{FF2B5EF4-FFF2-40B4-BE49-F238E27FC236}">
                  <a16:creationId xmlns:a16="http://schemas.microsoft.com/office/drawing/2014/main" id="{EECB3E1D-671B-8FCC-0A5C-8327DF36FEBF}"/>
                </a:ext>
              </a:extLst>
            </p:cNvPr>
            <p:cNvCxnSpPr>
              <a:cxnSpLocks/>
              <a:stCxn id="41" idx="1"/>
              <a:endCxn id="21" idx="1"/>
            </p:cNvCxnSpPr>
            <p:nvPr/>
          </p:nvCxnSpPr>
          <p:spPr>
            <a:xfrm rot="10800000" flipH="1">
              <a:off x="5787137" y="4113028"/>
              <a:ext cx="93" cy="501534"/>
            </a:xfrm>
            <a:prstGeom prst="curvedConnector3">
              <a:avLst>
                <a:gd name="adj1" fmla="val -24580645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28" name="Connector: Curved 1027">
              <a:extLst>
                <a:ext uri="{FF2B5EF4-FFF2-40B4-BE49-F238E27FC236}">
                  <a16:creationId xmlns:a16="http://schemas.microsoft.com/office/drawing/2014/main" id="{703CD736-39EA-E853-2E04-205C02B230D1}"/>
                </a:ext>
              </a:extLst>
            </p:cNvPr>
            <p:cNvCxnSpPr>
              <a:cxnSpLocks/>
              <a:stCxn id="41" idx="1"/>
              <a:endCxn id="34" idx="2"/>
            </p:cNvCxnSpPr>
            <p:nvPr/>
          </p:nvCxnSpPr>
          <p:spPr>
            <a:xfrm rot="10800000">
              <a:off x="4110452" y="3650088"/>
              <a:ext cx="1676687" cy="964475"/>
            </a:xfrm>
            <a:prstGeom prst="curvedConnector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029" name="TextBox 1028">
              <a:extLst>
                <a:ext uri="{FF2B5EF4-FFF2-40B4-BE49-F238E27FC236}">
                  <a16:creationId xmlns:a16="http://schemas.microsoft.com/office/drawing/2014/main" id="{3F57272B-3A54-CF67-A8FA-00E086060A91}"/>
                </a:ext>
              </a:extLst>
            </p:cNvPr>
            <p:cNvSpPr txBox="1"/>
            <p:nvPr/>
          </p:nvSpPr>
          <p:spPr>
            <a:xfrm>
              <a:off x="3890820" y="3935880"/>
              <a:ext cx="727158" cy="215444"/>
            </a:xfrm>
            <a:prstGeom prst="rect">
              <a:avLst/>
            </a:prstGeom>
            <a:noFill/>
          </p:spPr>
          <p:txBody>
            <a:bodyPr wrap="square" rtlCol="0">
              <a:spAutoFit/>
            </a:bodyPr>
            <a:lstStyle/>
            <a:p>
              <a:pPr algn="ctr"/>
              <a:r>
                <a:rPr lang="en-US" sz="800" dirty="0" err="1">
                  <a:highlight>
                    <a:srgbClr val="FFFFCC"/>
                  </a:highlight>
                </a:rPr>
                <a:t>hasRole</a:t>
              </a:r>
              <a:endParaRPr lang="en-US" sz="800" dirty="0">
                <a:highlight>
                  <a:srgbClr val="FFFFCC"/>
                </a:highlight>
              </a:endParaRPr>
            </a:p>
          </p:txBody>
        </p:sp>
        <p:cxnSp>
          <p:nvCxnSpPr>
            <p:cNvPr id="1030" name="Connector: Curved 1029">
              <a:extLst>
                <a:ext uri="{FF2B5EF4-FFF2-40B4-BE49-F238E27FC236}">
                  <a16:creationId xmlns:a16="http://schemas.microsoft.com/office/drawing/2014/main" id="{0254EC7B-455E-99CD-1D68-7B336EA3AE24}"/>
                </a:ext>
              </a:extLst>
            </p:cNvPr>
            <p:cNvCxnSpPr>
              <a:cxnSpLocks/>
              <a:stCxn id="22" idx="1"/>
              <a:endCxn id="34" idx="0"/>
            </p:cNvCxnSpPr>
            <p:nvPr/>
          </p:nvCxnSpPr>
          <p:spPr>
            <a:xfrm rot="10800000" flipV="1">
              <a:off x="4110452" y="2433018"/>
              <a:ext cx="1676781" cy="970847"/>
            </a:xfrm>
            <a:prstGeom prst="curvedConnector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031" name="TextBox 1030">
              <a:extLst>
                <a:ext uri="{FF2B5EF4-FFF2-40B4-BE49-F238E27FC236}">
                  <a16:creationId xmlns:a16="http://schemas.microsoft.com/office/drawing/2014/main" id="{97629F42-038C-6C05-4555-6A7657177623}"/>
                </a:ext>
              </a:extLst>
            </p:cNvPr>
            <p:cNvSpPr txBox="1"/>
            <p:nvPr/>
          </p:nvSpPr>
          <p:spPr>
            <a:xfrm>
              <a:off x="4010222" y="2802083"/>
              <a:ext cx="727158" cy="215444"/>
            </a:xfrm>
            <a:prstGeom prst="rect">
              <a:avLst/>
            </a:prstGeom>
            <a:noFill/>
          </p:spPr>
          <p:txBody>
            <a:bodyPr wrap="square" rtlCol="0">
              <a:spAutoFit/>
            </a:bodyPr>
            <a:lstStyle/>
            <a:p>
              <a:pPr algn="ctr"/>
              <a:r>
                <a:rPr lang="en-US" sz="800" dirty="0" err="1">
                  <a:highlight>
                    <a:srgbClr val="FFFFCC"/>
                  </a:highlight>
                </a:rPr>
                <a:t>isAbout</a:t>
              </a:r>
              <a:endParaRPr lang="en-US" sz="800" dirty="0">
                <a:highlight>
                  <a:srgbClr val="FFFFCC"/>
                </a:highlight>
              </a:endParaRPr>
            </a:p>
          </p:txBody>
        </p:sp>
        <p:cxnSp>
          <p:nvCxnSpPr>
            <p:cNvPr id="1032" name="Connector: Curved 1031">
              <a:extLst>
                <a:ext uri="{FF2B5EF4-FFF2-40B4-BE49-F238E27FC236}">
                  <a16:creationId xmlns:a16="http://schemas.microsoft.com/office/drawing/2014/main" id="{91CD3507-E809-8F4D-1E02-E12737897670}"/>
                </a:ext>
              </a:extLst>
            </p:cNvPr>
            <p:cNvCxnSpPr>
              <a:cxnSpLocks/>
              <a:stCxn id="25" idx="3"/>
              <a:endCxn id="41" idx="3"/>
            </p:cNvCxnSpPr>
            <p:nvPr/>
          </p:nvCxnSpPr>
          <p:spPr>
            <a:xfrm flipV="1">
              <a:off x="7213174" y="4614562"/>
              <a:ext cx="12700" cy="541709"/>
            </a:xfrm>
            <a:prstGeom prst="curvedConnector3">
              <a:avLst>
                <a:gd name="adj1" fmla="val 1800000"/>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033" name="TextBox 1032">
              <a:extLst>
                <a:ext uri="{FF2B5EF4-FFF2-40B4-BE49-F238E27FC236}">
                  <a16:creationId xmlns:a16="http://schemas.microsoft.com/office/drawing/2014/main" id="{7E86B1F7-496E-F16D-7AA7-22ECBE39A727}"/>
                </a:ext>
              </a:extLst>
            </p:cNvPr>
            <p:cNvSpPr txBox="1"/>
            <p:nvPr/>
          </p:nvSpPr>
          <p:spPr>
            <a:xfrm>
              <a:off x="7105434" y="4680287"/>
              <a:ext cx="582393" cy="338554"/>
            </a:xfrm>
            <a:prstGeom prst="rect">
              <a:avLst/>
            </a:prstGeom>
            <a:noFill/>
          </p:spPr>
          <p:txBody>
            <a:bodyPr wrap="square" rtlCol="0">
              <a:spAutoFit/>
            </a:bodyPr>
            <a:lstStyle/>
            <a:p>
              <a:pPr algn="ctr"/>
              <a:r>
                <a:rPr lang="en-US" sz="800" dirty="0">
                  <a:highlight>
                    <a:srgbClr val="FFFFCC"/>
                  </a:highlight>
                </a:rPr>
                <a:t>Calcs</a:t>
              </a:r>
            </a:p>
            <a:p>
              <a:pPr algn="ctr"/>
              <a:r>
                <a:rPr lang="en-US" sz="800" dirty="0">
                  <a:highlight>
                    <a:srgbClr val="FFFFCC"/>
                  </a:highlight>
                </a:rPr>
                <a:t>Formula</a:t>
              </a:r>
            </a:p>
          </p:txBody>
        </p:sp>
        <p:sp>
          <p:nvSpPr>
            <p:cNvPr id="1034" name="TextBox 1033">
              <a:extLst>
                <a:ext uri="{FF2B5EF4-FFF2-40B4-BE49-F238E27FC236}">
                  <a16:creationId xmlns:a16="http://schemas.microsoft.com/office/drawing/2014/main" id="{D4E762F6-F39F-A0B2-D4C0-6939A728616B}"/>
                </a:ext>
              </a:extLst>
            </p:cNvPr>
            <p:cNvSpPr txBox="1"/>
            <p:nvPr/>
          </p:nvSpPr>
          <p:spPr>
            <a:xfrm>
              <a:off x="6955026" y="3719159"/>
              <a:ext cx="769691" cy="215444"/>
            </a:xfrm>
            <a:prstGeom prst="rect">
              <a:avLst/>
            </a:prstGeom>
            <a:noFill/>
          </p:spPr>
          <p:txBody>
            <a:bodyPr wrap="square" rtlCol="0">
              <a:spAutoFit/>
            </a:bodyPr>
            <a:lstStyle/>
            <a:p>
              <a:pPr algn="ctr"/>
              <a:r>
                <a:rPr lang="en-US" sz="800" dirty="0">
                  <a:highlight>
                    <a:srgbClr val="FFFFCC"/>
                  </a:highlight>
                </a:rPr>
                <a:t>impacts</a:t>
              </a:r>
            </a:p>
          </p:txBody>
        </p:sp>
        <p:sp>
          <p:nvSpPr>
            <p:cNvPr id="1036" name="TextBox 1035">
              <a:extLst>
                <a:ext uri="{FF2B5EF4-FFF2-40B4-BE49-F238E27FC236}">
                  <a16:creationId xmlns:a16="http://schemas.microsoft.com/office/drawing/2014/main" id="{68BDC3B9-F3CA-F8CE-0F42-28342EAB84D7}"/>
                </a:ext>
              </a:extLst>
            </p:cNvPr>
            <p:cNvSpPr txBox="1"/>
            <p:nvPr/>
          </p:nvSpPr>
          <p:spPr>
            <a:xfrm>
              <a:off x="4168288" y="3004672"/>
              <a:ext cx="1232690" cy="215444"/>
            </a:xfrm>
            <a:prstGeom prst="rect">
              <a:avLst/>
            </a:prstGeom>
            <a:noFill/>
          </p:spPr>
          <p:txBody>
            <a:bodyPr wrap="square" rtlCol="0">
              <a:spAutoFit/>
            </a:bodyPr>
            <a:lstStyle/>
            <a:p>
              <a:pPr algn="ctr"/>
              <a:r>
                <a:rPr lang="en-US" sz="800" dirty="0" err="1">
                  <a:highlight>
                    <a:srgbClr val="FFFFCC"/>
                  </a:highlight>
                </a:rPr>
                <a:t>isSeriesofInterrelated</a:t>
              </a:r>
              <a:endParaRPr lang="en-US" sz="800" dirty="0">
                <a:highlight>
                  <a:srgbClr val="FFFFCC"/>
                </a:highlight>
              </a:endParaRPr>
            </a:p>
          </p:txBody>
        </p:sp>
        <p:cxnSp>
          <p:nvCxnSpPr>
            <p:cNvPr id="1037" name="Straight Connector 1036">
              <a:extLst>
                <a:ext uri="{FF2B5EF4-FFF2-40B4-BE49-F238E27FC236}">
                  <a16:creationId xmlns:a16="http://schemas.microsoft.com/office/drawing/2014/main" id="{EFA535C0-4809-B230-B457-6C5C106FF355}"/>
                </a:ext>
              </a:extLst>
            </p:cNvPr>
            <p:cNvCxnSpPr>
              <a:cxnSpLocks/>
            </p:cNvCxnSpPr>
            <p:nvPr/>
          </p:nvCxnSpPr>
          <p:spPr>
            <a:xfrm flipH="1">
              <a:off x="5472713" y="5721950"/>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38" name="Straight Connector 1037">
              <a:extLst>
                <a:ext uri="{FF2B5EF4-FFF2-40B4-BE49-F238E27FC236}">
                  <a16:creationId xmlns:a16="http://schemas.microsoft.com/office/drawing/2014/main" id="{9C585CD8-0DFD-F600-2BF3-42294B7E3388}"/>
                </a:ext>
              </a:extLst>
            </p:cNvPr>
            <p:cNvCxnSpPr>
              <a:cxnSpLocks/>
              <a:endCxn id="21" idx="3"/>
            </p:cNvCxnSpPr>
            <p:nvPr/>
          </p:nvCxnSpPr>
          <p:spPr>
            <a:xfrm flipH="1" flipV="1">
              <a:off x="7213268" y="4113028"/>
              <a:ext cx="621156" cy="359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39" name="Straight Connector 1038">
              <a:extLst>
                <a:ext uri="{FF2B5EF4-FFF2-40B4-BE49-F238E27FC236}">
                  <a16:creationId xmlns:a16="http://schemas.microsoft.com/office/drawing/2014/main" id="{CB1B5BB3-A37E-98EE-4E31-7F553BCE3C4C}"/>
                </a:ext>
              </a:extLst>
            </p:cNvPr>
            <p:cNvCxnSpPr>
              <a:cxnSpLocks/>
            </p:cNvCxnSpPr>
            <p:nvPr/>
          </p:nvCxnSpPr>
          <p:spPr>
            <a:xfrm flipH="1">
              <a:off x="5472713" y="5201329"/>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1" name="Straight Connector 1040">
              <a:extLst>
                <a:ext uri="{FF2B5EF4-FFF2-40B4-BE49-F238E27FC236}">
                  <a16:creationId xmlns:a16="http://schemas.microsoft.com/office/drawing/2014/main" id="{B2879E22-8EB4-46C1-9B2D-5F256F73657F}"/>
                </a:ext>
              </a:extLst>
            </p:cNvPr>
            <p:cNvCxnSpPr>
              <a:cxnSpLocks/>
            </p:cNvCxnSpPr>
            <p:nvPr/>
          </p:nvCxnSpPr>
          <p:spPr>
            <a:xfrm flipH="1">
              <a:off x="5467009" y="4092880"/>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2" name="Straight Connector 1041">
              <a:extLst>
                <a:ext uri="{FF2B5EF4-FFF2-40B4-BE49-F238E27FC236}">
                  <a16:creationId xmlns:a16="http://schemas.microsoft.com/office/drawing/2014/main" id="{949DA97E-E775-D9CF-4329-196210C7396B}"/>
                </a:ext>
              </a:extLst>
            </p:cNvPr>
            <p:cNvCxnSpPr>
              <a:cxnSpLocks/>
            </p:cNvCxnSpPr>
            <p:nvPr/>
          </p:nvCxnSpPr>
          <p:spPr>
            <a:xfrm flipH="1">
              <a:off x="5467009" y="3555220"/>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3" name="Straight Connector 1042">
              <a:extLst>
                <a:ext uri="{FF2B5EF4-FFF2-40B4-BE49-F238E27FC236}">
                  <a16:creationId xmlns:a16="http://schemas.microsoft.com/office/drawing/2014/main" id="{28ABF3D5-DD12-7411-3125-C93174D0AED1}"/>
                </a:ext>
              </a:extLst>
            </p:cNvPr>
            <p:cNvCxnSpPr>
              <a:cxnSpLocks/>
            </p:cNvCxnSpPr>
            <p:nvPr/>
          </p:nvCxnSpPr>
          <p:spPr>
            <a:xfrm flipH="1">
              <a:off x="5467009" y="2998629"/>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4" name="Straight Connector 1043">
              <a:extLst>
                <a:ext uri="{FF2B5EF4-FFF2-40B4-BE49-F238E27FC236}">
                  <a16:creationId xmlns:a16="http://schemas.microsoft.com/office/drawing/2014/main" id="{B0922251-3906-6718-19BC-03E1751EB208}"/>
                </a:ext>
              </a:extLst>
            </p:cNvPr>
            <p:cNvCxnSpPr>
              <a:cxnSpLocks/>
            </p:cNvCxnSpPr>
            <p:nvPr/>
          </p:nvCxnSpPr>
          <p:spPr>
            <a:xfrm flipH="1">
              <a:off x="5467009" y="2456102"/>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5" name="Straight Connector 1044">
              <a:extLst>
                <a:ext uri="{FF2B5EF4-FFF2-40B4-BE49-F238E27FC236}">
                  <a16:creationId xmlns:a16="http://schemas.microsoft.com/office/drawing/2014/main" id="{553E9727-1C45-E77F-620A-077842F83DA5}"/>
                </a:ext>
              </a:extLst>
            </p:cNvPr>
            <p:cNvCxnSpPr>
              <a:cxnSpLocks/>
            </p:cNvCxnSpPr>
            <p:nvPr/>
          </p:nvCxnSpPr>
          <p:spPr>
            <a:xfrm flipH="1">
              <a:off x="5467009" y="1891320"/>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6" name="Straight Connector 1045">
              <a:extLst>
                <a:ext uri="{FF2B5EF4-FFF2-40B4-BE49-F238E27FC236}">
                  <a16:creationId xmlns:a16="http://schemas.microsoft.com/office/drawing/2014/main" id="{452FC020-6FFF-3BB4-1C03-29E3F3F25682}"/>
                </a:ext>
              </a:extLst>
            </p:cNvPr>
            <p:cNvCxnSpPr>
              <a:cxnSpLocks/>
            </p:cNvCxnSpPr>
            <p:nvPr/>
          </p:nvCxnSpPr>
          <p:spPr>
            <a:xfrm flipH="1">
              <a:off x="5467009" y="1345329"/>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7" name="Straight Connector 1046">
              <a:extLst>
                <a:ext uri="{FF2B5EF4-FFF2-40B4-BE49-F238E27FC236}">
                  <a16:creationId xmlns:a16="http://schemas.microsoft.com/office/drawing/2014/main" id="{A3B9A2F8-DD72-5EB4-2F52-A7FA985F3FB9}"/>
                </a:ext>
              </a:extLst>
            </p:cNvPr>
            <p:cNvCxnSpPr>
              <a:cxnSpLocks/>
            </p:cNvCxnSpPr>
            <p:nvPr/>
          </p:nvCxnSpPr>
          <p:spPr>
            <a:xfrm flipH="1">
              <a:off x="5452494" y="769940"/>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8" name="Straight Connector 1047">
              <a:extLst>
                <a:ext uri="{FF2B5EF4-FFF2-40B4-BE49-F238E27FC236}">
                  <a16:creationId xmlns:a16="http://schemas.microsoft.com/office/drawing/2014/main" id="{1C19DF59-9357-D83C-F1CB-47A714B8BEDF}"/>
                </a:ext>
              </a:extLst>
            </p:cNvPr>
            <p:cNvCxnSpPr>
              <a:cxnSpLocks/>
            </p:cNvCxnSpPr>
            <p:nvPr/>
          </p:nvCxnSpPr>
          <p:spPr>
            <a:xfrm flipH="1" flipV="1">
              <a:off x="4549738" y="3551081"/>
              <a:ext cx="917271" cy="83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49" name="Rectangle: Rounded Corners 1048">
              <a:extLst>
                <a:ext uri="{FF2B5EF4-FFF2-40B4-BE49-F238E27FC236}">
                  <a16:creationId xmlns:a16="http://schemas.microsoft.com/office/drawing/2014/main" id="{62579D5E-07F2-F3EE-7339-6BD08009CB1C}"/>
                </a:ext>
              </a:extLst>
            </p:cNvPr>
            <p:cNvSpPr/>
            <p:nvPr/>
          </p:nvSpPr>
          <p:spPr>
            <a:xfrm>
              <a:off x="5779941" y="1763308"/>
              <a:ext cx="1447699"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agent</a:t>
              </a:r>
            </a:p>
          </p:txBody>
        </p:sp>
        <p:sp>
          <p:nvSpPr>
            <p:cNvPr id="1051" name="TextBox 1050">
              <a:extLst>
                <a:ext uri="{FF2B5EF4-FFF2-40B4-BE49-F238E27FC236}">
                  <a16:creationId xmlns:a16="http://schemas.microsoft.com/office/drawing/2014/main" id="{0BD346C6-4CF6-87F2-671D-AE5C4C7FFF73}"/>
                </a:ext>
              </a:extLst>
            </p:cNvPr>
            <p:cNvSpPr txBox="1"/>
            <p:nvPr/>
          </p:nvSpPr>
          <p:spPr>
            <a:xfrm>
              <a:off x="6855590" y="1532042"/>
              <a:ext cx="1010151" cy="215444"/>
            </a:xfrm>
            <a:prstGeom prst="rect">
              <a:avLst/>
            </a:prstGeom>
            <a:noFill/>
          </p:spPr>
          <p:txBody>
            <a:bodyPr wrap="square" rtlCol="0">
              <a:spAutoFit/>
            </a:bodyPr>
            <a:lstStyle/>
            <a:p>
              <a:pPr algn="ctr"/>
              <a:r>
                <a:rPr lang="en-US" sz="800" dirty="0">
                  <a:highlight>
                    <a:srgbClr val="FFFFCC"/>
                  </a:highlight>
                </a:rPr>
                <a:t>Owns/operates</a:t>
              </a:r>
            </a:p>
          </p:txBody>
        </p:sp>
        <p:cxnSp>
          <p:nvCxnSpPr>
            <p:cNvPr id="1053" name="Connector: Curved 1052">
              <a:extLst>
                <a:ext uri="{FF2B5EF4-FFF2-40B4-BE49-F238E27FC236}">
                  <a16:creationId xmlns:a16="http://schemas.microsoft.com/office/drawing/2014/main" id="{A590EA78-346C-3564-7983-F78BAA869230}"/>
                </a:ext>
              </a:extLst>
            </p:cNvPr>
            <p:cNvCxnSpPr>
              <a:stCxn id="12" idx="1"/>
              <a:endCxn id="19" idx="1"/>
            </p:cNvCxnSpPr>
            <p:nvPr/>
          </p:nvCxnSpPr>
          <p:spPr>
            <a:xfrm rot="10800000" flipV="1">
              <a:off x="5787232" y="755172"/>
              <a:ext cx="12700" cy="2231478"/>
            </a:xfrm>
            <a:prstGeom prst="curvedConnector3">
              <a:avLst>
                <a:gd name="adj1" fmla="val 12012764"/>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054" name="Connector: Curved 1053">
              <a:extLst>
                <a:ext uri="{FF2B5EF4-FFF2-40B4-BE49-F238E27FC236}">
                  <a16:creationId xmlns:a16="http://schemas.microsoft.com/office/drawing/2014/main" id="{FAC40697-91C9-C290-6828-6C3EED974369}"/>
                </a:ext>
              </a:extLst>
            </p:cNvPr>
            <p:cNvCxnSpPr>
              <a:cxnSpLocks/>
              <a:stCxn id="1049" idx="1"/>
              <a:endCxn id="21" idx="1"/>
            </p:cNvCxnSpPr>
            <p:nvPr/>
          </p:nvCxnSpPr>
          <p:spPr>
            <a:xfrm rot="10800000" flipH="1" flipV="1">
              <a:off x="5779941" y="1886418"/>
              <a:ext cx="7290" cy="2226609"/>
            </a:xfrm>
            <a:prstGeom prst="curvedConnector3">
              <a:avLst>
                <a:gd name="adj1" fmla="val -14082606"/>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055" name="Connector: Curved 1054">
              <a:extLst>
                <a:ext uri="{FF2B5EF4-FFF2-40B4-BE49-F238E27FC236}">
                  <a16:creationId xmlns:a16="http://schemas.microsoft.com/office/drawing/2014/main" id="{073A0F93-9757-F036-75FB-6017AE9C559F}"/>
                </a:ext>
              </a:extLst>
            </p:cNvPr>
            <p:cNvCxnSpPr>
              <a:stCxn id="1049" idx="1"/>
              <a:endCxn id="22" idx="1"/>
            </p:cNvCxnSpPr>
            <p:nvPr/>
          </p:nvCxnSpPr>
          <p:spPr>
            <a:xfrm rot="10800000" flipH="1" flipV="1">
              <a:off x="5779940" y="1886419"/>
              <a:ext cx="7291" cy="546600"/>
            </a:xfrm>
            <a:prstGeom prst="curvedConnector3">
              <a:avLst>
                <a:gd name="adj1" fmla="val -313537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56" name="Connector: Curved 1055">
              <a:extLst>
                <a:ext uri="{FF2B5EF4-FFF2-40B4-BE49-F238E27FC236}">
                  <a16:creationId xmlns:a16="http://schemas.microsoft.com/office/drawing/2014/main" id="{72B2FD87-DB9E-704D-F5D2-D7A240B08DFC}"/>
                </a:ext>
              </a:extLst>
            </p:cNvPr>
            <p:cNvCxnSpPr>
              <a:stCxn id="24" idx="1"/>
              <a:endCxn id="19" idx="1"/>
            </p:cNvCxnSpPr>
            <p:nvPr/>
          </p:nvCxnSpPr>
          <p:spPr>
            <a:xfrm rot="10800000">
              <a:off x="5787232" y="2986651"/>
              <a:ext cx="12700" cy="2718261"/>
            </a:xfrm>
            <a:prstGeom prst="curvedConnector3">
              <a:avLst>
                <a:gd name="adj1" fmla="val 9347827"/>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057" name="TextBox 1056">
              <a:extLst>
                <a:ext uri="{FF2B5EF4-FFF2-40B4-BE49-F238E27FC236}">
                  <a16:creationId xmlns:a16="http://schemas.microsoft.com/office/drawing/2014/main" id="{E2A1D649-C2D9-CAC9-09F3-798544C55DD1}"/>
                </a:ext>
              </a:extLst>
            </p:cNvPr>
            <p:cNvSpPr txBox="1"/>
            <p:nvPr/>
          </p:nvSpPr>
          <p:spPr>
            <a:xfrm>
              <a:off x="4437157" y="1746560"/>
              <a:ext cx="1165479" cy="215444"/>
            </a:xfrm>
            <a:prstGeom prst="rect">
              <a:avLst/>
            </a:prstGeom>
            <a:noFill/>
          </p:spPr>
          <p:txBody>
            <a:bodyPr wrap="square" rtlCol="0">
              <a:spAutoFit/>
            </a:bodyPr>
            <a:lstStyle/>
            <a:p>
              <a:pPr algn="ctr"/>
              <a:r>
                <a:rPr lang="en-US" sz="800" dirty="0" err="1">
                  <a:highlight>
                    <a:srgbClr val="FFFFCC"/>
                  </a:highlight>
                </a:rPr>
                <a:t>hasBaseline</a:t>
              </a:r>
              <a:endParaRPr lang="en-US" sz="800" dirty="0">
                <a:highlight>
                  <a:srgbClr val="FFFFCC"/>
                </a:highlight>
              </a:endParaRPr>
            </a:p>
          </p:txBody>
        </p:sp>
        <p:sp>
          <p:nvSpPr>
            <p:cNvPr id="1058" name="Rectangle: Rounded Corners 1057">
              <a:extLst>
                <a:ext uri="{FF2B5EF4-FFF2-40B4-BE49-F238E27FC236}">
                  <a16:creationId xmlns:a16="http://schemas.microsoft.com/office/drawing/2014/main" id="{A781653E-C963-7BBA-1A0D-236DBEC79654}"/>
                </a:ext>
              </a:extLst>
            </p:cNvPr>
            <p:cNvSpPr/>
            <p:nvPr/>
          </p:nvSpPr>
          <p:spPr>
            <a:xfrm>
              <a:off x="5808096" y="6086354"/>
              <a:ext cx="1425942"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representing</a:t>
              </a:r>
            </a:p>
          </p:txBody>
        </p:sp>
        <p:cxnSp>
          <p:nvCxnSpPr>
            <p:cNvPr id="1059" name="Straight Connector 1058">
              <a:extLst>
                <a:ext uri="{FF2B5EF4-FFF2-40B4-BE49-F238E27FC236}">
                  <a16:creationId xmlns:a16="http://schemas.microsoft.com/office/drawing/2014/main" id="{033D1DA0-7140-2417-8160-4D29CA266C28}"/>
                </a:ext>
              </a:extLst>
            </p:cNvPr>
            <p:cNvCxnSpPr>
              <a:cxnSpLocks/>
            </p:cNvCxnSpPr>
            <p:nvPr/>
          </p:nvCxnSpPr>
          <p:spPr>
            <a:xfrm flipH="1">
              <a:off x="5479804" y="6203428"/>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60" name="Connector: Curved 1059">
              <a:extLst>
                <a:ext uri="{FF2B5EF4-FFF2-40B4-BE49-F238E27FC236}">
                  <a16:creationId xmlns:a16="http://schemas.microsoft.com/office/drawing/2014/main" id="{DD575568-6AF6-5D5A-8A85-4F40654A2890}"/>
                </a:ext>
              </a:extLst>
            </p:cNvPr>
            <p:cNvCxnSpPr>
              <a:stCxn id="1058" idx="3"/>
              <a:endCxn id="24" idx="3"/>
            </p:cNvCxnSpPr>
            <p:nvPr/>
          </p:nvCxnSpPr>
          <p:spPr>
            <a:xfrm flipH="1" flipV="1">
              <a:off x="7213174" y="5704911"/>
              <a:ext cx="20864" cy="504554"/>
            </a:xfrm>
            <a:prstGeom prst="curvedConnector3">
              <a:avLst>
                <a:gd name="adj1" fmla="val -1804625"/>
              </a:avLst>
            </a:prstGeom>
            <a:ln>
              <a:tailEnd type="triangle"/>
            </a:ln>
          </p:spPr>
          <p:style>
            <a:lnRef idx="1">
              <a:schemeClr val="accent1"/>
            </a:lnRef>
            <a:fillRef idx="0">
              <a:schemeClr val="accent1"/>
            </a:fillRef>
            <a:effectRef idx="0">
              <a:schemeClr val="accent1"/>
            </a:effectRef>
            <a:fontRef idx="minor">
              <a:schemeClr val="tx1"/>
            </a:fontRef>
          </p:style>
        </p:cxnSp>
        <p:sp>
          <p:nvSpPr>
            <p:cNvPr id="1061" name="TextBox 1060">
              <a:extLst>
                <a:ext uri="{FF2B5EF4-FFF2-40B4-BE49-F238E27FC236}">
                  <a16:creationId xmlns:a16="http://schemas.microsoft.com/office/drawing/2014/main" id="{3D553FD2-4887-4C2F-C093-9051375D1AF8}"/>
                </a:ext>
              </a:extLst>
            </p:cNvPr>
            <p:cNvSpPr txBox="1"/>
            <p:nvPr/>
          </p:nvSpPr>
          <p:spPr>
            <a:xfrm>
              <a:off x="7177589" y="5873928"/>
              <a:ext cx="1198818" cy="215444"/>
            </a:xfrm>
            <a:prstGeom prst="rect">
              <a:avLst/>
            </a:prstGeom>
            <a:noFill/>
          </p:spPr>
          <p:txBody>
            <a:bodyPr wrap="square" rtlCol="0">
              <a:spAutoFit/>
            </a:bodyPr>
            <a:lstStyle/>
            <a:p>
              <a:pPr algn="ctr"/>
              <a:r>
                <a:rPr lang="en-US" sz="800" dirty="0" err="1">
                  <a:highlight>
                    <a:srgbClr val="FFFFCC"/>
                  </a:highlight>
                </a:rPr>
                <a:t>modelssupplychain</a:t>
              </a:r>
              <a:endParaRPr lang="en-US" sz="800" dirty="0">
                <a:highlight>
                  <a:srgbClr val="FFFFCC"/>
                </a:highlight>
              </a:endParaRPr>
            </a:p>
          </p:txBody>
        </p:sp>
        <p:cxnSp>
          <p:nvCxnSpPr>
            <p:cNvPr id="1062" name="Connector: Curved 1061">
              <a:extLst>
                <a:ext uri="{FF2B5EF4-FFF2-40B4-BE49-F238E27FC236}">
                  <a16:creationId xmlns:a16="http://schemas.microsoft.com/office/drawing/2014/main" id="{FCEB0C9B-D616-EE53-3E4C-E8802CE0A197}"/>
                </a:ext>
              </a:extLst>
            </p:cNvPr>
            <p:cNvCxnSpPr>
              <a:stCxn id="1058" idx="1"/>
              <a:endCxn id="24" idx="1"/>
            </p:cNvCxnSpPr>
            <p:nvPr/>
          </p:nvCxnSpPr>
          <p:spPr>
            <a:xfrm rot="10800000">
              <a:off x="5787232" y="5704911"/>
              <a:ext cx="20864" cy="504554"/>
            </a:xfrm>
            <a:prstGeom prst="curvedConnector3">
              <a:avLst>
                <a:gd name="adj1" fmla="val 4289317"/>
              </a:avLst>
            </a:prstGeom>
            <a:ln>
              <a:tailEnd type="triangle"/>
            </a:ln>
          </p:spPr>
          <p:style>
            <a:lnRef idx="1">
              <a:schemeClr val="accent1"/>
            </a:lnRef>
            <a:fillRef idx="0">
              <a:schemeClr val="accent1"/>
            </a:fillRef>
            <a:effectRef idx="0">
              <a:schemeClr val="accent1"/>
            </a:effectRef>
            <a:fontRef idx="minor">
              <a:schemeClr val="tx1"/>
            </a:fontRef>
          </p:style>
        </p:cxnSp>
        <p:sp>
          <p:nvSpPr>
            <p:cNvPr id="1063" name="TextBox 1062">
              <a:extLst>
                <a:ext uri="{FF2B5EF4-FFF2-40B4-BE49-F238E27FC236}">
                  <a16:creationId xmlns:a16="http://schemas.microsoft.com/office/drawing/2014/main" id="{BCDC68B4-4C52-8755-F636-B0562504578C}"/>
                </a:ext>
              </a:extLst>
            </p:cNvPr>
            <p:cNvSpPr txBox="1"/>
            <p:nvPr/>
          </p:nvSpPr>
          <p:spPr>
            <a:xfrm>
              <a:off x="4110334" y="5795120"/>
              <a:ext cx="1389696" cy="246221"/>
            </a:xfrm>
            <a:prstGeom prst="rect">
              <a:avLst/>
            </a:prstGeom>
            <a:noFill/>
          </p:spPr>
          <p:txBody>
            <a:bodyPr wrap="square" rtlCol="0">
              <a:spAutoFit/>
            </a:bodyPr>
            <a:lstStyle/>
            <a:p>
              <a:pPr algn="ctr"/>
              <a:r>
                <a:rPr lang="en-US" sz="1000" dirty="0" err="1">
                  <a:highlight>
                    <a:srgbClr val="FFFFCC"/>
                  </a:highlight>
                </a:rPr>
                <a:t>isSetofOperatingParms</a:t>
              </a:r>
              <a:endParaRPr lang="en-US" sz="1000" dirty="0">
                <a:highlight>
                  <a:srgbClr val="FFFFCC"/>
                </a:highlight>
              </a:endParaRPr>
            </a:p>
          </p:txBody>
        </p:sp>
      </p:grpSp>
    </p:spTree>
    <p:extLst>
      <p:ext uri="{BB962C8B-B14F-4D97-AF65-F5344CB8AC3E}">
        <p14:creationId xmlns:p14="http://schemas.microsoft.com/office/powerpoint/2010/main" val="3834523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12446-974D-95C3-A399-C480717D2E9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4226BB0-3B0F-AAEB-93F7-FEC767A6199E}"/>
              </a:ext>
            </a:extLst>
          </p:cNvPr>
          <p:cNvSpPr/>
          <p:nvPr/>
        </p:nvSpPr>
        <p:spPr>
          <a:xfrm>
            <a:off x="8448" y="2550"/>
            <a:ext cx="12180896" cy="656492"/>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B5E735BF-AFC0-109E-E475-EE6E5CCC44F0}"/>
              </a:ext>
            </a:extLst>
          </p:cNvPr>
          <p:cNvSpPr txBox="1"/>
          <p:nvPr/>
        </p:nvSpPr>
        <p:spPr>
          <a:xfrm>
            <a:off x="96691" y="85357"/>
            <a:ext cx="10661981" cy="523220"/>
          </a:xfrm>
          <a:prstGeom prst="rect">
            <a:avLst/>
          </a:prstGeom>
          <a:noFill/>
        </p:spPr>
        <p:txBody>
          <a:bodyPr wrap="square" rtlCol="0">
            <a:spAutoFit/>
          </a:bodyPr>
          <a:lstStyle/>
          <a:p>
            <a:r>
              <a:rPr lang="en-US" sz="2800" b="1" dirty="0">
                <a:solidFill>
                  <a:schemeClr val="bg1">
                    <a:lumMod val="95000"/>
                  </a:schemeClr>
                </a:solidFill>
              </a:rPr>
              <a:t> Data Architecture Knowledge Graph (3 of 3)</a:t>
            </a:r>
          </a:p>
        </p:txBody>
      </p:sp>
      <p:sp>
        <p:nvSpPr>
          <p:cNvPr id="10" name="TextBox 9">
            <a:extLst>
              <a:ext uri="{FF2B5EF4-FFF2-40B4-BE49-F238E27FC236}">
                <a16:creationId xmlns:a16="http://schemas.microsoft.com/office/drawing/2014/main" id="{E5FA5927-CB97-BE39-C0F6-5DCC3F79ECC6}"/>
              </a:ext>
            </a:extLst>
          </p:cNvPr>
          <p:cNvSpPr txBox="1"/>
          <p:nvPr/>
        </p:nvSpPr>
        <p:spPr>
          <a:xfrm>
            <a:off x="59246" y="741849"/>
            <a:ext cx="11811788" cy="369332"/>
          </a:xfrm>
          <a:prstGeom prst="rect">
            <a:avLst/>
          </a:prstGeom>
          <a:noFill/>
        </p:spPr>
        <p:txBody>
          <a:bodyPr wrap="square">
            <a:spAutoFit/>
          </a:bodyPr>
          <a:lstStyle/>
          <a:p>
            <a:r>
              <a:rPr lang="en-US" b="0" i="0" dirty="0">
                <a:solidFill>
                  <a:srgbClr val="001D35"/>
                </a:solidFill>
                <a:effectLst/>
                <a:latin typeface="Google Sans"/>
              </a:rPr>
              <a:t>The classes and axioms to derive the digital twin ontology are detailed below. The Standards WG ontology is the model.</a:t>
            </a:r>
          </a:p>
        </p:txBody>
      </p:sp>
      <p:sp>
        <p:nvSpPr>
          <p:cNvPr id="1172" name="Arrow: Right 1171">
            <a:extLst>
              <a:ext uri="{FF2B5EF4-FFF2-40B4-BE49-F238E27FC236}">
                <a16:creationId xmlns:a16="http://schemas.microsoft.com/office/drawing/2014/main" id="{2C72FFEF-E4A9-534B-BA9A-295D691309AD}"/>
              </a:ext>
            </a:extLst>
          </p:cNvPr>
          <p:cNvSpPr/>
          <p:nvPr/>
        </p:nvSpPr>
        <p:spPr>
          <a:xfrm>
            <a:off x="5455263" y="3743912"/>
            <a:ext cx="924098" cy="294293"/>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C4644D56-E097-C347-6983-2ED76CDA800C}"/>
              </a:ext>
            </a:extLst>
          </p:cNvPr>
          <p:cNvSpPr txBox="1"/>
          <p:nvPr/>
        </p:nvSpPr>
        <p:spPr>
          <a:xfrm>
            <a:off x="6810181" y="1083981"/>
            <a:ext cx="5296083" cy="5909310"/>
          </a:xfrm>
          <a:prstGeom prst="rect">
            <a:avLst/>
          </a:prstGeom>
          <a:noFill/>
        </p:spPr>
        <p:txBody>
          <a:bodyPr wrap="square" rtlCol="0">
            <a:spAutoFit/>
          </a:bodyPr>
          <a:lstStyle/>
          <a:p>
            <a:pPr fontAlgn="ctr"/>
            <a:r>
              <a:rPr lang="en-US" sz="1400" dirty="0">
                <a:solidFill>
                  <a:srgbClr val="001D35"/>
                </a:solidFill>
                <a:latin typeface="Google Sans"/>
              </a:rPr>
              <a:t>Classes</a:t>
            </a:r>
            <a:r>
              <a:rPr lang="en-US" sz="1400" i="0" dirty="0">
                <a:solidFill>
                  <a:srgbClr val="001D35"/>
                </a:solidFill>
                <a:effectLst/>
                <a:latin typeface="Google Sans"/>
              </a:rPr>
              <a:t>: </a:t>
            </a:r>
          </a:p>
          <a:p>
            <a:pPr marL="285750" indent="-285750" fontAlgn="ctr">
              <a:buFont typeface="Arial" panose="020B0604020202020204" pitchFamily="34" charset="0"/>
              <a:buChar char="•"/>
            </a:pPr>
            <a:r>
              <a:rPr lang="en-US" sz="1400" dirty="0">
                <a:solidFill>
                  <a:srgbClr val="001D35"/>
                </a:solidFill>
                <a:latin typeface="Google Sans"/>
              </a:rPr>
              <a:t>process : supply chain </a:t>
            </a:r>
          </a:p>
          <a:p>
            <a:pPr marL="285750" indent="-285750" fontAlgn="ctr">
              <a:buFont typeface="Arial" panose="020B0604020202020204" pitchFamily="34" charset="0"/>
              <a:buChar char="•"/>
            </a:pPr>
            <a:r>
              <a:rPr lang="en-US" sz="1400" dirty="0">
                <a:solidFill>
                  <a:srgbClr val="001D35"/>
                </a:solidFill>
                <a:latin typeface="Google Sans"/>
              </a:rPr>
              <a:t>activity: supply chain segments(number) and function/purpose  </a:t>
            </a:r>
          </a:p>
          <a:p>
            <a:pPr marL="285750" indent="-285750" fontAlgn="ctr">
              <a:buFont typeface="Arial" panose="020B0604020202020204" pitchFamily="34" charset="0"/>
              <a:buChar char="•"/>
            </a:pPr>
            <a:r>
              <a:rPr lang="en-US" sz="1400" dirty="0">
                <a:solidFill>
                  <a:srgbClr val="001D35"/>
                </a:solidFill>
                <a:latin typeface="Google Sans"/>
              </a:rPr>
              <a:t>agent: owns activities and makes claim on scope 1, 2 emissions</a:t>
            </a:r>
          </a:p>
          <a:p>
            <a:pPr fontAlgn="ctr"/>
            <a:r>
              <a:rPr lang="en-US" sz="1400" dirty="0">
                <a:solidFill>
                  <a:srgbClr val="001D35"/>
                </a:solidFill>
                <a:latin typeface="Google Sans"/>
              </a:rPr>
              <a:t>                    for their supply chain segment.    </a:t>
            </a:r>
          </a:p>
          <a:p>
            <a:pPr marL="285750" indent="-285750" fontAlgn="ctr">
              <a:buFont typeface="Arial" panose="020B0604020202020204" pitchFamily="34" charset="0"/>
              <a:buChar char="•"/>
            </a:pPr>
            <a:r>
              <a:rPr lang="en-US" sz="1400" dirty="0">
                <a:solidFill>
                  <a:srgbClr val="001D35"/>
                </a:solidFill>
                <a:latin typeface="Google Sans"/>
              </a:rPr>
              <a:t>claim : made by an agent about a </a:t>
            </a:r>
          </a:p>
          <a:p>
            <a:pPr fontAlgn="ctr"/>
            <a:r>
              <a:rPr lang="en-US" sz="1400" dirty="0">
                <a:solidFill>
                  <a:srgbClr val="001D35"/>
                </a:solidFill>
                <a:latin typeface="Google Sans"/>
              </a:rPr>
              <a:t>       - </a:t>
            </a:r>
            <a:r>
              <a:rPr lang="en-US" sz="1400" dirty="0" err="1">
                <a:solidFill>
                  <a:srgbClr val="001D35"/>
                </a:solidFill>
                <a:latin typeface="Google Sans"/>
              </a:rPr>
              <a:t>claim:identity_claim</a:t>
            </a:r>
            <a:r>
              <a:rPr lang="en-US" sz="1400" dirty="0">
                <a:solidFill>
                  <a:srgbClr val="001D35"/>
                </a:solidFill>
                <a:latin typeface="Google Sans"/>
              </a:rPr>
              <a:t>(describe the supply chain)</a:t>
            </a:r>
          </a:p>
          <a:p>
            <a:pPr fontAlgn="ctr"/>
            <a:r>
              <a:rPr lang="en-US" sz="1400" dirty="0">
                <a:solidFill>
                  <a:srgbClr val="001D35"/>
                </a:solidFill>
                <a:latin typeface="Google Sans"/>
              </a:rPr>
              <a:t>       - </a:t>
            </a:r>
            <a:r>
              <a:rPr lang="en-US" sz="1400" dirty="0" err="1">
                <a:solidFill>
                  <a:srgbClr val="001D35"/>
                </a:solidFill>
                <a:latin typeface="Google Sans"/>
              </a:rPr>
              <a:t>claim:state_claim</a:t>
            </a:r>
            <a:r>
              <a:rPr lang="en-US" sz="1400" dirty="0">
                <a:solidFill>
                  <a:srgbClr val="001D35"/>
                </a:solidFill>
                <a:latin typeface="Google Sans"/>
              </a:rPr>
              <a:t> (condition of truck, motors, cranes)</a:t>
            </a:r>
          </a:p>
          <a:p>
            <a:pPr fontAlgn="ctr"/>
            <a:r>
              <a:rPr lang="en-US" sz="1400" dirty="0">
                <a:solidFill>
                  <a:srgbClr val="001D35"/>
                </a:solidFill>
                <a:latin typeface="Google Sans"/>
              </a:rPr>
              <a:t>       - </a:t>
            </a:r>
            <a:r>
              <a:rPr lang="en-US" sz="1400" dirty="0" err="1">
                <a:solidFill>
                  <a:srgbClr val="001D35"/>
                </a:solidFill>
                <a:latin typeface="Google Sans"/>
              </a:rPr>
              <a:t>claim:impact_claim</a:t>
            </a:r>
            <a:r>
              <a:rPr lang="en-US" sz="1400" dirty="0">
                <a:solidFill>
                  <a:srgbClr val="001D35"/>
                </a:solidFill>
                <a:latin typeface="Google Sans"/>
              </a:rPr>
              <a:t>(change to solar energy in </a:t>
            </a:r>
            <a:r>
              <a:rPr lang="en-US" sz="1400" dirty="0" err="1">
                <a:solidFill>
                  <a:srgbClr val="001D35"/>
                </a:solidFill>
                <a:latin typeface="Google Sans"/>
              </a:rPr>
              <a:t>warehouse+others</a:t>
            </a:r>
            <a:r>
              <a:rPr lang="en-US" sz="1400" dirty="0">
                <a:solidFill>
                  <a:srgbClr val="001D35"/>
                </a:solidFill>
                <a:latin typeface="Google Sans"/>
              </a:rPr>
              <a:t>)</a:t>
            </a:r>
          </a:p>
          <a:p>
            <a:pPr marL="285750" indent="-285750" fontAlgn="ctr">
              <a:buFont typeface="Arial" panose="020B0604020202020204" pitchFamily="34" charset="0"/>
              <a:buChar char="•"/>
            </a:pPr>
            <a:r>
              <a:rPr lang="en-US" sz="1400" dirty="0">
                <a:solidFill>
                  <a:srgbClr val="001D35"/>
                </a:solidFill>
                <a:latin typeface="Google Sans"/>
              </a:rPr>
              <a:t>control : state</a:t>
            </a:r>
          </a:p>
          <a:p>
            <a:pPr marL="285750" indent="-285750" fontAlgn="ctr">
              <a:buFont typeface="Arial" panose="020B0604020202020204" pitchFamily="34" charset="0"/>
              <a:buChar char="•"/>
            </a:pPr>
            <a:r>
              <a:rPr lang="en-US" sz="1400" dirty="0">
                <a:solidFill>
                  <a:srgbClr val="001D35"/>
                </a:solidFill>
                <a:latin typeface="Google Sans"/>
              </a:rPr>
              <a:t>state : baseline (generated during modeling)</a:t>
            </a:r>
          </a:p>
          <a:p>
            <a:pPr fontAlgn="ctr"/>
            <a:r>
              <a:rPr lang="en-US" sz="1400" dirty="0">
                <a:solidFill>
                  <a:srgbClr val="001D35"/>
                </a:solidFill>
                <a:latin typeface="Google Sans"/>
              </a:rPr>
              <a:t>       - </a:t>
            </a:r>
            <a:r>
              <a:rPr lang="en-US" sz="1400" dirty="0" err="1">
                <a:solidFill>
                  <a:srgbClr val="001D35"/>
                </a:solidFill>
                <a:latin typeface="Google Sans"/>
              </a:rPr>
              <a:t>control:calculation_formula</a:t>
            </a:r>
            <a:r>
              <a:rPr lang="en-US" sz="1400" dirty="0">
                <a:solidFill>
                  <a:srgbClr val="001D35"/>
                </a:solidFill>
                <a:latin typeface="Google Sans"/>
              </a:rPr>
              <a:t>(IoT </a:t>
            </a:r>
            <a:r>
              <a:rPr lang="en-US" sz="1400" dirty="0" err="1">
                <a:solidFill>
                  <a:srgbClr val="001D35"/>
                </a:solidFill>
                <a:latin typeface="Google Sans"/>
              </a:rPr>
              <a:t>measures&amp;calcs</a:t>
            </a:r>
            <a:r>
              <a:rPr lang="en-US" sz="1400" dirty="0">
                <a:solidFill>
                  <a:srgbClr val="001D35"/>
                </a:solidFill>
                <a:latin typeface="Google Sans"/>
              </a:rPr>
              <a:t>)</a:t>
            </a:r>
          </a:p>
          <a:p>
            <a:pPr fontAlgn="ctr"/>
            <a:r>
              <a:rPr lang="en-US" sz="1400" dirty="0">
                <a:solidFill>
                  <a:srgbClr val="001D35"/>
                </a:solidFill>
                <a:latin typeface="Google Sans"/>
              </a:rPr>
              <a:t>       - </a:t>
            </a:r>
            <a:r>
              <a:rPr lang="en-US" sz="1400" dirty="0" err="1">
                <a:solidFill>
                  <a:srgbClr val="001D35"/>
                </a:solidFill>
                <a:latin typeface="Google Sans"/>
              </a:rPr>
              <a:t>control:measurement_system</a:t>
            </a:r>
            <a:r>
              <a:rPr lang="en-US" sz="1400" dirty="0">
                <a:solidFill>
                  <a:srgbClr val="001D35"/>
                </a:solidFill>
                <a:latin typeface="Google Sans"/>
              </a:rPr>
              <a:t> (IoT format specification)</a:t>
            </a:r>
          </a:p>
          <a:p>
            <a:pPr fontAlgn="ctr"/>
            <a:r>
              <a:rPr lang="en-US" sz="1400" dirty="0">
                <a:solidFill>
                  <a:srgbClr val="001D35"/>
                </a:solidFill>
                <a:latin typeface="Google Sans"/>
              </a:rPr>
              <a:t>       - </a:t>
            </a:r>
            <a:r>
              <a:rPr lang="en-US" sz="1400" dirty="0" err="1">
                <a:solidFill>
                  <a:srgbClr val="001D35"/>
                </a:solidFill>
                <a:latin typeface="Google Sans"/>
              </a:rPr>
              <a:t>control:objective</a:t>
            </a:r>
            <a:r>
              <a:rPr lang="en-US" sz="1400" dirty="0">
                <a:solidFill>
                  <a:srgbClr val="001D35"/>
                </a:solidFill>
                <a:latin typeface="Google Sans"/>
              </a:rPr>
              <a:t> (net zero model)</a:t>
            </a:r>
          </a:p>
          <a:p>
            <a:pPr fontAlgn="ctr"/>
            <a:r>
              <a:rPr lang="en-US" sz="1400" dirty="0">
                <a:solidFill>
                  <a:srgbClr val="001D35"/>
                </a:solidFill>
                <a:latin typeface="Google Sans"/>
              </a:rPr>
              <a:t>       - </a:t>
            </a:r>
            <a:r>
              <a:rPr lang="en-US" sz="1400" b="0" i="0" dirty="0" err="1">
                <a:solidFill>
                  <a:srgbClr val="172B4D"/>
                </a:solidFill>
                <a:effectLst/>
                <a:latin typeface="-apple-system"/>
              </a:rPr>
              <a:t>control:role:</a:t>
            </a:r>
            <a:r>
              <a:rPr lang="en-US" sz="1400" i="0" dirty="0" err="1">
                <a:solidFill>
                  <a:srgbClr val="172B4D"/>
                </a:solidFill>
                <a:effectLst/>
                <a:latin typeface="-apple-system"/>
              </a:rPr>
              <a:t>calibrator</a:t>
            </a:r>
            <a:r>
              <a:rPr lang="en-US" sz="1400" i="0" dirty="0">
                <a:solidFill>
                  <a:srgbClr val="172B4D"/>
                </a:solidFill>
                <a:effectLst/>
                <a:latin typeface="-apple-system"/>
              </a:rPr>
              <a:t>, owner, verifier, auditor(IoT devices and</a:t>
            </a:r>
          </a:p>
          <a:p>
            <a:pPr fontAlgn="ctr"/>
            <a:r>
              <a:rPr lang="en-US" sz="1400" dirty="0">
                <a:solidFill>
                  <a:srgbClr val="172B4D"/>
                </a:solidFill>
                <a:latin typeface="-apple-system"/>
              </a:rPr>
              <a:t>                            </a:t>
            </a:r>
            <a:r>
              <a:rPr lang="en-US" sz="1400" i="0" dirty="0">
                <a:solidFill>
                  <a:srgbClr val="172B4D"/>
                </a:solidFill>
                <a:effectLst/>
                <a:latin typeface="-apple-system"/>
              </a:rPr>
              <a:t>   manual entry)</a:t>
            </a:r>
            <a:endParaRPr lang="en-US" sz="1400" dirty="0">
              <a:solidFill>
                <a:srgbClr val="001D35"/>
              </a:solidFill>
              <a:latin typeface="Google Sans"/>
            </a:endParaRPr>
          </a:p>
          <a:p>
            <a:pPr marL="285750" indent="-285750" fontAlgn="ctr">
              <a:buFont typeface="Arial" panose="020B0604020202020204" pitchFamily="34" charset="0"/>
              <a:buChar char="•"/>
            </a:pPr>
            <a:r>
              <a:rPr lang="en-US" sz="1400" dirty="0">
                <a:solidFill>
                  <a:srgbClr val="001D35"/>
                </a:solidFill>
                <a:latin typeface="Google Sans"/>
              </a:rPr>
              <a:t>environment : impacts global atmosphere</a:t>
            </a:r>
          </a:p>
          <a:p>
            <a:pPr marL="285750" indent="-285750" fontAlgn="ctr">
              <a:buFont typeface="Arial" panose="020B0604020202020204" pitchFamily="34" charset="0"/>
              <a:buChar char="•"/>
            </a:pPr>
            <a:r>
              <a:rPr lang="en-US" sz="1400" dirty="0">
                <a:solidFill>
                  <a:srgbClr val="001D35"/>
                </a:solidFill>
                <a:latin typeface="Google Sans"/>
              </a:rPr>
              <a:t>event: emission over a specified time frame	</a:t>
            </a:r>
          </a:p>
          <a:p>
            <a:pPr marL="285750" indent="-285750" fontAlgn="ctr">
              <a:buFont typeface="Arial" panose="020B0604020202020204" pitchFamily="34" charset="0"/>
              <a:buChar char="•"/>
            </a:pPr>
            <a:r>
              <a:rPr lang="en-US" sz="1400" dirty="0">
                <a:solidFill>
                  <a:srgbClr val="001D35"/>
                </a:solidFill>
                <a:latin typeface="Google Sans"/>
              </a:rPr>
              <a:t>event :measuring, monitoring, calculating</a:t>
            </a:r>
          </a:p>
          <a:p>
            <a:pPr marL="285750" indent="-285750" fontAlgn="ctr">
              <a:buFont typeface="Arial" panose="020B0604020202020204" pitchFamily="34" charset="0"/>
              <a:buChar char="•"/>
            </a:pPr>
            <a:r>
              <a:rPr lang="en-US" sz="1400" dirty="0">
                <a:solidFill>
                  <a:srgbClr val="001D35"/>
                </a:solidFill>
                <a:latin typeface="Google Sans"/>
              </a:rPr>
              <a:t>Instrument: IOT, truck, vessel, warehouse heater, cooling etc. (above control class)</a:t>
            </a:r>
          </a:p>
          <a:p>
            <a:pPr marL="285750" indent="-285750" fontAlgn="ctr">
              <a:buFont typeface="Arial" panose="020B0604020202020204" pitchFamily="34" charset="0"/>
              <a:buChar char="•"/>
            </a:pPr>
            <a:r>
              <a:rPr lang="en-US" sz="1400" i="0" dirty="0">
                <a:solidFill>
                  <a:srgbClr val="001D35"/>
                </a:solidFill>
                <a:effectLst/>
                <a:latin typeface="Google Sans"/>
              </a:rPr>
              <a:t>Medium : </a:t>
            </a:r>
          </a:p>
          <a:p>
            <a:pPr marL="285750" indent="-285750" fontAlgn="ctr">
              <a:buFont typeface="Arial" panose="020B0604020202020204" pitchFamily="34" charset="0"/>
              <a:buChar char="•"/>
            </a:pPr>
            <a:r>
              <a:rPr lang="en-US" sz="1400" dirty="0">
                <a:solidFill>
                  <a:srgbClr val="001D35"/>
                </a:solidFill>
                <a:latin typeface="Google Sans"/>
              </a:rPr>
              <a:t>parameter: defines bounds of supply chain operations</a:t>
            </a:r>
          </a:p>
          <a:p>
            <a:pPr marL="285750" indent="-285750" fontAlgn="ctr">
              <a:buFont typeface="Arial" panose="020B0604020202020204" pitchFamily="34" charset="0"/>
              <a:buChar char="•"/>
            </a:pPr>
            <a:r>
              <a:rPr lang="en-US" sz="1400" dirty="0">
                <a:solidFill>
                  <a:srgbClr val="001D35"/>
                </a:solidFill>
                <a:latin typeface="Google Sans"/>
              </a:rPr>
              <a:t>representing</a:t>
            </a:r>
            <a:r>
              <a:rPr lang="en-US" sz="1400" i="0" dirty="0">
                <a:solidFill>
                  <a:srgbClr val="001D35"/>
                </a:solidFill>
                <a:effectLst/>
                <a:latin typeface="Google Sans"/>
              </a:rPr>
              <a:t>: </a:t>
            </a:r>
            <a:r>
              <a:rPr lang="en-US" sz="1400" dirty="0">
                <a:solidFill>
                  <a:srgbClr val="001D35"/>
                </a:solidFill>
                <a:latin typeface="Google Sans"/>
              </a:rPr>
              <a:t>digital twin model of physical state, performs</a:t>
            </a:r>
          </a:p>
          <a:p>
            <a:pPr fontAlgn="ctr"/>
            <a:r>
              <a:rPr lang="en-US" sz="1400" i="0" dirty="0">
                <a:solidFill>
                  <a:srgbClr val="001D35"/>
                </a:solidFill>
                <a:effectLst/>
                <a:latin typeface="Google Sans"/>
              </a:rPr>
              <a:t>             emission modeling , (supply chain segments?)</a:t>
            </a:r>
            <a:r>
              <a:rPr lang="en-US" sz="1400" dirty="0">
                <a:solidFill>
                  <a:srgbClr val="001D35"/>
                </a:solidFill>
                <a:latin typeface="Google Sans"/>
              </a:rPr>
              <a:t>, can model</a:t>
            </a:r>
          </a:p>
          <a:p>
            <a:pPr fontAlgn="ctr"/>
            <a:r>
              <a:rPr lang="en-US" sz="1400" dirty="0">
                <a:solidFill>
                  <a:srgbClr val="001D35"/>
                </a:solidFill>
                <a:latin typeface="Google Sans"/>
              </a:rPr>
              <a:t>            baseline to net zero emissions</a:t>
            </a:r>
            <a:endParaRPr lang="en-US" sz="1400" i="0" dirty="0">
              <a:solidFill>
                <a:srgbClr val="001D35"/>
              </a:solidFill>
              <a:effectLst/>
              <a:latin typeface="Google Sans"/>
            </a:endParaRPr>
          </a:p>
        </p:txBody>
      </p:sp>
      <p:sp>
        <p:nvSpPr>
          <p:cNvPr id="5" name="TextBox 4">
            <a:extLst>
              <a:ext uri="{FF2B5EF4-FFF2-40B4-BE49-F238E27FC236}">
                <a16:creationId xmlns:a16="http://schemas.microsoft.com/office/drawing/2014/main" id="{A6EC4393-CAC4-7173-1A78-148CED70246D}"/>
              </a:ext>
            </a:extLst>
          </p:cNvPr>
          <p:cNvSpPr txBox="1"/>
          <p:nvPr/>
        </p:nvSpPr>
        <p:spPr>
          <a:xfrm>
            <a:off x="5260998" y="3450848"/>
            <a:ext cx="1288748" cy="313127"/>
          </a:xfrm>
          <a:prstGeom prst="rect">
            <a:avLst/>
          </a:prstGeom>
          <a:noFill/>
        </p:spPr>
        <p:txBody>
          <a:bodyPr wrap="square">
            <a:spAutoFit/>
          </a:bodyPr>
          <a:lstStyle/>
          <a:p>
            <a:pPr algn="ctr"/>
            <a:r>
              <a:rPr lang="en-US" sz="1400" dirty="0">
                <a:solidFill>
                  <a:srgbClr val="001D35"/>
                </a:solidFill>
                <a:latin typeface="Google Sans"/>
              </a:rPr>
              <a:t>derived from</a:t>
            </a:r>
            <a:endParaRPr lang="en-US" sz="1400" b="0" i="0" dirty="0">
              <a:solidFill>
                <a:srgbClr val="001D35"/>
              </a:solidFill>
              <a:effectLst/>
              <a:latin typeface="Google Sans"/>
            </a:endParaRPr>
          </a:p>
        </p:txBody>
      </p:sp>
      <p:grpSp>
        <p:nvGrpSpPr>
          <p:cNvPr id="6" name="Group 5">
            <a:extLst>
              <a:ext uri="{FF2B5EF4-FFF2-40B4-BE49-F238E27FC236}">
                <a16:creationId xmlns:a16="http://schemas.microsoft.com/office/drawing/2014/main" id="{20B5FBDE-F505-69FB-87D5-C83558D31A6D}"/>
              </a:ext>
            </a:extLst>
          </p:cNvPr>
          <p:cNvGrpSpPr/>
          <p:nvPr/>
        </p:nvGrpSpPr>
        <p:grpSpPr>
          <a:xfrm>
            <a:off x="177196" y="1360418"/>
            <a:ext cx="5083802" cy="5157142"/>
            <a:chOff x="3671164" y="632061"/>
            <a:chExt cx="5110831" cy="5700514"/>
          </a:xfrm>
        </p:grpSpPr>
        <p:cxnSp>
          <p:nvCxnSpPr>
            <p:cNvPr id="9" name="Straight Connector 8">
              <a:extLst>
                <a:ext uri="{FF2B5EF4-FFF2-40B4-BE49-F238E27FC236}">
                  <a16:creationId xmlns:a16="http://schemas.microsoft.com/office/drawing/2014/main" id="{945AAC4B-5CA3-49DF-2BE3-F45AFD0027FA}"/>
                </a:ext>
              </a:extLst>
            </p:cNvPr>
            <p:cNvCxnSpPr>
              <a:cxnSpLocks/>
            </p:cNvCxnSpPr>
            <p:nvPr/>
          </p:nvCxnSpPr>
          <p:spPr>
            <a:xfrm flipH="1">
              <a:off x="5467009" y="4639056"/>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4F1E6B3-842C-103F-8103-75B42178FA50}"/>
                </a:ext>
              </a:extLst>
            </p:cNvPr>
            <p:cNvCxnSpPr>
              <a:cxnSpLocks/>
            </p:cNvCxnSpPr>
            <p:nvPr/>
          </p:nvCxnSpPr>
          <p:spPr>
            <a:xfrm>
              <a:off x="5452494" y="769312"/>
              <a:ext cx="26618" cy="54341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28C3DF31-FB0F-F9C2-9AA8-EE21E597132F}"/>
                </a:ext>
              </a:extLst>
            </p:cNvPr>
            <p:cNvSpPr/>
            <p:nvPr/>
          </p:nvSpPr>
          <p:spPr>
            <a:xfrm>
              <a:off x="5787232" y="632061"/>
              <a:ext cx="1453204"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process (supply chain)</a:t>
              </a:r>
            </a:p>
          </p:txBody>
        </p:sp>
        <p:cxnSp>
          <p:nvCxnSpPr>
            <p:cNvPr id="17" name="Connector: Curved 16">
              <a:extLst>
                <a:ext uri="{FF2B5EF4-FFF2-40B4-BE49-F238E27FC236}">
                  <a16:creationId xmlns:a16="http://schemas.microsoft.com/office/drawing/2014/main" id="{4AAE329D-BE7C-7291-96F0-6B621E65DA30}"/>
                </a:ext>
              </a:extLst>
            </p:cNvPr>
            <p:cNvCxnSpPr>
              <a:cxnSpLocks/>
              <a:stCxn id="13" idx="3"/>
              <a:endCxn id="19" idx="3"/>
            </p:cNvCxnSpPr>
            <p:nvPr/>
          </p:nvCxnSpPr>
          <p:spPr>
            <a:xfrm>
              <a:off x="7240436" y="755172"/>
              <a:ext cx="12700" cy="577560"/>
            </a:xfrm>
            <a:prstGeom prst="curvedConnector3">
              <a:avLst>
                <a:gd name="adj1" fmla="val 1800000"/>
              </a:avLst>
            </a:prstGeom>
            <a:ln w="12700">
              <a:solidFill>
                <a:srgbClr val="0033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4E7BE1D-6C7F-920B-6C07-F48C0F5B7AFE}"/>
                </a:ext>
              </a:extLst>
            </p:cNvPr>
            <p:cNvSpPr txBox="1"/>
            <p:nvPr/>
          </p:nvSpPr>
          <p:spPr>
            <a:xfrm>
              <a:off x="7213268" y="890413"/>
              <a:ext cx="497434" cy="215444"/>
            </a:xfrm>
            <a:prstGeom prst="rect">
              <a:avLst/>
            </a:prstGeom>
            <a:noFill/>
          </p:spPr>
          <p:txBody>
            <a:bodyPr wrap="square" rtlCol="0">
              <a:spAutoFit/>
            </a:bodyPr>
            <a:lstStyle/>
            <a:p>
              <a:pPr algn="ctr"/>
              <a:r>
                <a:rPr lang="en-US" sz="800" dirty="0">
                  <a:highlight>
                    <a:srgbClr val="FFFFCC"/>
                  </a:highlight>
                </a:rPr>
                <a:t>has</a:t>
              </a:r>
            </a:p>
          </p:txBody>
        </p:sp>
        <p:sp>
          <p:nvSpPr>
            <p:cNvPr id="19" name="Rectangle: Rounded Corners 18">
              <a:extLst>
                <a:ext uri="{FF2B5EF4-FFF2-40B4-BE49-F238E27FC236}">
                  <a16:creationId xmlns:a16="http://schemas.microsoft.com/office/drawing/2014/main" id="{1F145DF9-B46B-99BC-1856-1616EEED8356}"/>
                </a:ext>
              </a:extLst>
            </p:cNvPr>
            <p:cNvSpPr/>
            <p:nvPr/>
          </p:nvSpPr>
          <p:spPr>
            <a:xfrm>
              <a:off x="5787232" y="1209621"/>
              <a:ext cx="1453204"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activity (segments)</a:t>
              </a:r>
            </a:p>
          </p:txBody>
        </p:sp>
        <p:sp>
          <p:nvSpPr>
            <p:cNvPr id="21" name="Rectangle: Rounded Corners 20">
              <a:extLst>
                <a:ext uri="{FF2B5EF4-FFF2-40B4-BE49-F238E27FC236}">
                  <a16:creationId xmlns:a16="http://schemas.microsoft.com/office/drawing/2014/main" id="{8AAF1295-3628-9100-BA78-0596ECEA859F}"/>
                </a:ext>
              </a:extLst>
            </p:cNvPr>
            <p:cNvSpPr/>
            <p:nvPr/>
          </p:nvSpPr>
          <p:spPr>
            <a:xfrm>
              <a:off x="5787232" y="2863539"/>
              <a:ext cx="1426132"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baseline (state)</a:t>
              </a:r>
            </a:p>
          </p:txBody>
        </p:sp>
        <p:sp>
          <p:nvSpPr>
            <p:cNvPr id="22" name="Rectangle: Rounded Corners 21">
              <a:extLst>
                <a:ext uri="{FF2B5EF4-FFF2-40B4-BE49-F238E27FC236}">
                  <a16:creationId xmlns:a16="http://schemas.microsoft.com/office/drawing/2014/main" id="{76734B03-E6AE-067F-3011-BF8E3F789AC1}"/>
                </a:ext>
              </a:extLst>
            </p:cNvPr>
            <p:cNvSpPr/>
            <p:nvPr/>
          </p:nvSpPr>
          <p:spPr>
            <a:xfrm>
              <a:off x="5787231" y="3989917"/>
              <a:ext cx="1426037"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event</a:t>
              </a:r>
            </a:p>
          </p:txBody>
        </p:sp>
        <p:sp>
          <p:nvSpPr>
            <p:cNvPr id="23" name="Rectangle: Rounded Corners 22">
              <a:extLst>
                <a:ext uri="{FF2B5EF4-FFF2-40B4-BE49-F238E27FC236}">
                  <a16:creationId xmlns:a16="http://schemas.microsoft.com/office/drawing/2014/main" id="{5A7EDD53-721A-9FE7-4B77-DC0DDC1B4B18}"/>
                </a:ext>
              </a:extLst>
            </p:cNvPr>
            <p:cNvSpPr/>
            <p:nvPr/>
          </p:nvSpPr>
          <p:spPr>
            <a:xfrm>
              <a:off x="5787232" y="2309908"/>
              <a:ext cx="1440408"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claim</a:t>
              </a:r>
            </a:p>
          </p:txBody>
        </p:sp>
        <p:sp>
          <p:nvSpPr>
            <p:cNvPr id="24" name="Rectangle: Rounded Corners 23">
              <a:extLst>
                <a:ext uri="{FF2B5EF4-FFF2-40B4-BE49-F238E27FC236}">
                  <a16:creationId xmlns:a16="http://schemas.microsoft.com/office/drawing/2014/main" id="{A053D8F1-E958-C5B1-364D-C76038A1D246}"/>
                </a:ext>
              </a:extLst>
            </p:cNvPr>
            <p:cNvSpPr/>
            <p:nvPr/>
          </p:nvSpPr>
          <p:spPr>
            <a:xfrm>
              <a:off x="5787231" y="3445429"/>
              <a:ext cx="1426131"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environment</a:t>
              </a:r>
            </a:p>
          </p:txBody>
        </p:sp>
        <p:sp>
          <p:nvSpPr>
            <p:cNvPr id="25" name="Rectangle: Rounded Corners 24">
              <a:extLst>
                <a:ext uri="{FF2B5EF4-FFF2-40B4-BE49-F238E27FC236}">
                  <a16:creationId xmlns:a16="http://schemas.microsoft.com/office/drawing/2014/main" id="{C8050146-187D-D454-C1EF-C0155913D38A}"/>
                </a:ext>
              </a:extLst>
            </p:cNvPr>
            <p:cNvSpPr/>
            <p:nvPr/>
          </p:nvSpPr>
          <p:spPr>
            <a:xfrm>
              <a:off x="5787232" y="5581800"/>
              <a:ext cx="1425942"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parameter</a:t>
              </a:r>
            </a:p>
          </p:txBody>
        </p:sp>
        <p:sp>
          <p:nvSpPr>
            <p:cNvPr id="26" name="Rectangle: Rounded Corners 25">
              <a:extLst>
                <a:ext uri="{FF2B5EF4-FFF2-40B4-BE49-F238E27FC236}">
                  <a16:creationId xmlns:a16="http://schemas.microsoft.com/office/drawing/2014/main" id="{DB7F1ABD-2D29-ABEF-0C34-6647AD8CA165}"/>
                </a:ext>
              </a:extLst>
            </p:cNvPr>
            <p:cNvSpPr/>
            <p:nvPr/>
          </p:nvSpPr>
          <p:spPr>
            <a:xfrm>
              <a:off x="5787232" y="5033160"/>
              <a:ext cx="1425942"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instrument</a:t>
              </a:r>
            </a:p>
          </p:txBody>
        </p:sp>
        <p:sp>
          <p:nvSpPr>
            <p:cNvPr id="28" name="TextBox 27">
              <a:extLst>
                <a:ext uri="{FF2B5EF4-FFF2-40B4-BE49-F238E27FC236}">
                  <a16:creationId xmlns:a16="http://schemas.microsoft.com/office/drawing/2014/main" id="{39D87C37-A967-F116-E076-09EB95DD21BE}"/>
                </a:ext>
              </a:extLst>
            </p:cNvPr>
            <p:cNvSpPr txBox="1"/>
            <p:nvPr/>
          </p:nvSpPr>
          <p:spPr>
            <a:xfrm>
              <a:off x="5333855" y="2097518"/>
              <a:ext cx="586435" cy="215444"/>
            </a:xfrm>
            <a:prstGeom prst="rect">
              <a:avLst/>
            </a:prstGeom>
            <a:noFill/>
          </p:spPr>
          <p:txBody>
            <a:bodyPr wrap="square" rtlCol="0">
              <a:spAutoFit/>
            </a:bodyPr>
            <a:lstStyle/>
            <a:p>
              <a:pPr algn="ctr"/>
              <a:r>
                <a:rPr lang="en-US" sz="800" dirty="0">
                  <a:highlight>
                    <a:srgbClr val="FFFFCC"/>
                  </a:highlight>
                </a:rPr>
                <a:t>makes</a:t>
              </a:r>
            </a:p>
          </p:txBody>
        </p:sp>
        <p:sp>
          <p:nvSpPr>
            <p:cNvPr id="29" name="Rectangle: Rounded Corners 28">
              <a:extLst>
                <a:ext uri="{FF2B5EF4-FFF2-40B4-BE49-F238E27FC236}">
                  <a16:creationId xmlns:a16="http://schemas.microsoft.com/office/drawing/2014/main" id="{F3EDBF29-EFDE-22CB-22D9-B96528C9AC60}"/>
                </a:ext>
              </a:extLst>
            </p:cNvPr>
            <p:cNvSpPr/>
            <p:nvPr/>
          </p:nvSpPr>
          <p:spPr>
            <a:xfrm>
              <a:off x="7824000" y="3977436"/>
              <a:ext cx="878574" cy="246221"/>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rPr>
                <a:t>activity</a:t>
              </a:r>
            </a:p>
          </p:txBody>
        </p:sp>
        <p:cxnSp>
          <p:nvCxnSpPr>
            <p:cNvPr id="31" name="Connector: Curved 30">
              <a:extLst>
                <a:ext uri="{FF2B5EF4-FFF2-40B4-BE49-F238E27FC236}">
                  <a16:creationId xmlns:a16="http://schemas.microsoft.com/office/drawing/2014/main" id="{867B0557-30EC-28D7-761A-E0DD3209E09F}"/>
                </a:ext>
              </a:extLst>
            </p:cNvPr>
            <p:cNvCxnSpPr>
              <a:cxnSpLocks/>
              <a:stCxn id="19" idx="3"/>
              <a:endCxn id="1049" idx="3"/>
            </p:cNvCxnSpPr>
            <p:nvPr/>
          </p:nvCxnSpPr>
          <p:spPr>
            <a:xfrm flipH="1">
              <a:off x="7227640" y="1332732"/>
              <a:ext cx="12796" cy="553687"/>
            </a:xfrm>
            <a:prstGeom prst="curvedConnector3">
              <a:avLst>
                <a:gd name="adj1" fmla="val -1786496"/>
              </a:avLst>
            </a:prstGeom>
            <a:ln w="12700">
              <a:prstDash val="dash"/>
              <a:headEnd type="triangle"/>
              <a:tailEnd type="non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360DC07-0AC9-D7D8-DE2F-2DBBB05120A5}"/>
                </a:ext>
              </a:extLst>
            </p:cNvPr>
            <p:cNvSpPr txBox="1"/>
            <p:nvPr/>
          </p:nvSpPr>
          <p:spPr>
            <a:xfrm>
              <a:off x="3752787" y="1332731"/>
              <a:ext cx="1165479" cy="215444"/>
            </a:xfrm>
            <a:prstGeom prst="rect">
              <a:avLst/>
            </a:prstGeom>
            <a:noFill/>
          </p:spPr>
          <p:txBody>
            <a:bodyPr wrap="square" rtlCol="0">
              <a:spAutoFit/>
            </a:bodyPr>
            <a:lstStyle/>
            <a:p>
              <a:pPr algn="ctr"/>
              <a:r>
                <a:rPr lang="en-US" sz="800" dirty="0" err="1">
                  <a:highlight>
                    <a:srgbClr val="FFFFCC"/>
                  </a:highlight>
                </a:rPr>
                <a:t>hasAggregateBaseline</a:t>
              </a:r>
              <a:endParaRPr lang="en-US" sz="800" dirty="0">
                <a:highlight>
                  <a:srgbClr val="FFFFCC"/>
                </a:highlight>
              </a:endParaRPr>
            </a:p>
          </p:txBody>
        </p:sp>
        <p:sp>
          <p:nvSpPr>
            <p:cNvPr id="36" name="Rectangle: Rounded Corners 35">
              <a:extLst>
                <a:ext uri="{FF2B5EF4-FFF2-40B4-BE49-F238E27FC236}">
                  <a16:creationId xmlns:a16="http://schemas.microsoft.com/office/drawing/2014/main" id="{13DB406F-3299-BAED-4A2D-04EA6F252F58}"/>
                </a:ext>
              </a:extLst>
            </p:cNvPr>
            <p:cNvSpPr/>
            <p:nvPr/>
          </p:nvSpPr>
          <p:spPr>
            <a:xfrm>
              <a:off x="3671164" y="3403866"/>
              <a:ext cx="878574" cy="246221"/>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rPr>
                <a:t>thing</a:t>
              </a:r>
            </a:p>
          </p:txBody>
        </p:sp>
        <p:cxnSp>
          <p:nvCxnSpPr>
            <p:cNvPr id="37" name="Connector: Curved 36">
              <a:extLst>
                <a:ext uri="{FF2B5EF4-FFF2-40B4-BE49-F238E27FC236}">
                  <a16:creationId xmlns:a16="http://schemas.microsoft.com/office/drawing/2014/main" id="{785DAFA0-A2B6-E335-4FDF-128485D104C6}"/>
                </a:ext>
              </a:extLst>
            </p:cNvPr>
            <p:cNvCxnSpPr>
              <a:cxnSpLocks/>
              <a:stCxn id="25" idx="3"/>
              <a:endCxn id="21" idx="3"/>
            </p:cNvCxnSpPr>
            <p:nvPr/>
          </p:nvCxnSpPr>
          <p:spPr>
            <a:xfrm flipV="1">
              <a:off x="7213174" y="2986650"/>
              <a:ext cx="190" cy="2718261"/>
            </a:xfrm>
            <a:prstGeom prst="curvedConnector3">
              <a:avLst>
                <a:gd name="adj1" fmla="val 26223684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FD5AD90-3791-2499-1CC1-2891F52E3D59}"/>
                </a:ext>
              </a:extLst>
            </p:cNvPr>
            <p:cNvSpPr txBox="1"/>
            <p:nvPr/>
          </p:nvSpPr>
          <p:spPr>
            <a:xfrm>
              <a:off x="7177589" y="5241314"/>
              <a:ext cx="1198818" cy="215444"/>
            </a:xfrm>
            <a:prstGeom prst="rect">
              <a:avLst/>
            </a:prstGeom>
            <a:noFill/>
          </p:spPr>
          <p:txBody>
            <a:bodyPr wrap="square" rtlCol="0">
              <a:spAutoFit/>
            </a:bodyPr>
            <a:lstStyle/>
            <a:p>
              <a:pPr algn="ctr"/>
              <a:r>
                <a:rPr lang="en-US" sz="800" dirty="0" err="1">
                  <a:highlight>
                    <a:srgbClr val="FFFFCC"/>
                  </a:highlight>
                </a:rPr>
                <a:t>digitaltwinproduces</a:t>
              </a:r>
              <a:endParaRPr lang="en-US" sz="800" dirty="0">
                <a:highlight>
                  <a:srgbClr val="FFFFCC"/>
                </a:highlight>
              </a:endParaRPr>
            </a:p>
          </p:txBody>
        </p:sp>
        <p:cxnSp>
          <p:nvCxnSpPr>
            <p:cNvPr id="39" name="Connector: Curved 38">
              <a:extLst>
                <a:ext uri="{FF2B5EF4-FFF2-40B4-BE49-F238E27FC236}">
                  <a16:creationId xmlns:a16="http://schemas.microsoft.com/office/drawing/2014/main" id="{39E8ECA2-B1CB-E7AD-DC17-59C1D814F0DD}"/>
                </a:ext>
              </a:extLst>
            </p:cNvPr>
            <p:cNvCxnSpPr>
              <a:cxnSpLocks/>
              <a:stCxn id="19" idx="1"/>
              <a:endCxn id="21" idx="1"/>
            </p:cNvCxnSpPr>
            <p:nvPr/>
          </p:nvCxnSpPr>
          <p:spPr>
            <a:xfrm rot="10800000" flipV="1">
              <a:off x="5787232" y="1332732"/>
              <a:ext cx="12700" cy="1653918"/>
            </a:xfrm>
            <a:prstGeom prst="curvedConnector3">
              <a:avLst>
                <a:gd name="adj1" fmla="val 6120000"/>
              </a:avLst>
            </a:prstGeom>
            <a:ln w="12700">
              <a:prstDash val="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0" name="Connector: Curved 39">
              <a:extLst>
                <a:ext uri="{FF2B5EF4-FFF2-40B4-BE49-F238E27FC236}">
                  <a16:creationId xmlns:a16="http://schemas.microsoft.com/office/drawing/2014/main" id="{54D1F4DB-E702-C33E-C7E1-512D24BADB43}"/>
                </a:ext>
              </a:extLst>
            </p:cNvPr>
            <p:cNvCxnSpPr>
              <a:cxnSpLocks/>
              <a:stCxn id="21" idx="1"/>
              <a:endCxn id="24" idx="1"/>
            </p:cNvCxnSpPr>
            <p:nvPr/>
          </p:nvCxnSpPr>
          <p:spPr>
            <a:xfrm rot="10800000" flipV="1">
              <a:off x="5787232" y="2986650"/>
              <a:ext cx="1" cy="581890"/>
            </a:xfrm>
            <a:prstGeom prst="curvedConnector3">
              <a:avLst>
                <a:gd name="adj1" fmla="val 22860100000"/>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656A362-A5F7-6248-9E07-8F27578D3DDC}"/>
                </a:ext>
              </a:extLst>
            </p:cNvPr>
            <p:cNvSpPr txBox="1"/>
            <p:nvPr/>
          </p:nvSpPr>
          <p:spPr>
            <a:xfrm>
              <a:off x="3933724" y="4873218"/>
              <a:ext cx="1389696" cy="246221"/>
            </a:xfrm>
            <a:prstGeom prst="rect">
              <a:avLst/>
            </a:prstGeom>
            <a:noFill/>
          </p:spPr>
          <p:txBody>
            <a:bodyPr wrap="square" rtlCol="0">
              <a:spAutoFit/>
            </a:bodyPr>
            <a:lstStyle/>
            <a:p>
              <a:pPr algn="ctr"/>
              <a:r>
                <a:rPr lang="en-US" sz="1000" dirty="0" err="1">
                  <a:highlight>
                    <a:srgbClr val="FFFFCC"/>
                  </a:highlight>
                </a:rPr>
                <a:t>ismodelledtoNetZero</a:t>
              </a:r>
              <a:endParaRPr lang="en-US" sz="1000" dirty="0">
                <a:highlight>
                  <a:srgbClr val="FFFFCC"/>
                </a:highlight>
              </a:endParaRPr>
            </a:p>
          </p:txBody>
        </p:sp>
        <p:sp>
          <p:nvSpPr>
            <p:cNvPr id="42" name="Rectangle: Rounded Corners 41">
              <a:extLst>
                <a:ext uri="{FF2B5EF4-FFF2-40B4-BE49-F238E27FC236}">
                  <a16:creationId xmlns:a16="http://schemas.microsoft.com/office/drawing/2014/main" id="{77F50746-88DA-06C1-3C43-0EB24B49E396}"/>
                </a:ext>
              </a:extLst>
            </p:cNvPr>
            <p:cNvSpPr/>
            <p:nvPr/>
          </p:nvSpPr>
          <p:spPr>
            <a:xfrm>
              <a:off x="5787138" y="4491451"/>
              <a:ext cx="1426036"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control</a:t>
              </a:r>
            </a:p>
          </p:txBody>
        </p:sp>
        <p:sp>
          <p:nvSpPr>
            <p:cNvPr id="43" name="TextBox 42">
              <a:extLst>
                <a:ext uri="{FF2B5EF4-FFF2-40B4-BE49-F238E27FC236}">
                  <a16:creationId xmlns:a16="http://schemas.microsoft.com/office/drawing/2014/main" id="{A84DDE0A-A198-2C54-CC7B-0A7277986D1F}"/>
                </a:ext>
              </a:extLst>
            </p:cNvPr>
            <p:cNvSpPr txBox="1"/>
            <p:nvPr/>
          </p:nvSpPr>
          <p:spPr>
            <a:xfrm>
              <a:off x="5395004" y="4782709"/>
              <a:ext cx="1536491" cy="246221"/>
            </a:xfrm>
            <a:prstGeom prst="rect">
              <a:avLst/>
            </a:prstGeom>
            <a:noFill/>
          </p:spPr>
          <p:txBody>
            <a:bodyPr wrap="square" rtlCol="0">
              <a:spAutoFit/>
            </a:bodyPr>
            <a:lstStyle/>
            <a:p>
              <a:pPr algn="ctr"/>
              <a:r>
                <a:rPr lang="en-US" sz="1000" dirty="0" err="1">
                  <a:highlight>
                    <a:srgbClr val="FFFFCC"/>
                  </a:highlight>
                </a:rPr>
                <a:t>hasMeasurementSystem</a:t>
              </a:r>
              <a:endParaRPr lang="en-US" sz="1000" dirty="0">
                <a:highlight>
                  <a:srgbClr val="FFFFCC"/>
                </a:highlight>
              </a:endParaRPr>
            </a:p>
          </p:txBody>
        </p:sp>
        <p:sp>
          <p:nvSpPr>
            <p:cNvPr id="44" name="TextBox 43">
              <a:extLst>
                <a:ext uri="{FF2B5EF4-FFF2-40B4-BE49-F238E27FC236}">
                  <a16:creationId xmlns:a16="http://schemas.microsoft.com/office/drawing/2014/main" id="{7FBF35E6-EEDA-938A-FDEF-4F58C524814C}"/>
                </a:ext>
              </a:extLst>
            </p:cNvPr>
            <p:cNvSpPr txBox="1"/>
            <p:nvPr/>
          </p:nvSpPr>
          <p:spPr>
            <a:xfrm>
              <a:off x="5318129" y="4264105"/>
              <a:ext cx="727158" cy="215444"/>
            </a:xfrm>
            <a:prstGeom prst="rect">
              <a:avLst/>
            </a:prstGeom>
            <a:noFill/>
          </p:spPr>
          <p:txBody>
            <a:bodyPr wrap="square" rtlCol="0">
              <a:spAutoFit/>
            </a:bodyPr>
            <a:lstStyle/>
            <a:p>
              <a:pPr algn="ctr"/>
              <a:r>
                <a:rPr lang="en-US" sz="800" dirty="0" err="1">
                  <a:highlight>
                    <a:srgbClr val="FFFFCC"/>
                  </a:highlight>
                </a:rPr>
                <a:t>hasCalcs</a:t>
              </a:r>
              <a:endParaRPr lang="en-US" sz="800" dirty="0">
                <a:highlight>
                  <a:srgbClr val="FFFFCC"/>
                </a:highlight>
              </a:endParaRPr>
            </a:p>
          </p:txBody>
        </p:sp>
        <p:cxnSp>
          <p:nvCxnSpPr>
            <p:cNvPr id="51" name="Connector: Curved 50">
              <a:extLst>
                <a:ext uri="{FF2B5EF4-FFF2-40B4-BE49-F238E27FC236}">
                  <a16:creationId xmlns:a16="http://schemas.microsoft.com/office/drawing/2014/main" id="{2A1C3EA7-B465-2710-0305-A886EAAE9F9E}"/>
                </a:ext>
              </a:extLst>
            </p:cNvPr>
            <p:cNvCxnSpPr>
              <a:cxnSpLocks/>
              <a:stCxn id="22" idx="3"/>
              <a:endCxn id="24" idx="3"/>
            </p:cNvCxnSpPr>
            <p:nvPr/>
          </p:nvCxnSpPr>
          <p:spPr>
            <a:xfrm flipV="1">
              <a:off x="7213268" y="3568540"/>
              <a:ext cx="94" cy="544488"/>
            </a:xfrm>
            <a:prstGeom prst="curvedConnector3">
              <a:avLst>
                <a:gd name="adj1" fmla="val 243291489"/>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F81072B-6D87-55D4-61FF-1ED67305BFA4}"/>
                </a:ext>
              </a:extLst>
            </p:cNvPr>
            <p:cNvSpPr txBox="1"/>
            <p:nvPr/>
          </p:nvSpPr>
          <p:spPr>
            <a:xfrm>
              <a:off x="5278555" y="3253531"/>
              <a:ext cx="1165480" cy="215444"/>
            </a:xfrm>
            <a:prstGeom prst="rect">
              <a:avLst/>
            </a:prstGeom>
            <a:noFill/>
          </p:spPr>
          <p:txBody>
            <a:bodyPr wrap="square" rtlCol="0">
              <a:spAutoFit/>
            </a:bodyPr>
            <a:lstStyle/>
            <a:p>
              <a:pPr algn="ctr"/>
              <a:r>
                <a:rPr lang="en-US" sz="800" dirty="0" err="1">
                  <a:highlight>
                    <a:srgbClr val="FFFFCC"/>
                  </a:highlight>
                </a:rPr>
                <a:t>hasNetZeroTarget</a:t>
              </a:r>
              <a:endParaRPr lang="en-US" sz="800" dirty="0">
                <a:highlight>
                  <a:srgbClr val="FFFFCC"/>
                </a:highlight>
              </a:endParaRPr>
            </a:p>
          </p:txBody>
        </p:sp>
        <p:cxnSp>
          <p:nvCxnSpPr>
            <p:cNvPr id="55" name="Connector: Curved 54">
              <a:extLst>
                <a:ext uri="{FF2B5EF4-FFF2-40B4-BE49-F238E27FC236}">
                  <a16:creationId xmlns:a16="http://schemas.microsoft.com/office/drawing/2014/main" id="{32E3E1AC-3EF7-7AAE-E13F-4B9C7E2B7D0C}"/>
                </a:ext>
              </a:extLst>
            </p:cNvPr>
            <p:cNvCxnSpPr>
              <a:cxnSpLocks/>
              <a:stCxn id="23" idx="3"/>
              <a:endCxn id="24" idx="3"/>
            </p:cNvCxnSpPr>
            <p:nvPr/>
          </p:nvCxnSpPr>
          <p:spPr>
            <a:xfrm flipH="1">
              <a:off x="7213362" y="2433019"/>
              <a:ext cx="14278" cy="1135521"/>
            </a:xfrm>
            <a:prstGeom prst="curvedConnector3">
              <a:avLst>
                <a:gd name="adj1" fmla="val -334768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15796059-9F52-AC14-C9A2-E53F3522ED6C}"/>
                </a:ext>
              </a:extLst>
            </p:cNvPr>
            <p:cNvSpPr txBox="1"/>
            <p:nvPr/>
          </p:nvSpPr>
          <p:spPr>
            <a:xfrm>
              <a:off x="7279156" y="2872246"/>
              <a:ext cx="769691" cy="215444"/>
            </a:xfrm>
            <a:prstGeom prst="rect">
              <a:avLst/>
            </a:prstGeom>
            <a:noFill/>
          </p:spPr>
          <p:txBody>
            <a:bodyPr wrap="square" rtlCol="0">
              <a:spAutoFit/>
            </a:bodyPr>
            <a:lstStyle/>
            <a:p>
              <a:pPr algn="ctr"/>
              <a:r>
                <a:rPr lang="en-US" sz="800" dirty="0" err="1">
                  <a:highlight>
                    <a:srgbClr val="FFFFCC"/>
                  </a:highlight>
                </a:rPr>
                <a:t>hasImpact</a:t>
              </a:r>
              <a:endParaRPr lang="en-US" sz="800" dirty="0">
                <a:highlight>
                  <a:srgbClr val="FFFFCC"/>
                </a:highlight>
              </a:endParaRPr>
            </a:p>
          </p:txBody>
        </p:sp>
        <p:cxnSp>
          <p:nvCxnSpPr>
            <p:cNvPr id="59" name="Connector: Curved 58">
              <a:extLst>
                <a:ext uri="{FF2B5EF4-FFF2-40B4-BE49-F238E27FC236}">
                  <a16:creationId xmlns:a16="http://schemas.microsoft.com/office/drawing/2014/main" id="{CCF4E690-26FE-3621-556D-EFA529B327C7}"/>
                </a:ext>
              </a:extLst>
            </p:cNvPr>
            <p:cNvCxnSpPr>
              <a:cxnSpLocks/>
              <a:stCxn id="1049" idx="3"/>
              <a:endCxn id="29" idx="0"/>
            </p:cNvCxnSpPr>
            <p:nvPr/>
          </p:nvCxnSpPr>
          <p:spPr>
            <a:xfrm>
              <a:off x="7227640" y="1886419"/>
              <a:ext cx="1035647" cy="2091017"/>
            </a:xfrm>
            <a:prstGeom prst="curvedConnector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8C0F3C77-F1B0-FA5B-6343-76CF759BBFD7}"/>
                </a:ext>
              </a:extLst>
            </p:cNvPr>
            <p:cNvSpPr txBox="1"/>
            <p:nvPr/>
          </p:nvSpPr>
          <p:spPr>
            <a:xfrm>
              <a:off x="7533300" y="2495565"/>
              <a:ext cx="992237" cy="215444"/>
            </a:xfrm>
            <a:prstGeom prst="rect">
              <a:avLst/>
            </a:prstGeom>
            <a:noFill/>
          </p:spPr>
          <p:txBody>
            <a:bodyPr wrap="square" rtlCol="0">
              <a:spAutoFit/>
            </a:bodyPr>
            <a:lstStyle/>
            <a:p>
              <a:pPr algn="ctr"/>
              <a:r>
                <a:rPr lang="en-US" sz="800" dirty="0" err="1">
                  <a:highlight>
                    <a:srgbClr val="FFFFCC"/>
                  </a:highlight>
                </a:rPr>
                <a:t>engagesin</a:t>
              </a:r>
              <a:endParaRPr lang="en-US" sz="800" dirty="0">
                <a:highlight>
                  <a:srgbClr val="FFFFCC"/>
                </a:highlight>
              </a:endParaRPr>
            </a:p>
          </p:txBody>
        </p:sp>
        <p:cxnSp>
          <p:nvCxnSpPr>
            <p:cNvPr id="1024" name="Connector: Curved 1023">
              <a:extLst>
                <a:ext uri="{FF2B5EF4-FFF2-40B4-BE49-F238E27FC236}">
                  <a16:creationId xmlns:a16="http://schemas.microsoft.com/office/drawing/2014/main" id="{41632EC1-5148-638E-D0A5-FFA7CCCA0108}"/>
                </a:ext>
              </a:extLst>
            </p:cNvPr>
            <p:cNvCxnSpPr>
              <a:cxnSpLocks/>
              <a:stCxn id="29" idx="2"/>
              <a:endCxn id="26" idx="3"/>
            </p:cNvCxnSpPr>
            <p:nvPr/>
          </p:nvCxnSpPr>
          <p:spPr>
            <a:xfrm rot="5400000">
              <a:off x="7271924" y="4164908"/>
              <a:ext cx="932614" cy="1050113"/>
            </a:xfrm>
            <a:prstGeom prst="curvedConnector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25" name="Connector: Curved 1024">
              <a:extLst>
                <a:ext uri="{FF2B5EF4-FFF2-40B4-BE49-F238E27FC236}">
                  <a16:creationId xmlns:a16="http://schemas.microsoft.com/office/drawing/2014/main" id="{3A15670B-BDFF-84BE-C4EC-DD24D2D3AF0F}"/>
                </a:ext>
              </a:extLst>
            </p:cNvPr>
            <p:cNvCxnSpPr>
              <a:cxnSpLocks/>
              <a:stCxn id="42" idx="1"/>
              <a:endCxn id="26" idx="1"/>
            </p:cNvCxnSpPr>
            <p:nvPr/>
          </p:nvCxnSpPr>
          <p:spPr>
            <a:xfrm rot="10800000" flipH="1" flipV="1">
              <a:off x="5787138" y="4614561"/>
              <a:ext cx="94" cy="541709"/>
            </a:xfrm>
            <a:prstGeom prst="curvedConnector3">
              <a:avLst>
                <a:gd name="adj1" fmla="val -243191489"/>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026" name="TextBox 1025">
              <a:extLst>
                <a:ext uri="{FF2B5EF4-FFF2-40B4-BE49-F238E27FC236}">
                  <a16:creationId xmlns:a16="http://schemas.microsoft.com/office/drawing/2014/main" id="{C02A284D-5EB8-9122-8E2E-99A62CEBD38C}"/>
                </a:ext>
              </a:extLst>
            </p:cNvPr>
            <p:cNvSpPr txBox="1"/>
            <p:nvPr/>
          </p:nvSpPr>
          <p:spPr>
            <a:xfrm>
              <a:off x="7616800" y="4500978"/>
              <a:ext cx="1165195" cy="215444"/>
            </a:xfrm>
            <a:prstGeom prst="rect">
              <a:avLst/>
            </a:prstGeom>
            <a:noFill/>
          </p:spPr>
          <p:txBody>
            <a:bodyPr wrap="square" rtlCol="0">
              <a:spAutoFit/>
            </a:bodyPr>
            <a:lstStyle/>
            <a:p>
              <a:pPr algn="ctr"/>
              <a:r>
                <a:rPr lang="en-US" sz="800" dirty="0" err="1">
                  <a:highlight>
                    <a:srgbClr val="FFFFCC"/>
                  </a:highlight>
                </a:rPr>
                <a:t>isPerformedWith</a:t>
              </a:r>
              <a:endParaRPr lang="en-US" sz="800" dirty="0">
                <a:highlight>
                  <a:srgbClr val="FFFFCC"/>
                </a:highlight>
              </a:endParaRPr>
            </a:p>
          </p:txBody>
        </p:sp>
        <p:cxnSp>
          <p:nvCxnSpPr>
            <p:cNvPr id="1027" name="Connector: Curved 1026">
              <a:extLst>
                <a:ext uri="{FF2B5EF4-FFF2-40B4-BE49-F238E27FC236}">
                  <a16:creationId xmlns:a16="http://schemas.microsoft.com/office/drawing/2014/main" id="{722AC7A9-A2EC-D089-97A6-29B24E45D9B2}"/>
                </a:ext>
              </a:extLst>
            </p:cNvPr>
            <p:cNvCxnSpPr>
              <a:cxnSpLocks/>
              <a:stCxn id="42" idx="1"/>
              <a:endCxn id="22" idx="1"/>
            </p:cNvCxnSpPr>
            <p:nvPr/>
          </p:nvCxnSpPr>
          <p:spPr>
            <a:xfrm rot="10800000" flipH="1">
              <a:off x="5787137" y="4113028"/>
              <a:ext cx="93" cy="501534"/>
            </a:xfrm>
            <a:prstGeom prst="curvedConnector3">
              <a:avLst>
                <a:gd name="adj1" fmla="val -24580645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28" name="Connector: Curved 1027">
              <a:extLst>
                <a:ext uri="{FF2B5EF4-FFF2-40B4-BE49-F238E27FC236}">
                  <a16:creationId xmlns:a16="http://schemas.microsoft.com/office/drawing/2014/main" id="{C9A79C14-39F8-70CF-E0AE-B63D16803BAD}"/>
                </a:ext>
              </a:extLst>
            </p:cNvPr>
            <p:cNvCxnSpPr>
              <a:cxnSpLocks/>
              <a:stCxn id="42" idx="1"/>
              <a:endCxn id="36" idx="2"/>
            </p:cNvCxnSpPr>
            <p:nvPr/>
          </p:nvCxnSpPr>
          <p:spPr>
            <a:xfrm rot="10800000">
              <a:off x="4110452" y="3650088"/>
              <a:ext cx="1676687" cy="964475"/>
            </a:xfrm>
            <a:prstGeom prst="curvedConnector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029" name="TextBox 1028">
              <a:extLst>
                <a:ext uri="{FF2B5EF4-FFF2-40B4-BE49-F238E27FC236}">
                  <a16:creationId xmlns:a16="http://schemas.microsoft.com/office/drawing/2014/main" id="{1B3DC8DD-1E89-87A5-F80E-0140F517FFF5}"/>
                </a:ext>
              </a:extLst>
            </p:cNvPr>
            <p:cNvSpPr txBox="1"/>
            <p:nvPr/>
          </p:nvSpPr>
          <p:spPr>
            <a:xfrm>
              <a:off x="3890820" y="3935880"/>
              <a:ext cx="727158" cy="215444"/>
            </a:xfrm>
            <a:prstGeom prst="rect">
              <a:avLst/>
            </a:prstGeom>
            <a:noFill/>
          </p:spPr>
          <p:txBody>
            <a:bodyPr wrap="square" rtlCol="0">
              <a:spAutoFit/>
            </a:bodyPr>
            <a:lstStyle/>
            <a:p>
              <a:pPr algn="ctr"/>
              <a:r>
                <a:rPr lang="en-US" sz="800" dirty="0" err="1">
                  <a:highlight>
                    <a:srgbClr val="FFFFCC"/>
                  </a:highlight>
                </a:rPr>
                <a:t>hasRole</a:t>
              </a:r>
              <a:endParaRPr lang="en-US" sz="800" dirty="0">
                <a:highlight>
                  <a:srgbClr val="FFFFCC"/>
                </a:highlight>
              </a:endParaRPr>
            </a:p>
          </p:txBody>
        </p:sp>
        <p:cxnSp>
          <p:nvCxnSpPr>
            <p:cNvPr id="1030" name="Connector: Curved 1029">
              <a:extLst>
                <a:ext uri="{FF2B5EF4-FFF2-40B4-BE49-F238E27FC236}">
                  <a16:creationId xmlns:a16="http://schemas.microsoft.com/office/drawing/2014/main" id="{2575F36A-E44F-6A61-6214-E32FE60EFF21}"/>
                </a:ext>
              </a:extLst>
            </p:cNvPr>
            <p:cNvCxnSpPr>
              <a:cxnSpLocks/>
              <a:stCxn id="23" idx="1"/>
              <a:endCxn id="36" idx="0"/>
            </p:cNvCxnSpPr>
            <p:nvPr/>
          </p:nvCxnSpPr>
          <p:spPr>
            <a:xfrm rot="10800000" flipV="1">
              <a:off x="4110452" y="2433018"/>
              <a:ext cx="1676781" cy="970847"/>
            </a:xfrm>
            <a:prstGeom prst="curvedConnector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031" name="TextBox 1030">
              <a:extLst>
                <a:ext uri="{FF2B5EF4-FFF2-40B4-BE49-F238E27FC236}">
                  <a16:creationId xmlns:a16="http://schemas.microsoft.com/office/drawing/2014/main" id="{AD3D9F9E-1D3D-63E4-54BC-3276CF9B3B5A}"/>
                </a:ext>
              </a:extLst>
            </p:cNvPr>
            <p:cNvSpPr txBox="1"/>
            <p:nvPr/>
          </p:nvSpPr>
          <p:spPr>
            <a:xfrm>
              <a:off x="4010222" y="2802083"/>
              <a:ext cx="727158" cy="215444"/>
            </a:xfrm>
            <a:prstGeom prst="rect">
              <a:avLst/>
            </a:prstGeom>
            <a:noFill/>
          </p:spPr>
          <p:txBody>
            <a:bodyPr wrap="square" rtlCol="0">
              <a:spAutoFit/>
            </a:bodyPr>
            <a:lstStyle/>
            <a:p>
              <a:pPr algn="ctr"/>
              <a:r>
                <a:rPr lang="en-US" sz="800" dirty="0" err="1">
                  <a:highlight>
                    <a:srgbClr val="FFFFCC"/>
                  </a:highlight>
                </a:rPr>
                <a:t>isAbout</a:t>
              </a:r>
              <a:endParaRPr lang="en-US" sz="800" dirty="0">
                <a:highlight>
                  <a:srgbClr val="FFFFCC"/>
                </a:highlight>
              </a:endParaRPr>
            </a:p>
          </p:txBody>
        </p:sp>
        <p:cxnSp>
          <p:nvCxnSpPr>
            <p:cNvPr id="1032" name="Connector: Curved 1031">
              <a:extLst>
                <a:ext uri="{FF2B5EF4-FFF2-40B4-BE49-F238E27FC236}">
                  <a16:creationId xmlns:a16="http://schemas.microsoft.com/office/drawing/2014/main" id="{23C831F0-F03E-C2C9-1F42-65F1D0274B6F}"/>
                </a:ext>
              </a:extLst>
            </p:cNvPr>
            <p:cNvCxnSpPr>
              <a:cxnSpLocks/>
              <a:stCxn id="26" idx="3"/>
              <a:endCxn id="42" idx="3"/>
            </p:cNvCxnSpPr>
            <p:nvPr/>
          </p:nvCxnSpPr>
          <p:spPr>
            <a:xfrm flipV="1">
              <a:off x="7213174" y="4614562"/>
              <a:ext cx="12700" cy="541709"/>
            </a:xfrm>
            <a:prstGeom prst="curvedConnector3">
              <a:avLst>
                <a:gd name="adj1" fmla="val 1800000"/>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033" name="TextBox 1032">
              <a:extLst>
                <a:ext uri="{FF2B5EF4-FFF2-40B4-BE49-F238E27FC236}">
                  <a16:creationId xmlns:a16="http://schemas.microsoft.com/office/drawing/2014/main" id="{15B3F37A-AC97-E9FD-4EE6-FCBBB166E495}"/>
                </a:ext>
              </a:extLst>
            </p:cNvPr>
            <p:cNvSpPr txBox="1"/>
            <p:nvPr/>
          </p:nvSpPr>
          <p:spPr>
            <a:xfrm>
              <a:off x="7105434" y="4680287"/>
              <a:ext cx="582393" cy="338554"/>
            </a:xfrm>
            <a:prstGeom prst="rect">
              <a:avLst/>
            </a:prstGeom>
            <a:noFill/>
          </p:spPr>
          <p:txBody>
            <a:bodyPr wrap="square" rtlCol="0">
              <a:spAutoFit/>
            </a:bodyPr>
            <a:lstStyle/>
            <a:p>
              <a:pPr algn="ctr"/>
              <a:r>
                <a:rPr lang="en-US" sz="800" dirty="0">
                  <a:highlight>
                    <a:srgbClr val="FFFFCC"/>
                  </a:highlight>
                </a:rPr>
                <a:t>Calcs</a:t>
              </a:r>
            </a:p>
            <a:p>
              <a:pPr algn="ctr"/>
              <a:r>
                <a:rPr lang="en-US" sz="800" dirty="0">
                  <a:highlight>
                    <a:srgbClr val="FFFFCC"/>
                  </a:highlight>
                </a:rPr>
                <a:t>Formula</a:t>
              </a:r>
            </a:p>
          </p:txBody>
        </p:sp>
        <p:sp>
          <p:nvSpPr>
            <p:cNvPr id="1034" name="TextBox 1033">
              <a:extLst>
                <a:ext uri="{FF2B5EF4-FFF2-40B4-BE49-F238E27FC236}">
                  <a16:creationId xmlns:a16="http://schemas.microsoft.com/office/drawing/2014/main" id="{31ACC082-7A87-425A-8F9D-B2EDF922BE51}"/>
                </a:ext>
              </a:extLst>
            </p:cNvPr>
            <p:cNvSpPr txBox="1"/>
            <p:nvPr/>
          </p:nvSpPr>
          <p:spPr>
            <a:xfrm>
              <a:off x="6955026" y="3719159"/>
              <a:ext cx="769691" cy="215444"/>
            </a:xfrm>
            <a:prstGeom prst="rect">
              <a:avLst/>
            </a:prstGeom>
            <a:noFill/>
          </p:spPr>
          <p:txBody>
            <a:bodyPr wrap="square" rtlCol="0">
              <a:spAutoFit/>
            </a:bodyPr>
            <a:lstStyle/>
            <a:p>
              <a:pPr algn="ctr"/>
              <a:r>
                <a:rPr lang="en-US" sz="800" dirty="0">
                  <a:highlight>
                    <a:srgbClr val="FFFFCC"/>
                  </a:highlight>
                </a:rPr>
                <a:t>impacts</a:t>
              </a:r>
            </a:p>
          </p:txBody>
        </p:sp>
        <p:sp>
          <p:nvSpPr>
            <p:cNvPr id="1036" name="TextBox 1035">
              <a:extLst>
                <a:ext uri="{FF2B5EF4-FFF2-40B4-BE49-F238E27FC236}">
                  <a16:creationId xmlns:a16="http://schemas.microsoft.com/office/drawing/2014/main" id="{2E1B719C-F025-CFD4-9764-55E43F2AE753}"/>
                </a:ext>
              </a:extLst>
            </p:cNvPr>
            <p:cNvSpPr txBox="1"/>
            <p:nvPr/>
          </p:nvSpPr>
          <p:spPr>
            <a:xfrm>
              <a:off x="4168288" y="3004672"/>
              <a:ext cx="1232690" cy="215444"/>
            </a:xfrm>
            <a:prstGeom prst="rect">
              <a:avLst/>
            </a:prstGeom>
            <a:noFill/>
          </p:spPr>
          <p:txBody>
            <a:bodyPr wrap="square" rtlCol="0">
              <a:spAutoFit/>
            </a:bodyPr>
            <a:lstStyle/>
            <a:p>
              <a:pPr algn="ctr"/>
              <a:r>
                <a:rPr lang="en-US" sz="800" dirty="0" err="1">
                  <a:highlight>
                    <a:srgbClr val="FFFFCC"/>
                  </a:highlight>
                </a:rPr>
                <a:t>isSeriesofInterrelated</a:t>
              </a:r>
              <a:endParaRPr lang="en-US" sz="800" dirty="0">
                <a:highlight>
                  <a:srgbClr val="FFFFCC"/>
                </a:highlight>
              </a:endParaRPr>
            </a:p>
          </p:txBody>
        </p:sp>
        <p:cxnSp>
          <p:nvCxnSpPr>
            <p:cNvPr id="1037" name="Straight Connector 1036">
              <a:extLst>
                <a:ext uri="{FF2B5EF4-FFF2-40B4-BE49-F238E27FC236}">
                  <a16:creationId xmlns:a16="http://schemas.microsoft.com/office/drawing/2014/main" id="{207ED76E-DBA7-6D86-C87D-DF15BDCD19F7}"/>
                </a:ext>
              </a:extLst>
            </p:cNvPr>
            <p:cNvCxnSpPr>
              <a:cxnSpLocks/>
            </p:cNvCxnSpPr>
            <p:nvPr/>
          </p:nvCxnSpPr>
          <p:spPr>
            <a:xfrm flipH="1">
              <a:off x="5472713" y="5721950"/>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38" name="Straight Connector 1037">
              <a:extLst>
                <a:ext uri="{FF2B5EF4-FFF2-40B4-BE49-F238E27FC236}">
                  <a16:creationId xmlns:a16="http://schemas.microsoft.com/office/drawing/2014/main" id="{6132F278-FB41-0BB2-160F-24646DBC33BF}"/>
                </a:ext>
              </a:extLst>
            </p:cNvPr>
            <p:cNvCxnSpPr>
              <a:cxnSpLocks/>
              <a:endCxn id="22" idx="3"/>
            </p:cNvCxnSpPr>
            <p:nvPr/>
          </p:nvCxnSpPr>
          <p:spPr>
            <a:xfrm flipH="1" flipV="1">
              <a:off x="7213268" y="4113028"/>
              <a:ext cx="621156" cy="359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39" name="Straight Connector 1038">
              <a:extLst>
                <a:ext uri="{FF2B5EF4-FFF2-40B4-BE49-F238E27FC236}">
                  <a16:creationId xmlns:a16="http://schemas.microsoft.com/office/drawing/2014/main" id="{1EFB2C37-E66A-8E2B-C7F6-5B82789AE48C}"/>
                </a:ext>
              </a:extLst>
            </p:cNvPr>
            <p:cNvCxnSpPr>
              <a:cxnSpLocks/>
            </p:cNvCxnSpPr>
            <p:nvPr/>
          </p:nvCxnSpPr>
          <p:spPr>
            <a:xfrm flipH="1">
              <a:off x="5472713" y="5201329"/>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1" name="Straight Connector 1040">
              <a:extLst>
                <a:ext uri="{FF2B5EF4-FFF2-40B4-BE49-F238E27FC236}">
                  <a16:creationId xmlns:a16="http://schemas.microsoft.com/office/drawing/2014/main" id="{ACF422CB-E78D-E31D-E89A-B51BA377318B}"/>
                </a:ext>
              </a:extLst>
            </p:cNvPr>
            <p:cNvCxnSpPr>
              <a:cxnSpLocks/>
            </p:cNvCxnSpPr>
            <p:nvPr/>
          </p:nvCxnSpPr>
          <p:spPr>
            <a:xfrm flipH="1">
              <a:off x="5467009" y="4092880"/>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2" name="Straight Connector 1041">
              <a:extLst>
                <a:ext uri="{FF2B5EF4-FFF2-40B4-BE49-F238E27FC236}">
                  <a16:creationId xmlns:a16="http://schemas.microsoft.com/office/drawing/2014/main" id="{AFAFC3A4-1C4F-C057-1588-640E6947E4E3}"/>
                </a:ext>
              </a:extLst>
            </p:cNvPr>
            <p:cNvCxnSpPr>
              <a:cxnSpLocks/>
            </p:cNvCxnSpPr>
            <p:nvPr/>
          </p:nvCxnSpPr>
          <p:spPr>
            <a:xfrm flipH="1">
              <a:off x="5467009" y="3555220"/>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3" name="Straight Connector 1042">
              <a:extLst>
                <a:ext uri="{FF2B5EF4-FFF2-40B4-BE49-F238E27FC236}">
                  <a16:creationId xmlns:a16="http://schemas.microsoft.com/office/drawing/2014/main" id="{FF469570-3AC9-8E5B-90A1-76306EEB2489}"/>
                </a:ext>
              </a:extLst>
            </p:cNvPr>
            <p:cNvCxnSpPr>
              <a:cxnSpLocks/>
            </p:cNvCxnSpPr>
            <p:nvPr/>
          </p:nvCxnSpPr>
          <p:spPr>
            <a:xfrm flipH="1">
              <a:off x="5467009" y="2998629"/>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4" name="Straight Connector 1043">
              <a:extLst>
                <a:ext uri="{FF2B5EF4-FFF2-40B4-BE49-F238E27FC236}">
                  <a16:creationId xmlns:a16="http://schemas.microsoft.com/office/drawing/2014/main" id="{BEE05AF8-5EFE-F708-236A-D2B875144773}"/>
                </a:ext>
              </a:extLst>
            </p:cNvPr>
            <p:cNvCxnSpPr>
              <a:cxnSpLocks/>
            </p:cNvCxnSpPr>
            <p:nvPr/>
          </p:nvCxnSpPr>
          <p:spPr>
            <a:xfrm flipH="1">
              <a:off x="5467009" y="2456102"/>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5" name="Straight Connector 1044">
              <a:extLst>
                <a:ext uri="{FF2B5EF4-FFF2-40B4-BE49-F238E27FC236}">
                  <a16:creationId xmlns:a16="http://schemas.microsoft.com/office/drawing/2014/main" id="{95A228F2-4FED-4D96-31CE-059614FDE4B5}"/>
                </a:ext>
              </a:extLst>
            </p:cNvPr>
            <p:cNvCxnSpPr>
              <a:cxnSpLocks/>
            </p:cNvCxnSpPr>
            <p:nvPr/>
          </p:nvCxnSpPr>
          <p:spPr>
            <a:xfrm flipH="1">
              <a:off x="5467009" y="1891320"/>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6" name="Straight Connector 1045">
              <a:extLst>
                <a:ext uri="{FF2B5EF4-FFF2-40B4-BE49-F238E27FC236}">
                  <a16:creationId xmlns:a16="http://schemas.microsoft.com/office/drawing/2014/main" id="{884F8DDE-E885-D3DE-5F76-523BD1F7AE43}"/>
                </a:ext>
              </a:extLst>
            </p:cNvPr>
            <p:cNvCxnSpPr>
              <a:cxnSpLocks/>
            </p:cNvCxnSpPr>
            <p:nvPr/>
          </p:nvCxnSpPr>
          <p:spPr>
            <a:xfrm flipH="1">
              <a:off x="5467009" y="1345329"/>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7" name="Straight Connector 1046">
              <a:extLst>
                <a:ext uri="{FF2B5EF4-FFF2-40B4-BE49-F238E27FC236}">
                  <a16:creationId xmlns:a16="http://schemas.microsoft.com/office/drawing/2014/main" id="{B87F660D-87B9-E530-D7C8-B1C6B9C902FA}"/>
                </a:ext>
              </a:extLst>
            </p:cNvPr>
            <p:cNvCxnSpPr>
              <a:cxnSpLocks/>
            </p:cNvCxnSpPr>
            <p:nvPr/>
          </p:nvCxnSpPr>
          <p:spPr>
            <a:xfrm flipH="1">
              <a:off x="5452494" y="769940"/>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48" name="Straight Connector 1047">
              <a:extLst>
                <a:ext uri="{FF2B5EF4-FFF2-40B4-BE49-F238E27FC236}">
                  <a16:creationId xmlns:a16="http://schemas.microsoft.com/office/drawing/2014/main" id="{BC20F839-8A49-CEDF-A8AC-E87916716FED}"/>
                </a:ext>
              </a:extLst>
            </p:cNvPr>
            <p:cNvCxnSpPr>
              <a:cxnSpLocks/>
            </p:cNvCxnSpPr>
            <p:nvPr/>
          </p:nvCxnSpPr>
          <p:spPr>
            <a:xfrm flipH="1" flipV="1">
              <a:off x="4549738" y="3551081"/>
              <a:ext cx="917271" cy="83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49" name="Rectangle: Rounded Corners 1048">
              <a:extLst>
                <a:ext uri="{FF2B5EF4-FFF2-40B4-BE49-F238E27FC236}">
                  <a16:creationId xmlns:a16="http://schemas.microsoft.com/office/drawing/2014/main" id="{333DDEFC-673B-8308-4088-703C4D9A9785}"/>
                </a:ext>
              </a:extLst>
            </p:cNvPr>
            <p:cNvSpPr/>
            <p:nvPr/>
          </p:nvSpPr>
          <p:spPr>
            <a:xfrm>
              <a:off x="5779941" y="1763308"/>
              <a:ext cx="1447699"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agent</a:t>
              </a:r>
            </a:p>
          </p:txBody>
        </p:sp>
        <p:sp>
          <p:nvSpPr>
            <p:cNvPr id="1051" name="TextBox 1050">
              <a:extLst>
                <a:ext uri="{FF2B5EF4-FFF2-40B4-BE49-F238E27FC236}">
                  <a16:creationId xmlns:a16="http://schemas.microsoft.com/office/drawing/2014/main" id="{C5E32481-C662-E8D5-5244-19EB3015361E}"/>
                </a:ext>
              </a:extLst>
            </p:cNvPr>
            <p:cNvSpPr txBox="1"/>
            <p:nvPr/>
          </p:nvSpPr>
          <p:spPr>
            <a:xfrm>
              <a:off x="6855590" y="1532042"/>
              <a:ext cx="1010151" cy="215444"/>
            </a:xfrm>
            <a:prstGeom prst="rect">
              <a:avLst/>
            </a:prstGeom>
            <a:noFill/>
          </p:spPr>
          <p:txBody>
            <a:bodyPr wrap="square" rtlCol="0">
              <a:spAutoFit/>
            </a:bodyPr>
            <a:lstStyle/>
            <a:p>
              <a:pPr algn="ctr"/>
              <a:r>
                <a:rPr lang="en-US" sz="800" dirty="0">
                  <a:highlight>
                    <a:srgbClr val="FFFFCC"/>
                  </a:highlight>
                </a:rPr>
                <a:t>Owns/operates</a:t>
              </a:r>
            </a:p>
          </p:txBody>
        </p:sp>
        <p:cxnSp>
          <p:nvCxnSpPr>
            <p:cNvPr id="1053" name="Connector: Curved 1052">
              <a:extLst>
                <a:ext uri="{FF2B5EF4-FFF2-40B4-BE49-F238E27FC236}">
                  <a16:creationId xmlns:a16="http://schemas.microsoft.com/office/drawing/2014/main" id="{09839E67-9CD2-0FCE-04D1-FF3DEE5FB121}"/>
                </a:ext>
              </a:extLst>
            </p:cNvPr>
            <p:cNvCxnSpPr>
              <a:stCxn id="13" idx="1"/>
              <a:endCxn id="21" idx="1"/>
            </p:cNvCxnSpPr>
            <p:nvPr/>
          </p:nvCxnSpPr>
          <p:spPr>
            <a:xfrm rot="10800000" flipV="1">
              <a:off x="5787232" y="755172"/>
              <a:ext cx="12700" cy="2231478"/>
            </a:xfrm>
            <a:prstGeom prst="curvedConnector3">
              <a:avLst>
                <a:gd name="adj1" fmla="val 12012764"/>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054" name="Connector: Curved 1053">
              <a:extLst>
                <a:ext uri="{FF2B5EF4-FFF2-40B4-BE49-F238E27FC236}">
                  <a16:creationId xmlns:a16="http://schemas.microsoft.com/office/drawing/2014/main" id="{3939E9F4-9EBE-B6D6-A2CA-7919882666F0}"/>
                </a:ext>
              </a:extLst>
            </p:cNvPr>
            <p:cNvCxnSpPr>
              <a:cxnSpLocks/>
              <a:stCxn id="1049" idx="1"/>
              <a:endCxn id="22" idx="1"/>
            </p:cNvCxnSpPr>
            <p:nvPr/>
          </p:nvCxnSpPr>
          <p:spPr>
            <a:xfrm rot="10800000" flipH="1" flipV="1">
              <a:off x="5779941" y="1886418"/>
              <a:ext cx="7290" cy="2226609"/>
            </a:xfrm>
            <a:prstGeom prst="curvedConnector3">
              <a:avLst>
                <a:gd name="adj1" fmla="val -14082606"/>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055" name="Connector: Curved 1054">
              <a:extLst>
                <a:ext uri="{FF2B5EF4-FFF2-40B4-BE49-F238E27FC236}">
                  <a16:creationId xmlns:a16="http://schemas.microsoft.com/office/drawing/2014/main" id="{BB44508C-9949-9F26-8FFF-B83452794DB7}"/>
                </a:ext>
              </a:extLst>
            </p:cNvPr>
            <p:cNvCxnSpPr>
              <a:stCxn id="1049" idx="1"/>
              <a:endCxn id="23" idx="1"/>
            </p:cNvCxnSpPr>
            <p:nvPr/>
          </p:nvCxnSpPr>
          <p:spPr>
            <a:xfrm rot="10800000" flipH="1" flipV="1">
              <a:off x="5779940" y="1886419"/>
              <a:ext cx="7291" cy="546600"/>
            </a:xfrm>
            <a:prstGeom prst="curvedConnector3">
              <a:avLst>
                <a:gd name="adj1" fmla="val -3135372"/>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56" name="Connector: Curved 1055">
              <a:extLst>
                <a:ext uri="{FF2B5EF4-FFF2-40B4-BE49-F238E27FC236}">
                  <a16:creationId xmlns:a16="http://schemas.microsoft.com/office/drawing/2014/main" id="{D6C97608-071B-A25F-43AA-F7E655074C7E}"/>
                </a:ext>
              </a:extLst>
            </p:cNvPr>
            <p:cNvCxnSpPr>
              <a:stCxn id="25" idx="1"/>
              <a:endCxn id="21" idx="1"/>
            </p:cNvCxnSpPr>
            <p:nvPr/>
          </p:nvCxnSpPr>
          <p:spPr>
            <a:xfrm rot="10800000">
              <a:off x="5787232" y="2986651"/>
              <a:ext cx="12700" cy="2718261"/>
            </a:xfrm>
            <a:prstGeom prst="curvedConnector3">
              <a:avLst>
                <a:gd name="adj1" fmla="val 9347827"/>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057" name="TextBox 1056">
              <a:extLst>
                <a:ext uri="{FF2B5EF4-FFF2-40B4-BE49-F238E27FC236}">
                  <a16:creationId xmlns:a16="http://schemas.microsoft.com/office/drawing/2014/main" id="{FF312091-3CD6-302E-FF07-1807F86AD899}"/>
                </a:ext>
              </a:extLst>
            </p:cNvPr>
            <p:cNvSpPr txBox="1"/>
            <p:nvPr/>
          </p:nvSpPr>
          <p:spPr>
            <a:xfrm>
              <a:off x="4437157" y="1746560"/>
              <a:ext cx="1165479" cy="215444"/>
            </a:xfrm>
            <a:prstGeom prst="rect">
              <a:avLst/>
            </a:prstGeom>
            <a:noFill/>
          </p:spPr>
          <p:txBody>
            <a:bodyPr wrap="square" rtlCol="0">
              <a:spAutoFit/>
            </a:bodyPr>
            <a:lstStyle/>
            <a:p>
              <a:pPr algn="ctr"/>
              <a:r>
                <a:rPr lang="en-US" sz="800" dirty="0" err="1">
                  <a:highlight>
                    <a:srgbClr val="FFFFCC"/>
                  </a:highlight>
                </a:rPr>
                <a:t>hasBaseline</a:t>
              </a:r>
              <a:endParaRPr lang="en-US" sz="800" dirty="0">
                <a:highlight>
                  <a:srgbClr val="FFFFCC"/>
                </a:highlight>
              </a:endParaRPr>
            </a:p>
          </p:txBody>
        </p:sp>
        <p:sp>
          <p:nvSpPr>
            <p:cNvPr id="1058" name="Rectangle: Rounded Corners 1057">
              <a:extLst>
                <a:ext uri="{FF2B5EF4-FFF2-40B4-BE49-F238E27FC236}">
                  <a16:creationId xmlns:a16="http://schemas.microsoft.com/office/drawing/2014/main" id="{82B50232-91B9-8393-837D-05DFEC874B49}"/>
                </a:ext>
              </a:extLst>
            </p:cNvPr>
            <p:cNvSpPr/>
            <p:nvPr/>
          </p:nvSpPr>
          <p:spPr>
            <a:xfrm>
              <a:off x="5808096" y="6086354"/>
              <a:ext cx="1425942" cy="24622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representing</a:t>
              </a:r>
            </a:p>
          </p:txBody>
        </p:sp>
        <p:cxnSp>
          <p:nvCxnSpPr>
            <p:cNvPr id="1059" name="Straight Connector 1058">
              <a:extLst>
                <a:ext uri="{FF2B5EF4-FFF2-40B4-BE49-F238E27FC236}">
                  <a16:creationId xmlns:a16="http://schemas.microsoft.com/office/drawing/2014/main" id="{C6140B13-756F-3AF8-925A-76F8A9258E73}"/>
                </a:ext>
              </a:extLst>
            </p:cNvPr>
            <p:cNvCxnSpPr>
              <a:cxnSpLocks/>
            </p:cNvCxnSpPr>
            <p:nvPr/>
          </p:nvCxnSpPr>
          <p:spPr>
            <a:xfrm flipH="1">
              <a:off x="5479804" y="6203428"/>
              <a:ext cx="32012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60" name="Connector: Curved 1059">
              <a:extLst>
                <a:ext uri="{FF2B5EF4-FFF2-40B4-BE49-F238E27FC236}">
                  <a16:creationId xmlns:a16="http://schemas.microsoft.com/office/drawing/2014/main" id="{70A04032-5E48-CC3D-F5B1-5BD72E2DA6CA}"/>
                </a:ext>
              </a:extLst>
            </p:cNvPr>
            <p:cNvCxnSpPr>
              <a:stCxn id="1058" idx="3"/>
              <a:endCxn id="25" idx="3"/>
            </p:cNvCxnSpPr>
            <p:nvPr/>
          </p:nvCxnSpPr>
          <p:spPr>
            <a:xfrm flipH="1" flipV="1">
              <a:off x="7213174" y="5704911"/>
              <a:ext cx="20864" cy="504554"/>
            </a:xfrm>
            <a:prstGeom prst="curvedConnector3">
              <a:avLst>
                <a:gd name="adj1" fmla="val -1804625"/>
              </a:avLst>
            </a:prstGeom>
            <a:ln>
              <a:tailEnd type="triangle"/>
            </a:ln>
          </p:spPr>
          <p:style>
            <a:lnRef idx="1">
              <a:schemeClr val="accent1"/>
            </a:lnRef>
            <a:fillRef idx="0">
              <a:schemeClr val="accent1"/>
            </a:fillRef>
            <a:effectRef idx="0">
              <a:schemeClr val="accent1"/>
            </a:effectRef>
            <a:fontRef idx="minor">
              <a:schemeClr val="tx1"/>
            </a:fontRef>
          </p:style>
        </p:cxnSp>
        <p:sp>
          <p:nvSpPr>
            <p:cNvPr id="1061" name="TextBox 1060">
              <a:extLst>
                <a:ext uri="{FF2B5EF4-FFF2-40B4-BE49-F238E27FC236}">
                  <a16:creationId xmlns:a16="http://schemas.microsoft.com/office/drawing/2014/main" id="{14787222-32E4-5A65-92E5-954558EBCE54}"/>
                </a:ext>
              </a:extLst>
            </p:cNvPr>
            <p:cNvSpPr txBox="1"/>
            <p:nvPr/>
          </p:nvSpPr>
          <p:spPr>
            <a:xfrm>
              <a:off x="7177589" y="5873928"/>
              <a:ext cx="1198818" cy="215444"/>
            </a:xfrm>
            <a:prstGeom prst="rect">
              <a:avLst/>
            </a:prstGeom>
            <a:noFill/>
          </p:spPr>
          <p:txBody>
            <a:bodyPr wrap="square" rtlCol="0">
              <a:spAutoFit/>
            </a:bodyPr>
            <a:lstStyle/>
            <a:p>
              <a:pPr algn="ctr"/>
              <a:r>
                <a:rPr lang="en-US" sz="800" dirty="0" err="1">
                  <a:highlight>
                    <a:srgbClr val="FFFFCC"/>
                  </a:highlight>
                </a:rPr>
                <a:t>modelssupplychain</a:t>
              </a:r>
              <a:endParaRPr lang="en-US" sz="800" dirty="0">
                <a:highlight>
                  <a:srgbClr val="FFFFCC"/>
                </a:highlight>
              </a:endParaRPr>
            </a:p>
          </p:txBody>
        </p:sp>
        <p:cxnSp>
          <p:nvCxnSpPr>
            <p:cNvPr id="1062" name="Connector: Curved 1061">
              <a:extLst>
                <a:ext uri="{FF2B5EF4-FFF2-40B4-BE49-F238E27FC236}">
                  <a16:creationId xmlns:a16="http://schemas.microsoft.com/office/drawing/2014/main" id="{8887D13F-A9C8-7847-DFDE-05ADB4651939}"/>
                </a:ext>
              </a:extLst>
            </p:cNvPr>
            <p:cNvCxnSpPr>
              <a:stCxn id="1058" idx="1"/>
              <a:endCxn id="25" idx="1"/>
            </p:cNvCxnSpPr>
            <p:nvPr/>
          </p:nvCxnSpPr>
          <p:spPr>
            <a:xfrm rot="10800000">
              <a:off x="5787232" y="5704911"/>
              <a:ext cx="20864" cy="504554"/>
            </a:xfrm>
            <a:prstGeom prst="curvedConnector3">
              <a:avLst>
                <a:gd name="adj1" fmla="val 4289317"/>
              </a:avLst>
            </a:prstGeom>
            <a:ln>
              <a:tailEnd type="triangle"/>
            </a:ln>
          </p:spPr>
          <p:style>
            <a:lnRef idx="1">
              <a:schemeClr val="accent1"/>
            </a:lnRef>
            <a:fillRef idx="0">
              <a:schemeClr val="accent1"/>
            </a:fillRef>
            <a:effectRef idx="0">
              <a:schemeClr val="accent1"/>
            </a:effectRef>
            <a:fontRef idx="minor">
              <a:schemeClr val="tx1"/>
            </a:fontRef>
          </p:style>
        </p:cxnSp>
        <p:sp>
          <p:nvSpPr>
            <p:cNvPr id="1063" name="TextBox 1062">
              <a:extLst>
                <a:ext uri="{FF2B5EF4-FFF2-40B4-BE49-F238E27FC236}">
                  <a16:creationId xmlns:a16="http://schemas.microsoft.com/office/drawing/2014/main" id="{A96D3DB0-4AC5-159D-17AD-7ADEBE0AB48C}"/>
                </a:ext>
              </a:extLst>
            </p:cNvPr>
            <p:cNvSpPr txBox="1"/>
            <p:nvPr/>
          </p:nvSpPr>
          <p:spPr>
            <a:xfrm>
              <a:off x="4110334" y="5795120"/>
              <a:ext cx="1389696" cy="246221"/>
            </a:xfrm>
            <a:prstGeom prst="rect">
              <a:avLst/>
            </a:prstGeom>
            <a:noFill/>
          </p:spPr>
          <p:txBody>
            <a:bodyPr wrap="square" rtlCol="0">
              <a:spAutoFit/>
            </a:bodyPr>
            <a:lstStyle/>
            <a:p>
              <a:pPr algn="ctr"/>
              <a:r>
                <a:rPr lang="en-US" sz="1000" dirty="0" err="1">
                  <a:highlight>
                    <a:srgbClr val="FFFFCC"/>
                  </a:highlight>
                </a:rPr>
                <a:t>isSetofOperatingParms</a:t>
              </a:r>
              <a:endParaRPr lang="en-US" sz="1000" dirty="0">
                <a:highlight>
                  <a:srgbClr val="FFFFCC"/>
                </a:highlight>
              </a:endParaRPr>
            </a:p>
          </p:txBody>
        </p:sp>
      </p:grpSp>
    </p:spTree>
    <p:extLst>
      <p:ext uri="{BB962C8B-B14F-4D97-AF65-F5344CB8AC3E}">
        <p14:creationId xmlns:p14="http://schemas.microsoft.com/office/powerpoint/2010/main" val="18243799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7D50F-FA2E-4F7C-F89D-80B3B26308D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F7D9E6F-F983-9F20-7C9A-C871E940052F}"/>
              </a:ext>
            </a:extLst>
          </p:cNvPr>
          <p:cNvSpPr/>
          <p:nvPr/>
        </p:nvSpPr>
        <p:spPr>
          <a:xfrm>
            <a:off x="11104" y="13970"/>
            <a:ext cx="12180896" cy="498350"/>
          </a:xfrm>
          <a:prstGeom prst="rect">
            <a:avLst/>
          </a:prstGeom>
          <a:solidFill>
            <a:srgbClr val="C0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Data Architecture – IoT Data Storage Issue</a:t>
            </a:r>
          </a:p>
        </p:txBody>
      </p:sp>
      <p:sp>
        <p:nvSpPr>
          <p:cNvPr id="5" name="TextBox 4">
            <a:extLst>
              <a:ext uri="{FF2B5EF4-FFF2-40B4-BE49-F238E27FC236}">
                <a16:creationId xmlns:a16="http://schemas.microsoft.com/office/drawing/2014/main" id="{1FF40E31-E6F8-EEA3-80B2-8B5A288F1FEF}"/>
              </a:ext>
            </a:extLst>
          </p:cNvPr>
          <p:cNvSpPr txBox="1"/>
          <p:nvPr/>
        </p:nvSpPr>
        <p:spPr>
          <a:xfrm>
            <a:off x="18058" y="512320"/>
            <a:ext cx="12010544" cy="584775"/>
          </a:xfrm>
          <a:prstGeom prst="rect">
            <a:avLst/>
          </a:prstGeom>
          <a:noFill/>
          <a:ln>
            <a:noFill/>
          </a:ln>
        </p:spPr>
        <p:txBody>
          <a:bodyPr wrap="square" rtlCol="0">
            <a:spAutoFit/>
          </a:bodyPr>
          <a:lstStyle/>
          <a:p>
            <a:r>
              <a:rPr lang="en-US" sz="1600" dirty="0"/>
              <a:t>Storing all IoT data readings directly on a blockchain can be expensive and inefficient, particularly when dealing with the high volume and velocity of data typically generated by IoT devices. Several factors contribute to this expense:</a:t>
            </a:r>
          </a:p>
        </p:txBody>
      </p:sp>
      <p:sp>
        <p:nvSpPr>
          <p:cNvPr id="12" name="TextBox 11">
            <a:extLst>
              <a:ext uri="{FF2B5EF4-FFF2-40B4-BE49-F238E27FC236}">
                <a16:creationId xmlns:a16="http://schemas.microsoft.com/office/drawing/2014/main" id="{FCB68977-A03F-A1FA-5A40-E8EB78CA8494}"/>
              </a:ext>
            </a:extLst>
          </p:cNvPr>
          <p:cNvSpPr txBox="1"/>
          <p:nvPr/>
        </p:nvSpPr>
        <p:spPr>
          <a:xfrm>
            <a:off x="34791" y="1116731"/>
            <a:ext cx="11861035" cy="5632311"/>
          </a:xfrm>
          <a:prstGeom prst="rect">
            <a:avLst/>
          </a:prstGeom>
          <a:noFill/>
          <a:ln>
            <a:solidFill>
              <a:schemeClr val="accent1"/>
            </a:solidFill>
          </a:ln>
        </p:spPr>
        <p:txBody>
          <a:bodyPr wrap="square" rtlCol="0">
            <a:spAutoFit/>
          </a:bodyPr>
          <a:lstStyle/>
          <a:p>
            <a:r>
              <a:rPr lang="en-US" sz="1600" b="1" dirty="0">
                <a:solidFill>
                  <a:srgbClr val="0000CC"/>
                </a:solidFill>
              </a:rPr>
              <a:t>1. Storage Costs</a:t>
            </a:r>
            <a:r>
              <a:rPr lang="en-US" sz="1800" b="1" dirty="0">
                <a:solidFill>
                  <a:srgbClr val="0000CC"/>
                </a:solidFill>
              </a:rPr>
              <a:t>:</a:t>
            </a:r>
          </a:p>
          <a:p>
            <a:r>
              <a:rPr lang="en-US" b="1" dirty="0"/>
              <a:t>      </a:t>
            </a:r>
            <a:r>
              <a:rPr lang="en-US" sz="1400" b="1" dirty="0"/>
              <a:t>Blockchain Storage</a:t>
            </a:r>
            <a:r>
              <a:rPr lang="en-US" sz="1400" dirty="0"/>
              <a:t>: Blockchain networks, including Hyperledger Fabric, require every participating node to maintain a copy of the entire</a:t>
            </a:r>
          </a:p>
          <a:p>
            <a:r>
              <a:rPr lang="en-US" sz="1400" dirty="0"/>
              <a:t>        ledger. Storing vast amounts of IoT data on-chain increases the size of the blockchain significantly, which in turn raises the storage</a:t>
            </a:r>
          </a:p>
          <a:p>
            <a:r>
              <a:rPr lang="en-US" sz="1400" dirty="0"/>
              <a:t>        requirements for each node.</a:t>
            </a:r>
          </a:p>
          <a:p>
            <a:r>
              <a:rPr lang="en-US" sz="1600" b="1" dirty="0"/>
              <a:t>       </a:t>
            </a:r>
            <a:r>
              <a:rPr lang="en-US" sz="1400" b="1" dirty="0"/>
              <a:t>Data Redundancy</a:t>
            </a:r>
            <a:r>
              <a:rPr lang="en-US" sz="1400" dirty="0"/>
              <a:t>: Since blockchains are decentralized, the same data is replicated across many nodes. This redundancy ensures data</a:t>
            </a:r>
          </a:p>
          <a:p>
            <a:r>
              <a:rPr lang="en-US" sz="1400" dirty="0"/>
              <a:t>        integrity and availability, but it also multiplies storage costs.</a:t>
            </a:r>
          </a:p>
          <a:p>
            <a:r>
              <a:rPr lang="en-US" sz="1600" b="1" dirty="0">
                <a:solidFill>
                  <a:srgbClr val="0000CC"/>
                </a:solidFill>
              </a:rPr>
              <a:t>2. Transaction Costs:</a:t>
            </a:r>
          </a:p>
          <a:p>
            <a:r>
              <a:rPr lang="en-US" sz="1600" b="1" dirty="0"/>
              <a:t>       </a:t>
            </a:r>
            <a:r>
              <a:rPr lang="en-US" sz="1400" b="1" dirty="0"/>
              <a:t>Transaction Fees</a:t>
            </a:r>
            <a:r>
              <a:rPr lang="en-US" sz="1400" dirty="0"/>
              <a:t>: On some blockchains, especially public ones like Ethereum, every transaction incurs a fee (known as gas in Ethereum). High-frequency IoT</a:t>
            </a:r>
          </a:p>
          <a:p>
            <a:r>
              <a:rPr lang="en-US" sz="1400" dirty="0"/>
              <a:t>        data would lead to numerous transactions, potentially resulting in significant costs.</a:t>
            </a:r>
          </a:p>
          <a:p>
            <a:r>
              <a:rPr lang="en-US" sz="1400" b="1" dirty="0"/>
              <a:t>        Resource Consumption</a:t>
            </a:r>
            <a:r>
              <a:rPr lang="en-US" sz="1400" dirty="0"/>
              <a:t>: Processing large volumes of IoT data transactions consumes network resources (CPU, memory, bandwidth) on the blockchain nodes,</a:t>
            </a:r>
          </a:p>
          <a:p>
            <a:r>
              <a:rPr lang="en-US" sz="1400" dirty="0"/>
              <a:t>        potentially leading to increased operational costs.</a:t>
            </a:r>
          </a:p>
          <a:p>
            <a:r>
              <a:rPr lang="en-US" sz="1600" b="1" dirty="0">
                <a:solidFill>
                  <a:srgbClr val="0000CC"/>
                </a:solidFill>
              </a:rPr>
              <a:t>3. Latency and Throughput:</a:t>
            </a:r>
          </a:p>
          <a:p>
            <a:r>
              <a:rPr lang="en-US" sz="1600" b="1" dirty="0"/>
              <a:t>       </a:t>
            </a:r>
            <a:r>
              <a:rPr lang="en-US" sz="1400" b="1" dirty="0"/>
              <a:t>Scalability Limitations</a:t>
            </a:r>
            <a:r>
              <a:rPr lang="en-US" sz="1400" dirty="0"/>
              <a:t>: Most blockchain networks have limited throughput and higher latency compared to traditional databases. Storing IoT data directly</a:t>
            </a:r>
          </a:p>
          <a:p>
            <a:r>
              <a:rPr lang="en-US" sz="1400" dirty="0"/>
              <a:t>        on-chain can create bottlenecks, as blockchain networks may struggle to keep up with the data flow from IoT devices.</a:t>
            </a:r>
          </a:p>
          <a:p>
            <a:r>
              <a:rPr lang="en-US" sz="1400" b="1" dirty="0"/>
              <a:t>        Real-Time Constraints</a:t>
            </a:r>
            <a:r>
              <a:rPr lang="en-US" sz="1400" dirty="0"/>
              <a:t>: Blockchain transactions often require consensus, which introduces latency. This can be problematic for IoT applications that require</a:t>
            </a:r>
          </a:p>
          <a:p>
            <a:r>
              <a:rPr lang="en-US" sz="1400" dirty="0"/>
              <a:t>        real-time or near-real-time processing.</a:t>
            </a:r>
          </a:p>
          <a:p>
            <a:r>
              <a:rPr lang="en-US" sz="1600" b="1" dirty="0">
                <a:solidFill>
                  <a:srgbClr val="0000CC"/>
                </a:solidFill>
              </a:rPr>
              <a:t>4. Data Volume and Frequency:</a:t>
            </a:r>
          </a:p>
          <a:p>
            <a:r>
              <a:rPr lang="en-US" sz="1400" b="1" dirty="0"/>
              <a:t>      High Data Volume</a:t>
            </a:r>
            <a:r>
              <a:rPr lang="en-US" sz="1400" dirty="0"/>
              <a:t>: IoT devices generate massive amounts of data, often in the form of small, frequent updates. Storing every single reading on-chain would</a:t>
            </a:r>
          </a:p>
          <a:p>
            <a:r>
              <a:rPr lang="en-US" sz="1400" dirty="0"/>
              <a:t>      result in an enormous amount of data, much of which may be redundant or unnecessary for long-term storage.</a:t>
            </a:r>
          </a:p>
          <a:p>
            <a:r>
              <a:rPr lang="en-US" sz="1400" b="1" dirty="0"/>
              <a:t>      Data Retention</a:t>
            </a:r>
            <a:r>
              <a:rPr lang="en-US" sz="1400" dirty="0"/>
              <a:t>: Not all IoT data needs to be retained</a:t>
            </a:r>
          </a:p>
          <a:p>
            <a:endParaRPr lang="en-US" sz="1600" dirty="0"/>
          </a:p>
          <a:p>
            <a:r>
              <a:rPr lang="en-US" sz="1400" b="1" dirty="0">
                <a:solidFill>
                  <a:srgbClr val="0000CC"/>
                </a:solidFill>
              </a:rPr>
              <a:t>Conclusion:  </a:t>
            </a:r>
            <a:r>
              <a:rPr lang="en-US" sz="1400" dirty="0"/>
              <a:t>While storing all IoT data directly on a blockchain is technically feasible, it is not cost-effective or practical for most applications due to high storage, transaction, and operational costs. Instead, a hybrid approach that leverages off-chain storage and selective on-chain data anchoring is often used to balance the benefits of blockchain (e.g., security, traceability) with the practical constraints of handling large-scale IoT data.</a:t>
            </a:r>
            <a:endParaRPr lang="en-US" sz="1600" dirty="0"/>
          </a:p>
        </p:txBody>
      </p:sp>
      <p:cxnSp>
        <p:nvCxnSpPr>
          <p:cNvPr id="13" name="Straight Connector 12">
            <a:extLst>
              <a:ext uri="{FF2B5EF4-FFF2-40B4-BE49-F238E27FC236}">
                <a16:creationId xmlns:a16="http://schemas.microsoft.com/office/drawing/2014/main" id="{3873BCF2-D17B-A8A5-4C33-7D8B127F1492}"/>
              </a:ext>
            </a:extLst>
          </p:cNvPr>
          <p:cNvCxnSpPr>
            <a:cxnSpLocks/>
          </p:cNvCxnSpPr>
          <p:nvPr/>
        </p:nvCxnSpPr>
        <p:spPr>
          <a:xfrm flipV="1">
            <a:off x="2295939" y="5820559"/>
            <a:ext cx="7494329" cy="52012"/>
          </a:xfrm>
          <a:prstGeom prst="line">
            <a:avLst/>
          </a:prstGeom>
          <a:ln w="317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23028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2C773-7282-C11A-F2E2-2760DE42509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DB06576-3B20-3444-EF7E-8E7DF24EB259}"/>
              </a:ext>
            </a:extLst>
          </p:cNvPr>
          <p:cNvSpPr/>
          <p:nvPr/>
        </p:nvSpPr>
        <p:spPr>
          <a:xfrm>
            <a:off x="11104" y="13970"/>
            <a:ext cx="12180896" cy="498350"/>
          </a:xfrm>
          <a:prstGeom prst="rect">
            <a:avLst/>
          </a:prstGeom>
          <a:solidFill>
            <a:srgbClr val="C0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Data Architecture – IoT Data Storage Solutions</a:t>
            </a:r>
          </a:p>
        </p:txBody>
      </p:sp>
      <p:sp>
        <p:nvSpPr>
          <p:cNvPr id="12" name="TextBox 11">
            <a:extLst>
              <a:ext uri="{FF2B5EF4-FFF2-40B4-BE49-F238E27FC236}">
                <a16:creationId xmlns:a16="http://schemas.microsoft.com/office/drawing/2014/main" id="{B891F115-C6E4-99E5-485E-725D0396CFDE}"/>
              </a:ext>
            </a:extLst>
          </p:cNvPr>
          <p:cNvSpPr txBox="1"/>
          <p:nvPr/>
        </p:nvSpPr>
        <p:spPr>
          <a:xfrm>
            <a:off x="77692" y="523605"/>
            <a:ext cx="11950910" cy="6186309"/>
          </a:xfrm>
          <a:prstGeom prst="rect">
            <a:avLst/>
          </a:prstGeom>
          <a:noFill/>
          <a:ln>
            <a:noFill/>
          </a:ln>
        </p:spPr>
        <p:txBody>
          <a:bodyPr wrap="square" rtlCol="0">
            <a:spAutoFit/>
          </a:bodyPr>
          <a:lstStyle/>
          <a:p>
            <a:r>
              <a:rPr lang="en-US" sz="2000" b="1" dirty="0">
                <a:solidFill>
                  <a:srgbClr val="0000CC"/>
                </a:solidFill>
              </a:rPr>
              <a:t>Solution 1:                                (https://pinata.cloud/blog/off-chain-storage-for-web3/)</a:t>
            </a:r>
          </a:p>
          <a:p>
            <a:r>
              <a:rPr lang="en-US" b="1" dirty="0"/>
              <a:t>     </a:t>
            </a:r>
            <a:r>
              <a:rPr lang="en-US" sz="1600" b="1" dirty="0"/>
              <a:t>Off-Chain Storage with On-Chain References</a:t>
            </a:r>
            <a:r>
              <a:rPr lang="en-US" sz="1600" dirty="0"/>
              <a:t>:  Store large volumes of IoT data off-chain (e.g., in a traditional database, cloud storage, or</a:t>
            </a:r>
          </a:p>
          <a:p>
            <a:r>
              <a:rPr lang="en-US" sz="1600" dirty="0"/>
              <a:t>      distributed file system like IPFS) and only store cryptographic hashes or metadata on-chain. This approach ensures data integrity and</a:t>
            </a:r>
          </a:p>
          <a:p>
            <a:r>
              <a:rPr lang="en-US" sz="1600" dirty="0"/>
              <a:t>      traceability while keeping the blockchain lightweight.</a:t>
            </a:r>
          </a:p>
          <a:p>
            <a:endParaRPr lang="en-US" sz="1600" dirty="0"/>
          </a:p>
          <a:p>
            <a:r>
              <a:rPr lang="en-US" sz="2000" b="1" dirty="0">
                <a:solidFill>
                  <a:srgbClr val="0000CC"/>
                </a:solidFill>
              </a:rPr>
              <a:t>Solution 2:</a:t>
            </a:r>
          </a:p>
          <a:p>
            <a:r>
              <a:rPr lang="en-US" b="1" dirty="0"/>
              <a:t>     </a:t>
            </a:r>
            <a:r>
              <a:rPr lang="en-US" sz="1600" b="1" dirty="0"/>
              <a:t>Selective Data Storage</a:t>
            </a:r>
            <a:r>
              <a:rPr lang="en-US" sz="1600" dirty="0"/>
              <a:t>: Only store critical or summary IoT data on the blockchain. For example, store only data points that trigger specific</a:t>
            </a:r>
          </a:p>
          <a:p>
            <a:r>
              <a:rPr lang="en-US" sz="1600" dirty="0"/>
              <a:t>     events, meet certain thresholds, or are relevant for audits. This reduces the amount of data stored on-chain while still ensuring the security</a:t>
            </a:r>
          </a:p>
          <a:p>
            <a:r>
              <a:rPr lang="en-US" sz="1600" dirty="0"/>
              <a:t>     and integrity of important information.</a:t>
            </a:r>
          </a:p>
          <a:p>
            <a:endParaRPr lang="en-US" sz="1600" dirty="0"/>
          </a:p>
          <a:p>
            <a:r>
              <a:rPr lang="en-US" sz="2000" b="1" dirty="0">
                <a:solidFill>
                  <a:srgbClr val="0000CC"/>
                </a:solidFill>
              </a:rPr>
              <a:t>Solution 3:</a:t>
            </a:r>
            <a:endParaRPr lang="en-US" sz="2000" dirty="0"/>
          </a:p>
          <a:p>
            <a:r>
              <a:rPr lang="en-US" b="1" dirty="0"/>
              <a:t>     </a:t>
            </a:r>
            <a:r>
              <a:rPr lang="en-US" sz="1600" b="1" dirty="0"/>
              <a:t>Data Aggregation and Compression</a:t>
            </a:r>
            <a:r>
              <a:rPr lang="en-US" sz="1600" dirty="0"/>
              <a:t>: Aggregate or compress IoT data before storing it on the blockchain. For instance, instead of storing</a:t>
            </a:r>
          </a:p>
          <a:p>
            <a:r>
              <a:rPr lang="en-US" sz="1600" dirty="0"/>
              <a:t>      every single sensor reading, store aggregated statistics (e.g., hourly averages, maximum and minimum values) or compressed data that</a:t>
            </a:r>
          </a:p>
          <a:p>
            <a:r>
              <a:rPr lang="en-US" sz="1600" dirty="0"/>
              <a:t>      summarizes the raw data.</a:t>
            </a:r>
          </a:p>
          <a:p>
            <a:endParaRPr lang="en-US" sz="1600" dirty="0"/>
          </a:p>
          <a:p>
            <a:r>
              <a:rPr lang="en-US" sz="2000" b="1" dirty="0">
                <a:solidFill>
                  <a:srgbClr val="0000CC"/>
                </a:solidFill>
              </a:rPr>
              <a:t>Solution 4:</a:t>
            </a:r>
          </a:p>
          <a:p>
            <a:r>
              <a:rPr lang="en-US" sz="1600" b="1" dirty="0"/>
              <a:t>     Use of Layer 2 Solutions</a:t>
            </a:r>
            <a:r>
              <a:rPr lang="en-US" sz="1600" dirty="0"/>
              <a:t>: Implement Layer 2 solutions (e.g., state channels, sidechains) that allow for high-frequency transactions to occur</a:t>
            </a:r>
          </a:p>
          <a:p>
            <a:r>
              <a:rPr lang="en-US" sz="1600" dirty="0"/>
              <a:t>     off the main blockchain, with only final results or occasional snapshots recorded on-chain. This reduces the burden on the main network.</a:t>
            </a:r>
          </a:p>
          <a:p>
            <a:endParaRPr lang="en-US" sz="1600" dirty="0"/>
          </a:p>
          <a:p>
            <a:r>
              <a:rPr lang="en-US" sz="2000" b="1" dirty="0">
                <a:solidFill>
                  <a:srgbClr val="0000CC"/>
                </a:solidFill>
              </a:rPr>
              <a:t>Solution 5:</a:t>
            </a:r>
            <a:endParaRPr lang="en-US" sz="2000" dirty="0"/>
          </a:p>
          <a:p>
            <a:r>
              <a:rPr lang="en-US" sz="1600" b="1" dirty="0"/>
              <a:t>     Edge Computing</a:t>
            </a:r>
            <a:r>
              <a:rPr lang="en-US" sz="1600" dirty="0"/>
              <a:t>: Perform initial data processing, filtering, and decision-making at the edge (close to where the IoT data is generated) to</a:t>
            </a:r>
          </a:p>
          <a:p>
            <a:r>
              <a:rPr lang="en-US" sz="1600" dirty="0"/>
              <a:t>     reduce the amount of data that needs to be transmitted to the blockchain.</a:t>
            </a:r>
          </a:p>
          <a:p>
            <a:endParaRPr lang="en-US" b="1" dirty="0">
              <a:solidFill>
                <a:srgbClr val="0000CC"/>
              </a:solidFill>
            </a:endParaRPr>
          </a:p>
        </p:txBody>
      </p:sp>
      <p:cxnSp>
        <p:nvCxnSpPr>
          <p:cNvPr id="3" name="Straight Connector 2">
            <a:extLst>
              <a:ext uri="{FF2B5EF4-FFF2-40B4-BE49-F238E27FC236}">
                <a16:creationId xmlns:a16="http://schemas.microsoft.com/office/drawing/2014/main" id="{313BE853-3067-95C7-7B39-F484E846BB9D}"/>
              </a:ext>
            </a:extLst>
          </p:cNvPr>
          <p:cNvCxnSpPr>
            <a:cxnSpLocks/>
          </p:cNvCxnSpPr>
          <p:nvPr/>
        </p:nvCxnSpPr>
        <p:spPr>
          <a:xfrm flipV="1">
            <a:off x="2295939" y="6484779"/>
            <a:ext cx="7494329" cy="52012"/>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0" name="Flowchart: Magnetic Disk 9">
            <a:extLst>
              <a:ext uri="{FF2B5EF4-FFF2-40B4-BE49-F238E27FC236}">
                <a16:creationId xmlns:a16="http://schemas.microsoft.com/office/drawing/2014/main" id="{9B3E3920-7BF9-AC95-0D73-304B7C4A70D2}"/>
              </a:ext>
            </a:extLst>
          </p:cNvPr>
          <p:cNvSpPr/>
          <p:nvPr/>
        </p:nvSpPr>
        <p:spPr>
          <a:xfrm>
            <a:off x="1502454" y="1870628"/>
            <a:ext cx="574921" cy="310093"/>
          </a:xfrm>
          <a:prstGeom prst="flowChartMagneticDisk">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Magnetic Disk 10">
            <a:extLst>
              <a:ext uri="{FF2B5EF4-FFF2-40B4-BE49-F238E27FC236}">
                <a16:creationId xmlns:a16="http://schemas.microsoft.com/office/drawing/2014/main" id="{C2F61F3C-F7F7-5FEA-5D63-23A6FA73EFE5}"/>
              </a:ext>
            </a:extLst>
          </p:cNvPr>
          <p:cNvSpPr/>
          <p:nvPr/>
        </p:nvSpPr>
        <p:spPr>
          <a:xfrm>
            <a:off x="2082044" y="1874352"/>
            <a:ext cx="574921" cy="310093"/>
          </a:xfrm>
          <a:prstGeom prst="flowChartMagneticDisk">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8" name="Picture 6" descr="Off-Chain Crypto Transactions ...">
            <a:extLst>
              <a:ext uri="{FF2B5EF4-FFF2-40B4-BE49-F238E27FC236}">
                <a16:creationId xmlns:a16="http://schemas.microsoft.com/office/drawing/2014/main" id="{5EA763DF-027E-46A5-3463-EEE45A6003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310" y="559325"/>
            <a:ext cx="743229" cy="39079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The Importance of Data Compression in ...">
            <a:extLst>
              <a:ext uri="{FF2B5EF4-FFF2-40B4-BE49-F238E27FC236}">
                <a16:creationId xmlns:a16="http://schemas.microsoft.com/office/drawing/2014/main" id="{C7048D56-2340-2779-4020-6A06107DFC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5310" y="3013360"/>
            <a:ext cx="904057" cy="54431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Layer Two (L2) Blockchains: Enhancing ...">
            <a:extLst>
              <a:ext uri="{FF2B5EF4-FFF2-40B4-BE49-F238E27FC236}">
                <a16:creationId xmlns:a16="http://schemas.microsoft.com/office/drawing/2014/main" id="{9633953A-6162-9E04-AC7D-0574C24B99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8668" y="4282528"/>
            <a:ext cx="848943" cy="509367"/>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Understanding Edge Computing - AKCP Monitoring">
            <a:extLst>
              <a:ext uri="{FF2B5EF4-FFF2-40B4-BE49-F238E27FC236}">
                <a16:creationId xmlns:a16="http://schemas.microsoft.com/office/drawing/2014/main" id="{CD09FB4F-5A37-AE7A-D048-5BC8C1B98A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191" y="5428941"/>
            <a:ext cx="1414463" cy="417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1730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EAD8D-4045-3600-AA86-F6973A77EE6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BFC271A-A378-0ED9-41FF-EA3F9EE25AEF}"/>
              </a:ext>
            </a:extLst>
          </p:cNvPr>
          <p:cNvSpPr/>
          <p:nvPr/>
        </p:nvSpPr>
        <p:spPr>
          <a:xfrm>
            <a:off x="-4608" y="8756"/>
            <a:ext cx="12180896" cy="656492"/>
          </a:xfrm>
          <a:prstGeom prst="rect">
            <a:avLst/>
          </a:prstGeom>
          <a:solidFill>
            <a:srgbClr val="0066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BBFEAD7E-FB58-F20A-A484-E79CE3453C43}"/>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Architecture pattern is defined as the high level overall approach such as monolithic, microservices, event-driven, serverless.</a:t>
            </a:r>
          </a:p>
        </p:txBody>
      </p:sp>
      <p:sp>
        <p:nvSpPr>
          <p:cNvPr id="10" name="TextBox 9">
            <a:extLst>
              <a:ext uri="{FF2B5EF4-FFF2-40B4-BE49-F238E27FC236}">
                <a16:creationId xmlns:a16="http://schemas.microsoft.com/office/drawing/2014/main" id="{6A45BE18-6C1B-B94C-6D10-BD5BB55F5AA8}"/>
              </a:ext>
            </a:extLst>
          </p:cNvPr>
          <p:cNvSpPr txBox="1"/>
          <p:nvPr/>
        </p:nvSpPr>
        <p:spPr>
          <a:xfrm>
            <a:off x="38645" y="91440"/>
            <a:ext cx="12087484" cy="523220"/>
          </a:xfrm>
          <a:prstGeom prst="rect">
            <a:avLst/>
          </a:prstGeom>
          <a:solidFill>
            <a:schemeClr val="tx2">
              <a:lumMod val="75000"/>
              <a:lumOff val="25000"/>
            </a:schemeClr>
          </a:solidFill>
        </p:spPr>
        <p:txBody>
          <a:bodyPr wrap="square" rtlCol="0">
            <a:spAutoFit/>
          </a:bodyPr>
          <a:lstStyle/>
          <a:p>
            <a:r>
              <a:rPr lang="en-US" sz="2800" b="1" dirty="0">
                <a:solidFill>
                  <a:schemeClr val="bg1"/>
                </a:solidFill>
              </a:rPr>
              <a:t> </a:t>
            </a:r>
          </a:p>
        </p:txBody>
      </p:sp>
      <p:sp>
        <p:nvSpPr>
          <p:cNvPr id="65" name="AutoShape 2" descr="Cash Pictures, Cash Stock Photos &amp; Images | Depositphotos®">
            <a:extLst>
              <a:ext uri="{FF2B5EF4-FFF2-40B4-BE49-F238E27FC236}">
                <a16:creationId xmlns:a16="http://schemas.microsoft.com/office/drawing/2014/main" id="{0CAABF58-166F-BF1C-503A-0893FC728C8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FAB4BD1C-4BE4-47C8-5073-6602E23A372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364365AF-EFAB-EE46-1253-58AD894AC780}"/>
              </a:ext>
            </a:extLst>
          </p:cNvPr>
          <p:cNvSpPr txBox="1"/>
          <p:nvPr/>
        </p:nvSpPr>
        <p:spPr>
          <a:xfrm>
            <a:off x="0" y="714453"/>
            <a:ext cx="12176288" cy="6032421"/>
          </a:xfrm>
          <a:prstGeom prst="rect">
            <a:avLst/>
          </a:prstGeom>
          <a:noFill/>
          <a:ln>
            <a:noFill/>
          </a:ln>
        </p:spPr>
        <p:txBody>
          <a:bodyPr wrap="square" rtlCol="0">
            <a:spAutoFit/>
          </a:bodyPr>
          <a:lstStyle/>
          <a:p>
            <a:r>
              <a:rPr lang="en-US" b="1" u="sng" dirty="0">
                <a:solidFill>
                  <a:srgbClr val="C00000"/>
                </a:solidFill>
                <a:latin typeface="Titillium Web Light" panose="00000400000000000000" pitchFamily="2" charset="0"/>
              </a:rPr>
              <a:t>Data integration Design </a:t>
            </a:r>
            <a:r>
              <a:rPr lang="en-US" b="1" dirty="0">
                <a:solidFill>
                  <a:srgbClr val="C00000"/>
                </a:solidFill>
                <a:latin typeface="Titillium Web Light" panose="00000400000000000000" pitchFamily="2" charset="0"/>
              </a:rPr>
              <a:t>   </a:t>
            </a:r>
          </a:p>
          <a:p>
            <a:endParaRPr lang="en-US" sz="1600" b="1" dirty="0">
              <a:solidFill>
                <a:schemeClr val="accent1">
                  <a:lumMod val="75000"/>
                </a:schemeClr>
              </a:solidFill>
              <a:latin typeface="Titillium Web Light" panose="00000400000000000000" pitchFamily="2" charset="0"/>
            </a:endParaRPr>
          </a:p>
          <a:p>
            <a:r>
              <a:rPr lang="en-US" sz="1600" b="1" u="sng" dirty="0">
                <a:solidFill>
                  <a:schemeClr val="accent1">
                    <a:lumMod val="75000"/>
                  </a:schemeClr>
                </a:solidFill>
                <a:latin typeface="Titillium Web Light" panose="00000400000000000000" pitchFamily="2" charset="0"/>
              </a:rPr>
              <a:t>Design Process:</a:t>
            </a:r>
          </a:p>
          <a:p>
            <a:pPr marL="285750" indent="-285750">
              <a:buFont typeface="Arial" panose="020B0604020202020204" pitchFamily="34" charset="0"/>
              <a:buChar char="•"/>
            </a:pPr>
            <a:r>
              <a:rPr lang="en-US" sz="1600" dirty="0">
                <a:latin typeface="Titillium Web Light" panose="00000400000000000000" pitchFamily="2" charset="0"/>
              </a:rPr>
              <a:t>Review the “Requirements” spreadsheet with a focus on “non-functional requirements” in the categories of </a:t>
            </a:r>
            <a:r>
              <a:rPr lang="en-US" sz="1600" b="1" dirty="0">
                <a:latin typeface="Titillium Web Light" panose="00000400000000000000" pitchFamily="2" charset="0"/>
              </a:rPr>
              <a:t>Integration, Performance, and API.</a:t>
            </a:r>
          </a:p>
          <a:p>
            <a:pPr marL="285750" indent="-285750">
              <a:buFont typeface="Arial" panose="020B0604020202020204" pitchFamily="34" charset="0"/>
              <a:buChar char="•"/>
            </a:pPr>
            <a:r>
              <a:rPr lang="en-US" sz="1600" dirty="0">
                <a:latin typeface="Titillium Web Light" panose="00000400000000000000" pitchFamily="2" charset="0"/>
              </a:rPr>
              <a:t>Review PowerPoint slides containing a high-level description on how data(manual, IoT driven) is to be used in the application.</a:t>
            </a:r>
          </a:p>
          <a:p>
            <a:pPr marL="285750" indent="-285750">
              <a:buFont typeface="Arial" panose="020B0604020202020204" pitchFamily="34" charset="0"/>
              <a:buChar char="•"/>
            </a:pPr>
            <a:r>
              <a:rPr lang="en-US" sz="1600" dirty="0">
                <a:latin typeface="Titillium Web Light" panose="00000400000000000000" pitchFamily="2" charset="0"/>
              </a:rPr>
              <a:t>Define an overall data integration strategy :</a:t>
            </a:r>
          </a:p>
          <a:p>
            <a:r>
              <a:rPr lang="en-US" sz="1600" dirty="0">
                <a:latin typeface="Titillium Web Light" panose="00000400000000000000" pitchFamily="2" charset="0"/>
              </a:rPr>
              <a:t>            - determine the </a:t>
            </a:r>
            <a:r>
              <a:rPr lang="en-US" sz="1600" b="1" dirty="0">
                <a:latin typeface="Titillium Web Light" panose="00000400000000000000" pitchFamily="2" charset="0"/>
              </a:rPr>
              <a:t>architecture pattern* </a:t>
            </a:r>
            <a:r>
              <a:rPr lang="en-US" sz="1600" dirty="0">
                <a:latin typeface="Titillium Web Light" panose="00000400000000000000" pitchFamily="2" charset="0"/>
              </a:rPr>
              <a:t>as it applies to data integration to the Net Zero digital twin blockchain.</a:t>
            </a:r>
          </a:p>
          <a:p>
            <a:r>
              <a:rPr lang="en-US" sz="1600" dirty="0">
                <a:latin typeface="Titillium Web Light" panose="00000400000000000000" pitchFamily="2" charset="0"/>
              </a:rPr>
              <a:t>            - for example: microservices, event driven API, monolithic </a:t>
            </a:r>
          </a:p>
          <a:p>
            <a:r>
              <a:rPr lang="en-US" sz="1600" dirty="0">
                <a:latin typeface="Titillium Web Light" panose="00000400000000000000" pitchFamily="2" charset="0"/>
              </a:rPr>
              <a:t>            - research best practice used in existing blockchain implementations</a:t>
            </a:r>
          </a:p>
          <a:p>
            <a:r>
              <a:rPr lang="en-US" sz="1600" dirty="0">
                <a:latin typeface="Titillium Web Light" panose="00000400000000000000" pitchFamily="2" charset="0"/>
              </a:rPr>
              <a:t>            - design of high velocity real-time data capture</a:t>
            </a:r>
          </a:p>
          <a:p>
            <a:r>
              <a:rPr lang="en-US" sz="1600" dirty="0">
                <a:latin typeface="Titillium Web Light" panose="00000400000000000000" pitchFamily="2" charset="0"/>
              </a:rPr>
              <a:t>            - impact on data integration if hosted “in-house” or a commercial hosting service(Amazon, MS Azure)</a:t>
            </a:r>
          </a:p>
          <a:p>
            <a:r>
              <a:rPr lang="en-US" sz="1600" dirty="0">
                <a:latin typeface="Titillium Web Light" panose="00000400000000000000" pitchFamily="2" charset="0"/>
              </a:rPr>
              <a:t>            - detail how the IoT “payload” will be structured for acceptance</a:t>
            </a:r>
          </a:p>
          <a:p>
            <a:pPr marL="285750" indent="-285750">
              <a:buFont typeface="Arial" panose="020B0604020202020204" pitchFamily="34" charset="0"/>
              <a:buChar char="•"/>
            </a:pPr>
            <a:r>
              <a:rPr lang="en-US" sz="1600" dirty="0">
                <a:latin typeface="Titillium Web Light" panose="00000400000000000000" pitchFamily="2" charset="0"/>
              </a:rPr>
              <a:t>Use of “external sources:</a:t>
            </a:r>
          </a:p>
          <a:p>
            <a:r>
              <a:rPr lang="en-US" sz="1600" dirty="0">
                <a:latin typeface="Titillium Web Light" panose="00000400000000000000" pitchFamily="2" charset="0"/>
              </a:rPr>
              <a:t>            - any AI assistant (NOTE: AI engines are roughly one year out of date)</a:t>
            </a:r>
          </a:p>
          <a:p>
            <a:r>
              <a:rPr lang="en-US" sz="1600" dirty="0">
                <a:latin typeface="Titillium Web Light" panose="00000400000000000000" pitchFamily="2" charset="0"/>
              </a:rPr>
              <a:t>            - any search engine</a:t>
            </a:r>
          </a:p>
          <a:p>
            <a:r>
              <a:rPr lang="en-US" sz="1600" dirty="0">
                <a:latin typeface="Titillium Web Light" panose="00000400000000000000" pitchFamily="2" charset="0"/>
              </a:rPr>
              <a:t>            - GitHub</a:t>
            </a:r>
          </a:p>
          <a:p>
            <a:pPr marL="285750" indent="-285750">
              <a:buFont typeface="Arial" panose="020B0604020202020204" pitchFamily="34" charset="0"/>
              <a:buChar char="•"/>
            </a:pPr>
            <a:r>
              <a:rPr lang="en-US" sz="1600" dirty="0">
                <a:latin typeface="Titillium Web Light" panose="00000400000000000000" pitchFamily="2" charset="0"/>
              </a:rPr>
              <a:t>Define and design how the data integration strategy meets the following:</a:t>
            </a:r>
          </a:p>
          <a:p>
            <a:r>
              <a:rPr lang="en-US" sz="1600" dirty="0">
                <a:latin typeface="Titillium Web Light" panose="00000400000000000000" pitchFamily="2" charset="0"/>
              </a:rPr>
              <a:t>           - expandability / maintainability, performance / reliability, security</a:t>
            </a:r>
          </a:p>
          <a:p>
            <a:pPr marL="285750" indent="-285750">
              <a:buFont typeface="Arial" panose="020B0604020202020204" pitchFamily="34" charset="0"/>
              <a:buChar char="•"/>
            </a:pPr>
            <a:r>
              <a:rPr lang="en-US" sz="1600" b="1" dirty="0">
                <a:latin typeface="Titillium Web Light" panose="00000400000000000000" pitchFamily="2" charset="0"/>
              </a:rPr>
              <a:t>Investigation into the Open Source LFDT products </a:t>
            </a:r>
          </a:p>
          <a:p>
            <a:r>
              <a:rPr lang="en-US" sz="1600" dirty="0">
                <a:latin typeface="Titillium Web Light" panose="00000400000000000000" pitchFamily="2" charset="0"/>
              </a:rPr>
              <a:t>           - which LFDT products are best choice</a:t>
            </a:r>
          </a:p>
          <a:p>
            <a:pPr marL="285750" indent="-285750">
              <a:buFont typeface="Arial" panose="020B0604020202020204" pitchFamily="34" charset="0"/>
              <a:buChar char="•"/>
            </a:pPr>
            <a:r>
              <a:rPr lang="en-US" sz="1600" dirty="0">
                <a:latin typeface="Titillium Web Light" panose="00000400000000000000" pitchFamily="2" charset="0"/>
              </a:rPr>
              <a:t>Documentation</a:t>
            </a:r>
          </a:p>
          <a:p>
            <a:r>
              <a:rPr lang="en-US" sz="1600" dirty="0">
                <a:latin typeface="Titillium Web Light" panose="00000400000000000000" pitchFamily="2" charset="0"/>
              </a:rPr>
              <a:t>            - Need to discuss best location for the design details (another </a:t>
            </a:r>
            <a:r>
              <a:rPr lang="en-US" sz="1600" dirty="0" err="1">
                <a:latin typeface="Titillium Web Light" panose="00000400000000000000" pitchFamily="2" charset="0"/>
              </a:rPr>
              <a:t>powerpoint</a:t>
            </a:r>
            <a:r>
              <a:rPr lang="en-US" sz="1600" dirty="0">
                <a:latin typeface="Titillium Web Light" panose="00000400000000000000" pitchFamily="2" charset="0"/>
              </a:rPr>
              <a:t>, text documents with drawing capability?)</a:t>
            </a:r>
          </a:p>
          <a:p>
            <a:endParaRPr lang="en-US" sz="1600" dirty="0">
              <a:solidFill>
                <a:srgbClr val="FF0000"/>
              </a:solidFill>
              <a:latin typeface="Titillium Web Light" panose="00000400000000000000" pitchFamily="2" charset="0"/>
            </a:endParaRPr>
          </a:p>
        </p:txBody>
      </p:sp>
      <p:cxnSp>
        <p:nvCxnSpPr>
          <p:cNvPr id="2" name="Straight Connector 1">
            <a:extLst>
              <a:ext uri="{FF2B5EF4-FFF2-40B4-BE49-F238E27FC236}">
                <a16:creationId xmlns:a16="http://schemas.microsoft.com/office/drawing/2014/main" id="{37D2C6E9-7D12-948B-374E-928C4BB61ED2}"/>
              </a:ext>
            </a:extLst>
          </p:cNvPr>
          <p:cNvCxnSpPr>
            <a:cxnSpLocks/>
          </p:cNvCxnSpPr>
          <p:nvPr/>
        </p:nvCxnSpPr>
        <p:spPr>
          <a:xfrm>
            <a:off x="410416" y="616806"/>
            <a:ext cx="1088743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CC4FBE6-150B-304E-3DD5-6AA75029DD28}"/>
              </a:ext>
            </a:extLst>
          </p:cNvPr>
          <p:cNvSpPr txBox="1"/>
          <p:nvPr/>
        </p:nvSpPr>
        <p:spPr>
          <a:xfrm>
            <a:off x="32902" y="82134"/>
            <a:ext cx="12087484" cy="769441"/>
          </a:xfrm>
          <a:prstGeom prst="rect">
            <a:avLst/>
          </a:prstGeom>
          <a:noFill/>
        </p:spPr>
        <p:txBody>
          <a:bodyPr wrap="square" rtlCol="0">
            <a:spAutoFit/>
          </a:bodyPr>
          <a:lstStyle/>
          <a:p>
            <a:r>
              <a:rPr lang="en-US" sz="2400" b="1" dirty="0">
                <a:solidFill>
                  <a:schemeClr val="bg1">
                    <a:lumMod val="95000"/>
                  </a:schemeClr>
                </a:solidFill>
              </a:rPr>
              <a:t>Ed Cheng : Solution and Technical Architecture Design Work Plan(1)</a:t>
            </a:r>
            <a:r>
              <a:rPr lang="en-US" sz="2000" b="1" dirty="0">
                <a:solidFill>
                  <a:schemeClr val="bg1">
                    <a:lumMod val="95000"/>
                  </a:schemeClr>
                </a:solidFill>
              </a:rPr>
              <a:t> </a:t>
            </a:r>
          </a:p>
          <a:p>
            <a:r>
              <a:rPr lang="en-US" sz="2000" b="1" dirty="0">
                <a:solidFill>
                  <a:schemeClr val="bg1">
                    <a:lumMod val="95000"/>
                  </a:schemeClr>
                </a:solidFill>
              </a:rPr>
              <a:t> </a:t>
            </a:r>
          </a:p>
        </p:txBody>
      </p:sp>
    </p:spTree>
    <p:extLst>
      <p:ext uri="{BB962C8B-B14F-4D97-AF65-F5344CB8AC3E}">
        <p14:creationId xmlns:p14="http://schemas.microsoft.com/office/powerpoint/2010/main" val="3117017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88CB2-1CC8-C16C-50CE-89B3B1EAAFA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848B99-0588-D0F1-5F35-1B5892E50001}"/>
              </a:ext>
            </a:extLst>
          </p:cNvPr>
          <p:cNvSpPr/>
          <p:nvPr/>
        </p:nvSpPr>
        <p:spPr>
          <a:xfrm>
            <a:off x="-4608" y="8756"/>
            <a:ext cx="12180896" cy="656492"/>
          </a:xfrm>
          <a:prstGeom prst="rect">
            <a:avLst/>
          </a:prstGeom>
          <a:solidFill>
            <a:srgbClr val="0066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ADCF8E9-0674-D909-8B79-A808CEA905F2}"/>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0" name="TextBox 9">
            <a:extLst>
              <a:ext uri="{FF2B5EF4-FFF2-40B4-BE49-F238E27FC236}">
                <a16:creationId xmlns:a16="http://schemas.microsoft.com/office/drawing/2014/main" id="{D064BB33-53D8-FE8B-4ED6-4807D75030BD}"/>
              </a:ext>
            </a:extLst>
          </p:cNvPr>
          <p:cNvSpPr txBox="1"/>
          <p:nvPr/>
        </p:nvSpPr>
        <p:spPr>
          <a:xfrm>
            <a:off x="38645" y="91440"/>
            <a:ext cx="12087484" cy="523220"/>
          </a:xfrm>
          <a:prstGeom prst="rect">
            <a:avLst/>
          </a:prstGeom>
          <a:solidFill>
            <a:schemeClr val="tx2">
              <a:lumMod val="75000"/>
              <a:lumOff val="25000"/>
            </a:schemeClr>
          </a:solidFill>
        </p:spPr>
        <p:txBody>
          <a:bodyPr wrap="square" rtlCol="0">
            <a:spAutoFit/>
          </a:bodyPr>
          <a:lstStyle/>
          <a:p>
            <a:r>
              <a:rPr lang="en-US" sz="2800" b="1" dirty="0">
                <a:solidFill>
                  <a:schemeClr val="bg1"/>
                </a:solidFill>
              </a:rPr>
              <a:t> </a:t>
            </a:r>
          </a:p>
        </p:txBody>
      </p:sp>
      <p:sp>
        <p:nvSpPr>
          <p:cNvPr id="65" name="AutoShape 2" descr="Cash Pictures, Cash Stock Photos &amp; Images | Depositphotos®">
            <a:extLst>
              <a:ext uri="{FF2B5EF4-FFF2-40B4-BE49-F238E27FC236}">
                <a16:creationId xmlns:a16="http://schemas.microsoft.com/office/drawing/2014/main" id="{E5CC1F35-86F5-1522-4644-085102DA9DB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DFD955FC-A307-896F-183E-34F4B9862F2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D4E5D6AA-D86F-53BC-0659-106476C8BEEA}"/>
              </a:ext>
            </a:extLst>
          </p:cNvPr>
          <p:cNvSpPr txBox="1"/>
          <p:nvPr/>
        </p:nvSpPr>
        <p:spPr>
          <a:xfrm>
            <a:off x="8032" y="711147"/>
            <a:ext cx="12176288" cy="6032421"/>
          </a:xfrm>
          <a:prstGeom prst="rect">
            <a:avLst/>
          </a:prstGeom>
          <a:noFill/>
          <a:ln>
            <a:noFill/>
          </a:ln>
        </p:spPr>
        <p:txBody>
          <a:bodyPr wrap="square" rtlCol="0">
            <a:spAutoFit/>
          </a:bodyPr>
          <a:lstStyle/>
          <a:p>
            <a:r>
              <a:rPr lang="en-US" b="1" u="sng" dirty="0">
                <a:solidFill>
                  <a:srgbClr val="C00000"/>
                </a:solidFill>
                <a:latin typeface="Titillium Web Light" panose="00000400000000000000" pitchFamily="2" charset="0"/>
              </a:rPr>
              <a:t>Permissioned Blockchain Design </a:t>
            </a:r>
            <a:r>
              <a:rPr lang="en-US" b="1" dirty="0">
                <a:solidFill>
                  <a:srgbClr val="C00000"/>
                </a:solidFill>
                <a:latin typeface="Titillium Web Light" panose="00000400000000000000" pitchFamily="2" charset="0"/>
              </a:rPr>
              <a:t>   </a:t>
            </a:r>
            <a:endParaRPr lang="en-US" sz="1600" b="1" dirty="0">
              <a:solidFill>
                <a:schemeClr val="accent1">
                  <a:lumMod val="75000"/>
                </a:schemeClr>
              </a:solidFill>
              <a:latin typeface="Titillium Web Light" panose="00000400000000000000" pitchFamily="2" charset="0"/>
            </a:endParaRPr>
          </a:p>
          <a:p>
            <a:r>
              <a:rPr lang="en-US" sz="1600" b="1" dirty="0">
                <a:solidFill>
                  <a:schemeClr val="accent1">
                    <a:lumMod val="75000"/>
                  </a:schemeClr>
                </a:solidFill>
                <a:latin typeface="Titillium Web Light" panose="00000400000000000000" pitchFamily="2" charset="0"/>
              </a:rPr>
              <a:t>Process:</a:t>
            </a:r>
          </a:p>
          <a:p>
            <a:pPr marL="285750" indent="-285750">
              <a:buFont typeface="Arial" panose="020B0604020202020204" pitchFamily="34" charset="0"/>
              <a:buChar char="•"/>
            </a:pPr>
            <a:r>
              <a:rPr lang="en-US" sz="1600" dirty="0">
                <a:latin typeface="Titillium Web Light" panose="00000400000000000000" pitchFamily="2" charset="0"/>
              </a:rPr>
              <a:t>Review the “Requirements” spreadsheet with a focus on “Blockchain” in the categories of </a:t>
            </a:r>
            <a:r>
              <a:rPr lang="en-US" sz="1600" b="1" dirty="0">
                <a:latin typeface="Titillium Web Light" panose="00000400000000000000" pitchFamily="2" charset="0"/>
              </a:rPr>
              <a:t>hosting, SC, </a:t>
            </a:r>
            <a:r>
              <a:rPr lang="en-US" sz="1600" b="1" dirty="0" err="1">
                <a:latin typeface="Titillium Web Light" panose="00000400000000000000" pitchFamily="2" charset="0"/>
              </a:rPr>
              <a:t>smartcontract</a:t>
            </a:r>
            <a:r>
              <a:rPr lang="en-US" sz="1600" b="1" dirty="0">
                <a:latin typeface="Titillium Web Light" panose="00000400000000000000" pitchFamily="2" charset="0"/>
              </a:rPr>
              <a:t>.</a:t>
            </a:r>
          </a:p>
          <a:p>
            <a:pPr marL="285750" indent="-285750">
              <a:buFont typeface="Arial" panose="020B0604020202020204" pitchFamily="34" charset="0"/>
              <a:buChar char="•"/>
            </a:pPr>
            <a:r>
              <a:rPr lang="en-US" sz="1600" dirty="0">
                <a:latin typeface="Titillium Web Light" panose="00000400000000000000" pitchFamily="2" charset="0"/>
              </a:rPr>
              <a:t>Review PowerPoint slides containing a high-level description of how data(manual, IoT driven) is to be used in the application.</a:t>
            </a:r>
          </a:p>
          <a:p>
            <a:pPr marL="285750" indent="-285750">
              <a:buFont typeface="Arial" panose="020B0604020202020204" pitchFamily="34" charset="0"/>
              <a:buChar char="•"/>
            </a:pPr>
            <a:r>
              <a:rPr lang="en-US" sz="1600" dirty="0">
                <a:latin typeface="Titillium Web Light" panose="00000400000000000000" pitchFamily="2" charset="0"/>
              </a:rPr>
              <a:t>Design Focus – </a:t>
            </a:r>
            <a:r>
              <a:rPr lang="en-US" sz="1600" b="1" dirty="0">
                <a:latin typeface="Titillium Web Light" panose="00000400000000000000" pitchFamily="2" charset="0"/>
              </a:rPr>
              <a:t>Blockchain Transactions </a:t>
            </a:r>
            <a:r>
              <a:rPr lang="en-US" sz="1600" dirty="0">
                <a:latin typeface="Titillium Web Light" panose="00000400000000000000" pitchFamily="2" charset="0"/>
              </a:rPr>
              <a:t>: </a:t>
            </a:r>
          </a:p>
          <a:p>
            <a:r>
              <a:rPr lang="en-US" sz="1600" dirty="0">
                <a:latin typeface="Titillium Web Light" panose="00000400000000000000" pitchFamily="2" charset="0"/>
              </a:rPr>
              <a:t>             - smart contract code on the blockchain</a:t>
            </a:r>
          </a:p>
          <a:p>
            <a:r>
              <a:rPr lang="en-US" sz="1600" dirty="0">
                <a:latin typeface="Titillium Web Light" panose="00000400000000000000" pitchFamily="2" charset="0"/>
              </a:rPr>
              <a:t>             - store data on the blockchain (baseline values, IoT devices) and high volume data in the World State database</a:t>
            </a:r>
          </a:p>
          <a:p>
            <a:r>
              <a:rPr lang="en-US" sz="1600" dirty="0">
                <a:latin typeface="Titillium Web Light" panose="00000400000000000000" pitchFamily="2" charset="0"/>
              </a:rPr>
              <a:t>             - the format(fields) of a transaction </a:t>
            </a:r>
          </a:p>
          <a:p>
            <a:pPr marL="285750" indent="-285750">
              <a:buFont typeface="Arial" panose="020B0604020202020204" pitchFamily="34" charset="0"/>
              <a:buChar char="•"/>
            </a:pPr>
            <a:r>
              <a:rPr lang="en-US" sz="1600" dirty="0">
                <a:latin typeface="Titillium Web Light" panose="00000400000000000000" pitchFamily="2" charset="0"/>
              </a:rPr>
              <a:t>Design Focus – </a:t>
            </a:r>
            <a:r>
              <a:rPr lang="en-US" sz="1600" b="1" dirty="0">
                <a:latin typeface="Titillium Web Light" panose="00000400000000000000" pitchFamily="2" charset="0"/>
              </a:rPr>
              <a:t>Smart Contracts  </a:t>
            </a:r>
            <a:r>
              <a:rPr lang="en-US" sz="1600" dirty="0">
                <a:latin typeface="Titillium Web Light" panose="00000400000000000000" pitchFamily="2" charset="0"/>
              </a:rPr>
              <a:t>:</a:t>
            </a:r>
          </a:p>
          <a:p>
            <a:r>
              <a:rPr lang="en-US" sz="1600" dirty="0">
                <a:latin typeface="Titillium Web Light" panose="00000400000000000000" pitchFamily="2" charset="0"/>
              </a:rPr>
              <a:t>            - what business functions are the smart contracts to perform? </a:t>
            </a:r>
          </a:p>
          <a:p>
            <a:r>
              <a:rPr lang="en-US" sz="1600" dirty="0">
                <a:latin typeface="Titillium Web Light" panose="00000400000000000000" pitchFamily="2" charset="0"/>
              </a:rPr>
              <a:t>            - is there a need for a consensus model?</a:t>
            </a:r>
          </a:p>
          <a:p>
            <a:r>
              <a:rPr lang="en-US" sz="1600" dirty="0">
                <a:latin typeface="Titillium Web Light" panose="00000400000000000000" pitchFamily="2" charset="0"/>
              </a:rPr>
              <a:t>            - how are emission baseline values managed, register IoT devices </a:t>
            </a:r>
          </a:p>
          <a:p>
            <a:r>
              <a:rPr lang="en-US" sz="1600" dirty="0">
                <a:latin typeface="Titillium Web Light" panose="00000400000000000000" pitchFamily="2" charset="0"/>
              </a:rPr>
              <a:t>           -  design behavior of STATE VARIABLES</a:t>
            </a:r>
          </a:p>
          <a:p>
            <a:pPr marL="285750" indent="-285750">
              <a:buFont typeface="Arial" panose="020B0604020202020204" pitchFamily="34" charset="0"/>
              <a:buChar char="•"/>
            </a:pPr>
            <a:r>
              <a:rPr lang="en-US" sz="1600" dirty="0">
                <a:latin typeface="Titillium Web Light" panose="00000400000000000000" pitchFamily="2" charset="0"/>
              </a:rPr>
              <a:t>Use of “external sources for designing this section of the architecture:</a:t>
            </a:r>
          </a:p>
          <a:p>
            <a:r>
              <a:rPr lang="en-US" sz="1600" dirty="0">
                <a:latin typeface="Titillium Web Light" panose="00000400000000000000" pitchFamily="2" charset="0"/>
              </a:rPr>
              <a:t>            - any AI assistant (NOTE: AI engines are roughly one year out of date)</a:t>
            </a:r>
          </a:p>
          <a:p>
            <a:r>
              <a:rPr lang="en-US" sz="1600" dirty="0">
                <a:latin typeface="Titillium Web Light" panose="00000400000000000000" pitchFamily="2" charset="0"/>
              </a:rPr>
              <a:t>            - any search engine</a:t>
            </a:r>
          </a:p>
          <a:p>
            <a:r>
              <a:rPr lang="en-US" sz="1600" dirty="0">
                <a:latin typeface="Titillium Web Light" panose="00000400000000000000" pitchFamily="2" charset="0"/>
              </a:rPr>
              <a:t>            - GitHub</a:t>
            </a:r>
          </a:p>
          <a:p>
            <a:pPr marL="285750" indent="-285750">
              <a:buFont typeface="Arial" panose="020B0604020202020204" pitchFamily="34" charset="0"/>
              <a:buChar char="•"/>
            </a:pPr>
            <a:r>
              <a:rPr lang="en-US" sz="1600" dirty="0">
                <a:latin typeface="Titillium Web Light" panose="00000400000000000000" pitchFamily="2" charset="0"/>
              </a:rPr>
              <a:t>Define </a:t>
            </a:r>
          </a:p>
          <a:p>
            <a:r>
              <a:rPr lang="en-US" sz="1600" dirty="0">
                <a:latin typeface="Titillium Web Light" panose="00000400000000000000" pitchFamily="2" charset="0"/>
              </a:rPr>
              <a:t>           - </a:t>
            </a:r>
            <a:r>
              <a:rPr lang="en-US" sz="1600" b="1" dirty="0">
                <a:latin typeface="Titillium Web Light" panose="00000400000000000000" pitchFamily="2" charset="0"/>
              </a:rPr>
              <a:t>user blockchain access</a:t>
            </a:r>
            <a:r>
              <a:rPr lang="en-US" sz="1600" dirty="0">
                <a:latin typeface="Titillium Web Light" panose="00000400000000000000" pitchFamily="2" charset="0"/>
              </a:rPr>
              <a:t>, data security, IMMUTABILITY OF THE DATA , </a:t>
            </a:r>
            <a:r>
              <a:rPr lang="en-US" sz="1600" b="1" dirty="0">
                <a:latin typeface="Titillium Web Light" panose="00000400000000000000" pitchFamily="2" charset="0"/>
              </a:rPr>
              <a:t>server (node) hosting strategy</a:t>
            </a:r>
            <a:r>
              <a:rPr lang="en-US" sz="1600" dirty="0">
                <a:latin typeface="Titillium Web Light" panose="00000400000000000000" pitchFamily="2" charset="0"/>
              </a:rPr>
              <a:t>,</a:t>
            </a:r>
          </a:p>
          <a:p>
            <a:pPr marL="285750" indent="-285750">
              <a:buFont typeface="Arial" panose="020B0604020202020204" pitchFamily="34" charset="0"/>
              <a:buChar char="•"/>
            </a:pPr>
            <a:r>
              <a:rPr lang="en-US" sz="1600" b="1" dirty="0">
                <a:latin typeface="Titillium Web Light" panose="00000400000000000000" pitchFamily="2" charset="0"/>
              </a:rPr>
              <a:t>Investigation into the Open Source LFDT products </a:t>
            </a:r>
          </a:p>
          <a:p>
            <a:r>
              <a:rPr lang="en-US" sz="1600" dirty="0">
                <a:latin typeface="Titillium Web Light" panose="00000400000000000000" pitchFamily="2" charset="0"/>
              </a:rPr>
              <a:t>           - which LFDT products are best choice</a:t>
            </a:r>
          </a:p>
          <a:p>
            <a:pPr marL="285750" indent="-285750">
              <a:buFont typeface="Arial" panose="020B0604020202020204" pitchFamily="34" charset="0"/>
              <a:buChar char="•"/>
            </a:pPr>
            <a:r>
              <a:rPr lang="en-US" sz="1600" dirty="0">
                <a:latin typeface="Titillium Web Light" panose="00000400000000000000" pitchFamily="2" charset="0"/>
              </a:rPr>
              <a:t>Documentation</a:t>
            </a:r>
          </a:p>
          <a:p>
            <a:r>
              <a:rPr lang="en-US" sz="1600" dirty="0">
                <a:latin typeface="Titillium Web Light" panose="00000400000000000000" pitchFamily="2" charset="0"/>
              </a:rPr>
              <a:t>            - Need to discuss best location for the design details (another </a:t>
            </a:r>
            <a:r>
              <a:rPr lang="en-US" sz="1600" dirty="0" err="1">
                <a:latin typeface="Titillium Web Light" panose="00000400000000000000" pitchFamily="2" charset="0"/>
              </a:rPr>
              <a:t>powerpoint</a:t>
            </a:r>
            <a:r>
              <a:rPr lang="en-US" sz="1600" dirty="0">
                <a:latin typeface="Titillium Web Light" panose="00000400000000000000" pitchFamily="2" charset="0"/>
              </a:rPr>
              <a:t>, text documents with drawing capability?)</a:t>
            </a:r>
          </a:p>
          <a:p>
            <a:endParaRPr lang="en-US" sz="1600" dirty="0">
              <a:solidFill>
                <a:srgbClr val="FF0000"/>
              </a:solidFill>
              <a:latin typeface="Titillium Web Light" panose="00000400000000000000" pitchFamily="2" charset="0"/>
            </a:endParaRPr>
          </a:p>
        </p:txBody>
      </p:sp>
      <p:cxnSp>
        <p:nvCxnSpPr>
          <p:cNvPr id="2" name="Straight Connector 1">
            <a:extLst>
              <a:ext uri="{FF2B5EF4-FFF2-40B4-BE49-F238E27FC236}">
                <a16:creationId xmlns:a16="http://schemas.microsoft.com/office/drawing/2014/main" id="{6954D987-7F75-FCB8-F105-7B068C3D608B}"/>
              </a:ext>
            </a:extLst>
          </p:cNvPr>
          <p:cNvCxnSpPr>
            <a:cxnSpLocks/>
          </p:cNvCxnSpPr>
          <p:nvPr/>
        </p:nvCxnSpPr>
        <p:spPr>
          <a:xfrm>
            <a:off x="410416" y="616806"/>
            <a:ext cx="1088743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C60C5C0-5A01-F329-E832-28379DD400DA}"/>
              </a:ext>
            </a:extLst>
          </p:cNvPr>
          <p:cNvSpPr txBox="1"/>
          <p:nvPr/>
        </p:nvSpPr>
        <p:spPr>
          <a:xfrm>
            <a:off x="32902" y="82134"/>
            <a:ext cx="12087484" cy="769441"/>
          </a:xfrm>
          <a:prstGeom prst="rect">
            <a:avLst/>
          </a:prstGeom>
          <a:noFill/>
        </p:spPr>
        <p:txBody>
          <a:bodyPr wrap="square" rtlCol="0">
            <a:spAutoFit/>
          </a:bodyPr>
          <a:lstStyle/>
          <a:p>
            <a:r>
              <a:rPr lang="en-US" sz="2400" b="1" dirty="0">
                <a:solidFill>
                  <a:schemeClr val="bg1">
                    <a:lumMod val="95000"/>
                  </a:schemeClr>
                </a:solidFill>
              </a:rPr>
              <a:t>Ed Cheng : Solution and Technical Architecture Design Work Plan(2)</a:t>
            </a:r>
            <a:r>
              <a:rPr lang="en-US" sz="2000" b="1" dirty="0">
                <a:solidFill>
                  <a:schemeClr val="bg1">
                    <a:lumMod val="95000"/>
                  </a:schemeClr>
                </a:solidFill>
              </a:rPr>
              <a:t> </a:t>
            </a:r>
          </a:p>
          <a:p>
            <a:r>
              <a:rPr lang="en-US" sz="2000" b="1" dirty="0">
                <a:solidFill>
                  <a:schemeClr val="bg1">
                    <a:lumMod val="95000"/>
                  </a:schemeClr>
                </a:solidFill>
              </a:rPr>
              <a:t> </a:t>
            </a:r>
          </a:p>
        </p:txBody>
      </p:sp>
    </p:spTree>
    <p:extLst>
      <p:ext uri="{BB962C8B-B14F-4D97-AF65-F5344CB8AC3E}">
        <p14:creationId xmlns:p14="http://schemas.microsoft.com/office/powerpoint/2010/main" val="16692998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78A85-75B5-29F2-BAA4-4A6D055B856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70C73E8-E0C9-AC6C-468B-DAA955434A6F}"/>
              </a:ext>
            </a:extLst>
          </p:cNvPr>
          <p:cNvSpPr/>
          <p:nvPr/>
        </p:nvSpPr>
        <p:spPr>
          <a:xfrm>
            <a:off x="-4608" y="8756"/>
            <a:ext cx="12180896" cy="656492"/>
          </a:xfrm>
          <a:prstGeom prst="rect">
            <a:avLst/>
          </a:prstGeom>
          <a:solidFill>
            <a:srgbClr val="0066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AD15D64F-921C-C190-DBAB-19DF8937DBC1}"/>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Architecture pattern is defined as the high level overall approach such as monolithic, microservices, event-driven, serverless.</a:t>
            </a:r>
          </a:p>
        </p:txBody>
      </p:sp>
      <p:sp>
        <p:nvSpPr>
          <p:cNvPr id="10" name="TextBox 9">
            <a:extLst>
              <a:ext uri="{FF2B5EF4-FFF2-40B4-BE49-F238E27FC236}">
                <a16:creationId xmlns:a16="http://schemas.microsoft.com/office/drawing/2014/main" id="{AD854C87-4CB5-E53A-DE77-E103F79E754F}"/>
              </a:ext>
            </a:extLst>
          </p:cNvPr>
          <p:cNvSpPr txBox="1"/>
          <p:nvPr/>
        </p:nvSpPr>
        <p:spPr>
          <a:xfrm>
            <a:off x="38645" y="91440"/>
            <a:ext cx="12087484" cy="523220"/>
          </a:xfrm>
          <a:prstGeom prst="rect">
            <a:avLst/>
          </a:prstGeom>
          <a:solidFill>
            <a:schemeClr val="tx2">
              <a:lumMod val="75000"/>
              <a:lumOff val="25000"/>
            </a:schemeClr>
          </a:solidFill>
        </p:spPr>
        <p:txBody>
          <a:bodyPr wrap="square" rtlCol="0">
            <a:spAutoFit/>
          </a:bodyPr>
          <a:lstStyle/>
          <a:p>
            <a:r>
              <a:rPr lang="en-US" sz="2800" b="1" dirty="0">
                <a:solidFill>
                  <a:schemeClr val="bg1"/>
                </a:solidFill>
              </a:rPr>
              <a:t> </a:t>
            </a:r>
          </a:p>
        </p:txBody>
      </p:sp>
      <p:sp>
        <p:nvSpPr>
          <p:cNvPr id="65" name="AutoShape 2" descr="Cash Pictures, Cash Stock Photos &amp; Images | Depositphotos®">
            <a:extLst>
              <a:ext uri="{FF2B5EF4-FFF2-40B4-BE49-F238E27FC236}">
                <a16:creationId xmlns:a16="http://schemas.microsoft.com/office/drawing/2014/main" id="{2A1EE59D-58A2-B23E-628A-7FDA6850F67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02AF1DDF-AE2C-B1F5-B2A2-65339905064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768454FD-EFE3-AD27-179B-E38CBA4482EA}"/>
              </a:ext>
            </a:extLst>
          </p:cNvPr>
          <p:cNvSpPr txBox="1"/>
          <p:nvPr/>
        </p:nvSpPr>
        <p:spPr>
          <a:xfrm>
            <a:off x="0" y="714453"/>
            <a:ext cx="12176288" cy="6032421"/>
          </a:xfrm>
          <a:prstGeom prst="rect">
            <a:avLst/>
          </a:prstGeom>
          <a:noFill/>
          <a:ln>
            <a:noFill/>
          </a:ln>
        </p:spPr>
        <p:txBody>
          <a:bodyPr wrap="square" rtlCol="0">
            <a:spAutoFit/>
          </a:bodyPr>
          <a:lstStyle/>
          <a:p>
            <a:r>
              <a:rPr lang="en-US" b="1" u="sng" dirty="0">
                <a:solidFill>
                  <a:srgbClr val="C00000"/>
                </a:solidFill>
                <a:latin typeface="Titillium Web Light" panose="00000400000000000000" pitchFamily="2" charset="0"/>
              </a:rPr>
              <a:t>Data Management and Data Security</a:t>
            </a:r>
            <a:r>
              <a:rPr lang="en-US" b="1" dirty="0">
                <a:solidFill>
                  <a:srgbClr val="C00000"/>
                </a:solidFill>
                <a:latin typeface="Titillium Web Light" panose="00000400000000000000" pitchFamily="2" charset="0"/>
              </a:rPr>
              <a:t>  </a:t>
            </a:r>
          </a:p>
          <a:p>
            <a:endParaRPr lang="en-US" sz="1600" b="1" dirty="0">
              <a:solidFill>
                <a:schemeClr val="accent1">
                  <a:lumMod val="75000"/>
                </a:schemeClr>
              </a:solidFill>
              <a:latin typeface="Titillium Web Light" panose="00000400000000000000" pitchFamily="2" charset="0"/>
            </a:endParaRPr>
          </a:p>
          <a:p>
            <a:r>
              <a:rPr lang="en-US" sz="1600" b="1" dirty="0">
                <a:solidFill>
                  <a:schemeClr val="accent1">
                    <a:lumMod val="75000"/>
                  </a:schemeClr>
                </a:solidFill>
                <a:latin typeface="Titillium Web Light" panose="00000400000000000000" pitchFamily="2" charset="0"/>
              </a:rPr>
              <a:t>Process:</a:t>
            </a:r>
          </a:p>
          <a:p>
            <a:pPr marL="285750" indent="-285750">
              <a:buFont typeface="Arial" panose="020B0604020202020204" pitchFamily="34" charset="0"/>
              <a:buChar char="•"/>
            </a:pPr>
            <a:r>
              <a:rPr lang="en-US" sz="1600" dirty="0">
                <a:latin typeface="Titillium Web Light" panose="00000400000000000000" pitchFamily="2" charset="0"/>
              </a:rPr>
              <a:t>The spreadsheet tab entitled “Requirements” in the categories of </a:t>
            </a:r>
            <a:r>
              <a:rPr lang="en-US" sz="1600" b="1" dirty="0">
                <a:latin typeface="Titillium Web Light" panose="00000400000000000000" pitchFamily="2" charset="0"/>
              </a:rPr>
              <a:t>blockchain, data management, integration, storage </a:t>
            </a:r>
            <a:r>
              <a:rPr lang="en-US" sz="1600" dirty="0">
                <a:latin typeface="Titillium Web Light" panose="00000400000000000000" pitchFamily="2" charset="0"/>
              </a:rPr>
              <a:t>is the focus.</a:t>
            </a:r>
            <a:endParaRPr lang="en-US" sz="1600" b="1" dirty="0">
              <a:latin typeface="Titillium Web Light" panose="00000400000000000000" pitchFamily="2" charset="0"/>
            </a:endParaRPr>
          </a:p>
          <a:p>
            <a:pPr marL="285750" indent="-285750">
              <a:buFont typeface="Arial" panose="020B0604020202020204" pitchFamily="34" charset="0"/>
              <a:buChar char="•"/>
            </a:pPr>
            <a:r>
              <a:rPr lang="en-US" sz="1600" dirty="0">
                <a:latin typeface="Titillium Web Light" panose="00000400000000000000" pitchFamily="2" charset="0"/>
              </a:rPr>
              <a:t>Review PowerPoint slides containing a high-level description on how data(manual, IoT driven) is to be used in the application.</a:t>
            </a:r>
          </a:p>
          <a:p>
            <a:pPr marL="285750" indent="-285750">
              <a:buFont typeface="Arial" panose="020B0604020202020204" pitchFamily="34" charset="0"/>
              <a:buChar char="•"/>
            </a:pPr>
            <a:r>
              <a:rPr lang="en-US" sz="1600" dirty="0">
                <a:latin typeface="Titillium Web Light" panose="00000400000000000000" pitchFamily="2" charset="0"/>
              </a:rPr>
              <a:t>Focus on the following :</a:t>
            </a:r>
          </a:p>
          <a:p>
            <a:r>
              <a:rPr lang="en-US" sz="1600" dirty="0">
                <a:latin typeface="Titillium Web Light" panose="00000400000000000000" pitchFamily="2" charset="0"/>
              </a:rPr>
              <a:t>            - data security associated with accepting data from IoT (or other) mechanical devices</a:t>
            </a:r>
          </a:p>
          <a:p>
            <a:r>
              <a:rPr lang="en-US" sz="1600" dirty="0">
                <a:latin typeface="Titillium Web Light" panose="00000400000000000000" pitchFamily="2" charset="0"/>
              </a:rPr>
              <a:t>            - use of digital certificates and key pairs</a:t>
            </a:r>
          </a:p>
          <a:p>
            <a:r>
              <a:rPr lang="en-US" sz="1600" dirty="0">
                <a:latin typeface="Titillium Web Light" panose="00000400000000000000" pitchFamily="2" charset="0"/>
              </a:rPr>
              <a:t>           - L2 and/or “off chain storage” decision and design</a:t>
            </a:r>
          </a:p>
          <a:p>
            <a:r>
              <a:rPr lang="en-US" sz="1600" dirty="0">
                <a:latin typeface="Titillium Web Light" panose="00000400000000000000" pitchFamily="2" charset="0"/>
              </a:rPr>
              <a:t>           - hash data stored “off-chain”</a:t>
            </a:r>
          </a:p>
          <a:p>
            <a:r>
              <a:rPr lang="en-US" sz="1600" dirty="0">
                <a:latin typeface="Titillium Web Light" panose="00000400000000000000" pitchFamily="2" charset="0"/>
              </a:rPr>
              <a:t>           - format for data stored “on-chain”</a:t>
            </a:r>
          </a:p>
          <a:p>
            <a:r>
              <a:rPr lang="en-US" sz="1600" dirty="0">
                <a:latin typeface="Titillium Web Light" panose="00000400000000000000" pitchFamily="2" charset="0"/>
              </a:rPr>
              <a:t>           - process to manage/capture high velocity data streams</a:t>
            </a:r>
          </a:p>
          <a:p>
            <a:r>
              <a:rPr lang="en-US" sz="1600" dirty="0">
                <a:latin typeface="Titillium Web Light" panose="00000400000000000000" pitchFamily="2" charset="0"/>
              </a:rPr>
              <a:t>           - transactions store GHG emission baselines and emission model runs</a:t>
            </a:r>
          </a:p>
          <a:p>
            <a:pPr marL="285750" indent="-285750">
              <a:buFont typeface="Arial" panose="020B0604020202020204" pitchFamily="34" charset="0"/>
              <a:buChar char="•"/>
            </a:pPr>
            <a:r>
              <a:rPr lang="en-US" sz="1600" dirty="0">
                <a:latin typeface="Titillium Web Light" panose="00000400000000000000" pitchFamily="2" charset="0"/>
              </a:rPr>
              <a:t>Use of “external sources:</a:t>
            </a:r>
          </a:p>
          <a:p>
            <a:r>
              <a:rPr lang="en-US" sz="1600" dirty="0">
                <a:latin typeface="Titillium Web Light" panose="00000400000000000000" pitchFamily="2" charset="0"/>
              </a:rPr>
              <a:t>            - any AI assistant (NOTE: AI engines are roughly one year out of date)</a:t>
            </a:r>
          </a:p>
          <a:p>
            <a:r>
              <a:rPr lang="en-US" sz="1600" dirty="0">
                <a:latin typeface="Titillium Web Light" panose="00000400000000000000" pitchFamily="2" charset="0"/>
              </a:rPr>
              <a:t>            - any search engine</a:t>
            </a:r>
          </a:p>
          <a:p>
            <a:r>
              <a:rPr lang="en-US" sz="1600" dirty="0">
                <a:latin typeface="Titillium Web Light" panose="00000400000000000000" pitchFamily="2" charset="0"/>
              </a:rPr>
              <a:t>            - GitHub</a:t>
            </a:r>
          </a:p>
          <a:p>
            <a:pPr marL="285750" indent="-285750">
              <a:buFont typeface="Arial" panose="020B0604020202020204" pitchFamily="34" charset="0"/>
              <a:buChar char="•"/>
            </a:pPr>
            <a:r>
              <a:rPr lang="en-US" sz="1600" dirty="0">
                <a:latin typeface="Titillium Web Light" panose="00000400000000000000" pitchFamily="2" charset="0"/>
              </a:rPr>
              <a:t>Define and design how data management  and data security meets the following:</a:t>
            </a:r>
          </a:p>
          <a:p>
            <a:r>
              <a:rPr lang="en-US" sz="1600" dirty="0">
                <a:latin typeface="Titillium Web Light" panose="00000400000000000000" pitchFamily="2" charset="0"/>
              </a:rPr>
              <a:t>           - expandability of data fields/ maintainability, performance, auditability</a:t>
            </a:r>
          </a:p>
          <a:p>
            <a:pPr marL="285750" indent="-285750">
              <a:buFont typeface="Arial" panose="020B0604020202020204" pitchFamily="34" charset="0"/>
              <a:buChar char="•"/>
            </a:pPr>
            <a:r>
              <a:rPr lang="en-US" sz="1600" b="1" dirty="0">
                <a:latin typeface="Titillium Web Light" panose="00000400000000000000" pitchFamily="2" charset="0"/>
              </a:rPr>
              <a:t>Investigation into the Open Source LFDT products </a:t>
            </a:r>
          </a:p>
          <a:p>
            <a:r>
              <a:rPr lang="en-US" sz="1600" dirty="0">
                <a:latin typeface="Titillium Web Light" panose="00000400000000000000" pitchFamily="2" charset="0"/>
              </a:rPr>
              <a:t>           - which LFDT products are best choice</a:t>
            </a:r>
          </a:p>
          <a:p>
            <a:pPr marL="285750" indent="-285750">
              <a:buFont typeface="Arial" panose="020B0604020202020204" pitchFamily="34" charset="0"/>
              <a:buChar char="•"/>
            </a:pPr>
            <a:r>
              <a:rPr lang="en-US" sz="1600" dirty="0">
                <a:latin typeface="Titillium Web Light" panose="00000400000000000000" pitchFamily="2" charset="0"/>
              </a:rPr>
              <a:t>Documentation</a:t>
            </a:r>
          </a:p>
          <a:p>
            <a:r>
              <a:rPr lang="en-US" sz="1600" dirty="0">
                <a:latin typeface="Titillium Web Light" panose="00000400000000000000" pitchFamily="2" charset="0"/>
              </a:rPr>
              <a:t>            - Need to discuss best location for the design details (another </a:t>
            </a:r>
            <a:r>
              <a:rPr lang="en-US" sz="1600" dirty="0" err="1">
                <a:latin typeface="Titillium Web Light" panose="00000400000000000000" pitchFamily="2" charset="0"/>
              </a:rPr>
              <a:t>powerpoint</a:t>
            </a:r>
            <a:r>
              <a:rPr lang="en-US" sz="1600" dirty="0">
                <a:latin typeface="Titillium Web Light" panose="00000400000000000000" pitchFamily="2" charset="0"/>
              </a:rPr>
              <a:t>, text documents with drawing capability?)</a:t>
            </a:r>
          </a:p>
          <a:p>
            <a:endParaRPr lang="en-US" sz="1600" dirty="0">
              <a:solidFill>
                <a:srgbClr val="FF0000"/>
              </a:solidFill>
              <a:latin typeface="Titillium Web Light" panose="00000400000000000000" pitchFamily="2" charset="0"/>
            </a:endParaRPr>
          </a:p>
        </p:txBody>
      </p:sp>
      <p:cxnSp>
        <p:nvCxnSpPr>
          <p:cNvPr id="2" name="Straight Connector 1">
            <a:extLst>
              <a:ext uri="{FF2B5EF4-FFF2-40B4-BE49-F238E27FC236}">
                <a16:creationId xmlns:a16="http://schemas.microsoft.com/office/drawing/2014/main" id="{D921033B-5C7E-F5DA-7128-0968C12BEE06}"/>
              </a:ext>
            </a:extLst>
          </p:cNvPr>
          <p:cNvCxnSpPr>
            <a:cxnSpLocks/>
          </p:cNvCxnSpPr>
          <p:nvPr/>
        </p:nvCxnSpPr>
        <p:spPr>
          <a:xfrm>
            <a:off x="410416" y="616806"/>
            <a:ext cx="1088743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0030757-DD9E-FFBF-FEDB-D82F670CBD1E}"/>
              </a:ext>
            </a:extLst>
          </p:cNvPr>
          <p:cNvSpPr txBox="1"/>
          <p:nvPr/>
        </p:nvSpPr>
        <p:spPr>
          <a:xfrm>
            <a:off x="32902" y="82134"/>
            <a:ext cx="12087484" cy="769441"/>
          </a:xfrm>
          <a:prstGeom prst="rect">
            <a:avLst/>
          </a:prstGeom>
          <a:noFill/>
        </p:spPr>
        <p:txBody>
          <a:bodyPr wrap="square" rtlCol="0">
            <a:spAutoFit/>
          </a:bodyPr>
          <a:lstStyle/>
          <a:p>
            <a:r>
              <a:rPr lang="en-US" sz="2400" b="1" dirty="0">
                <a:solidFill>
                  <a:schemeClr val="bg1">
                    <a:lumMod val="95000"/>
                  </a:schemeClr>
                </a:solidFill>
              </a:rPr>
              <a:t>Ed Cheng : Solution and Technical Architecture Design Work Plan(3)</a:t>
            </a:r>
            <a:r>
              <a:rPr lang="en-US" sz="2000" b="1" dirty="0">
                <a:solidFill>
                  <a:schemeClr val="bg1">
                    <a:lumMod val="95000"/>
                  </a:schemeClr>
                </a:solidFill>
              </a:rPr>
              <a:t> </a:t>
            </a:r>
          </a:p>
          <a:p>
            <a:r>
              <a:rPr lang="en-US" sz="2000" b="1" dirty="0">
                <a:solidFill>
                  <a:schemeClr val="bg1">
                    <a:lumMod val="95000"/>
                  </a:schemeClr>
                </a:solidFill>
              </a:rPr>
              <a:t> </a:t>
            </a:r>
          </a:p>
        </p:txBody>
      </p:sp>
    </p:spTree>
    <p:extLst>
      <p:ext uri="{BB962C8B-B14F-4D97-AF65-F5344CB8AC3E}">
        <p14:creationId xmlns:p14="http://schemas.microsoft.com/office/powerpoint/2010/main" val="30612510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05581-956F-0415-5555-4B77CD437BB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EF56AF-9FA5-0CA4-5707-3D99E828AE75}"/>
              </a:ext>
            </a:extLst>
          </p:cNvPr>
          <p:cNvSpPr/>
          <p:nvPr/>
        </p:nvSpPr>
        <p:spPr>
          <a:xfrm>
            <a:off x="-4608" y="8756"/>
            <a:ext cx="12180896" cy="656492"/>
          </a:xfrm>
          <a:prstGeom prst="rect">
            <a:avLst/>
          </a:prstGeom>
          <a:solidFill>
            <a:srgbClr val="0066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EE0C9344-D2D8-FD14-5AEF-F51220077CD5}"/>
              </a:ext>
            </a:extLst>
          </p:cNvPr>
          <p:cNvSpPr/>
          <p:nvPr/>
        </p:nvSpPr>
        <p:spPr>
          <a:xfrm>
            <a:off x="3424" y="6506308"/>
            <a:ext cx="12180896" cy="337202"/>
          </a:xfrm>
          <a:prstGeom prst="rect">
            <a:avLst/>
          </a:prstGeom>
          <a:solidFill>
            <a:srgbClr val="00808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Architecture pattern is defined as the high level overall approach such as monolithic, microservices, event-driven, serverless.</a:t>
            </a:r>
          </a:p>
        </p:txBody>
      </p:sp>
      <p:sp>
        <p:nvSpPr>
          <p:cNvPr id="10" name="TextBox 9">
            <a:extLst>
              <a:ext uri="{FF2B5EF4-FFF2-40B4-BE49-F238E27FC236}">
                <a16:creationId xmlns:a16="http://schemas.microsoft.com/office/drawing/2014/main" id="{CABE814B-5DFA-1A4D-D63A-50390B804DE6}"/>
              </a:ext>
            </a:extLst>
          </p:cNvPr>
          <p:cNvSpPr txBox="1"/>
          <p:nvPr/>
        </p:nvSpPr>
        <p:spPr>
          <a:xfrm>
            <a:off x="38645" y="91440"/>
            <a:ext cx="12087484" cy="523220"/>
          </a:xfrm>
          <a:prstGeom prst="rect">
            <a:avLst/>
          </a:prstGeom>
          <a:solidFill>
            <a:schemeClr val="tx2">
              <a:lumMod val="75000"/>
              <a:lumOff val="25000"/>
            </a:schemeClr>
          </a:solidFill>
        </p:spPr>
        <p:txBody>
          <a:bodyPr wrap="square" rtlCol="0">
            <a:spAutoFit/>
          </a:bodyPr>
          <a:lstStyle/>
          <a:p>
            <a:r>
              <a:rPr lang="en-US" sz="2800" b="1" dirty="0">
                <a:solidFill>
                  <a:schemeClr val="bg1"/>
                </a:solidFill>
              </a:rPr>
              <a:t> </a:t>
            </a:r>
          </a:p>
        </p:txBody>
      </p:sp>
      <p:sp>
        <p:nvSpPr>
          <p:cNvPr id="65" name="AutoShape 2" descr="Cash Pictures, Cash Stock Photos &amp; Images | Depositphotos®">
            <a:extLst>
              <a:ext uri="{FF2B5EF4-FFF2-40B4-BE49-F238E27FC236}">
                <a16:creationId xmlns:a16="http://schemas.microsoft.com/office/drawing/2014/main" id="{533899DF-C4AF-EB9E-2461-BB9C400C69D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utoShape 4" descr="Cash Pictures, Cash Stock Photos &amp; Images | Depositphotos®">
            <a:extLst>
              <a:ext uri="{FF2B5EF4-FFF2-40B4-BE49-F238E27FC236}">
                <a16:creationId xmlns:a16="http://schemas.microsoft.com/office/drawing/2014/main" id="{8C9F8C30-9F58-6129-6605-2C3648B12D1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68682409-6022-EADE-8D54-A74963245140}"/>
              </a:ext>
            </a:extLst>
          </p:cNvPr>
          <p:cNvSpPr txBox="1"/>
          <p:nvPr/>
        </p:nvSpPr>
        <p:spPr>
          <a:xfrm>
            <a:off x="0" y="714453"/>
            <a:ext cx="12176288" cy="6278642"/>
          </a:xfrm>
          <a:prstGeom prst="rect">
            <a:avLst/>
          </a:prstGeom>
          <a:noFill/>
          <a:ln>
            <a:noFill/>
          </a:ln>
        </p:spPr>
        <p:txBody>
          <a:bodyPr wrap="square" rtlCol="0">
            <a:spAutoFit/>
          </a:bodyPr>
          <a:lstStyle/>
          <a:p>
            <a:r>
              <a:rPr lang="en-US" b="1" u="sng" dirty="0">
                <a:solidFill>
                  <a:srgbClr val="C00000"/>
                </a:solidFill>
                <a:latin typeface="Titillium Web Light" panose="00000400000000000000" pitchFamily="2" charset="0"/>
              </a:rPr>
              <a:t>Application Integration</a:t>
            </a:r>
            <a:r>
              <a:rPr lang="en-US" b="1" dirty="0">
                <a:solidFill>
                  <a:srgbClr val="C00000"/>
                </a:solidFill>
                <a:latin typeface="Titillium Web Light" panose="00000400000000000000" pitchFamily="2" charset="0"/>
              </a:rPr>
              <a:t>  </a:t>
            </a:r>
          </a:p>
          <a:p>
            <a:endParaRPr lang="en-US" sz="1600" b="1" dirty="0">
              <a:solidFill>
                <a:schemeClr val="accent1">
                  <a:lumMod val="75000"/>
                </a:schemeClr>
              </a:solidFill>
              <a:latin typeface="Titillium Web Light" panose="00000400000000000000" pitchFamily="2" charset="0"/>
            </a:endParaRPr>
          </a:p>
          <a:p>
            <a:r>
              <a:rPr lang="en-US" sz="1600" b="1" dirty="0">
                <a:solidFill>
                  <a:schemeClr val="accent1">
                    <a:lumMod val="75000"/>
                  </a:schemeClr>
                </a:solidFill>
                <a:latin typeface="Titillium Web Light" panose="00000400000000000000" pitchFamily="2" charset="0"/>
              </a:rPr>
              <a:t>Definition:</a:t>
            </a:r>
          </a:p>
          <a:p>
            <a:endParaRPr lang="en-US" sz="1600" b="1" dirty="0">
              <a:solidFill>
                <a:schemeClr val="accent1">
                  <a:lumMod val="75000"/>
                </a:schemeClr>
              </a:solidFill>
              <a:latin typeface="Titillium Web Light" panose="00000400000000000000" pitchFamily="2" charset="0"/>
            </a:endParaRPr>
          </a:p>
          <a:p>
            <a:r>
              <a:rPr lang="en-US" sz="1600" b="1" dirty="0">
                <a:solidFill>
                  <a:schemeClr val="accent1">
                    <a:lumMod val="75000"/>
                  </a:schemeClr>
                </a:solidFill>
                <a:latin typeface="Titillium Web Light" panose="00000400000000000000" pitchFamily="2" charset="0"/>
              </a:rPr>
              <a:t>Process:</a:t>
            </a:r>
          </a:p>
          <a:p>
            <a:pPr marL="285750" indent="-285750">
              <a:buFont typeface="Arial" panose="020B0604020202020204" pitchFamily="34" charset="0"/>
              <a:buChar char="•"/>
            </a:pPr>
            <a:r>
              <a:rPr lang="en-US" sz="1600" dirty="0">
                <a:latin typeface="Titillium Web Light" panose="00000400000000000000" pitchFamily="2" charset="0"/>
              </a:rPr>
              <a:t>The spreadsheet tab entitled “Requirements” in the categories of </a:t>
            </a:r>
            <a:r>
              <a:rPr lang="en-US" sz="1600" b="1" dirty="0">
                <a:latin typeface="Titillium Web Light" panose="00000400000000000000" pitchFamily="2" charset="0"/>
              </a:rPr>
              <a:t>blockchain, data management, integration, storage </a:t>
            </a:r>
            <a:r>
              <a:rPr lang="en-US" sz="1600" dirty="0">
                <a:latin typeface="Titillium Web Light" panose="00000400000000000000" pitchFamily="2" charset="0"/>
              </a:rPr>
              <a:t>is the focus.</a:t>
            </a:r>
            <a:endParaRPr lang="en-US" sz="1600" b="1" dirty="0">
              <a:latin typeface="Titillium Web Light" panose="00000400000000000000" pitchFamily="2" charset="0"/>
            </a:endParaRPr>
          </a:p>
          <a:p>
            <a:pPr marL="285750" indent="-285750">
              <a:buFont typeface="Arial" panose="020B0604020202020204" pitchFamily="34" charset="0"/>
              <a:buChar char="•"/>
            </a:pPr>
            <a:r>
              <a:rPr lang="en-US" sz="1600" dirty="0">
                <a:latin typeface="Titillium Web Light" panose="00000400000000000000" pitchFamily="2" charset="0"/>
              </a:rPr>
              <a:t>Review PowerPoint slides containing a high-level description on how data(manual, IoT driven) is to be used in the application.</a:t>
            </a:r>
          </a:p>
          <a:p>
            <a:pPr marL="285750" indent="-285750">
              <a:buFont typeface="Arial" panose="020B0604020202020204" pitchFamily="34" charset="0"/>
              <a:buChar char="•"/>
            </a:pPr>
            <a:r>
              <a:rPr lang="en-US" sz="1600" dirty="0">
                <a:latin typeface="Titillium Web Light" panose="00000400000000000000" pitchFamily="2" charset="0"/>
              </a:rPr>
              <a:t>Focus on the following :</a:t>
            </a:r>
          </a:p>
          <a:p>
            <a:r>
              <a:rPr lang="en-US" sz="1600" dirty="0">
                <a:latin typeface="Titillium Web Light" panose="00000400000000000000" pitchFamily="2" charset="0"/>
              </a:rPr>
              <a:t>            - application access to the blockchain – entire process for secure access</a:t>
            </a:r>
          </a:p>
          <a:p>
            <a:r>
              <a:rPr lang="en-US" sz="1600" dirty="0">
                <a:latin typeface="Titillium Web Light" panose="00000400000000000000" pitchFamily="2" charset="0"/>
              </a:rPr>
              <a:t>            - data security associated with accepting data from IoT (or other) mechanical devices</a:t>
            </a:r>
          </a:p>
          <a:p>
            <a:r>
              <a:rPr lang="en-US" sz="1600" dirty="0">
                <a:latin typeface="Titillium Web Light" panose="00000400000000000000" pitchFamily="2" charset="0"/>
              </a:rPr>
              <a:t>            - use of digital certificates and key pairs</a:t>
            </a:r>
          </a:p>
          <a:p>
            <a:r>
              <a:rPr lang="en-US" sz="1600" dirty="0">
                <a:latin typeface="Titillium Web Light" panose="00000400000000000000" pitchFamily="2" charset="0"/>
              </a:rPr>
              <a:t>           - L2 and/or “off chain storage” decision and design</a:t>
            </a:r>
          </a:p>
          <a:p>
            <a:r>
              <a:rPr lang="en-US" sz="1600" dirty="0">
                <a:latin typeface="Titillium Web Light" panose="00000400000000000000" pitchFamily="2" charset="0"/>
              </a:rPr>
              <a:t>           -</a:t>
            </a:r>
          </a:p>
          <a:p>
            <a:r>
              <a:rPr lang="en-US" sz="1600" dirty="0">
                <a:latin typeface="Titillium Web Light" panose="00000400000000000000" pitchFamily="2" charset="0"/>
              </a:rPr>
              <a:t>           - </a:t>
            </a:r>
          </a:p>
          <a:p>
            <a:pPr marL="285750" indent="-285750">
              <a:buFont typeface="Arial" panose="020B0604020202020204" pitchFamily="34" charset="0"/>
              <a:buChar char="•"/>
            </a:pPr>
            <a:r>
              <a:rPr lang="en-US" sz="1600" dirty="0">
                <a:latin typeface="Titillium Web Light" panose="00000400000000000000" pitchFamily="2" charset="0"/>
              </a:rPr>
              <a:t>Use of “external sources:</a:t>
            </a:r>
          </a:p>
          <a:p>
            <a:r>
              <a:rPr lang="en-US" sz="1600" dirty="0">
                <a:latin typeface="Titillium Web Light" panose="00000400000000000000" pitchFamily="2" charset="0"/>
              </a:rPr>
              <a:t>            - any AI assistant (NOTE: AI engines are roughly one year out of date)</a:t>
            </a:r>
          </a:p>
          <a:p>
            <a:r>
              <a:rPr lang="en-US" sz="1600" dirty="0">
                <a:latin typeface="Titillium Web Light" panose="00000400000000000000" pitchFamily="2" charset="0"/>
              </a:rPr>
              <a:t>            - any search engine</a:t>
            </a:r>
          </a:p>
          <a:p>
            <a:r>
              <a:rPr lang="en-US" sz="1600" dirty="0">
                <a:latin typeface="Titillium Web Light" panose="00000400000000000000" pitchFamily="2" charset="0"/>
              </a:rPr>
              <a:t>            - GitHub</a:t>
            </a:r>
          </a:p>
          <a:p>
            <a:pPr marL="285750" indent="-285750">
              <a:buFont typeface="Arial" panose="020B0604020202020204" pitchFamily="34" charset="0"/>
              <a:buChar char="•"/>
            </a:pPr>
            <a:r>
              <a:rPr lang="en-US" sz="1600" dirty="0">
                <a:latin typeface="Titillium Web Light" panose="00000400000000000000" pitchFamily="2" charset="0"/>
              </a:rPr>
              <a:t>Define and design how data management  and data security meets the following:</a:t>
            </a:r>
          </a:p>
          <a:p>
            <a:r>
              <a:rPr lang="en-US" sz="1600" dirty="0">
                <a:latin typeface="Titillium Web Light" panose="00000400000000000000" pitchFamily="2" charset="0"/>
              </a:rPr>
              <a:t>           - expandability / maintainability, performance / reliability, security, IMMUTABILITY OF THE DATA </a:t>
            </a:r>
          </a:p>
          <a:p>
            <a:pPr marL="285750" indent="-285750">
              <a:buFont typeface="Arial" panose="020B0604020202020204" pitchFamily="34" charset="0"/>
              <a:buChar char="•"/>
            </a:pPr>
            <a:r>
              <a:rPr lang="en-US" sz="1600" b="1" dirty="0">
                <a:latin typeface="Titillium Web Light" panose="00000400000000000000" pitchFamily="2" charset="0"/>
              </a:rPr>
              <a:t>Investigation into the Open Source LFDT products </a:t>
            </a:r>
          </a:p>
          <a:p>
            <a:r>
              <a:rPr lang="en-US" sz="1600" dirty="0">
                <a:latin typeface="Titillium Web Light" panose="00000400000000000000" pitchFamily="2" charset="0"/>
              </a:rPr>
              <a:t>           - which LFDT products are best choice</a:t>
            </a:r>
          </a:p>
          <a:p>
            <a:pPr marL="285750" indent="-285750">
              <a:buFont typeface="Arial" panose="020B0604020202020204" pitchFamily="34" charset="0"/>
              <a:buChar char="•"/>
            </a:pPr>
            <a:r>
              <a:rPr lang="en-US" sz="1600" dirty="0">
                <a:latin typeface="Titillium Web Light" panose="00000400000000000000" pitchFamily="2" charset="0"/>
              </a:rPr>
              <a:t>Documentation</a:t>
            </a:r>
          </a:p>
          <a:p>
            <a:r>
              <a:rPr lang="en-US" sz="1600" dirty="0">
                <a:latin typeface="Titillium Web Light" panose="00000400000000000000" pitchFamily="2" charset="0"/>
              </a:rPr>
              <a:t>            - Need to discuss best location for the design details (another </a:t>
            </a:r>
            <a:r>
              <a:rPr lang="en-US" sz="1600" dirty="0" err="1">
                <a:latin typeface="Titillium Web Light" panose="00000400000000000000" pitchFamily="2" charset="0"/>
              </a:rPr>
              <a:t>powerpoint</a:t>
            </a:r>
            <a:r>
              <a:rPr lang="en-US" sz="1600" dirty="0">
                <a:latin typeface="Titillium Web Light" panose="00000400000000000000" pitchFamily="2" charset="0"/>
              </a:rPr>
              <a:t>, text documents with drawing capability?)</a:t>
            </a:r>
          </a:p>
          <a:p>
            <a:endParaRPr lang="en-US" sz="1600" dirty="0">
              <a:solidFill>
                <a:srgbClr val="FF0000"/>
              </a:solidFill>
              <a:latin typeface="Titillium Web Light" panose="00000400000000000000" pitchFamily="2" charset="0"/>
            </a:endParaRPr>
          </a:p>
        </p:txBody>
      </p:sp>
      <p:cxnSp>
        <p:nvCxnSpPr>
          <p:cNvPr id="2" name="Straight Connector 1">
            <a:extLst>
              <a:ext uri="{FF2B5EF4-FFF2-40B4-BE49-F238E27FC236}">
                <a16:creationId xmlns:a16="http://schemas.microsoft.com/office/drawing/2014/main" id="{2C0E817F-8F7D-FAD1-2639-0DE59FBE0C06}"/>
              </a:ext>
            </a:extLst>
          </p:cNvPr>
          <p:cNvCxnSpPr>
            <a:cxnSpLocks/>
          </p:cNvCxnSpPr>
          <p:nvPr/>
        </p:nvCxnSpPr>
        <p:spPr>
          <a:xfrm>
            <a:off x="410416" y="616806"/>
            <a:ext cx="1088743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07EBEDE-22BD-A090-A70C-3B50E1428987}"/>
              </a:ext>
            </a:extLst>
          </p:cNvPr>
          <p:cNvSpPr txBox="1"/>
          <p:nvPr/>
        </p:nvSpPr>
        <p:spPr>
          <a:xfrm>
            <a:off x="32902" y="82134"/>
            <a:ext cx="12087484" cy="769441"/>
          </a:xfrm>
          <a:prstGeom prst="rect">
            <a:avLst/>
          </a:prstGeom>
          <a:noFill/>
        </p:spPr>
        <p:txBody>
          <a:bodyPr wrap="square" rtlCol="0">
            <a:spAutoFit/>
          </a:bodyPr>
          <a:lstStyle/>
          <a:p>
            <a:r>
              <a:rPr lang="en-US" sz="2400" b="1" dirty="0">
                <a:solidFill>
                  <a:schemeClr val="bg1">
                    <a:lumMod val="95000"/>
                  </a:schemeClr>
                </a:solidFill>
              </a:rPr>
              <a:t>Ed Cheng : Solution and Technical Architecture Design </a:t>
            </a:r>
            <a:r>
              <a:rPr lang="en-US" sz="2400" b="1">
                <a:solidFill>
                  <a:schemeClr val="bg1">
                    <a:lumMod val="95000"/>
                  </a:schemeClr>
                </a:solidFill>
              </a:rPr>
              <a:t>Work Plan(4)</a:t>
            </a:r>
            <a:r>
              <a:rPr lang="en-US" sz="2000" b="1">
                <a:solidFill>
                  <a:schemeClr val="bg1">
                    <a:lumMod val="95000"/>
                  </a:schemeClr>
                </a:solidFill>
              </a:rPr>
              <a:t> </a:t>
            </a:r>
            <a:endParaRPr lang="en-US" sz="2000" b="1" dirty="0">
              <a:solidFill>
                <a:schemeClr val="bg1">
                  <a:lumMod val="95000"/>
                </a:schemeClr>
              </a:solidFill>
            </a:endParaRPr>
          </a:p>
          <a:p>
            <a:r>
              <a:rPr lang="en-US" sz="2000" b="1" dirty="0">
                <a:solidFill>
                  <a:schemeClr val="bg1">
                    <a:lumMod val="95000"/>
                  </a:schemeClr>
                </a:solidFill>
              </a:rPr>
              <a:t> </a:t>
            </a:r>
          </a:p>
        </p:txBody>
      </p:sp>
    </p:spTree>
    <p:extLst>
      <p:ext uri="{BB962C8B-B14F-4D97-AF65-F5344CB8AC3E}">
        <p14:creationId xmlns:p14="http://schemas.microsoft.com/office/powerpoint/2010/main" val="40351653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A1C5C-191B-5F7D-0D5A-A40DE239FE98}"/>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0A83EE03-58B5-53BD-F1FA-CC747C7857AF}"/>
              </a:ext>
            </a:extLst>
          </p:cNvPr>
          <p:cNvSpPr/>
          <p:nvPr/>
        </p:nvSpPr>
        <p:spPr>
          <a:xfrm>
            <a:off x="-14298" y="994410"/>
            <a:ext cx="12180896" cy="5840439"/>
          </a:xfrm>
          <a:prstGeom prst="rect">
            <a:avLst/>
          </a:prstGeom>
          <a:solidFill>
            <a:schemeClr val="accent1"/>
          </a:solidFill>
          <a:ln>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73B77F3-8085-B1BA-0EF9-7A277E2350FE}"/>
              </a:ext>
            </a:extLst>
          </p:cNvPr>
          <p:cNvSpPr/>
          <p:nvPr/>
        </p:nvSpPr>
        <p:spPr>
          <a:xfrm>
            <a:off x="11104" y="341903"/>
            <a:ext cx="12180896" cy="656492"/>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lumMod val="85000"/>
                    <a:lumOff val="15000"/>
                  </a:schemeClr>
                </a:solidFill>
                <a:highlight>
                  <a:srgbClr val="FFFFCC"/>
                </a:highlight>
              </a:rPr>
              <a:t>Supply Chain</a:t>
            </a:r>
            <a:r>
              <a:rPr lang="en-US" sz="1600" b="1" dirty="0">
                <a:solidFill>
                  <a:schemeClr val="tx1">
                    <a:lumMod val="85000"/>
                    <a:lumOff val="15000"/>
                  </a:schemeClr>
                </a:solidFill>
              </a:rPr>
              <a:t>     Loading Ops(Grower)    Trucking      </a:t>
            </a:r>
            <a:r>
              <a:rPr lang="en-US" sz="1600" b="1" dirty="0" err="1">
                <a:solidFill>
                  <a:srgbClr val="FF0000"/>
                </a:solidFill>
              </a:rPr>
              <a:t>UnloOps</a:t>
            </a:r>
            <a:endParaRPr lang="en-US" sz="1600" b="1" dirty="0">
              <a:solidFill>
                <a:srgbClr val="FF0000"/>
              </a:solidFill>
            </a:endParaRPr>
          </a:p>
        </p:txBody>
      </p:sp>
      <p:sp>
        <p:nvSpPr>
          <p:cNvPr id="11" name="TextBox 10">
            <a:extLst>
              <a:ext uri="{FF2B5EF4-FFF2-40B4-BE49-F238E27FC236}">
                <a16:creationId xmlns:a16="http://schemas.microsoft.com/office/drawing/2014/main" id="{AAECEE25-21F9-3CD5-7F92-56EE36CD9533}"/>
              </a:ext>
            </a:extLst>
          </p:cNvPr>
          <p:cNvSpPr txBox="1"/>
          <p:nvPr/>
        </p:nvSpPr>
        <p:spPr>
          <a:xfrm>
            <a:off x="6755621" y="4743039"/>
            <a:ext cx="5351116" cy="2031325"/>
          </a:xfrm>
          <a:prstGeom prst="rect">
            <a:avLst/>
          </a:prstGeom>
          <a:noFill/>
        </p:spPr>
        <p:txBody>
          <a:bodyPr wrap="square">
            <a:spAutoFit/>
          </a:bodyPr>
          <a:lstStyle/>
          <a:p>
            <a:r>
              <a:rPr lang="en-US" dirty="0">
                <a:solidFill>
                  <a:schemeClr val="bg1"/>
                </a:solidFill>
                <a:latin typeface="Google Sans"/>
              </a:rPr>
              <a:t>Sample Dashboard – Users can configure the dashboard into a format needed.</a:t>
            </a:r>
          </a:p>
          <a:p>
            <a:pPr marL="342900" indent="-342900">
              <a:buAutoNum type="arabicParenR"/>
            </a:pPr>
            <a:r>
              <a:rPr lang="en-US" dirty="0">
                <a:solidFill>
                  <a:schemeClr val="bg1"/>
                </a:solidFill>
                <a:latin typeface="Google Sans"/>
              </a:rPr>
              <a:t>Historical emissions data can be displayed to observe trends.</a:t>
            </a:r>
          </a:p>
          <a:p>
            <a:pPr marL="342900" indent="-342900">
              <a:buAutoNum type="arabicParenR"/>
            </a:pPr>
            <a:r>
              <a:rPr lang="en-US" dirty="0">
                <a:solidFill>
                  <a:schemeClr val="bg1"/>
                </a:solidFill>
                <a:latin typeface="Google Sans"/>
              </a:rPr>
              <a:t>GHG emission parameters to display are selected buy the users. The entire dashboard can be modified through drag and drop. </a:t>
            </a:r>
          </a:p>
        </p:txBody>
      </p:sp>
      <p:sp>
        <p:nvSpPr>
          <p:cNvPr id="14" name="Rectangle: Beveled 13">
            <a:extLst>
              <a:ext uri="{FF2B5EF4-FFF2-40B4-BE49-F238E27FC236}">
                <a16:creationId xmlns:a16="http://schemas.microsoft.com/office/drawing/2014/main" id="{343DF78C-F9CD-E5C7-3604-335F3B15ADB6}"/>
              </a:ext>
            </a:extLst>
          </p:cNvPr>
          <p:cNvSpPr/>
          <p:nvPr/>
        </p:nvSpPr>
        <p:spPr>
          <a:xfrm>
            <a:off x="74166" y="439563"/>
            <a:ext cx="1256306"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Supply Chain</a:t>
            </a:r>
          </a:p>
        </p:txBody>
      </p:sp>
      <p:sp>
        <p:nvSpPr>
          <p:cNvPr id="15" name="Rectangle: Beveled 14">
            <a:extLst>
              <a:ext uri="{FF2B5EF4-FFF2-40B4-BE49-F238E27FC236}">
                <a16:creationId xmlns:a16="http://schemas.microsoft.com/office/drawing/2014/main" id="{7F292922-F7DC-5967-D957-4DADE048FF35}"/>
              </a:ext>
            </a:extLst>
          </p:cNvPr>
          <p:cNvSpPr/>
          <p:nvPr/>
        </p:nvSpPr>
        <p:spPr>
          <a:xfrm>
            <a:off x="1344665" y="450033"/>
            <a:ext cx="1596331"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Truck Load(grower)</a:t>
            </a:r>
          </a:p>
        </p:txBody>
      </p:sp>
      <p:sp>
        <p:nvSpPr>
          <p:cNvPr id="16" name="Rectangle: Beveled 15">
            <a:extLst>
              <a:ext uri="{FF2B5EF4-FFF2-40B4-BE49-F238E27FC236}">
                <a16:creationId xmlns:a16="http://schemas.microsoft.com/office/drawing/2014/main" id="{6FC6F810-4D1E-860F-60A0-7E97D8A97C18}"/>
              </a:ext>
            </a:extLst>
          </p:cNvPr>
          <p:cNvSpPr/>
          <p:nvPr/>
        </p:nvSpPr>
        <p:spPr>
          <a:xfrm>
            <a:off x="2961393" y="457095"/>
            <a:ext cx="1008486"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Trucking</a:t>
            </a:r>
          </a:p>
        </p:txBody>
      </p:sp>
      <p:sp>
        <p:nvSpPr>
          <p:cNvPr id="2" name="Rectangle 1">
            <a:extLst>
              <a:ext uri="{FF2B5EF4-FFF2-40B4-BE49-F238E27FC236}">
                <a16:creationId xmlns:a16="http://schemas.microsoft.com/office/drawing/2014/main" id="{441D51AD-B7C5-303C-82A5-5A63E80B47D5}"/>
              </a:ext>
            </a:extLst>
          </p:cNvPr>
          <p:cNvSpPr/>
          <p:nvPr/>
        </p:nvSpPr>
        <p:spPr>
          <a:xfrm>
            <a:off x="94746" y="1272177"/>
            <a:ext cx="2128707" cy="1267823"/>
          </a:xfrm>
          <a:prstGeom prst="rect">
            <a:avLst/>
          </a:prstGeom>
          <a:gradFill>
            <a:gsLst>
              <a:gs pos="16000">
                <a:schemeClr val="accent1">
                  <a:lumMod val="75000"/>
                </a:schemeClr>
              </a:gs>
              <a:gs pos="0">
                <a:srgbClr val="FFFFCC"/>
              </a:gs>
              <a:gs pos="70500">
                <a:schemeClr val="tx2">
                  <a:lumMod val="75000"/>
                  <a:lumOff val="25000"/>
                </a:schemeClr>
              </a:gs>
              <a:gs pos="0">
                <a:schemeClr val="accent1">
                  <a:lumMod val="45000"/>
                  <a:lumOff val="55000"/>
                </a:schemeClr>
              </a:gs>
              <a:gs pos="83000">
                <a:schemeClr val="accent1">
                  <a:lumMod val="45000"/>
                  <a:lumOff val="55000"/>
                </a:schemeClr>
              </a:gs>
              <a:gs pos="0">
                <a:schemeClr val="accent1">
                  <a:lumMod val="30000"/>
                  <a:lumOff val="70000"/>
                </a:schemeClr>
              </a:gs>
            </a:gsLst>
            <a:lin ang="5400000" scaled="1"/>
          </a:gradFill>
          <a:ln>
            <a:gradFill>
              <a:gsLst>
                <a:gs pos="16000">
                  <a:srgbClr val="FFFFCC"/>
                </a:gs>
                <a:gs pos="0">
                  <a:srgbClr val="FFFFCC"/>
                </a:gs>
                <a:gs pos="70500">
                  <a:schemeClr val="tx2">
                    <a:lumMod val="75000"/>
                    <a:lumOff val="25000"/>
                  </a:schemeClr>
                </a:gs>
                <a:gs pos="74000">
                  <a:schemeClr val="accent1">
                    <a:lumMod val="45000"/>
                    <a:lumOff val="55000"/>
                  </a:schemeClr>
                </a:gs>
                <a:gs pos="83000">
                  <a:schemeClr val="accent1">
                    <a:lumMod val="45000"/>
                    <a:lumOff val="55000"/>
                  </a:schemeClr>
                </a:gs>
                <a:gs pos="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75E7DAA0-52C3-2B93-AF7B-10CC503EE14F}"/>
              </a:ext>
            </a:extLst>
          </p:cNvPr>
          <p:cNvCxnSpPr>
            <a:cxnSpLocks/>
          </p:cNvCxnSpPr>
          <p:nvPr/>
        </p:nvCxnSpPr>
        <p:spPr>
          <a:xfrm>
            <a:off x="272915" y="1816342"/>
            <a:ext cx="165862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9719FD8-A35F-4BDD-DC9C-9B6F3A809D23}"/>
              </a:ext>
            </a:extLst>
          </p:cNvPr>
          <p:cNvSpPr/>
          <p:nvPr/>
        </p:nvSpPr>
        <p:spPr>
          <a:xfrm>
            <a:off x="23114" y="1830402"/>
            <a:ext cx="1358410"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5,234</a:t>
            </a:r>
          </a:p>
        </p:txBody>
      </p:sp>
      <p:sp>
        <p:nvSpPr>
          <p:cNvPr id="9" name="Rectangle 8">
            <a:extLst>
              <a:ext uri="{FF2B5EF4-FFF2-40B4-BE49-F238E27FC236}">
                <a16:creationId xmlns:a16="http://schemas.microsoft.com/office/drawing/2014/main" id="{01FC1F10-45A2-1383-9C83-28F37F6B30F2}"/>
              </a:ext>
            </a:extLst>
          </p:cNvPr>
          <p:cNvSpPr/>
          <p:nvPr/>
        </p:nvSpPr>
        <p:spPr>
          <a:xfrm>
            <a:off x="126954" y="1375490"/>
            <a:ext cx="1950550" cy="3179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Planned</a:t>
            </a:r>
          </a:p>
          <a:p>
            <a:pPr algn="ctr"/>
            <a:r>
              <a:rPr lang="en-US" sz="1400" b="1" dirty="0"/>
              <a:t>Total ghg emissions</a:t>
            </a:r>
          </a:p>
        </p:txBody>
      </p:sp>
      <p:sp>
        <p:nvSpPr>
          <p:cNvPr id="10" name="Rectangle 9">
            <a:extLst>
              <a:ext uri="{FF2B5EF4-FFF2-40B4-BE49-F238E27FC236}">
                <a16:creationId xmlns:a16="http://schemas.microsoft.com/office/drawing/2014/main" id="{DD546C5B-FF13-776A-32A9-01B49071A6F4}"/>
              </a:ext>
            </a:extLst>
          </p:cNvPr>
          <p:cNvSpPr/>
          <p:nvPr/>
        </p:nvSpPr>
        <p:spPr>
          <a:xfrm>
            <a:off x="1127927" y="1884801"/>
            <a:ext cx="918404" cy="3179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(kg co2E)</a:t>
            </a:r>
          </a:p>
        </p:txBody>
      </p:sp>
      <p:pic>
        <p:nvPicPr>
          <p:cNvPr id="18" name="Picture 17">
            <a:extLst>
              <a:ext uri="{FF2B5EF4-FFF2-40B4-BE49-F238E27FC236}">
                <a16:creationId xmlns:a16="http://schemas.microsoft.com/office/drawing/2014/main" id="{7B6D796C-2106-1D17-23DA-814594F3E40C}"/>
              </a:ext>
            </a:extLst>
          </p:cNvPr>
          <p:cNvPicPr>
            <a:picLocks noChangeAspect="1"/>
          </p:cNvPicPr>
          <p:nvPr/>
        </p:nvPicPr>
        <p:blipFill>
          <a:blip r:embed="rId2"/>
          <a:stretch>
            <a:fillRect/>
          </a:stretch>
        </p:blipFill>
        <p:spPr>
          <a:xfrm>
            <a:off x="6622181" y="1563704"/>
            <a:ext cx="5569818" cy="3194095"/>
          </a:xfrm>
          <a:prstGeom prst="rect">
            <a:avLst/>
          </a:prstGeom>
        </p:spPr>
      </p:pic>
      <p:sp>
        <p:nvSpPr>
          <p:cNvPr id="21" name="TextBox 20">
            <a:extLst>
              <a:ext uri="{FF2B5EF4-FFF2-40B4-BE49-F238E27FC236}">
                <a16:creationId xmlns:a16="http://schemas.microsoft.com/office/drawing/2014/main" id="{836D2BE9-B7E5-1619-942E-B43A611D3C2A}"/>
              </a:ext>
            </a:extLst>
          </p:cNvPr>
          <p:cNvSpPr txBox="1"/>
          <p:nvPr/>
        </p:nvSpPr>
        <p:spPr>
          <a:xfrm>
            <a:off x="6509886" y="1122659"/>
            <a:ext cx="5319562" cy="461665"/>
          </a:xfrm>
          <a:prstGeom prst="rect">
            <a:avLst/>
          </a:prstGeom>
          <a:noFill/>
        </p:spPr>
        <p:txBody>
          <a:bodyPr wrap="square">
            <a:spAutoFit/>
          </a:bodyPr>
          <a:lstStyle/>
          <a:p>
            <a:pPr algn="ctr"/>
            <a:r>
              <a:rPr lang="en-US" sz="2400" b="0" i="0" dirty="0">
                <a:solidFill>
                  <a:schemeClr val="bg1"/>
                </a:solidFill>
                <a:effectLst/>
                <a:latin typeface="Google Sans"/>
              </a:rPr>
              <a:t>Historical Charts (ghg emissions)</a:t>
            </a:r>
            <a:endParaRPr lang="en-US" sz="2400" b="0" i="0" dirty="0">
              <a:solidFill>
                <a:srgbClr val="001D35"/>
              </a:solidFill>
              <a:effectLst/>
              <a:latin typeface="Google Sans"/>
            </a:endParaRPr>
          </a:p>
        </p:txBody>
      </p:sp>
      <p:sp>
        <p:nvSpPr>
          <p:cNvPr id="24" name="Rectangle 23">
            <a:extLst>
              <a:ext uri="{FF2B5EF4-FFF2-40B4-BE49-F238E27FC236}">
                <a16:creationId xmlns:a16="http://schemas.microsoft.com/office/drawing/2014/main" id="{DC8922E3-5111-14EF-BBDF-315F5D66AECE}"/>
              </a:ext>
            </a:extLst>
          </p:cNvPr>
          <p:cNvSpPr/>
          <p:nvPr/>
        </p:nvSpPr>
        <p:spPr>
          <a:xfrm>
            <a:off x="3260678" y="1272176"/>
            <a:ext cx="2128707" cy="1267823"/>
          </a:xfrm>
          <a:prstGeom prst="rect">
            <a:avLst/>
          </a:prstGeom>
          <a:gradFill>
            <a:gsLst>
              <a:gs pos="16000">
                <a:schemeClr val="accent1">
                  <a:lumMod val="75000"/>
                </a:schemeClr>
              </a:gs>
              <a:gs pos="0">
                <a:srgbClr val="FFFFCC"/>
              </a:gs>
              <a:gs pos="70500">
                <a:schemeClr val="tx2">
                  <a:lumMod val="75000"/>
                  <a:lumOff val="25000"/>
                </a:schemeClr>
              </a:gs>
              <a:gs pos="0">
                <a:schemeClr val="accent1">
                  <a:lumMod val="45000"/>
                  <a:lumOff val="55000"/>
                </a:schemeClr>
              </a:gs>
              <a:gs pos="83000">
                <a:schemeClr val="accent1">
                  <a:lumMod val="45000"/>
                  <a:lumOff val="55000"/>
                </a:schemeClr>
              </a:gs>
              <a:gs pos="0">
                <a:schemeClr val="accent1">
                  <a:lumMod val="30000"/>
                  <a:lumOff val="70000"/>
                </a:schemeClr>
              </a:gs>
            </a:gsLst>
            <a:lin ang="5400000" scaled="1"/>
          </a:gradFill>
          <a:ln>
            <a:gradFill>
              <a:gsLst>
                <a:gs pos="16000">
                  <a:srgbClr val="FFFFCC"/>
                </a:gs>
                <a:gs pos="0">
                  <a:srgbClr val="FFFFCC"/>
                </a:gs>
                <a:gs pos="70500">
                  <a:schemeClr val="tx2">
                    <a:lumMod val="75000"/>
                    <a:lumOff val="25000"/>
                  </a:schemeClr>
                </a:gs>
                <a:gs pos="74000">
                  <a:schemeClr val="accent1">
                    <a:lumMod val="45000"/>
                    <a:lumOff val="55000"/>
                  </a:schemeClr>
                </a:gs>
                <a:gs pos="83000">
                  <a:schemeClr val="accent1">
                    <a:lumMod val="45000"/>
                    <a:lumOff val="55000"/>
                  </a:schemeClr>
                </a:gs>
                <a:gs pos="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7F28EBA-E1C7-09EE-C7AA-FF75CED166EE}"/>
              </a:ext>
            </a:extLst>
          </p:cNvPr>
          <p:cNvSpPr/>
          <p:nvPr/>
        </p:nvSpPr>
        <p:spPr>
          <a:xfrm>
            <a:off x="3332926" y="1404720"/>
            <a:ext cx="1950550" cy="3179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Last SC Run</a:t>
            </a:r>
          </a:p>
          <a:p>
            <a:pPr algn="ctr"/>
            <a:r>
              <a:rPr lang="en-US" sz="1400" b="1" dirty="0"/>
              <a:t>Total ghg emissions</a:t>
            </a:r>
          </a:p>
        </p:txBody>
      </p:sp>
      <p:cxnSp>
        <p:nvCxnSpPr>
          <p:cNvPr id="26" name="Straight Connector 25">
            <a:extLst>
              <a:ext uri="{FF2B5EF4-FFF2-40B4-BE49-F238E27FC236}">
                <a16:creationId xmlns:a16="http://schemas.microsoft.com/office/drawing/2014/main" id="{0D2DE912-6E82-24EA-9697-6A72B2150418}"/>
              </a:ext>
            </a:extLst>
          </p:cNvPr>
          <p:cNvCxnSpPr>
            <a:cxnSpLocks/>
          </p:cNvCxnSpPr>
          <p:nvPr/>
        </p:nvCxnSpPr>
        <p:spPr>
          <a:xfrm>
            <a:off x="3478887" y="1838416"/>
            <a:ext cx="165862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B46D9AD6-0779-9757-605C-44FA0AA8C48A}"/>
              </a:ext>
            </a:extLst>
          </p:cNvPr>
          <p:cNvSpPr/>
          <p:nvPr/>
        </p:nvSpPr>
        <p:spPr>
          <a:xfrm>
            <a:off x="3261537" y="1816342"/>
            <a:ext cx="1358410"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8,234</a:t>
            </a:r>
          </a:p>
        </p:txBody>
      </p:sp>
      <p:sp>
        <p:nvSpPr>
          <p:cNvPr id="28" name="Rectangle 27">
            <a:extLst>
              <a:ext uri="{FF2B5EF4-FFF2-40B4-BE49-F238E27FC236}">
                <a16:creationId xmlns:a16="http://schemas.microsoft.com/office/drawing/2014/main" id="{4CBE86B8-5B55-BDB6-AB8B-1BB2A369F5BB}"/>
              </a:ext>
            </a:extLst>
          </p:cNvPr>
          <p:cNvSpPr/>
          <p:nvPr/>
        </p:nvSpPr>
        <p:spPr>
          <a:xfrm>
            <a:off x="4317941" y="1884801"/>
            <a:ext cx="918404" cy="3179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(kg co2E)</a:t>
            </a:r>
          </a:p>
        </p:txBody>
      </p:sp>
      <p:sp>
        <p:nvSpPr>
          <p:cNvPr id="30" name="Oval 29">
            <a:extLst>
              <a:ext uri="{FF2B5EF4-FFF2-40B4-BE49-F238E27FC236}">
                <a16:creationId xmlns:a16="http://schemas.microsoft.com/office/drawing/2014/main" id="{0A3536DE-F8B6-E44D-C0A3-9E5783B0006C}"/>
              </a:ext>
            </a:extLst>
          </p:cNvPr>
          <p:cNvSpPr/>
          <p:nvPr/>
        </p:nvSpPr>
        <p:spPr>
          <a:xfrm>
            <a:off x="85263" y="3576253"/>
            <a:ext cx="3130685" cy="2943299"/>
          </a:xfrm>
          <a:prstGeom prst="ellipse">
            <a:avLst/>
          </a:prstGeom>
          <a:gradFill>
            <a:gsLst>
              <a:gs pos="16000">
                <a:schemeClr val="tx2">
                  <a:lumMod val="75000"/>
                  <a:lumOff val="25000"/>
                </a:schemeClr>
              </a:gs>
              <a:gs pos="100000">
                <a:schemeClr val="tx2">
                  <a:lumMod val="75000"/>
                  <a:lumOff val="25000"/>
                </a:schemeClr>
              </a:gs>
              <a:gs pos="24720">
                <a:srgbClr val="156082"/>
              </a:gs>
              <a:gs pos="78000">
                <a:schemeClr val="accent1">
                  <a:lumMod val="45000"/>
                  <a:lumOff val="55000"/>
                </a:schemeClr>
              </a:gs>
              <a:gs pos="83000">
                <a:schemeClr val="tx2">
                  <a:lumMod val="50000"/>
                  <a:lumOff val="50000"/>
                </a:schemeClr>
              </a:gs>
              <a:gs pos="57750">
                <a:srgbClr val="629CC5"/>
              </a:gs>
              <a:gs pos="45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A2CBC96-D0AB-961B-5590-86F461DB3330}"/>
              </a:ext>
            </a:extLst>
          </p:cNvPr>
          <p:cNvSpPr/>
          <p:nvPr/>
        </p:nvSpPr>
        <p:spPr>
          <a:xfrm>
            <a:off x="3315509" y="3576253"/>
            <a:ext cx="3130685" cy="2943299"/>
          </a:xfrm>
          <a:prstGeom prst="ellipse">
            <a:avLst/>
          </a:prstGeom>
          <a:gradFill>
            <a:gsLst>
              <a:gs pos="16000">
                <a:schemeClr val="tx2">
                  <a:lumMod val="75000"/>
                  <a:lumOff val="25000"/>
                </a:schemeClr>
              </a:gs>
              <a:gs pos="100000">
                <a:schemeClr val="tx2">
                  <a:lumMod val="75000"/>
                  <a:lumOff val="25000"/>
                </a:schemeClr>
              </a:gs>
              <a:gs pos="24720">
                <a:srgbClr val="156082"/>
              </a:gs>
              <a:gs pos="78000">
                <a:schemeClr val="accent1">
                  <a:lumMod val="45000"/>
                  <a:lumOff val="55000"/>
                </a:schemeClr>
              </a:gs>
              <a:gs pos="83000">
                <a:schemeClr val="tx2">
                  <a:lumMod val="50000"/>
                  <a:lumOff val="50000"/>
                </a:schemeClr>
              </a:gs>
              <a:gs pos="57750">
                <a:srgbClr val="629CC5"/>
              </a:gs>
              <a:gs pos="45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E877279F-8384-D7C5-743C-423160F1D93C}"/>
              </a:ext>
            </a:extLst>
          </p:cNvPr>
          <p:cNvSpPr/>
          <p:nvPr/>
        </p:nvSpPr>
        <p:spPr>
          <a:xfrm>
            <a:off x="1117352" y="3131996"/>
            <a:ext cx="4239348"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Supply Chains in Progress</a:t>
            </a:r>
          </a:p>
        </p:txBody>
      </p:sp>
      <p:sp>
        <p:nvSpPr>
          <p:cNvPr id="41" name="Rectangle 40">
            <a:extLst>
              <a:ext uri="{FF2B5EF4-FFF2-40B4-BE49-F238E27FC236}">
                <a16:creationId xmlns:a16="http://schemas.microsoft.com/office/drawing/2014/main" id="{1485C101-2FF4-DFA1-2339-01C064D82D61}"/>
              </a:ext>
            </a:extLst>
          </p:cNvPr>
          <p:cNvSpPr/>
          <p:nvPr/>
        </p:nvSpPr>
        <p:spPr>
          <a:xfrm>
            <a:off x="376677" y="3742724"/>
            <a:ext cx="2471432"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Started</a:t>
            </a:r>
          </a:p>
          <a:p>
            <a:pPr algn="ctr"/>
            <a:r>
              <a:rPr lang="en-US" sz="1600" b="1" dirty="0"/>
              <a:t> 2025-04-11 10:34:12</a:t>
            </a:r>
          </a:p>
        </p:txBody>
      </p:sp>
      <p:sp>
        <p:nvSpPr>
          <p:cNvPr id="43" name="Rectangle 42">
            <a:extLst>
              <a:ext uri="{FF2B5EF4-FFF2-40B4-BE49-F238E27FC236}">
                <a16:creationId xmlns:a16="http://schemas.microsoft.com/office/drawing/2014/main" id="{05F5FB15-77DA-93F8-B925-E4A0FA51CE18}"/>
              </a:ext>
            </a:extLst>
          </p:cNvPr>
          <p:cNvSpPr/>
          <p:nvPr/>
        </p:nvSpPr>
        <p:spPr>
          <a:xfrm>
            <a:off x="3630474" y="3767493"/>
            <a:ext cx="2471432"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Started</a:t>
            </a:r>
          </a:p>
          <a:p>
            <a:pPr algn="ctr"/>
            <a:r>
              <a:rPr lang="en-US" sz="1600" b="1" dirty="0"/>
              <a:t> 2025-04-13 09:23:09</a:t>
            </a:r>
          </a:p>
        </p:txBody>
      </p:sp>
      <p:cxnSp>
        <p:nvCxnSpPr>
          <p:cNvPr id="45" name="Straight Connector 44">
            <a:extLst>
              <a:ext uri="{FF2B5EF4-FFF2-40B4-BE49-F238E27FC236}">
                <a16:creationId xmlns:a16="http://schemas.microsoft.com/office/drawing/2014/main" id="{F8D61D01-3532-229E-D877-0DD52C3CCCF0}"/>
              </a:ext>
            </a:extLst>
          </p:cNvPr>
          <p:cNvCxnSpPr>
            <a:cxnSpLocks/>
          </p:cNvCxnSpPr>
          <p:nvPr/>
        </p:nvCxnSpPr>
        <p:spPr>
          <a:xfrm>
            <a:off x="3837904" y="4256473"/>
            <a:ext cx="197690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343A651-BAF3-E271-8464-5C2E8A17D9F8}"/>
              </a:ext>
            </a:extLst>
          </p:cNvPr>
          <p:cNvCxnSpPr>
            <a:cxnSpLocks/>
          </p:cNvCxnSpPr>
          <p:nvPr/>
        </p:nvCxnSpPr>
        <p:spPr>
          <a:xfrm>
            <a:off x="645126" y="4247892"/>
            <a:ext cx="197690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4205E0BE-1049-AF01-35AB-8054051E95FE}"/>
              </a:ext>
            </a:extLst>
          </p:cNvPr>
          <p:cNvSpPr/>
          <p:nvPr/>
        </p:nvSpPr>
        <p:spPr>
          <a:xfrm>
            <a:off x="351413" y="4355681"/>
            <a:ext cx="2471432"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Completed</a:t>
            </a:r>
          </a:p>
          <a:p>
            <a:pPr algn="ctr"/>
            <a:r>
              <a:rPr lang="en-US" sz="1600" b="1" dirty="0"/>
              <a:t> </a:t>
            </a:r>
            <a:r>
              <a:rPr lang="en-US" sz="2400" b="1" dirty="0">
                <a:solidFill>
                  <a:srgbClr val="C00000"/>
                </a:solidFill>
              </a:rPr>
              <a:t>42%</a:t>
            </a:r>
          </a:p>
        </p:txBody>
      </p:sp>
      <p:cxnSp>
        <p:nvCxnSpPr>
          <p:cNvPr id="49" name="Straight Connector 48">
            <a:extLst>
              <a:ext uri="{FF2B5EF4-FFF2-40B4-BE49-F238E27FC236}">
                <a16:creationId xmlns:a16="http://schemas.microsoft.com/office/drawing/2014/main" id="{2DAC3C84-5DEF-387D-61E4-BF99E5569A69}"/>
              </a:ext>
            </a:extLst>
          </p:cNvPr>
          <p:cNvCxnSpPr>
            <a:cxnSpLocks/>
          </p:cNvCxnSpPr>
          <p:nvPr/>
        </p:nvCxnSpPr>
        <p:spPr>
          <a:xfrm>
            <a:off x="636547" y="4876804"/>
            <a:ext cx="1985481" cy="35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54EF5CEB-F640-E124-52A6-FA9C2F37342C}"/>
              </a:ext>
            </a:extLst>
          </p:cNvPr>
          <p:cNvSpPr/>
          <p:nvPr/>
        </p:nvSpPr>
        <p:spPr>
          <a:xfrm>
            <a:off x="376678" y="4948919"/>
            <a:ext cx="2564318"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FF00"/>
                </a:solidFill>
              </a:rPr>
              <a:t>Total Emissions to This Point</a:t>
            </a:r>
          </a:p>
          <a:p>
            <a:pPr algn="ctr"/>
            <a:r>
              <a:rPr lang="en-US" sz="1600" b="1" dirty="0">
                <a:solidFill>
                  <a:srgbClr val="FFFF00"/>
                </a:solidFill>
              </a:rPr>
              <a:t> 1864.12 kg co2 E</a:t>
            </a:r>
          </a:p>
        </p:txBody>
      </p:sp>
      <p:cxnSp>
        <p:nvCxnSpPr>
          <p:cNvPr id="52" name="Straight Connector 51">
            <a:extLst>
              <a:ext uri="{FF2B5EF4-FFF2-40B4-BE49-F238E27FC236}">
                <a16:creationId xmlns:a16="http://schemas.microsoft.com/office/drawing/2014/main" id="{786F8BFE-E90C-890F-AF87-48B5EB0E0E88}"/>
              </a:ext>
            </a:extLst>
          </p:cNvPr>
          <p:cNvCxnSpPr>
            <a:cxnSpLocks/>
          </p:cNvCxnSpPr>
          <p:nvPr/>
        </p:nvCxnSpPr>
        <p:spPr>
          <a:xfrm>
            <a:off x="645126" y="5434955"/>
            <a:ext cx="1985481" cy="35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24D24A3B-B542-11FF-A2B2-44A12789983D}"/>
              </a:ext>
            </a:extLst>
          </p:cNvPr>
          <p:cNvSpPr/>
          <p:nvPr/>
        </p:nvSpPr>
        <p:spPr>
          <a:xfrm>
            <a:off x="363759" y="5520851"/>
            <a:ext cx="2471432"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156082"/>
                </a:solidFill>
              </a:rPr>
              <a:t>Stage</a:t>
            </a:r>
          </a:p>
          <a:p>
            <a:pPr algn="ctr"/>
            <a:r>
              <a:rPr lang="en-US" sz="1600" b="1" dirty="0">
                <a:solidFill>
                  <a:srgbClr val="156082"/>
                </a:solidFill>
              </a:rPr>
              <a:t> Unloading at Warehouse</a:t>
            </a:r>
          </a:p>
        </p:txBody>
      </p:sp>
      <p:sp>
        <p:nvSpPr>
          <p:cNvPr id="54" name="Rectangle 53">
            <a:extLst>
              <a:ext uri="{FF2B5EF4-FFF2-40B4-BE49-F238E27FC236}">
                <a16:creationId xmlns:a16="http://schemas.microsoft.com/office/drawing/2014/main" id="{52DCD365-D9BE-C0D0-F446-AFB3C77ED133}"/>
              </a:ext>
            </a:extLst>
          </p:cNvPr>
          <p:cNvSpPr/>
          <p:nvPr/>
        </p:nvSpPr>
        <p:spPr>
          <a:xfrm>
            <a:off x="3614985" y="4354447"/>
            <a:ext cx="2471432"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Completed</a:t>
            </a:r>
          </a:p>
          <a:p>
            <a:pPr algn="ctr"/>
            <a:r>
              <a:rPr lang="en-US" sz="1600" b="1" dirty="0"/>
              <a:t> </a:t>
            </a:r>
            <a:r>
              <a:rPr lang="en-US" sz="2400" b="1" dirty="0">
                <a:solidFill>
                  <a:srgbClr val="C00000"/>
                </a:solidFill>
              </a:rPr>
              <a:t>13%</a:t>
            </a:r>
          </a:p>
        </p:txBody>
      </p:sp>
      <p:cxnSp>
        <p:nvCxnSpPr>
          <p:cNvPr id="55" name="Straight Connector 54">
            <a:extLst>
              <a:ext uri="{FF2B5EF4-FFF2-40B4-BE49-F238E27FC236}">
                <a16:creationId xmlns:a16="http://schemas.microsoft.com/office/drawing/2014/main" id="{FF31FDF5-F37C-337A-1BCB-8EDBBAEA4FB7}"/>
              </a:ext>
            </a:extLst>
          </p:cNvPr>
          <p:cNvCxnSpPr>
            <a:cxnSpLocks/>
          </p:cNvCxnSpPr>
          <p:nvPr/>
        </p:nvCxnSpPr>
        <p:spPr>
          <a:xfrm>
            <a:off x="3881363" y="4873114"/>
            <a:ext cx="1985481" cy="35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D37E6DDE-55A9-5661-B314-9025DC2BE6C3}"/>
              </a:ext>
            </a:extLst>
          </p:cNvPr>
          <p:cNvSpPr/>
          <p:nvPr/>
        </p:nvSpPr>
        <p:spPr>
          <a:xfrm>
            <a:off x="3591944" y="4969900"/>
            <a:ext cx="2564318"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FF00"/>
                </a:solidFill>
              </a:rPr>
              <a:t>Total Emissions to This Point</a:t>
            </a:r>
          </a:p>
          <a:p>
            <a:pPr algn="ctr"/>
            <a:r>
              <a:rPr lang="en-US" sz="1600" b="1" dirty="0">
                <a:solidFill>
                  <a:srgbClr val="FFFF00"/>
                </a:solidFill>
              </a:rPr>
              <a:t> 464.12 kg co2 E</a:t>
            </a:r>
          </a:p>
        </p:txBody>
      </p:sp>
      <p:cxnSp>
        <p:nvCxnSpPr>
          <p:cNvPr id="57" name="Straight Connector 56">
            <a:extLst>
              <a:ext uri="{FF2B5EF4-FFF2-40B4-BE49-F238E27FC236}">
                <a16:creationId xmlns:a16="http://schemas.microsoft.com/office/drawing/2014/main" id="{0951465E-F064-D190-CAE9-54BA349AB04A}"/>
              </a:ext>
            </a:extLst>
          </p:cNvPr>
          <p:cNvCxnSpPr>
            <a:cxnSpLocks/>
          </p:cNvCxnSpPr>
          <p:nvPr/>
        </p:nvCxnSpPr>
        <p:spPr>
          <a:xfrm>
            <a:off x="3914868" y="5431950"/>
            <a:ext cx="1985481" cy="35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94B04891-1FB8-E555-A696-05E54F450E68}"/>
              </a:ext>
            </a:extLst>
          </p:cNvPr>
          <p:cNvSpPr/>
          <p:nvPr/>
        </p:nvSpPr>
        <p:spPr>
          <a:xfrm>
            <a:off x="3630474" y="5518479"/>
            <a:ext cx="2471432"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156082"/>
                </a:solidFill>
              </a:rPr>
              <a:t>Stage</a:t>
            </a:r>
          </a:p>
          <a:p>
            <a:pPr algn="ctr"/>
            <a:r>
              <a:rPr lang="en-US" sz="1600" b="1" dirty="0">
                <a:solidFill>
                  <a:srgbClr val="156082"/>
                </a:solidFill>
              </a:rPr>
              <a:t> Truck to Warehouse</a:t>
            </a:r>
          </a:p>
        </p:txBody>
      </p:sp>
      <p:sp>
        <p:nvSpPr>
          <p:cNvPr id="59" name="Rectangle: Beveled 58">
            <a:extLst>
              <a:ext uri="{FF2B5EF4-FFF2-40B4-BE49-F238E27FC236}">
                <a16:creationId xmlns:a16="http://schemas.microsoft.com/office/drawing/2014/main" id="{04C92ACB-9BA8-226A-22D2-748FEA184E7F}"/>
              </a:ext>
            </a:extLst>
          </p:cNvPr>
          <p:cNvSpPr/>
          <p:nvPr/>
        </p:nvSpPr>
        <p:spPr>
          <a:xfrm>
            <a:off x="3986438" y="461616"/>
            <a:ext cx="1126412"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Unloading</a:t>
            </a:r>
          </a:p>
        </p:txBody>
      </p:sp>
      <p:sp>
        <p:nvSpPr>
          <p:cNvPr id="60" name="Rectangle: Beveled 59">
            <a:extLst>
              <a:ext uri="{FF2B5EF4-FFF2-40B4-BE49-F238E27FC236}">
                <a16:creationId xmlns:a16="http://schemas.microsoft.com/office/drawing/2014/main" id="{C933CC5D-31EA-3B78-D871-5AD1510F2AC6}"/>
              </a:ext>
            </a:extLst>
          </p:cNvPr>
          <p:cNvSpPr/>
          <p:nvPr/>
        </p:nvSpPr>
        <p:spPr>
          <a:xfrm>
            <a:off x="5137404" y="463362"/>
            <a:ext cx="1166968"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Warehouse</a:t>
            </a:r>
          </a:p>
        </p:txBody>
      </p:sp>
      <p:sp>
        <p:nvSpPr>
          <p:cNvPr id="61" name="Rectangle: Beveled 60">
            <a:extLst>
              <a:ext uri="{FF2B5EF4-FFF2-40B4-BE49-F238E27FC236}">
                <a16:creationId xmlns:a16="http://schemas.microsoft.com/office/drawing/2014/main" id="{B77C7498-0AE7-A351-A705-B11ECA6F878B}"/>
              </a:ext>
            </a:extLst>
          </p:cNvPr>
          <p:cNvSpPr/>
          <p:nvPr/>
        </p:nvSpPr>
        <p:spPr>
          <a:xfrm>
            <a:off x="6335653" y="467727"/>
            <a:ext cx="1277259"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Grinding OPS</a:t>
            </a:r>
          </a:p>
        </p:txBody>
      </p:sp>
      <p:sp>
        <p:nvSpPr>
          <p:cNvPr id="62" name="Rectangle: Beveled 61">
            <a:extLst>
              <a:ext uri="{FF2B5EF4-FFF2-40B4-BE49-F238E27FC236}">
                <a16:creationId xmlns:a16="http://schemas.microsoft.com/office/drawing/2014/main" id="{7B765759-9816-82A5-5384-5103FA111232}"/>
              </a:ext>
            </a:extLst>
          </p:cNvPr>
          <p:cNvSpPr/>
          <p:nvPr/>
        </p:nvSpPr>
        <p:spPr>
          <a:xfrm>
            <a:off x="7638128" y="479217"/>
            <a:ext cx="1686625"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Loading Ocean Vessel</a:t>
            </a:r>
          </a:p>
        </p:txBody>
      </p:sp>
      <p:sp>
        <p:nvSpPr>
          <p:cNvPr id="63" name="Rectangle: Beveled 62">
            <a:extLst>
              <a:ext uri="{FF2B5EF4-FFF2-40B4-BE49-F238E27FC236}">
                <a16:creationId xmlns:a16="http://schemas.microsoft.com/office/drawing/2014/main" id="{4FDC049D-2D31-D8AB-C6D4-E0EB32AE36C7}"/>
              </a:ext>
            </a:extLst>
          </p:cNvPr>
          <p:cNvSpPr/>
          <p:nvPr/>
        </p:nvSpPr>
        <p:spPr>
          <a:xfrm>
            <a:off x="9344653" y="479217"/>
            <a:ext cx="1686625"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Unload at NY Harbor</a:t>
            </a:r>
          </a:p>
        </p:txBody>
      </p:sp>
      <p:sp>
        <p:nvSpPr>
          <p:cNvPr id="64" name="Rectangle: Beveled 63">
            <a:extLst>
              <a:ext uri="{FF2B5EF4-FFF2-40B4-BE49-F238E27FC236}">
                <a16:creationId xmlns:a16="http://schemas.microsoft.com/office/drawing/2014/main" id="{A4E3B774-B185-ACB0-E274-07268DD3A325}"/>
              </a:ext>
            </a:extLst>
          </p:cNvPr>
          <p:cNvSpPr/>
          <p:nvPr/>
        </p:nvSpPr>
        <p:spPr>
          <a:xfrm>
            <a:off x="11051178" y="467727"/>
            <a:ext cx="1276883"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Repack OPS</a:t>
            </a:r>
          </a:p>
        </p:txBody>
      </p:sp>
    </p:spTree>
    <p:extLst>
      <p:ext uri="{BB962C8B-B14F-4D97-AF65-F5344CB8AC3E}">
        <p14:creationId xmlns:p14="http://schemas.microsoft.com/office/powerpoint/2010/main" val="19187069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E91C6-CFF2-791C-6C04-63368508E70F}"/>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10B27F23-8B0D-9E44-0B17-C160BF0DE348}"/>
              </a:ext>
            </a:extLst>
          </p:cNvPr>
          <p:cNvSpPr/>
          <p:nvPr/>
        </p:nvSpPr>
        <p:spPr>
          <a:xfrm>
            <a:off x="5728" y="1007162"/>
            <a:ext cx="12180896" cy="5840439"/>
          </a:xfrm>
          <a:prstGeom prst="rect">
            <a:avLst/>
          </a:prstGeom>
          <a:solidFill>
            <a:schemeClr val="accent1"/>
          </a:solidFill>
          <a:ln>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EA83891-3897-1EFD-0D50-769FDD54E785}"/>
              </a:ext>
            </a:extLst>
          </p:cNvPr>
          <p:cNvSpPr/>
          <p:nvPr/>
        </p:nvSpPr>
        <p:spPr>
          <a:xfrm>
            <a:off x="11104" y="341903"/>
            <a:ext cx="12180896" cy="656492"/>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lumMod val="85000"/>
                    <a:lumOff val="15000"/>
                  </a:schemeClr>
                </a:solidFill>
                <a:highlight>
                  <a:srgbClr val="FFFFCC"/>
                </a:highlight>
              </a:rPr>
              <a:t>Supply Chain</a:t>
            </a:r>
            <a:r>
              <a:rPr lang="en-US" sz="1600" b="1" dirty="0">
                <a:solidFill>
                  <a:schemeClr val="tx1">
                    <a:lumMod val="85000"/>
                    <a:lumOff val="15000"/>
                  </a:schemeClr>
                </a:solidFill>
              </a:rPr>
              <a:t>     Loading Ops(Grower)    Trucking      </a:t>
            </a:r>
            <a:r>
              <a:rPr lang="en-US" sz="1600" b="1" dirty="0" err="1">
                <a:solidFill>
                  <a:srgbClr val="FF0000"/>
                </a:solidFill>
              </a:rPr>
              <a:t>UnloOps</a:t>
            </a:r>
            <a:endParaRPr lang="en-US" sz="1600" b="1" dirty="0">
              <a:solidFill>
                <a:srgbClr val="FF0000"/>
              </a:solidFill>
            </a:endParaRPr>
          </a:p>
        </p:txBody>
      </p:sp>
      <p:sp>
        <p:nvSpPr>
          <p:cNvPr id="14" name="Rectangle: Beveled 13">
            <a:extLst>
              <a:ext uri="{FF2B5EF4-FFF2-40B4-BE49-F238E27FC236}">
                <a16:creationId xmlns:a16="http://schemas.microsoft.com/office/drawing/2014/main" id="{D85B31E0-9DC2-89DA-58DD-FC3E29FC95D7}"/>
              </a:ext>
            </a:extLst>
          </p:cNvPr>
          <p:cNvSpPr/>
          <p:nvPr/>
        </p:nvSpPr>
        <p:spPr>
          <a:xfrm>
            <a:off x="74166" y="439563"/>
            <a:ext cx="1256306"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Supply Chain</a:t>
            </a:r>
          </a:p>
        </p:txBody>
      </p:sp>
      <p:sp>
        <p:nvSpPr>
          <p:cNvPr id="15" name="Rectangle: Beveled 14">
            <a:extLst>
              <a:ext uri="{FF2B5EF4-FFF2-40B4-BE49-F238E27FC236}">
                <a16:creationId xmlns:a16="http://schemas.microsoft.com/office/drawing/2014/main" id="{B44BE58D-7828-5863-EB46-250AB9B139D6}"/>
              </a:ext>
            </a:extLst>
          </p:cNvPr>
          <p:cNvSpPr/>
          <p:nvPr/>
        </p:nvSpPr>
        <p:spPr>
          <a:xfrm>
            <a:off x="1344665" y="450033"/>
            <a:ext cx="1596331"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Truck Load(grower)</a:t>
            </a:r>
          </a:p>
        </p:txBody>
      </p:sp>
      <p:sp>
        <p:nvSpPr>
          <p:cNvPr id="16" name="Rectangle: Beveled 15">
            <a:extLst>
              <a:ext uri="{FF2B5EF4-FFF2-40B4-BE49-F238E27FC236}">
                <a16:creationId xmlns:a16="http://schemas.microsoft.com/office/drawing/2014/main" id="{07B0CE98-FE13-F2D5-922D-619CCDAAA0AC}"/>
              </a:ext>
            </a:extLst>
          </p:cNvPr>
          <p:cNvSpPr/>
          <p:nvPr/>
        </p:nvSpPr>
        <p:spPr>
          <a:xfrm>
            <a:off x="2961393" y="457095"/>
            <a:ext cx="1008486"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Trucking</a:t>
            </a:r>
          </a:p>
        </p:txBody>
      </p:sp>
      <p:sp>
        <p:nvSpPr>
          <p:cNvPr id="2" name="Rectangle 1">
            <a:extLst>
              <a:ext uri="{FF2B5EF4-FFF2-40B4-BE49-F238E27FC236}">
                <a16:creationId xmlns:a16="http://schemas.microsoft.com/office/drawing/2014/main" id="{7A21BD5F-AFB9-DC4C-381F-AB82AD8B5908}"/>
              </a:ext>
            </a:extLst>
          </p:cNvPr>
          <p:cNvSpPr/>
          <p:nvPr/>
        </p:nvSpPr>
        <p:spPr>
          <a:xfrm>
            <a:off x="1517604" y="5327173"/>
            <a:ext cx="3921089" cy="1267823"/>
          </a:xfrm>
          <a:prstGeom prst="rect">
            <a:avLst/>
          </a:prstGeom>
          <a:gradFill>
            <a:gsLst>
              <a:gs pos="16000">
                <a:schemeClr val="accent1">
                  <a:lumMod val="75000"/>
                </a:schemeClr>
              </a:gs>
              <a:gs pos="0">
                <a:srgbClr val="FFFFCC"/>
              </a:gs>
              <a:gs pos="70500">
                <a:schemeClr val="tx2">
                  <a:lumMod val="75000"/>
                  <a:lumOff val="25000"/>
                </a:schemeClr>
              </a:gs>
              <a:gs pos="0">
                <a:schemeClr val="accent1">
                  <a:lumMod val="45000"/>
                  <a:lumOff val="55000"/>
                </a:schemeClr>
              </a:gs>
              <a:gs pos="83000">
                <a:schemeClr val="accent1">
                  <a:lumMod val="45000"/>
                  <a:lumOff val="55000"/>
                </a:schemeClr>
              </a:gs>
              <a:gs pos="0">
                <a:schemeClr val="accent1">
                  <a:lumMod val="30000"/>
                  <a:lumOff val="70000"/>
                </a:schemeClr>
              </a:gs>
            </a:gsLst>
            <a:lin ang="5400000" scaled="1"/>
          </a:gradFill>
          <a:ln>
            <a:gradFill>
              <a:gsLst>
                <a:gs pos="16000">
                  <a:srgbClr val="FFFFCC"/>
                </a:gs>
                <a:gs pos="0">
                  <a:srgbClr val="FFFFCC"/>
                </a:gs>
                <a:gs pos="70500">
                  <a:schemeClr val="tx2">
                    <a:lumMod val="75000"/>
                    <a:lumOff val="25000"/>
                  </a:schemeClr>
                </a:gs>
                <a:gs pos="74000">
                  <a:schemeClr val="accent1">
                    <a:lumMod val="45000"/>
                    <a:lumOff val="55000"/>
                  </a:schemeClr>
                </a:gs>
                <a:gs pos="83000">
                  <a:schemeClr val="accent1">
                    <a:lumMod val="45000"/>
                    <a:lumOff val="55000"/>
                  </a:schemeClr>
                </a:gs>
                <a:gs pos="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793EF11-7A9C-1868-3B62-066CC3A07413}"/>
              </a:ext>
            </a:extLst>
          </p:cNvPr>
          <p:cNvSpPr/>
          <p:nvPr/>
        </p:nvSpPr>
        <p:spPr>
          <a:xfrm>
            <a:off x="1464711" y="5506930"/>
            <a:ext cx="3973982" cy="4383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Planned</a:t>
            </a:r>
          </a:p>
          <a:p>
            <a:pPr algn="ctr"/>
            <a:r>
              <a:rPr lang="en-US" sz="1400" b="1" dirty="0"/>
              <a:t>Total ghg emissions for this Supply Chain Segment</a:t>
            </a:r>
          </a:p>
        </p:txBody>
      </p:sp>
      <p:sp>
        <p:nvSpPr>
          <p:cNvPr id="21" name="TextBox 20">
            <a:extLst>
              <a:ext uri="{FF2B5EF4-FFF2-40B4-BE49-F238E27FC236}">
                <a16:creationId xmlns:a16="http://schemas.microsoft.com/office/drawing/2014/main" id="{12F03A4E-6813-89D8-CBB1-E021DAF40028}"/>
              </a:ext>
            </a:extLst>
          </p:cNvPr>
          <p:cNvSpPr txBox="1"/>
          <p:nvPr/>
        </p:nvSpPr>
        <p:spPr>
          <a:xfrm>
            <a:off x="6799758" y="3700852"/>
            <a:ext cx="5340050" cy="461665"/>
          </a:xfrm>
          <a:prstGeom prst="rect">
            <a:avLst/>
          </a:prstGeom>
          <a:noFill/>
        </p:spPr>
        <p:txBody>
          <a:bodyPr wrap="square">
            <a:spAutoFit/>
          </a:bodyPr>
          <a:lstStyle/>
          <a:p>
            <a:r>
              <a:rPr lang="en-US" sz="2400" dirty="0">
                <a:solidFill>
                  <a:schemeClr val="bg1"/>
                </a:solidFill>
                <a:latin typeface="Google Sans"/>
              </a:rPr>
              <a:t>History</a:t>
            </a:r>
            <a:r>
              <a:rPr lang="en-US" sz="2400" b="0" i="0" dirty="0">
                <a:solidFill>
                  <a:schemeClr val="bg1"/>
                </a:solidFill>
                <a:effectLst/>
                <a:latin typeface="Google Sans"/>
              </a:rPr>
              <a:t> of ghg emissions for this segment</a:t>
            </a:r>
            <a:endParaRPr lang="en-US" sz="2400" b="0" i="0" dirty="0">
              <a:solidFill>
                <a:srgbClr val="001D35"/>
              </a:solidFill>
              <a:effectLst/>
              <a:latin typeface="Google Sans"/>
            </a:endParaRPr>
          </a:p>
        </p:txBody>
      </p:sp>
      <p:sp>
        <p:nvSpPr>
          <p:cNvPr id="27" name="Rectangle 26">
            <a:extLst>
              <a:ext uri="{FF2B5EF4-FFF2-40B4-BE49-F238E27FC236}">
                <a16:creationId xmlns:a16="http://schemas.microsoft.com/office/drawing/2014/main" id="{C75A3C86-0292-F488-AE26-A9AD60005592}"/>
              </a:ext>
            </a:extLst>
          </p:cNvPr>
          <p:cNvSpPr/>
          <p:nvPr/>
        </p:nvSpPr>
        <p:spPr>
          <a:xfrm>
            <a:off x="2262505" y="6049400"/>
            <a:ext cx="1358410"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235.64</a:t>
            </a:r>
          </a:p>
        </p:txBody>
      </p:sp>
      <p:sp>
        <p:nvSpPr>
          <p:cNvPr id="28" name="Rectangle 27">
            <a:extLst>
              <a:ext uri="{FF2B5EF4-FFF2-40B4-BE49-F238E27FC236}">
                <a16:creationId xmlns:a16="http://schemas.microsoft.com/office/drawing/2014/main" id="{9125D16A-EAFD-3756-AF54-26B1F48EAFBC}"/>
              </a:ext>
            </a:extLst>
          </p:cNvPr>
          <p:cNvSpPr/>
          <p:nvPr/>
        </p:nvSpPr>
        <p:spPr>
          <a:xfrm>
            <a:off x="3422798" y="6113934"/>
            <a:ext cx="918404" cy="3179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(kg co2E)</a:t>
            </a:r>
          </a:p>
        </p:txBody>
      </p:sp>
      <p:sp>
        <p:nvSpPr>
          <p:cNvPr id="30" name="Oval 29">
            <a:extLst>
              <a:ext uri="{FF2B5EF4-FFF2-40B4-BE49-F238E27FC236}">
                <a16:creationId xmlns:a16="http://schemas.microsoft.com/office/drawing/2014/main" id="{3E066C62-8902-4D17-93D6-198DBF6BB803}"/>
              </a:ext>
            </a:extLst>
          </p:cNvPr>
          <p:cNvSpPr/>
          <p:nvPr/>
        </p:nvSpPr>
        <p:spPr>
          <a:xfrm>
            <a:off x="3411526" y="2249424"/>
            <a:ext cx="3130685" cy="2943299"/>
          </a:xfrm>
          <a:prstGeom prst="ellipse">
            <a:avLst/>
          </a:prstGeom>
          <a:gradFill>
            <a:gsLst>
              <a:gs pos="16000">
                <a:schemeClr val="tx2">
                  <a:lumMod val="75000"/>
                  <a:lumOff val="25000"/>
                </a:schemeClr>
              </a:gs>
              <a:gs pos="100000">
                <a:schemeClr val="tx2">
                  <a:lumMod val="75000"/>
                  <a:lumOff val="25000"/>
                </a:schemeClr>
              </a:gs>
              <a:gs pos="24720">
                <a:srgbClr val="156082"/>
              </a:gs>
              <a:gs pos="78000">
                <a:schemeClr val="accent1">
                  <a:lumMod val="45000"/>
                  <a:lumOff val="55000"/>
                </a:schemeClr>
              </a:gs>
              <a:gs pos="83000">
                <a:schemeClr val="tx2">
                  <a:lumMod val="50000"/>
                  <a:lumOff val="50000"/>
                </a:schemeClr>
              </a:gs>
              <a:gs pos="57750">
                <a:srgbClr val="629CC5"/>
              </a:gs>
              <a:gs pos="45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FF2BFC10-2044-2CB9-28C3-12E66475FFC8}"/>
              </a:ext>
            </a:extLst>
          </p:cNvPr>
          <p:cNvSpPr/>
          <p:nvPr/>
        </p:nvSpPr>
        <p:spPr>
          <a:xfrm>
            <a:off x="67432" y="2252500"/>
            <a:ext cx="3130685" cy="2943299"/>
          </a:xfrm>
          <a:prstGeom prst="ellipse">
            <a:avLst/>
          </a:prstGeom>
          <a:gradFill>
            <a:gsLst>
              <a:gs pos="16000">
                <a:schemeClr val="tx2">
                  <a:lumMod val="75000"/>
                  <a:lumOff val="25000"/>
                </a:schemeClr>
              </a:gs>
              <a:gs pos="100000">
                <a:schemeClr val="tx2">
                  <a:lumMod val="75000"/>
                  <a:lumOff val="25000"/>
                </a:schemeClr>
              </a:gs>
              <a:gs pos="24720">
                <a:srgbClr val="156082"/>
              </a:gs>
              <a:gs pos="78000">
                <a:schemeClr val="accent1">
                  <a:lumMod val="45000"/>
                  <a:lumOff val="55000"/>
                </a:schemeClr>
              </a:gs>
              <a:gs pos="83000">
                <a:schemeClr val="tx2">
                  <a:lumMod val="50000"/>
                  <a:lumOff val="50000"/>
                </a:schemeClr>
              </a:gs>
              <a:gs pos="57750">
                <a:srgbClr val="629CC5"/>
              </a:gs>
              <a:gs pos="45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9965F923-4207-4E33-F672-5B5726239232}"/>
              </a:ext>
            </a:extLst>
          </p:cNvPr>
          <p:cNvSpPr/>
          <p:nvPr/>
        </p:nvSpPr>
        <p:spPr>
          <a:xfrm>
            <a:off x="-25088" y="1024267"/>
            <a:ext cx="7909446"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t>Supply Chain Segment : Truck Beans to Coffee Warehouse</a:t>
            </a:r>
          </a:p>
        </p:txBody>
      </p:sp>
      <p:sp>
        <p:nvSpPr>
          <p:cNvPr id="41" name="Rectangle 40">
            <a:extLst>
              <a:ext uri="{FF2B5EF4-FFF2-40B4-BE49-F238E27FC236}">
                <a16:creationId xmlns:a16="http://schemas.microsoft.com/office/drawing/2014/main" id="{E996FB21-6F5E-9108-B823-B58F2D9F361E}"/>
              </a:ext>
            </a:extLst>
          </p:cNvPr>
          <p:cNvSpPr/>
          <p:nvPr/>
        </p:nvSpPr>
        <p:spPr>
          <a:xfrm>
            <a:off x="351413" y="2685270"/>
            <a:ext cx="2471432"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Started</a:t>
            </a:r>
          </a:p>
          <a:p>
            <a:pPr algn="ctr"/>
            <a:r>
              <a:rPr lang="en-US" sz="1600" b="1" dirty="0"/>
              <a:t> 2025-04-13 10:34:12</a:t>
            </a:r>
          </a:p>
        </p:txBody>
      </p:sp>
      <p:sp>
        <p:nvSpPr>
          <p:cNvPr id="48" name="Rectangle 47">
            <a:extLst>
              <a:ext uri="{FF2B5EF4-FFF2-40B4-BE49-F238E27FC236}">
                <a16:creationId xmlns:a16="http://schemas.microsoft.com/office/drawing/2014/main" id="{AD838DFA-7526-CFF6-48BA-33A3663B35DA}"/>
              </a:ext>
            </a:extLst>
          </p:cNvPr>
          <p:cNvSpPr/>
          <p:nvPr/>
        </p:nvSpPr>
        <p:spPr>
          <a:xfrm>
            <a:off x="296158" y="3386636"/>
            <a:ext cx="2471432"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Completed</a:t>
            </a:r>
          </a:p>
          <a:p>
            <a:pPr algn="ctr"/>
            <a:r>
              <a:rPr lang="en-US" sz="1600" b="1" dirty="0"/>
              <a:t> </a:t>
            </a:r>
            <a:r>
              <a:rPr lang="en-US" sz="2400" b="1" dirty="0">
                <a:solidFill>
                  <a:srgbClr val="C00000"/>
                </a:solidFill>
              </a:rPr>
              <a:t>42%</a:t>
            </a:r>
          </a:p>
        </p:txBody>
      </p:sp>
      <p:cxnSp>
        <p:nvCxnSpPr>
          <p:cNvPr id="49" name="Straight Connector 48">
            <a:extLst>
              <a:ext uri="{FF2B5EF4-FFF2-40B4-BE49-F238E27FC236}">
                <a16:creationId xmlns:a16="http://schemas.microsoft.com/office/drawing/2014/main" id="{56DF8EF3-6544-034B-699C-5442FB8660F7}"/>
              </a:ext>
            </a:extLst>
          </p:cNvPr>
          <p:cNvCxnSpPr>
            <a:cxnSpLocks/>
          </p:cNvCxnSpPr>
          <p:nvPr/>
        </p:nvCxnSpPr>
        <p:spPr>
          <a:xfrm>
            <a:off x="379633" y="3969881"/>
            <a:ext cx="23677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D1C013D7-F858-9ABA-532E-6049353B9ADD}"/>
              </a:ext>
            </a:extLst>
          </p:cNvPr>
          <p:cNvSpPr/>
          <p:nvPr/>
        </p:nvSpPr>
        <p:spPr>
          <a:xfrm>
            <a:off x="295552" y="4203457"/>
            <a:ext cx="2564318"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rgbClr val="156082"/>
                </a:solidFill>
              </a:rPr>
              <a:t>Actuals in real time:</a:t>
            </a:r>
          </a:p>
          <a:p>
            <a:pPr algn="ctr"/>
            <a:r>
              <a:rPr lang="en-US" sz="1600" b="1" dirty="0">
                <a:solidFill>
                  <a:srgbClr val="FFFF00"/>
                </a:solidFill>
              </a:rPr>
              <a:t>Total Emissions to This Point</a:t>
            </a:r>
          </a:p>
          <a:p>
            <a:pPr algn="ctr"/>
            <a:r>
              <a:rPr lang="en-US" sz="1600" b="1" dirty="0">
                <a:solidFill>
                  <a:schemeClr val="tx1"/>
                </a:solidFill>
              </a:rPr>
              <a:t> 94.84 kg co2 E</a:t>
            </a:r>
          </a:p>
        </p:txBody>
      </p:sp>
      <p:sp>
        <p:nvSpPr>
          <p:cNvPr id="54" name="Rectangle 53">
            <a:extLst>
              <a:ext uri="{FF2B5EF4-FFF2-40B4-BE49-F238E27FC236}">
                <a16:creationId xmlns:a16="http://schemas.microsoft.com/office/drawing/2014/main" id="{4BDB943B-D9BD-8359-ECEA-A6104B5C6960}"/>
              </a:ext>
            </a:extLst>
          </p:cNvPr>
          <p:cNvSpPr/>
          <p:nvPr/>
        </p:nvSpPr>
        <p:spPr>
          <a:xfrm>
            <a:off x="3737758" y="3381887"/>
            <a:ext cx="2471432"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Completed</a:t>
            </a:r>
          </a:p>
          <a:p>
            <a:pPr algn="ctr"/>
            <a:r>
              <a:rPr lang="en-US" sz="2400" b="1" dirty="0">
                <a:solidFill>
                  <a:srgbClr val="C00000"/>
                </a:solidFill>
              </a:rPr>
              <a:t>42%</a:t>
            </a:r>
          </a:p>
        </p:txBody>
      </p:sp>
      <p:sp>
        <p:nvSpPr>
          <p:cNvPr id="56" name="Rectangle 55">
            <a:extLst>
              <a:ext uri="{FF2B5EF4-FFF2-40B4-BE49-F238E27FC236}">
                <a16:creationId xmlns:a16="http://schemas.microsoft.com/office/drawing/2014/main" id="{5E431584-2636-833A-0B24-3294C61580B6}"/>
              </a:ext>
            </a:extLst>
          </p:cNvPr>
          <p:cNvSpPr/>
          <p:nvPr/>
        </p:nvSpPr>
        <p:spPr>
          <a:xfrm>
            <a:off x="3447933" y="4035084"/>
            <a:ext cx="3045726"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FF00"/>
                </a:solidFill>
              </a:rPr>
              <a:t>Budgeted Emissions to </a:t>
            </a:r>
            <a:r>
              <a:rPr lang="en-US" sz="1600" b="1" dirty="0" err="1">
                <a:solidFill>
                  <a:srgbClr val="FFFF00"/>
                </a:solidFill>
              </a:rPr>
              <a:t>ThisPoint</a:t>
            </a:r>
            <a:endParaRPr lang="en-US" sz="1600" b="1" dirty="0">
              <a:solidFill>
                <a:srgbClr val="FFFF00"/>
              </a:solidFill>
            </a:endParaRPr>
          </a:p>
          <a:p>
            <a:pPr algn="ctr"/>
            <a:r>
              <a:rPr lang="en-US" sz="1600" b="1" dirty="0">
                <a:solidFill>
                  <a:srgbClr val="FFFF00"/>
                </a:solidFill>
              </a:rPr>
              <a:t> </a:t>
            </a:r>
            <a:r>
              <a:rPr lang="en-US" sz="1600" b="1" dirty="0">
                <a:solidFill>
                  <a:schemeClr val="bg2">
                    <a:lumMod val="10000"/>
                  </a:schemeClr>
                </a:solidFill>
              </a:rPr>
              <a:t>101.12 kg co2 E</a:t>
            </a:r>
          </a:p>
        </p:txBody>
      </p:sp>
      <p:cxnSp>
        <p:nvCxnSpPr>
          <p:cNvPr id="57" name="Straight Connector 56">
            <a:extLst>
              <a:ext uri="{FF2B5EF4-FFF2-40B4-BE49-F238E27FC236}">
                <a16:creationId xmlns:a16="http://schemas.microsoft.com/office/drawing/2014/main" id="{F232698A-9048-06B2-463A-F6A8AC2B1390}"/>
              </a:ext>
            </a:extLst>
          </p:cNvPr>
          <p:cNvCxnSpPr>
            <a:cxnSpLocks/>
          </p:cNvCxnSpPr>
          <p:nvPr/>
        </p:nvCxnSpPr>
        <p:spPr>
          <a:xfrm>
            <a:off x="2074219" y="6034309"/>
            <a:ext cx="286354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9" name="Rectangle: Beveled 58">
            <a:extLst>
              <a:ext uri="{FF2B5EF4-FFF2-40B4-BE49-F238E27FC236}">
                <a16:creationId xmlns:a16="http://schemas.microsoft.com/office/drawing/2014/main" id="{D01A01B9-6284-41CF-8986-2DF412CD560E}"/>
              </a:ext>
            </a:extLst>
          </p:cNvPr>
          <p:cNvSpPr/>
          <p:nvPr/>
        </p:nvSpPr>
        <p:spPr>
          <a:xfrm>
            <a:off x="3986438" y="461616"/>
            <a:ext cx="1126412"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Unloading</a:t>
            </a:r>
          </a:p>
        </p:txBody>
      </p:sp>
      <p:sp>
        <p:nvSpPr>
          <p:cNvPr id="60" name="Rectangle: Beveled 59">
            <a:extLst>
              <a:ext uri="{FF2B5EF4-FFF2-40B4-BE49-F238E27FC236}">
                <a16:creationId xmlns:a16="http://schemas.microsoft.com/office/drawing/2014/main" id="{CE845DB2-1F03-E9F3-D964-0208D8B49061}"/>
              </a:ext>
            </a:extLst>
          </p:cNvPr>
          <p:cNvSpPr/>
          <p:nvPr/>
        </p:nvSpPr>
        <p:spPr>
          <a:xfrm>
            <a:off x="5137404" y="463362"/>
            <a:ext cx="1166968"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Warehouse</a:t>
            </a:r>
          </a:p>
        </p:txBody>
      </p:sp>
      <p:sp>
        <p:nvSpPr>
          <p:cNvPr id="61" name="Rectangle: Beveled 60">
            <a:extLst>
              <a:ext uri="{FF2B5EF4-FFF2-40B4-BE49-F238E27FC236}">
                <a16:creationId xmlns:a16="http://schemas.microsoft.com/office/drawing/2014/main" id="{7414BDE9-262C-0232-5CB6-A81F68FF09C3}"/>
              </a:ext>
            </a:extLst>
          </p:cNvPr>
          <p:cNvSpPr/>
          <p:nvPr/>
        </p:nvSpPr>
        <p:spPr>
          <a:xfrm>
            <a:off x="6335653" y="467727"/>
            <a:ext cx="1277259"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Grinding OPS</a:t>
            </a:r>
          </a:p>
        </p:txBody>
      </p:sp>
      <p:sp>
        <p:nvSpPr>
          <p:cNvPr id="62" name="Rectangle: Beveled 61">
            <a:extLst>
              <a:ext uri="{FF2B5EF4-FFF2-40B4-BE49-F238E27FC236}">
                <a16:creationId xmlns:a16="http://schemas.microsoft.com/office/drawing/2014/main" id="{9DF35909-F7B3-4465-4BD4-07897AA520BF}"/>
              </a:ext>
            </a:extLst>
          </p:cNvPr>
          <p:cNvSpPr/>
          <p:nvPr/>
        </p:nvSpPr>
        <p:spPr>
          <a:xfrm>
            <a:off x="7638128" y="479217"/>
            <a:ext cx="1686625"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Loading Ocean Vessel</a:t>
            </a:r>
          </a:p>
        </p:txBody>
      </p:sp>
      <p:sp>
        <p:nvSpPr>
          <p:cNvPr id="63" name="Rectangle: Beveled 62">
            <a:extLst>
              <a:ext uri="{FF2B5EF4-FFF2-40B4-BE49-F238E27FC236}">
                <a16:creationId xmlns:a16="http://schemas.microsoft.com/office/drawing/2014/main" id="{C2999742-ED5C-7F4B-9456-7755F3CCC4AC}"/>
              </a:ext>
            </a:extLst>
          </p:cNvPr>
          <p:cNvSpPr/>
          <p:nvPr/>
        </p:nvSpPr>
        <p:spPr>
          <a:xfrm>
            <a:off x="9344653" y="479217"/>
            <a:ext cx="1686625"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Unload at NY Harbor</a:t>
            </a:r>
          </a:p>
        </p:txBody>
      </p:sp>
      <p:sp>
        <p:nvSpPr>
          <p:cNvPr id="64" name="Rectangle: Beveled 63">
            <a:extLst>
              <a:ext uri="{FF2B5EF4-FFF2-40B4-BE49-F238E27FC236}">
                <a16:creationId xmlns:a16="http://schemas.microsoft.com/office/drawing/2014/main" id="{8CFD9870-B6A5-C021-3F9F-B7B7A107839D}"/>
              </a:ext>
            </a:extLst>
          </p:cNvPr>
          <p:cNvSpPr/>
          <p:nvPr/>
        </p:nvSpPr>
        <p:spPr>
          <a:xfrm>
            <a:off x="11051178" y="467727"/>
            <a:ext cx="1276883"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Repack OPS</a:t>
            </a:r>
          </a:p>
        </p:txBody>
      </p:sp>
      <p:cxnSp>
        <p:nvCxnSpPr>
          <p:cNvPr id="4" name="Straight Arrow Connector 3">
            <a:extLst>
              <a:ext uri="{FF2B5EF4-FFF2-40B4-BE49-F238E27FC236}">
                <a16:creationId xmlns:a16="http://schemas.microsoft.com/office/drawing/2014/main" id="{9A19453B-6CCD-B668-0780-87BF59A3CF2F}"/>
              </a:ext>
            </a:extLst>
          </p:cNvPr>
          <p:cNvCxnSpPr>
            <a:cxnSpLocks/>
          </p:cNvCxnSpPr>
          <p:nvPr/>
        </p:nvCxnSpPr>
        <p:spPr>
          <a:xfrm flipH="1">
            <a:off x="3457635" y="188028"/>
            <a:ext cx="914466" cy="359867"/>
          </a:xfrm>
          <a:prstGeom prst="straightConnector1">
            <a:avLst/>
          </a:prstGeom>
          <a:ln w="34925">
            <a:solidFill>
              <a:srgbClr val="FF0000"/>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AE1565A-E89B-2AD7-B348-4779ACBA7727}"/>
              </a:ext>
            </a:extLst>
          </p:cNvPr>
          <p:cNvSpPr txBox="1"/>
          <p:nvPr/>
        </p:nvSpPr>
        <p:spPr>
          <a:xfrm>
            <a:off x="4372101" y="-43476"/>
            <a:ext cx="4585395" cy="369332"/>
          </a:xfrm>
          <a:prstGeom prst="rect">
            <a:avLst/>
          </a:prstGeom>
          <a:noFill/>
        </p:spPr>
        <p:txBody>
          <a:bodyPr wrap="square" rtlCol="0">
            <a:spAutoFit/>
          </a:bodyPr>
          <a:lstStyle/>
          <a:p>
            <a:r>
              <a:rPr lang="en-US" dirty="0"/>
              <a:t>press for detail on supply chain segment </a:t>
            </a:r>
          </a:p>
        </p:txBody>
      </p:sp>
      <p:cxnSp>
        <p:nvCxnSpPr>
          <p:cNvPr id="22" name="Straight Connector 21">
            <a:extLst>
              <a:ext uri="{FF2B5EF4-FFF2-40B4-BE49-F238E27FC236}">
                <a16:creationId xmlns:a16="http://schemas.microsoft.com/office/drawing/2014/main" id="{9FCD72F4-EDC6-7B97-144F-892996721407}"/>
              </a:ext>
            </a:extLst>
          </p:cNvPr>
          <p:cNvCxnSpPr>
            <a:cxnSpLocks/>
          </p:cNvCxnSpPr>
          <p:nvPr/>
        </p:nvCxnSpPr>
        <p:spPr>
          <a:xfrm>
            <a:off x="448884" y="3236458"/>
            <a:ext cx="23677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89AC12D-53F7-B647-572F-DE1D53EF85B5}"/>
              </a:ext>
            </a:extLst>
          </p:cNvPr>
          <p:cNvCxnSpPr>
            <a:cxnSpLocks/>
          </p:cNvCxnSpPr>
          <p:nvPr/>
        </p:nvCxnSpPr>
        <p:spPr>
          <a:xfrm>
            <a:off x="3793110" y="3969881"/>
            <a:ext cx="23677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E60E2F0-EC5A-21DE-240F-2C5294A4F4F4}"/>
              </a:ext>
            </a:extLst>
          </p:cNvPr>
          <p:cNvCxnSpPr>
            <a:cxnSpLocks/>
          </p:cNvCxnSpPr>
          <p:nvPr/>
        </p:nvCxnSpPr>
        <p:spPr>
          <a:xfrm>
            <a:off x="3772609" y="3239086"/>
            <a:ext cx="23677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E5D02F85-783A-CB67-77D8-E5C1BA6C82C0}"/>
              </a:ext>
            </a:extLst>
          </p:cNvPr>
          <p:cNvSpPr/>
          <p:nvPr/>
        </p:nvSpPr>
        <p:spPr>
          <a:xfrm>
            <a:off x="3788665" y="2689582"/>
            <a:ext cx="2471432"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Current Time</a:t>
            </a:r>
          </a:p>
          <a:p>
            <a:pPr algn="ctr"/>
            <a:r>
              <a:rPr lang="en-US" sz="1600" b="1" dirty="0"/>
              <a:t> 2025-04-14 01:55:12</a:t>
            </a:r>
          </a:p>
        </p:txBody>
      </p:sp>
      <p:sp>
        <p:nvSpPr>
          <p:cNvPr id="33" name="Rectangle 32">
            <a:extLst>
              <a:ext uri="{FF2B5EF4-FFF2-40B4-BE49-F238E27FC236}">
                <a16:creationId xmlns:a16="http://schemas.microsoft.com/office/drawing/2014/main" id="{91D96E07-843A-9F9E-76A7-7D2928DFCE73}"/>
              </a:ext>
            </a:extLst>
          </p:cNvPr>
          <p:cNvSpPr/>
          <p:nvPr/>
        </p:nvSpPr>
        <p:spPr>
          <a:xfrm>
            <a:off x="290888" y="1790797"/>
            <a:ext cx="2564318"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FF00"/>
                </a:solidFill>
              </a:rPr>
              <a:t>In Progress</a:t>
            </a:r>
          </a:p>
        </p:txBody>
      </p:sp>
      <p:sp>
        <p:nvSpPr>
          <p:cNvPr id="34" name="Rectangle 33">
            <a:extLst>
              <a:ext uri="{FF2B5EF4-FFF2-40B4-BE49-F238E27FC236}">
                <a16:creationId xmlns:a16="http://schemas.microsoft.com/office/drawing/2014/main" id="{C0E37267-97F4-6D03-639B-EBD55BBF983F}"/>
              </a:ext>
            </a:extLst>
          </p:cNvPr>
          <p:cNvSpPr/>
          <p:nvPr/>
        </p:nvSpPr>
        <p:spPr>
          <a:xfrm>
            <a:off x="3623053" y="1801616"/>
            <a:ext cx="2564318"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FF00"/>
                </a:solidFill>
              </a:rPr>
              <a:t>Budgeted</a:t>
            </a:r>
          </a:p>
        </p:txBody>
      </p:sp>
      <p:pic>
        <p:nvPicPr>
          <p:cNvPr id="1030" name="Picture 6" descr="What Is the Best Spreadsheet Software?">
            <a:extLst>
              <a:ext uri="{FF2B5EF4-FFF2-40B4-BE49-F238E27FC236}">
                <a16:creationId xmlns:a16="http://schemas.microsoft.com/office/drawing/2014/main" id="{3CB1DA85-DBF8-B482-F822-A26B77D199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3219" y="4126130"/>
            <a:ext cx="5210869" cy="2638311"/>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4730B467-1D0D-1939-2295-1AAB451ABB6E}"/>
              </a:ext>
            </a:extLst>
          </p:cNvPr>
          <p:cNvSpPr txBox="1"/>
          <p:nvPr/>
        </p:nvSpPr>
        <p:spPr>
          <a:xfrm>
            <a:off x="6913698" y="1672406"/>
            <a:ext cx="3514571" cy="461665"/>
          </a:xfrm>
          <a:prstGeom prst="rect">
            <a:avLst/>
          </a:prstGeom>
          <a:noFill/>
        </p:spPr>
        <p:txBody>
          <a:bodyPr wrap="square">
            <a:spAutoFit/>
          </a:bodyPr>
          <a:lstStyle/>
          <a:p>
            <a:r>
              <a:rPr lang="en-US" sz="2400" b="1" dirty="0">
                <a:solidFill>
                  <a:schemeClr val="bg1"/>
                </a:solidFill>
                <a:latin typeface="Google Sans"/>
              </a:rPr>
              <a:t>Transport Information</a:t>
            </a:r>
            <a:endParaRPr lang="en-US" sz="2400" b="1" i="0" dirty="0">
              <a:solidFill>
                <a:srgbClr val="001D35"/>
              </a:solidFill>
              <a:effectLst/>
              <a:latin typeface="Google Sans"/>
            </a:endParaRPr>
          </a:p>
        </p:txBody>
      </p:sp>
      <p:graphicFrame>
        <p:nvGraphicFramePr>
          <p:cNvPr id="46" name="Table 45">
            <a:extLst>
              <a:ext uri="{FF2B5EF4-FFF2-40B4-BE49-F238E27FC236}">
                <a16:creationId xmlns:a16="http://schemas.microsoft.com/office/drawing/2014/main" id="{028EF737-9562-39EE-092F-67D5B9464484}"/>
              </a:ext>
            </a:extLst>
          </p:cNvPr>
          <p:cNvGraphicFramePr>
            <a:graphicFrameLocks noGrp="1"/>
          </p:cNvGraphicFramePr>
          <p:nvPr>
            <p:extLst>
              <p:ext uri="{D42A27DB-BD31-4B8C-83A1-F6EECF244321}">
                <p14:modId xmlns:p14="http://schemas.microsoft.com/office/powerpoint/2010/main" val="2450998373"/>
              </p:ext>
            </p:extLst>
          </p:nvPr>
        </p:nvGraphicFramePr>
        <p:xfrm>
          <a:off x="6868443" y="2113302"/>
          <a:ext cx="5317828" cy="1483360"/>
        </p:xfrm>
        <a:graphic>
          <a:graphicData uri="http://schemas.openxmlformats.org/drawingml/2006/table">
            <a:tbl>
              <a:tblPr firstRow="1" bandRow="1">
                <a:tableStyleId>{00A15C55-8517-42AA-B614-E9B94910E393}</a:tableStyleId>
              </a:tblPr>
              <a:tblGrid>
                <a:gridCol w="2752075">
                  <a:extLst>
                    <a:ext uri="{9D8B030D-6E8A-4147-A177-3AD203B41FA5}">
                      <a16:colId xmlns:a16="http://schemas.microsoft.com/office/drawing/2014/main" val="3585650307"/>
                    </a:ext>
                  </a:extLst>
                </a:gridCol>
                <a:gridCol w="1080304">
                  <a:extLst>
                    <a:ext uri="{9D8B030D-6E8A-4147-A177-3AD203B41FA5}">
                      <a16:colId xmlns:a16="http://schemas.microsoft.com/office/drawing/2014/main" val="3103737920"/>
                    </a:ext>
                  </a:extLst>
                </a:gridCol>
                <a:gridCol w="1485449">
                  <a:extLst>
                    <a:ext uri="{9D8B030D-6E8A-4147-A177-3AD203B41FA5}">
                      <a16:colId xmlns:a16="http://schemas.microsoft.com/office/drawing/2014/main" val="277635667"/>
                    </a:ext>
                  </a:extLst>
                </a:gridCol>
              </a:tblGrid>
              <a:tr h="370840">
                <a:tc>
                  <a:txBody>
                    <a:bodyPr/>
                    <a:lstStyle/>
                    <a:p>
                      <a:r>
                        <a:rPr lang="en-US" dirty="0"/>
                        <a:t>In </a:t>
                      </a:r>
                      <a:r>
                        <a:rPr lang="en-US" dirty="0" err="1"/>
                        <a:t>ProgressTransport</a:t>
                      </a:r>
                      <a:r>
                        <a:rPr lang="en-US" dirty="0"/>
                        <a:t> Detail</a:t>
                      </a:r>
                    </a:p>
                  </a:txBody>
                  <a:tcPr/>
                </a:tc>
                <a:tc>
                  <a:txBody>
                    <a:bodyPr/>
                    <a:lstStyle/>
                    <a:p>
                      <a:r>
                        <a:rPr lang="en-US" dirty="0"/>
                        <a:t>Distance</a:t>
                      </a:r>
                    </a:p>
                  </a:txBody>
                  <a:tcPr/>
                </a:tc>
                <a:tc>
                  <a:txBody>
                    <a:bodyPr/>
                    <a:lstStyle/>
                    <a:p>
                      <a:r>
                        <a:rPr lang="en-US" dirty="0"/>
                        <a:t>Expect Time</a:t>
                      </a:r>
                    </a:p>
                  </a:txBody>
                  <a:tcPr/>
                </a:tc>
                <a:extLst>
                  <a:ext uri="{0D108BD9-81ED-4DB2-BD59-A6C34878D82A}">
                    <a16:rowId xmlns:a16="http://schemas.microsoft.com/office/drawing/2014/main" val="2955220225"/>
                  </a:ext>
                </a:extLst>
              </a:tr>
              <a:tr h="370840">
                <a:tc>
                  <a:txBody>
                    <a:bodyPr/>
                    <a:lstStyle/>
                    <a:p>
                      <a:r>
                        <a:rPr lang="en-US" dirty="0"/>
                        <a:t>Truck Toute Total Miles </a:t>
                      </a:r>
                    </a:p>
                  </a:txBody>
                  <a:tcPr/>
                </a:tc>
                <a:tc>
                  <a:txBody>
                    <a:bodyPr/>
                    <a:lstStyle/>
                    <a:p>
                      <a:r>
                        <a:rPr lang="en-US" dirty="0"/>
                        <a:t>864 km</a:t>
                      </a:r>
                    </a:p>
                  </a:txBody>
                  <a:tcPr/>
                </a:tc>
                <a:tc>
                  <a:txBody>
                    <a:bodyPr/>
                    <a:lstStyle/>
                    <a:p>
                      <a:r>
                        <a:rPr lang="en-US" dirty="0"/>
                        <a:t>5.2 hours</a:t>
                      </a:r>
                    </a:p>
                  </a:txBody>
                  <a:tcPr/>
                </a:tc>
                <a:extLst>
                  <a:ext uri="{0D108BD9-81ED-4DB2-BD59-A6C34878D82A}">
                    <a16:rowId xmlns:a16="http://schemas.microsoft.com/office/drawing/2014/main" val="2296061162"/>
                  </a:ext>
                </a:extLst>
              </a:tr>
              <a:tr h="370840">
                <a:tc>
                  <a:txBody>
                    <a:bodyPr/>
                    <a:lstStyle/>
                    <a:p>
                      <a:r>
                        <a:rPr lang="en-US" dirty="0"/>
                        <a:t>Total Miles Driven</a:t>
                      </a:r>
                    </a:p>
                  </a:txBody>
                  <a:tcPr/>
                </a:tc>
                <a:tc>
                  <a:txBody>
                    <a:bodyPr/>
                    <a:lstStyle/>
                    <a:p>
                      <a:r>
                        <a:rPr lang="en-US" dirty="0"/>
                        <a:t>363 km</a:t>
                      </a:r>
                    </a:p>
                  </a:txBody>
                  <a:tcPr/>
                </a:tc>
                <a:tc>
                  <a:txBody>
                    <a:bodyPr/>
                    <a:lstStyle/>
                    <a:p>
                      <a:r>
                        <a:rPr lang="en-US" b="1" dirty="0">
                          <a:solidFill>
                            <a:srgbClr val="FF0000"/>
                          </a:solidFill>
                        </a:rPr>
                        <a:t>3.2 hours</a:t>
                      </a:r>
                    </a:p>
                  </a:txBody>
                  <a:tcPr/>
                </a:tc>
                <a:extLst>
                  <a:ext uri="{0D108BD9-81ED-4DB2-BD59-A6C34878D82A}">
                    <a16:rowId xmlns:a16="http://schemas.microsoft.com/office/drawing/2014/main" val="604737711"/>
                  </a:ext>
                </a:extLst>
              </a:tr>
              <a:tr h="370840">
                <a:tc>
                  <a:txBody>
                    <a:bodyPr/>
                    <a:lstStyle/>
                    <a:p>
                      <a:r>
                        <a:rPr lang="en-US" dirty="0"/>
                        <a:t>Total Remaining </a:t>
                      </a:r>
                    </a:p>
                  </a:txBody>
                  <a:tcPr/>
                </a:tc>
                <a:tc>
                  <a:txBody>
                    <a:bodyPr/>
                    <a:lstStyle/>
                    <a:p>
                      <a:r>
                        <a:rPr lang="en-US" dirty="0"/>
                        <a:t>501 km</a:t>
                      </a:r>
                    </a:p>
                  </a:txBody>
                  <a:tcPr/>
                </a:tc>
                <a:tc>
                  <a:txBody>
                    <a:bodyPr/>
                    <a:lstStyle/>
                    <a:p>
                      <a:r>
                        <a:rPr lang="en-US" b="1" dirty="0">
                          <a:solidFill>
                            <a:srgbClr val="FF0000"/>
                          </a:solidFill>
                        </a:rPr>
                        <a:t>3.1 hours</a:t>
                      </a:r>
                    </a:p>
                  </a:txBody>
                  <a:tcPr/>
                </a:tc>
                <a:extLst>
                  <a:ext uri="{0D108BD9-81ED-4DB2-BD59-A6C34878D82A}">
                    <a16:rowId xmlns:a16="http://schemas.microsoft.com/office/drawing/2014/main" val="3729668770"/>
                  </a:ext>
                </a:extLst>
              </a:tr>
            </a:tbl>
          </a:graphicData>
        </a:graphic>
      </p:graphicFrame>
      <p:cxnSp>
        <p:nvCxnSpPr>
          <p:cNvPr id="65" name="Straight Connector 64">
            <a:extLst>
              <a:ext uri="{FF2B5EF4-FFF2-40B4-BE49-F238E27FC236}">
                <a16:creationId xmlns:a16="http://schemas.microsoft.com/office/drawing/2014/main" id="{0ED889CC-3F5E-F54E-0774-2528EBE3AD96}"/>
              </a:ext>
            </a:extLst>
          </p:cNvPr>
          <p:cNvCxnSpPr>
            <a:cxnSpLocks/>
          </p:cNvCxnSpPr>
          <p:nvPr/>
        </p:nvCxnSpPr>
        <p:spPr>
          <a:xfrm>
            <a:off x="6644251" y="2111829"/>
            <a:ext cx="20547" cy="4364338"/>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DBC6737F-158B-35BE-7244-74FB1B198C4B}"/>
              </a:ext>
            </a:extLst>
          </p:cNvPr>
          <p:cNvSpPr/>
          <p:nvPr/>
        </p:nvSpPr>
        <p:spPr>
          <a:xfrm>
            <a:off x="3953917" y="4532011"/>
            <a:ext cx="2285142"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t>Status : - 6.28 kg co2 E </a:t>
            </a:r>
          </a:p>
        </p:txBody>
      </p:sp>
      <p:cxnSp>
        <p:nvCxnSpPr>
          <p:cNvPr id="71" name="Straight Connector 70">
            <a:extLst>
              <a:ext uri="{FF2B5EF4-FFF2-40B4-BE49-F238E27FC236}">
                <a16:creationId xmlns:a16="http://schemas.microsoft.com/office/drawing/2014/main" id="{47EE9886-FD47-EADC-071C-D4308B7CC2EC}"/>
              </a:ext>
            </a:extLst>
          </p:cNvPr>
          <p:cNvCxnSpPr>
            <a:cxnSpLocks/>
          </p:cNvCxnSpPr>
          <p:nvPr/>
        </p:nvCxnSpPr>
        <p:spPr>
          <a:xfrm>
            <a:off x="3822141" y="4564966"/>
            <a:ext cx="23677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97082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07F85-572E-A8C1-43FD-B34CC388F8AC}"/>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E8C9189D-0315-898B-63FA-3F890955509A}"/>
              </a:ext>
            </a:extLst>
          </p:cNvPr>
          <p:cNvSpPr/>
          <p:nvPr/>
        </p:nvSpPr>
        <p:spPr>
          <a:xfrm>
            <a:off x="-16628" y="1016569"/>
            <a:ext cx="12180896" cy="5840439"/>
          </a:xfrm>
          <a:prstGeom prst="rect">
            <a:avLst/>
          </a:prstGeom>
          <a:solidFill>
            <a:srgbClr val="008080"/>
          </a:solidFill>
          <a:ln>
            <a:solidFill>
              <a:srgbClr val="003300"/>
            </a:solidFill>
          </a:ln>
          <a:scene3d>
            <a:camera prst="orthographicFront"/>
            <a:lightRig rig="threePt" dir="t"/>
          </a:scene3d>
          <a:sp3d>
            <a:bevelT w="152400" h="50800" prst="softRound"/>
            <a:bevelB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C90B62F-CD8D-D205-72BA-947654077937}"/>
              </a:ext>
            </a:extLst>
          </p:cNvPr>
          <p:cNvSpPr/>
          <p:nvPr/>
        </p:nvSpPr>
        <p:spPr>
          <a:xfrm>
            <a:off x="-25088" y="341903"/>
            <a:ext cx="12208462" cy="656492"/>
          </a:xfrm>
          <a:prstGeom prst="rect">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b="1" dirty="0">
              <a:solidFill>
                <a:srgbClr val="FF0000"/>
              </a:solidFill>
            </a:endParaRPr>
          </a:p>
        </p:txBody>
      </p:sp>
      <p:sp>
        <p:nvSpPr>
          <p:cNvPr id="15" name="Rectangle: Beveled 14">
            <a:extLst>
              <a:ext uri="{FF2B5EF4-FFF2-40B4-BE49-F238E27FC236}">
                <a16:creationId xmlns:a16="http://schemas.microsoft.com/office/drawing/2014/main" id="{9F393B91-4C84-4D04-47E2-A78F0553EAFD}"/>
              </a:ext>
            </a:extLst>
          </p:cNvPr>
          <p:cNvSpPr/>
          <p:nvPr/>
        </p:nvSpPr>
        <p:spPr>
          <a:xfrm>
            <a:off x="178745" y="450033"/>
            <a:ext cx="1260410"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Truck Load(grower)</a:t>
            </a:r>
          </a:p>
        </p:txBody>
      </p:sp>
      <p:sp>
        <p:nvSpPr>
          <p:cNvPr id="16" name="Rectangle: Beveled 15">
            <a:extLst>
              <a:ext uri="{FF2B5EF4-FFF2-40B4-BE49-F238E27FC236}">
                <a16:creationId xmlns:a16="http://schemas.microsoft.com/office/drawing/2014/main" id="{90A6D894-561A-E68C-5AC1-69453758D995}"/>
              </a:ext>
            </a:extLst>
          </p:cNvPr>
          <p:cNvSpPr/>
          <p:nvPr/>
        </p:nvSpPr>
        <p:spPr>
          <a:xfrm>
            <a:off x="1559135" y="457095"/>
            <a:ext cx="1045024"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Truck to Warehouse</a:t>
            </a:r>
          </a:p>
        </p:txBody>
      </p:sp>
      <p:sp>
        <p:nvSpPr>
          <p:cNvPr id="40" name="Rectangle 39">
            <a:extLst>
              <a:ext uri="{FF2B5EF4-FFF2-40B4-BE49-F238E27FC236}">
                <a16:creationId xmlns:a16="http://schemas.microsoft.com/office/drawing/2014/main" id="{4DB68CB7-1E18-AFE5-951A-AC5D2A1A1B1F}"/>
              </a:ext>
            </a:extLst>
          </p:cNvPr>
          <p:cNvSpPr/>
          <p:nvPr/>
        </p:nvSpPr>
        <p:spPr>
          <a:xfrm>
            <a:off x="-25088" y="1024267"/>
            <a:ext cx="7909446"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bg1"/>
                </a:solidFill>
              </a:rPr>
              <a:t>Supply Chain #19946 – Model GHG Reduction of the Warehouse</a:t>
            </a:r>
          </a:p>
        </p:txBody>
      </p:sp>
      <p:sp>
        <p:nvSpPr>
          <p:cNvPr id="59" name="Rectangle: Beveled 58">
            <a:extLst>
              <a:ext uri="{FF2B5EF4-FFF2-40B4-BE49-F238E27FC236}">
                <a16:creationId xmlns:a16="http://schemas.microsoft.com/office/drawing/2014/main" id="{C3D258E1-C341-5064-E09A-475E0A727E45}"/>
              </a:ext>
            </a:extLst>
          </p:cNvPr>
          <p:cNvSpPr/>
          <p:nvPr/>
        </p:nvSpPr>
        <p:spPr>
          <a:xfrm>
            <a:off x="2744339" y="461616"/>
            <a:ext cx="1126412"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Unloading</a:t>
            </a:r>
          </a:p>
        </p:txBody>
      </p:sp>
      <p:sp>
        <p:nvSpPr>
          <p:cNvPr id="60" name="Rectangle: Beveled 59">
            <a:extLst>
              <a:ext uri="{FF2B5EF4-FFF2-40B4-BE49-F238E27FC236}">
                <a16:creationId xmlns:a16="http://schemas.microsoft.com/office/drawing/2014/main" id="{958A990E-6425-BD2E-A366-D92D78180559}"/>
              </a:ext>
            </a:extLst>
          </p:cNvPr>
          <p:cNvSpPr/>
          <p:nvPr/>
        </p:nvSpPr>
        <p:spPr>
          <a:xfrm>
            <a:off x="4015570" y="463362"/>
            <a:ext cx="1166968" cy="461176"/>
          </a:xfrm>
          <a:prstGeom prst="bevel">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Warehouse Storage</a:t>
            </a:r>
          </a:p>
        </p:txBody>
      </p:sp>
      <p:sp>
        <p:nvSpPr>
          <p:cNvPr id="61" name="Rectangle: Beveled 60">
            <a:extLst>
              <a:ext uri="{FF2B5EF4-FFF2-40B4-BE49-F238E27FC236}">
                <a16:creationId xmlns:a16="http://schemas.microsoft.com/office/drawing/2014/main" id="{6E5C7B7B-9CBF-BA4F-FA19-1F0D8677E3D9}"/>
              </a:ext>
            </a:extLst>
          </p:cNvPr>
          <p:cNvSpPr/>
          <p:nvPr/>
        </p:nvSpPr>
        <p:spPr>
          <a:xfrm>
            <a:off x="5321810" y="467727"/>
            <a:ext cx="1277259"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Warehouse Grinding OPS</a:t>
            </a:r>
          </a:p>
        </p:txBody>
      </p:sp>
      <p:sp>
        <p:nvSpPr>
          <p:cNvPr id="62" name="Rectangle: Beveled 61">
            <a:extLst>
              <a:ext uri="{FF2B5EF4-FFF2-40B4-BE49-F238E27FC236}">
                <a16:creationId xmlns:a16="http://schemas.microsoft.com/office/drawing/2014/main" id="{E60298BF-C214-F2CA-22CF-CBF952A06DB8}"/>
              </a:ext>
            </a:extLst>
          </p:cNvPr>
          <p:cNvSpPr/>
          <p:nvPr/>
        </p:nvSpPr>
        <p:spPr>
          <a:xfrm>
            <a:off x="6686984" y="459339"/>
            <a:ext cx="1277260"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Loading </a:t>
            </a:r>
          </a:p>
          <a:p>
            <a:pPr algn="ctr"/>
            <a:r>
              <a:rPr lang="en-US" sz="1200" b="1" dirty="0">
                <a:solidFill>
                  <a:schemeClr val="tx1"/>
                </a:solidFill>
              </a:rPr>
              <a:t>Ocean Vessel</a:t>
            </a:r>
          </a:p>
        </p:txBody>
      </p:sp>
      <p:sp>
        <p:nvSpPr>
          <p:cNvPr id="63" name="Rectangle: Beveled 62">
            <a:extLst>
              <a:ext uri="{FF2B5EF4-FFF2-40B4-BE49-F238E27FC236}">
                <a16:creationId xmlns:a16="http://schemas.microsoft.com/office/drawing/2014/main" id="{C55558AD-FDCC-779C-991A-131159043350}"/>
              </a:ext>
            </a:extLst>
          </p:cNvPr>
          <p:cNvSpPr/>
          <p:nvPr/>
        </p:nvSpPr>
        <p:spPr>
          <a:xfrm>
            <a:off x="8075457" y="479217"/>
            <a:ext cx="1339846"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Unload at</a:t>
            </a:r>
          </a:p>
          <a:p>
            <a:pPr algn="ctr"/>
            <a:r>
              <a:rPr lang="en-US" sz="1200" b="1" dirty="0">
                <a:solidFill>
                  <a:schemeClr val="tx1"/>
                </a:solidFill>
              </a:rPr>
              <a:t> NY Harbor</a:t>
            </a:r>
          </a:p>
        </p:txBody>
      </p:sp>
      <p:sp>
        <p:nvSpPr>
          <p:cNvPr id="64" name="Rectangle: Beveled 63">
            <a:extLst>
              <a:ext uri="{FF2B5EF4-FFF2-40B4-BE49-F238E27FC236}">
                <a16:creationId xmlns:a16="http://schemas.microsoft.com/office/drawing/2014/main" id="{ED68CD1E-1237-61F6-726C-28DC5858384F}"/>
              </a:ext>
            </a:extLst>
          </p:cNvPr>
          <p:cNvSpPr/>
          <p:nvPr/>
        </p:nvSpPr>
        <p:spPr>
          <a:xfrm>
            <a:off x="9492944" y="467727"/>
            <a:ext cx="1187162"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Repack OPS</a:t>
            </a:r>
          </a:p>
        </p:txBody>
      </p:sp>
      <p:sp>
        <p:nvSpPr>
          <p:cNvPr id="17" name="TextBox 16">
            <a:extLst>
              <a:ext uri="{FF2B5EF4-FFF2-40B4-BE49-F238E27FC236}">
                <a16:creationId xmlns:a16="http://schemas.microsoft.com/office/drawing/2014/main" id="{16292C14-5C9A-3F1D-6CED-66523C7D931B}"/>
              </a:ext>
            </a:extLst>
          </p:cNvPr>
          <p:cNvSpPr txBox="1"/>
          <p:nvPr/>
        </p:nvSpPr>
        <p:spPr>
          <a:xfrm>
            <a:off x="-16628" y="-17597"/>
            <a:ext cx="12217710" cy="369332"/>
          </a:xfrm>
          <a:prstGeom prst="rect">
            <a:avLst/>
          </a:prstGeom>
          <a:solidFill>
            <a:schemeClr val="accent3">
              <a:lumMod val="20000"/>
              <a:lumOff val="80000"/>
            </a:schemeClr>
          </a:solidFill>
        </p:spPr>
        <p:txBody>
          <a:bodyPr wrap="square" rtlCol="0">
            <a:spAutoFit/>
          </a:bodyPr>
          <a:lstStyle/>
          <a:p>
            <a:r>
              <a:rPr lang="en-US" b="1" dirty="0"/>
              <a:t>Digital Twin for GHG Emission Modeling of the Supply Chain - AI Assisted Options </a:t>
            </a:r>
          </a:p>
        </p:txBody>
      </p:sp>
      <p:sp>
        <p:nvSpPr>
          <p:cNvPr id="33" name="Rectangle 32">
            <a:extLst>
              <a:ext uri="{FF2B5EF4-FFF2-40B4-BE49-F238E27FC236}">
                <a16:creationId xmlns:a16="http://schemas.microsoft.com/office/drawing/2014/main" id="{FDF17D90-8E58-54C8-A6A3-0D67F5158D16}"/>
              </a:ext>
            </a:extLst>
          </p:cNvPr>
          <p:cNvSpPr/>
          <p:nvPr/>
        </p:nvSpPr>
        <p:spPr>
          <a:xfrm>
            <a:off x="-31788" y="1934946"/>
            <a:ext cx="2104586"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Current Emission Baseline</a:t>
            </a:r>
          </a:p>
        </p:txBody>
      </p:sp>
      <p:cxnSp>
        <p:nvCxnSpPr>
          <p:cNvPr id="65" name="Straight Connector 64">
            <a:extLst>
              <a:ext uri="{FF2B5EF4-FFF2-40B4-BE49-F238E27FC236}">
                <a16:creationId xmlns:a16="http://schemas.microsoft.com/office/drawing/2014/main" id="{A4F51B9A-2396-74B6-C33F-B8BCC556B093}"/>
              </a:ext>
            </a:extLst>
          </p:cNvPr>
          <p:cNvCxnSpPr>
            <a:cxnSpLocks/>
          </p:cNvCxnSpPr>
          <p:nvPr/>
        </p:nvCxnSpPr>
        <p:spPr>
          <a:xfrm>
            <a:off x="7593545" y="1831378"/>
            <a:ext cx="20547" cy="4364338"/>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7161762B-9F41-142E-0C2A-7F51C43D8A6F}"/>
              </a:ext>
            </a:extLst>
          </p:cNvPr>
          <p:cNvSpPr/>
          <p:nvPr/>
        </p:nvSpPr>
        <p:spPr>
          <a:xfrm>
            <a:off x="27732" y="5563890"/>
            <a:ext cx="2285142"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u="sng" dirty="0"/>
              <a:t>Report</a:t>
            </a:r>
            <a:r>
              <a:rPr lang="en-US" sz="1600" b="1" u="sng" dirty="0"/>
              <a:t> </a:t>
            </a:r>
          </a:p>
        </p:txBody>
      </p:sp>
      <p:sp>
        <p:nvSpPr>
          <p:cNvPr id="3" name="Rectangle 2">
            <a:extLst>
              <a:ext uri="{FF2B5EF4-FFF2-40B4-BE49-F238E27FC236}">
                <a16:creationId xmlns:a16="http://schemas.microsoft.com/office/drawing/2014/main" id="{2BDCD19D-21C3-B834-07A2-682C48738384}"/>
              </a:ext>
            </a:extLst>
          </p:cNvPr>
          <p:cNvSpPr/>
          <p:nvPr/>
        </p:nvSpPr>
        <p:spPr>
          <a:xfrm>
            <a:off x="16287" y="2445405"/>
            <a:ext cx="2081320" cy="3176488"/>
          </a:xfrm>
          <a:prstGeom prst="rect">
            <a:avLst/>
          </a:prstGeom>
          <a:gradFill>
            <a:gsLst>
              <a:gs pos="16000">
                <a:schemeClr val="accent2">
                  <a:lumMod val="40000"/>
                  <a:lumOff val="60000"/>
                </a:schemeClr>
              </a:gs>
              <a:gs pos="100000">
                <a:schemeClr val="accent2">
                  <a:lumMod val="40000"/>
                  <a:lumOff val="60000"/>
                </a:schemeClr>
              </a:gs>
              <a:gs pos="66093">
                <a:schemeClr val="accent2">
                  <a:lumMod val="20000"/>
                  <a:lumOff val="80000"/>
                </a:schemeClr>
              </a:gs>
              <a:gs pos="2874">
                <a:schemeClr val="accent2">
                  <a:lumMod val="40000"/>
                  <a:lumOff val="60000"/>
                </a:schemeClr>
              </a:gs>
              <a:gs pos="24720">
                <a:schemeClr val="accent2">
                  <a:lumMod val="20000"/>
                  <a:lumOff val="80000"/>
                </a:schemeClr>
              </a:gs>
              <a:gs pos="78000">
                <a:schemeClr val="accent2">
                  <a:lumMod val="20000"/>
                  <a:lumOff val="80000"/>
                </a:schemeClr>
              </a:gs>
              <a:gs pos="86000">
                <a:schemeClr val="accent2">
                  <a:lumMod val="40000"/>
                  <a:lumOff val="60000"/>
                </a:schemeClr>
              </a:gs>
              <a:gs pos="57750">
                <a:schemeClr val="accent2">
                  <a:lumMod val="20000"/>
                  <a:lumOff val="80000"/>
                </a:schemeClr>
              </a:gs>
              <a:gs pos="45000">
                <a:schemeClr val="accent2">
                  <a:lumMod val="20000"/>
                  <a:lumOff val="80000"/>
                </a:schemeClr>
              </a:gs>
            </a:gsLst>
            <a:lin ang="5400000" scaled="1"/>
          </a:grad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CD65714-BFC3-59E5-FE44-BC9C4320E881}"/>
              </a:ext>
            </a:extLst>
          </p:cNvPr>
          <p:cNvSpPr/>
          <p:nvPr/>
        </p:nvSpPr>
        <p:spPr>
          <a:xfrm>
            <a:off x="2129044" y="2441448"/>
            <a:ext cx="2774356" cy="317648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8FEFD4D-0577-703C-00E1-64271E75DE7E}"/>
              </a:ext>
            </a:extLst>
          </p:cNvPr>
          <p:cNvSpPr txBox="1"/>
          <p:nvPr/>
        </p:nvSpPr>
        <p:spPr>
          <a:xfrm>
            <a:off x="5376" y="3025890"/>
            <a:ext cx="1561156" cy="1292662"/>
          </a:xfrm>
          <a:prstGeom prst="rect">
            <a:avLst/>
          </a:prstGeom>
          <a:noFill/>
        </p:spPr>
        <p:txBody>
          <a:bodyPr wrap="square" rtlCol="0">
            <a:spAutoFit/>
          </a:bodyPr>
          <a:lstStyle/>
          <a:p>
            <a:r>
              <a:rPr lang="en-US" sz="1200" b="1" dirty="0"/>
              <a:t>Heating</a:t>
            </a:r>
          </a:p>
          <a:p>
            <a:r>
              <a:rPr lang="en-US" sz="1200" b="1" dirty="0"/>
              <a:t>    - air</a:t>
            </a:r>
          </a:p>
          <a:p>
            <a:r>
              <a:rPr lang="en-US" sz="1200" b="1" dirty="0"/>
              <a:t>    - water</a:t>
            </a:r>
          </a:p>
          <a:p>
            <a:r>
              <a:rPr lang="en-US" sz="1200" b="1" dirty="0"/>
              <a:t>    - drying</a:t>
            </a:r>
          </a:p>
          <a:p>
            <a:r>
              <a:rPr lang="en-US" sz="1200" b="1" dirty="0"/>
              <a:t>    - humidity control</a:t>
            </a:r>
          </a:p>
          <a:p>
            <a:endParaRPr lang="en-US" sz="900" dirty="0"/>
          </a:p>
          <a:p>
            <a:endParaRPr lang="en-US" sz="900" dirty="0"/>
          </a:p>
        </p:txBody>
      </p:sp>
      <p:sp>
        <p:nvSpPr>
          <p:cNvPr id="51" name="Rectangle 50">
            <a:extLst>
              <a:ext uri="{FF2B5EF4-FFF2-40B4-BE49-F238E27FC236}">
                <a16:creationId xmlns:a16="http://schemas.microsoft.com/office/drawing/2014/main" id="{B8C13663-9B11-B7E8-A02E-19B2034784B6}"/>
              </a:ext>
            </a:extLst>
          </p:cNvPr>
          <p:cNvSpPr/>
          <p:nvPr/>
        </p:nvSpPr>
        <p:spPr>
          <a:xfrm>
            <a:off x="38773" y="5968616"/>
            <a:ext cx="3517286"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FFFF00"/>
                </a:solidFill>
              </a:rPr>
              <a:t>% Emission Reduction = 74.8 </a:t>
            </a:r>
            <a:endParaRPr lang="en-US" sz="2000" b="1" dirty="0">
              <a:solidFill>
                <a:schemeClr val="tx1"/>
              </a:solidFill>
            </a:endParaRPr>
          </a:p>
        </p:txBody>
      </p:sp>
      <p:cxnSp>
        <p:nvCxnSpPr>
          <p:cNvPr id="22" name="Straight Connector 21">
            <a:extLst>
              <a:ext uri="{FF2B5EF4-FFF2-40B4-BE49-F238E27FC236}">
                <a16:creationId xmlns:a16="http://schemas.microsoft.com/office/drawing/2014/main" id="{AB3E27EB-B119-CDCF-B629-99B853D1CB3F}"/>
              </a:ext>
            </a:extLst>
          </p:cNvPr>
          <p:cNvCxnSpPr>
            <a:cxnSpLocks/>
          </p:cNvCxnSpPr>
          <p:nvPr/>
        </p:nvCxnSpPr>
        <p:spPr>
          <a:xfrm>
            <a:off x="15917" y="4139240"/>
            <a:ext cx="2061694" cy="0"/>
          </a:xfrm>
          <a:prstGeom prst="line">
            <a:avLst/>
          </a:prstGeom>
          <a:ln w="12700">
            <a:solidFill>
              <a:srgbClr val="003300"/>
            </a:solidFill>
          </a:ln>
        </p:spPr>
        <p:style>
          <a:lnRef idx="1">
            <a:schemeClr val="accent1"/>
          </a:lnRef>
          <a:fillRef idx="0">
            <a:schemeClr val="accent1"/>
          </a:fillRef>
          <a:effectRef idx="0">
            <a:schemeClr val="accent1"/>
          </a:effectRef>
          <a:fontRef idx="minor">
            <a:schemeClr val="tx1"/>
          </a:fontRef>
        </p:style>
      </p:cxnSp>
      <p:sp>
        <p:nvSpPr>
          <p:cNvPr id="11" name="Rectangle: Beveled 10">
            <a:extLst>
              <a:ext uri="{FF2B5EF4-FFF2-40B4-BE49-F238E27FC236}">
                <a16:creationId xmlns:a16="http://schemas.microsoft.com/office/drawing/2014/main" id="{C754FE8E-635E-464A-590A-59A1B0748F3C}"/>
              </a:ext>
            </a:extLst>
          </p:cNvPr>
          <p:cNvSpPr/>
          <p:nvPr/>
        </p:nvSpPr>
        <p:spPr>
          <a:xfrm>
            <a:off x="4266893" y="3255017"/>
            <a:ext cx="589936" cy="327385"/>
          </a:xfrm>
          <a:prstGeom prst="bevel">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Select</a:t>
            </a:r>
          </a:p>
        </p:txBody>
      </p:sp>
      <p:sp>
        <p:nvSpPr>
          <p:cNvPr id="12" name="Rectangle 11">
            <a:extLst>
              <a:ext uri="{FF2B5EF4-FFF2-40B4-BE49-F238E27FC236}">
                <a16:creationId xmlns:a16="http://schemas.microsoft.com/office/drawing/2014/main" id="{E62C8639-B523-CC45-98DC-CBB9EF449980}"/>
              </a:ext>
            </a:extLst>
          </p:cNvPr>
          <p:cNvSpPr/>
          <p:nvPr/>
        </p:nvSpPr>
        <p:spPr>
          <a:xfrm>
            <a:off x="4914856" y="2441448"/>
            <a:ext cx="2564318" cy="3149803"/>
          </a:xfrm>
          <a:prstGeom prst="rect">
            <a:avLst/>
          </a:prstGeom>
          <a:gradFill>
            <a:gsLst>
              <a:gs pos="16000">
                <a:srgbClr val="92D050"/>
              </a:gs>
              <a:gs pos="100000">
                <a:schemeClr val="accent6">
                  <a:lumMod val="40000"/>
                  <a:lumOff val="60000"/>
                </a:schemeClr>
              </a:gs>
              <a:gs pos="2874">
                <a:schemeClr val="accent6">
                  <a:lumMod val="40000"/>
                  <a:lumOff val="60000"/>
                </a:schemeClr>
              </a:gs>
              <a:gs pos="24720">
                <a:schemeClr val="accent6">
                  <a:lumMod val="20000"/>
                  <a:lumOff val="80000"/>
                </a:schemeClr>
              </a:gs>
              <a:gs pos="78000">
                <a:schemeClr val="accent6">
                  <a:lumMod val="40000"/>
                  <a:lumOff val="60000"/>
                </a:schemeClr>
              </a:gs>
              <a:gs pos="90000">
                <a:schemeClr val="accent6">
                  <a:lumMod val="20000"/>
                  <a:lumOff val="80000"/>
                </a:schemeClr>
              </a:gs>
              <a:gs pos="67000">
                <a:schemeClr val="accent6">
                  <a:lumMod val="20000"/>
                  <a:lumOff val="80000"/>
                </a:schemeClr>
              </a:gs>
              <a:gs pos="14000">
                <a:schemeClr val="accent6">
                  <a:lumMod val="40000"/>
                  <a:lumOff val="60000"/>
                </a:schemeClr>
              </a:gs>
            </a:gsLst>
            <a:lin ang="5400000" scaled="1"/>
          </a:grad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04A928C1-203D-D2B7-081F-E64AF6D4971C}"/>
              </a:ext>
            </a:extLst>
          </p:cNvPr>
          <p:cNvSpPr txBox="1"/>
          <p:nvPr/>
        </p:nvSpPr>
        <p:spPr>
          <a:xfrm>
            <a:off x="1439155" y="3208743"/>
            <a:ext cx="524288" cy="276999"/>
          </a:xfrm>
          <a:prstGeom prst="rect">
            <a:avLst/>
          </a:prstGeom>
          <a:noFill/>
        </p:spPr>
        <p:txBody>
          <a:bodyPr wrap="square" rtlCol="0">
            <a:spAutoFit/>
          </a:bodyPr>
          <a:lstStyle/>
          <a:p>
            <a:pPr algn="r"/>
            <a:r>
              <a:rPr lang="en-US" sz="1200" b="1" dirty="0"/>
              <a:t>11.2</a:t>
            </a:r>
          </a:p>
        </p:txBody>
      </p:sp>
      <p:sp>
        <p:nvSpPr>
          <p:cNvPr id="25" name="TextBox 24">
            <a:extLst>
              <a:ext uri="{FF2B5EF4-FFF2-40B4-BE49-F238E27FC236}">
                <a16:creationId xmlns:a16="http://schemas.microsoft.com/office/drawing/2014/main" id="{2E6FAEE0-81E1-CE34-C319-7E4CEE6EEC44}"/>
              </a:ext>
            </a:extLst>
          </p:cNvPr>
          <p:cNvSpPr txBox="1"/>
          <p:nvPr/>
        </p:nvSpPr>
        <p:spPr>
          <a:xfrm>
            <a:off x="1501369" y="3400307"/>
            <a:ext cx="454030" cy="276999"/>
          </a:xfrm>
          <a:prstGeom prst="rect">
            <a:avLst/>
          </a:prstGeom>
          <a:noFill/>
        </p:spPr>
        <p:txBody>
          <a:bodyPr wrap="square" rtlCol="0">
            <a:spAutoFit/>
          </a:bodyPr>
          <a:lstStyle/>
          <a:p>
            <a:pPr algn="r"/>
            <a:r>
              <a:rPr lang="en-US" sz="1200" b="1" dirty="0"/>
              <a:t>1.5</a:t>
            </a:r>
          </a:p>
        </p:txBody>
      </p:sp>
      <p:sp>
        <p:nvSpPr>
          <p:cNvPr id="38" name="TextBox 37">
            <a:extLst>
              <a:ext uri="{FF2B5EF4-FFF2-40B4-BE49-F238E27FC236}">
                <a16:creationId xmlns:a16="http://schemas.microsoft.com/office/drawing/2014/main" id="{3A761292-1032-AF8D-0631-A3F671EA0FCA}"/>
              </a:ext>
            </a:extLst>
          </p:cNvPr>
          <p:cNvSpPr txBox="1"/>
          <p:nvPr/>
        </p:nvSpPr>
        <p:spPr>
          <a:xfrm>
            <a:off x="1501227" y="3779412"/>
            <a:ext cx="468458" cy="276999"/>
          </a:xfrm>
          <a:prstGeom prst="rect">
            <a:avLst/>
          </a:prstGeom>
          <a:noFill/>
        </p:spPr>
        <p:txBody>
          <a:bodyPr wrap="square" rtlCol="0">
            <a:spAutoFit/>
          </a:bodyPr>
          <a:lstStyle/>
          <a:p>
            <a:pPr algn="r"/>
            <a:r>
              <a:rPr lang="en-US" sz="1200" b="1" dirty="0"/>
              <a:t>0.3</a:t>
            </a:r>
          </a:p>
        </p:txBody>
      </p:sp>
      <p:sp>
        <p:nvSpPr>
          <p:cNvPr id="39" name="TextBox 38">
            <a:extLst>
              <a:ext uri="{FF2B5EF4-FFF2-40B4-BE49-F238E27FC236}">
                <a16:creationId xmlns:a16="http://schemas.microsoft.com/office/drawing/2014/main" id="{C0206105-502D-367B-F98A-51D1B86519DF}"/>
              </a:ext>
            </a:extLst>
          </p:cNvPr>
          <p:cNvSpPr txBox="1"/>
          <p:nvPr/>
        </p:nvSpPr>
        <p:spPr>
          <a:xfrm>
            <a:off x="6704" y="2534662"/>
            <a:ext cx="2066094" cy="261610"/>
          </a:xfrm>
          <a:prstGeom prst="rect">
            <a:avLst/>
          </a:prstGeom>
          <a:noFill/>
        </p:spPr>
        <p:txBody>
          <a:bodyPr wrap="square" rtlCol="0">
            <a:spAutoFit/>
          </a:bodyPr>
          <a:lstStyle/>
          <a:p>
            <a:r>
              <a:rPr lang="en-US" sz="1100" b="1" dirty="0">
                <a:highlight>
                  <a:srgbClr val="FFFF00"/>
                </a:highlight>
              </a:rPr>
              <a:t>Warehouse ops (</a:t>
            </a:r>
            <a:r>
              <a:rPr lang="en-US" sz="1100" b="1" dirty="0" err="1">
                <a:highlight>
                  <a:srgbClr val="FFFF00"/>
                </a:highlight>
              </a:rPr>
              <a:t>mtons</a:t>
            </a:r>
            <a:r>
              <a:rPr lang="en-US" sz="1100" b="1" dirty="0">
                <a:highlight>
                  <a:srgbClr val="FFFF00"/>
                </a:highlight>
              </a:rPr>
              <a:t> CO2/yr)</a:t>
            </a:r>
          </a:p>
        </p:txBody>
      </p:sp>
      <p:cxnSp>
        <p:nvCxnSpPr>
          <p:cNvPr id="44" name="Straight Connector 43">
            <a:extLst>
              <a:ext uri="{FF2B5EF4-FFF2-40B4-BE49-F238E27FC236}">
                <a16:creationId xmlns:a16="http://schemas.microsoft.com/office/drawing/2014/main" id="{7236022B-17D1-02C0-5340-1920ED50612A}"/>
              </a:ext>
            </a:extLst>
          </p:cNvPr>
          <p:cNvCxnSpPr>
            <a:cxnSpLocks/>
          </p:cNvCxnSpPr>
          <p:nvPr/>
        </p:nvCxnSpPr>
        <p:spPr>
          <a:xfrm>
            <a:off x="38772" y="2890068"/>
            <a:ext cx="2061694" cy="0"/>
          </a:xfrm>
          <a:prstGeom prst="line">
            <a:avLst/>
          </a:prstGeom>
          <a:ln w="12700">
            <a:solidFill>
              <a:srgbClr val="003300"/>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63D55D23-653E-7C61-744A-77934C18D770}"/>
              </a:ext>
            </a:extLst>
          </p:cNvPr>
          <p:cNvSpPr txBox="1"/>
          <p:nvPr/>
        </p:nvSpPr>
        <p:spPr>
          <a:xfrm>
            <a:off x="1509388" y="3575707"/>
            <a:ext cx="454030" cy="276999"/>
          </a:xfrm>
          <a:prstGeom prst="rect">
            <a:avLst/>
          </a:prstGeom>
          <a:noFill/>
        </p:spPr>
        <p:txBody>
          <a:bodyPr wrap="square" rtlCol="0">
            <a:spAutoFit/>
          </a:bodyPr>
          <a:lstStyle/>
          <a:p>
            <a:pPr algn="r"/>
            <a:r>
              <a:rPr lang="en-US" sz="1200" b="1" dirty="0"/>
              <a:t>5.4</a:t>
            </a:r>
          </a:p>
        </p:txBody>
      </p:sp>
      <p:sp>
        <p:nvSpPr>
          <p:cNvPr id="47" name="Rectangle: Beveled 46">
            <a:extLst>
              <a:ext uri="{FF2B5EF4-FFF2-40B4-BE49-F238E27FC236}">
                <a16:creationId xmlns:a16="http://schemas.microsoft.com/office/drawing/2014/main" id="{80CD306B-F380-DF74-E3D0-0111717F912E}"/>
              </a:ext>
            </a:extLst>
          </p:cNvPr>
          <p:cNvSpPr/>
          <p:nvPr/>
        </p:nvSpPr>
        <p:spPr>
          <a:xfrm>
            <a:off x="4269025" y="3768905"/>
            <a:ext cx="589936" cy="327385"/>
          </a:xfrm>
          <a:prstGeom prst="bevel">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Select</a:t>
            </a:r>
          </a:p>
        </p:txBody>
      </p:sp>
      <p:sp>
        <p:nvSpPr>
          <p:cNvPr id="50" name="Rectangle: Beveled 49">
            <a:extLst>
              <a:ext uri="{FF2B5EF4-FFF2-40B4-BE49-F238E27FC236}">
                <a16:creationId xmlns:a16="http://schemas.microsoft.com/office/drawing/2014/main" id="{7688DE0E-E71B-36AE-31CE-90833D0A38F6}"/>
              </a:ext>
            </a:extLst>
          </p:cNvPr>
          <p:cNvSpPr/>
          <p:nvPr/>
        </p:nvSpPr>
        <p:spPr>
          <a:xfrm>
            <a:off x="4270248" y="4293976"/>
            <a:ext cx="589936" cy="327385"/>
          </a:xfrm>
          <a:prstGeom prst="bevel">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Select</a:t>
            </a:r>
          </a:p>
        </p:txBody>
      </p:sp>
      <p:sp>
        <p:nvSpPr>
          <p:cNvPr id="52" name="Rectangle 51">
            <a:extLst>
              <a:ext uri="{FF2B5EF4-FFF2-40B4-BE49-F238E27FC236}">
                <a16:creationId xmlns:a16="http://schemas.microsoft.com/office/drawing/2014/main" id="{CBF1EDD3-1D22-D7DE-36EE-87ABCEC54474}"/>
              </a:ext>
            </a:extLst>
          </p:cNvPr>
          <p:cNvSpPr/>
          <p:nvPr/>
        </p:nvSpPr>
        <p:spPr>
          <a:xfrm>
            <a:off x="2190935" y="3229583"/>
            <a:ext cx="2020998" cy="367729"/>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1) solar panels</a:t>
            </a:r>
          </a:p>
        </p:txBody>
      </p:sp>
      <p:sp>
        <p:nvSpPr>
          <p:cNvPr id="55" name="Rectangle 54">
            <a:extLst>
              <a:ext uri="{FF2B5EF4-FFF2-40B4-BE49-F238E27FC236}">
                <a16:creationId xmlns:a16="http://schemas.microsoft.com/office/drawing/2014/main" id="{CE45D431-B1C0-1D38-E4B0-1BE175BA970D}"/>
              </a:ext>
            </a:extLst>
          </p:cNvPr>
          <p:cNvSpPr/>
          <p:nvPr/>
        </p:nvSpPr>
        <p:spPr>
          <a:xfrm>
            <a:off x="2190935" y="3748734"/>
            <a:ext cx="2025262" cy="367729"/>
          </a:xfrm>
          <a:prstGeom prst="rect">
            <a:avLst/>
          </a:prstGeom>
          <a:solidFill>
            <a:schemeClr val="bg1">
              <a:lumMod val="95000"/>
            </a:schemeClr>
          </a:solidFill>
          <a:ln>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2) credit market</a:t>
            </a:r>
          </a:p>
        </p:txBody>
      </p:sp>
      <p:sp>
        <p:nvSpPr>
          <p:cNvPr id="58" name="Rectangle 57">
            <a:extLst>
              <a:ext uri="{FF2B5EF4-FFF2-40B4-BE49-F238E27FC236}">
                <a16:creationId xmlns:a16="http://schemas.microsoft.com/office/drawing/2014/main" id="{3CF057FE-0FAD-47D4-F574-D3B2744928C0}"/>
              </a:ext>
            </a:extLst>
          </p:cNvPr>
          <p:cNvSpPr/>
          <p:nvPr/>
        </p:nvSpPr>
        <p:spPr>
          <a:xfrm>
            <a:off x="2183312" y="4269057"/>
            <a:ext cx="2043081" cy="367729"/>
          </a:xfrm>
          <a:prstGeom prst="rect">
            <a:avLst/>
          </a:prstGeom>
          <a:solidFill>
            <a:schemeClr val="bg1">
              <a:lumMod val="95000"/>
            </a:schemeClr>
          </a:solidFill>
          <a:ln>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3) roof composition</a:t>
            </a:r>
          </a:p>
        </p:txBody>
      </p:sp>
      <p:sp>
        <p:nvSpPr>
          <p:cNvPr id="66" name="TextBox 65">
            <a:extLst>
              <a:ext uri="{FF2B5EF4-FFF2-40B4-BE49-F238E27FC236}">
                <a16:creationId xmlns:a16="http://schemas.microsoft.com/office/drawing/2014/main" id="{8416070D-5CFF-1767-2810-7919DA505A82}"/>
              </a:ext>
            </a:extLst>
          </p:cNvPr>
          <p:cNvSpPr txBox="1"/>
          <p:nvPr/>
        </p:nvSpPr>
        <p:spPr>
          <a:xfrm>
            <a:off x="4932206" y="2977138"/>
            <a:ext cx="1534243" cy="1292662"/>
          </a:xfrm>
          <a:prstGeom prst="rect">
            <a:avLst/>
          </a:prstGeom>
          <a:noFill/>
        </p:spPr>
        <p:txBody>
          <a:bodyPr wrap="square" rtlCol="0">
            <a:spAutoFit/>
          </a:bodyPr>
          <a:lstStyle/>
          <a:p>
            <a:r>
              <a:rPr lang="en-US" sz="1200" b="1" dirty="0"/>
              <a:t>Heating</a:t>
            </a:r>
          </a:p>
          <a:p>
            <a:r>
              <a:rPr lang="en-US" sz="1200" b="1" dirty="0"/>
              <a:t>    - air</a:t>
            </a:r>
          </a:p>
          <a:p>
            <a:r>
              <a:rPr lang="en-US" sz="1200" b="1" dirty="0"/>
              <a:t>    - water</a:t>
            </a:r>
          </a:p>
          <a:p>
            <a:r>
              <a:rPr lang="en-US" sz="1200" b="1" dirty="0"/>
              <a:t>    - drying</a:t>
            </a:r>
          </a:p>
          <a:p>
            <a:r>
              <a:rPr lang="en-US" sz="1200" b="1" dirty="0"/>
              <a:t>    - humidity control</a:t>
            </a:r>
          </a:p>
          <a:p>
            <a:endParaRPr lang="en-US" sz="900" dirty="0"/>
          </a:p>
          <a:p>
            <a:endParaRPr lang="en-US" sz="900" dirty="0"/>
          </a:p>
        </p:txBody>
      </p:sp>
      <p:cxnSp>
        <p:nvCxnSpPr>
          <p:cNvPr id="67" name="Straight Connector 66">
            <a:extLst>
              <a:ext uri="{FF2B5EF4-FFF2-40B4-BE49-F238E27FC236}">
                <a16:creationId xmlns:a16="http://schemas.microsoft.com/office/drawing/2014/main" id="{E785A83F-7C0F-33BF-5C94-63DC3544C5F5}"/>
              </a:ext>
            </a:extLst>
          </p:cNvPr>
          <p:cNvCxnSpPr>
            <a:cxnSpLocks/>
          </p:cNvCxnSpPr>
          <p:nvPr/>
        </p:nvCxnSpPr>
        <p:spPr>
          <a:xfrm>
            <a:off x="5120081" y="2889504"/>
            <a:ext cx="2257829" cy="0"/>
          </a:xfrm>
          <a:prstGeom prst="line">
            <a:avLst/>
          </a:prstGeom>
          <a:ln w="12700">
            <a:solidFill>
              <a:srgbClr val="003300"/>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4ABC7334-E942-B35F-12D9-383010D7BA99}"/>
              </a:ext>
            </a:extLst>
          </p:cNvPr>
          <p:cNvSpPr txBox="1"/>
          <p:nvPr/>
        </p:nvSpPr>
        <p:spPr>
          <a:xfrm>
            <a:off x="5137802" y="2492506"/>
            <a:ext cx="2262647" cy="261610"/>
          </a:xfrm>
          <a:prstGeom prst="rect">
            <a:avLst/>
          </a:prstGeom>
          <a:noFill/>
        </p:spPr>
        <p:txBody>
          <a:bodyPr wrap="square" rtlCol="0">
            <a:spAutoFit/>
          </a:bodyPr>
          <a:lstStyle/>
          <a:p>
            <a:r>
              <a:rPr lang="en-US" sz="1100" b="1" dirty="0">
                <a:highlight>
                  <a:srgbClr val="FFFF00"/>
                </a:highlight>
              </a:rPr>
              <a:t>Warehouse ops (</a:t>
            </a:r>
            <a:r>
              <a:rPr lang="en-US" sz="1100" b="1" dirty="0" err="1">
                <a:highlight>
                  <a:srgbClr val="FFFF00"/>
                </a:highlight>
              </a:rPr>
              <a:t>mtons</a:t>
            </a:r>
            <a:r>
              <a:rPr lang="en-US" sz="1100" b="1" dirty="0">
                <a:highlight>
                  <a:srgbClr val="FFFF00"/>
                </a:highlight>
              </a:rPr>
              <a:t> CO2/yr)</a:t>
            </a:r>
          </a:p>
        </p:txBody>
      </p:sp>
      <p:sp>
        <p:nvSpPr>
          <p:cNvPr id="72" name="TextBox 71">
            <a:extLst>
              <a:ext uri="{FF2B5EF4-FFF2-40B4-BE49-F238E27FC236}">
                <a16:creationId xmlns:a16="http://schemas.microsoft.com/office/drawing/2014/main" id="{A332D3D1-A4CE-73F7-B0AC-EB257975C691}"/>
              </a:ext>
            </a:extLst>
          </p:cNvPr>
          <p:cNvSpPr txBox="1"/>
          <p:nvPr/>
        </p:nvSpPr>
        <p:spPr>
          <a:xfrm>
            <a:off x="6376844" y="3194000"/>
            <a:ext cx="524288" cy="276999"/>
          </a:xfrm>
          <a:prstGeom prst="rect">
            <a:avLst/>
          </a:prstGeom>
          <a:noFill/>
        </p:spPr>
        <p:txBody>
          <a:bodyPr wrap="square" rtlCol="0">
            <a:spAutoFit/>
          </a:bodyPr>
          <a:lstStyle/>
          <a:p>
            <a:pPr algn="r"/>
            <a:r>
              <a:rPr lang="en-US" sz="1200" b="1" dirty="0">
                <a:solidFill>
                  <a:srgbClr val="FF0000"/>
                </a:solidFill>
              </a:rPr>
              <a:t>10.1</a:t>
            </a:r>
          </a:p>
        </p:txBody>
      </p:sp>
      <p:sp>
        <p:nvSpPr>
          <p:cNvPr id="73" name="TextBox 72">
            <a:extLst>
              <a:ext uri="{FF2B5EF4-FFF2-40B4-BE49-F238E27FC236}">
                <a16:creationId xmlns:a16="http://schemas.microsoft.com/office/drawing/2014/main" id="{572181EE-B48A-231D-B6A3-DF7DA1B26D84}"/>
              </a:ext>
            </a:extLst>
          </p:cNvPr>
          <p:cNvSpPr txBox="1"/>
          <p:nvPr/>
        </p:nvSpPr>
        <p:spPr>
          <a:xfrm>
            <a:off x="6856177" y="3191940"/>
            <a:ext cx="524288" cy="276999"/>
          </a:xfrm>
          <a:prstGeom prst="rect">
            <a:avLst/>
          </a:prstGeom>
          <a:noFill/>
        </p:spPr>
        <p:txBody>
          <a:bodyPr wrap="square" rtlCol="0">
            <a:spAutoFit/>
          </a:bodyPr>
          <a:lstStyle/>
          <a:p>
            <a:pPr algn="r"/>
            <a:r>
              <a:rPr lang="en-US" sz="1200" b="1" dirty="0"/>
              <a:t>1.1</a:t>
            </a:r>
          </a:p>
        </p:txBody>
      </p:sp>
      <p:sp>
        <p:nvSpPr>
          <p:cNvPr id="74" name="TextBox 73">
            <a:extLst>
              <a:ext uri="{FF2B5EF4-FFF2-40B4-BE49-F238E27FC236}">
                <a16:creationId xmlns:a16="http://schemas.microsoft.com/office/drawing/2014/main" id="{0759F3D3-C9CC-B863-83EF-FBAAAD16A5CF}"/>
              </a:ext>
            </a:extLst>
          </p:cNvPr>
          <p:cNvSpPr txBox="1"/>
          <p:nvPr/>
        </p:nvSpPr>
        <p:spPr>
          <a:xfrm>
            <a:off x="6270423" y="2981535"/>
            <a:ext cx="1217015" cy="276999"/>
          </a:xfrm>
          <a:prstGeom prst="rect">
            <a:avLst/>
          </a:prstGeom>
          <a:noFill/>
        </p:spPr>
        <p:txBody>
          <a:bodyPr wrap="square" rtlCol="0">
            <a:spAutoFit/>
          </a:bodyPr>
          <a:lstStyle/>
          <a:p>
            <a:r>
              <a:rPr lang="en-US" sz="1200" b="1" dirty="0"/>
              <a:t> </a:t>
            </a:r>
            <a:r>
              <a:rPr lang="en-US" sz="1200" b="1" u="sng" dirty="0">
                <a:solidFill>
                  <a:srgbClr val="FF0000"/>
                </a:solidFill>
              </a:rPr>
              <a:t>Reduce </a:t>
            </a:r>
            <a:r>
              <a:rPr lang="en-US" sz="1200" b="1" dirty="0"/>
              <a:t>    </a:t>
            </a:r>
            <a:r>
              <a:rPr lang="en-US" sz="1200" b="1" u="sng" dirty="0"/>
              <a:t>New</a:t>
            </a:r>
          </a:p>
        </p:txBody>
      </p:sp>
      <p:sp>
        <p:nvSpPr>
          <p:cNvPr id="75" name="TextBox 74">
            <a:extLst>
              <a:ext uri="{FF2B5EF4-FFF2-40B4-BE49-F238E27FC236}">
                <a16:creationId xmlns:a16="http://schemas.microsoft.com/office/drawing/2014/main" id="{B4BEA0D8-214C-1FE7-573A-BA9D1F68B0BD}"/>
              </a:ext>
            </a:extLst>
          </p:cNvPr>
          <p:cNvSpPr txBox="1"/>
          <p:nvPr/>
        </p:nvSpPr>
        <p:spPr>
          <a:xfrm>
            <a:off x="6363745" y="3354898"/>
            <a:ext cx="524288" cy="276999"/>
          </a:xfrm>
          <a:prstGeom prst="rect">
            <a:avLst/>
          </a:prstGeom>
          <a:noFill/>
        </p:spPr>
        <p:txBody>
          <a:bodyPr wrap="square" rtlCol="0">
            <a:spAutoFit/>
          </a:bodyPr>
          <a:lstStyle/>
          <a:p>
            <a:pPr algn="r"/>
            <a:r>
              <a:rPr lang="en-US" sz="1200" b="1" dirty="0">
                <a:solidFill>
                  <a:srgbClr val="FF0000"/>
                </a:solidFill>
              </a:rPr>
              <a:t>1.5</a:t>
            </a:r>
          </a:p>
        </p:txBody>
      </p:sp>
      <p:sp>
        <p:nvSpPr>
          <p:cNvPr id="76" name="TextBox 75">
            <a:extLst>
              <a:ext uri="{FF2B5EF4-FFF2-40B4-BE49-F238E27FC236}">
                <a16:creationId xmlns:a16="http://schemas.microsoft.com/office/drawing/2014/main" id="{98A7A4FF-DCA4-8C22-D4B0-CB6556ED89F2}"/>
              </a:ext>
            </a:extLst>
          </p:cNvPr>
          <p:cNvSpPr txBox="1"/>
          <p:nvPr/>
        </p:nvSpPr>
        <p:spPr>
          <a:xfrm>
            <a:off x="9144" y="4304472"/>
            <a:ext cx="1561156" cy="830997"/>
          </a:xfrm>
          <a:prstGeom prst="rect">
            <a:avLst/>
          </a:prstGeom>
          <a:noFill/>
        </p:spPr>
        <p:txBody>
          <a:bodyPr wrap="square" rtlCol="0">
            <a:spAutoFit/>
          </a:bodyPr>
          <a:lstStyle/>
          <a:p>
            <a:r>
              <a:rPr lang="en-US" sz="1200" b="1" dirty="0"/>
              <a:t>Cooling</a:t>
            </a:r>
          </a:p>
          <a:p>
            <a:r>
              <a:rPr lang="en-US" sz="1200" b="1" dirty="0"/>
              <a:t>    - air</a:t>
            </a:r>
          </a:p>
          <a:p>
            <a:r>
              <a:rPr lang="en-US" sz="1200" b="1" dirty="0"/>
              <a:t>    - humidity</a:t>
            </a:r>
          </a:p>
          <a:p>
            <a:r>
              <a:rPr lang="en-US" sz="1200" b="1" dirty="0"/>
              <a:t>    - water</a:t>
            </a:r>
            <a:endParaRPr lang="en-US" sz="900" dirty="0"/>
          </a:p>
        </p:txBody>
      </p:sp>
      <p:sp>
        <p:nvSpPr>
          <p:cNvPr id="77" name="TextBox 76">
            <a:extLst>
              <a:ext uri="{FF2B5EF4-FFF2-40B4-BE49-F238E27FC236}">
                <a16:creationId xmlns:a16="http://schemas.microsoft.com/office/drawing/2014/main" id="{CC35501E-2256-726D-2F79-398EFF189431}"/>
              </a:ext>
            </a:extLst>
          </p:cNvPr>
          <p:cNvSpPr txBox="1"/>
          <p:nvPr/>
        </p:nvSpPr>
        <p:spPr>
          <a:xfrm>
            <a:off x="1499616" y="4438652"/>
            <a:ext cx="524288" cy="276999"/>
          </a:xfrm>
          <a:prstGeom prst="rect">
            <a:avLst/>
          </a:prstGeom>
          <a:noFill/>
        </p:spPr>
        <p:txBody>
          <a:bodyPr wrap="square" rtlCol="0">
            <a:spAutoFit/>
          </a:bodyPr>
          <a:lstStyle/>
          <a:p>
            <a:pPr algn="r"/>
            <a:r>
              <a:rPr lang="en-US" sz="1200" b="1" dirty="0"/>
              <a:t>24.2</a:t>
            </a:r>
          </a:p>
        </p:txBody>
      </p:sp>
      <p:sp>
        <p:nvSpPr>
          <p:cNvPr id="78" name="TextBox 77">
            <a:extLst>
              <a:ext uri="{FF2B5EF4-FFF2-40B4-BE49-F238E27FC236}">
                <a16:creationId xmlns:a16="http://schemas.microsoft.com/office/drawing/2014/main" id="{E84751CB-E569-F953-EB91-F6D20F31ED4E}"/>
              </a:ext>
            </a:extLst>
          </p:cNvPr>
          <p:cNvSpPr txBox="1"/>
          <p:nvPr/>
        </p:nvSpPr>
        <p:spPr>
          <a:xfrm>
            <a:off x="1499616" y="4656863"/>
            <a:ext cx="524288" cy="276999"/>
          </a:xfrm>
          <a:prstGeom prst="rect">
            <a:avLst/>
          </a:prstGeom>
          <a:noFill/>
        </p:spPr>
        <p:txBody>
          <a:bodyPr wrap="square" rtlCol="0">
            <a:spAutoFit/>
          </a:bodyPr>
          <a:lstStyle/>
          <a:p>
            <a:pPr algn="r"/>
            <a:r>
              <a:rPr lang="en-US" sz="1200" b="1" dirty="0"/>
              <a:t>2.3</a:t>
            </a:r>
          </a:p>
        </p:txBody>
      </p:sp>
      <p:sp>
        <p:nvSpPr>
          <p:cNvPr id="79" name="TextBox 78">
            <a:extLst>
              <a:ext uri="{FF2B5EF4-FFF2-40B4-BE49-F238E27FC236}">
                <a16:creationId xmlns:a16="http://schemas.microsoft.com/office/drawing/2014/main" id="{CCF91FEE-C64D-F3A2-A017-78580D9C28F6}"/>
              </a:ext>
            </a:extLst>
          </p:cNvPr>
          <p:cNvSpPr txBox="1"/>
          <p:nvPr/>
        </p:nvSpPr>
        <p:spPr>
          <a:xfrm>
            <a:off x="1499616" y="4875534"/>
            <a:ext cx="524288" cy="276999"/>
          </a:xfrm>
          <a:prstGeom prst="rect">
            <a:avLst/>
          </a:prstGeom>
          <a:noFill/>
        </p:spPr>
        <p:txBody>
          <a:bodyPr wrap="square" rtlCol="0">
            <a:spAutoFit/>
          </a:bodyPr>
          <a:lstStyle/>
          <a:p>
            <a:pPr algn="r"/>
            <a:r>
              <a:rPr lang="en-US" sz="1200" b="1" dirty="0"/>
              <a:t>0.3</a:t>
            </a:r>
          </a:p>
        </p:txBody>
      </p:sp>
      <p:cxnSp>
        <p:nvCxnSpPr>
          <p:cNvPr id="80" name="Straight Connector 79">
            <a:extLst>
              <a:ext uri="{FF2B5EF4-FFF2-40B4-BE49-F238E27FC236}">
                <a16:creationId xmlns:a16="http://schemas.microsoft.com/office/drawing/2014/main" id="{1CF1C1D4-6F2F-78D7-4DA6-C3AC6560B195}"/>
              </a:ext>
            </a:extLst>
          </p:cNvPr>
          <p:cNvCxnSpPr>
            <a:cxnSpLocks/>
          </p:cNvCxnSpPr>
          <p:nvPr/>
        </p:nvCxnSpPr>
        <p:spPr>
          <a:xfrm>
            <a:off x="4939434" y="4096290"/>
            <a:ext cx="2559373" cy="0"/>
          </a:xfrm>
          <a:prstGeom prst="line">
            <a:avLst/>
          </a:prstGeom>
          <a:ln w="12700">
            <a:solidFill>
              <a:srgbClr val="003300"/>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73B21157-DCA1-350E-199B-C52B35536451}"/>
              </a:ext>
            </a:extLst>
          </p:cNvPr>
          <p:cNvSpPr txBox="1"/>
          <p:nvPr/>
        </p:nvSpPr>
        <p:spPr>
          <a:xfrm>
            <a:off x="4904039" y="4257298"/>
            <a:ext cx="1561156" cy="830997"/>
          </a:xfrm>
          <a:prstGeom prst="rect">
            <a:avLst/>
          </a:prstGeom>
          <a:noFill/>
        </p:spPr>
        <p:txBody>
          <a:bodyPr wrap="square" rtlCol="0">
            <a:spAutoFit/>
          </a:bodyPr>
          <a:lstStyle/>
          <a:p>
            <a:r>
              <a:rPr lang="en-US" sz="1200" b="1" dirty="0"/>
              <a:t>Cooling</a:t>
            </a:r>
          </a:p>
          <a:p>
            <a:r>
              <a:rPr lang="en-US" sz="1200" b="1" dirty="0"/>
              <a:t>    - air</a:t>
            </a:r>
          </a:p>
          <a:p>
            <a:r>
              <a:rPr lang="en-US" sz="1200" b="1" dirty="0"/>
              <a:t>    - humidity</a:t>
            </a:r>
          </a:p>
          <a:p>
            <a:r>
              <a:rPr lang="en-US" sz="1200" b="1" dirty="0"/>
              <a:t>    - water</a:t>
            </a:r>
            <a:endParaRPr lang="en-US" sz="900" dirty="0"/>
          </a:p>
        </p:txBody>
      </p:sp>
      <p:sp>
        <p:nvSpPr>
          <p:cNvPr id="91" name="TextBox 90">
            <a:extLst>
              <a:ext uri="{FF2B5EF4-FFF2-40B4-BE49-F238E27FC236}">
                <a16:creationId xmlns:a16="http://schemas.microsoft.com/office/drawing/2014/main" id="{5FF86707-A56B-3FAB-BCED-9DF918FF79A1}"/>
              </a:ext>
            </a:extLst>
          </p:cNvPr>
          <p:cNvSpPr txBox="1"/>
          <p:nvPr/>
        </p:nvSpPr>
        <p:spPr>
          <a:xfrm>
            <a:off x="7731871" y="1601029"/>
            <a:ext cx="4276508" cy="646331"/>
          </a:xfrm>
          <a:prstGeom prst="rect">
            <a:avLst/>
          </a:prstGeom>
          <a:solidFill>
            <a:schemeClr val="bg1"/>
          </a:solidFill>
          <a:scene3d>
            <a:camera prst="orthographicFront"/>
            <a:lightRig rig="threePt" dir="t"/>
          </a:scene3d>
          <a:sp3d>
            <a:bevelT prst="relaxedInset"/>
          </a:sp3d>
        </p:spPr>
        <p:txBody>
          <a:bodyPr wrap="square" rtlCol="0">
            <a:spAutoFit/>
          </a:bodyPr>
          <a:lstStyle/>
          <a:p>
            <a:r>
              <a:rPr lang="en-US" sz="1200" dirty="0"/>
              <a:t>Perform a comparative analysis between the purchase of carbon credits/offsets vs. installing solar panels to reduce carbon emissions associated with a storage warehouse.</a:t>
            </a:r>
          </a:p>
        </p:txBody>
      </p:sp>
      <p:sp>
        <p:nvSpPr>
          <p:cNvPr id="92" name="TextBox 91">
            <a:extLst>
              <a:ext uri="{FF2B5EF4-FFF2-40B4-BE49-F238E27FC236}">
                <a16:creationId xmlns:a16="http://schemas.microsoft.com/office/drawing/2014/main" id="{2F578211-1FCD-A2F0-46B1-56BF89FFF676}"/>
              </a:ext>
            </a:extLst>
          </p:cNvPr>
          <p:cNvSpPr txBox="1"/>
          <p:nvPr/>
        </p:nvSpPr>
        <p:spPr>
          <a:xfrm>
            <a:off x="7740388" y="2624230"/>
            <a:ext cx="4276508" cy="3970318"/>
          </a:xfrm>
          <a:prstGeom prst="rect">
            <a:avLst/>
          </a:prstGeom>
          <a:solidFill>
            <a:schemeClr val="bg1"/>
          </a:solidFill>
          <a:scene3d>
            <a:camera prst="orthographicFront"/>
            <a:lightRig rig="threePt" dir="t"/>
          </a:scene3d>
          <a:sp3d>
            <a:bevelT prst="relaxedInset"/>
          </a:sp3d>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D</a:t>
            </a:r>
          </a:p>
          <a:p>
            <a:endParaRPr lang="en-US" dirty="0"/>
          </a:p>
          <a:p>
            <a:endParaRPr lang="en-US" dirty="0"/>
          </a:p>
          <a:p>
            <a:endParaRPr lang="en-US" dirty="0"/>
          </a:p>
        </p:txBody>
      </p:sp>
      <p:pic>
        <p:nvPicPr>
          <p:cNvPr id="107" name="Picture 106">
            <a:extLst>
              <a:ext uri="{FF2B5EF4-FFF2-40B4-BE49-F238E27FC236}">
                <a16:creationId xmlns:a16="http://schemas.microsoft.com/office/drawing/2014/main" id="{F2B7D164-55CC-5BA9-1C20-6D3BB8289059}"/>
              </a:ext>
            </a:extLst>
          </p:cNvPr>
          <p:cNvPicPr>
            <a:picLocks noChangeAspect="1"/>
          </p:cNvPicPr>
          <p:nvPr/>
        </p:nvPicPr>
        <p:blipFill>
          <a:blip r:embed="rId2"/>
          <a:stretch>
            <a:fillRect/>
          </a:stretch>
        </p:blipFill>
        <p:spPr>
          <a:xfrm>
            <a:off x="7807505" y="2761488"/>
            <a:ext cx="4127370" cy="1860046"/>
          </a:xfrm>
          <a:prstGeom prst="rect">
            <a:avLst/>
          </a:prstGeom>
        </p:spPr>
      </p:pic>
      <p:pic>
        <p:nvPicPr>
          <p:cNvPr id="109" name="Picture 108">
            <a:extLst>
              <a:ext uri="{FF2B5EF4-FFF2-40B4-BE49-F238E27FC236}">
                <a16:creationId xmlns:a16="http://schemas.microsoft.com/office/drawing/2014/main" id="{87941EF4-C85C-F1DD-E54B-DD0E41AB4688}"/>
              </a:ext>
            </a:extLst>
          </p:cNvPr>
          <p:cNvPicPr>
            <a:picLocks noChangeAspect="1"/>
          </p:cNvPicPr>
          <p:nvPr/>
        </p:nvPicPr>
        <p:blipFill>
          <a:blip r:embed="rId3"/>
          <a:stretch>
            <a:fillRect/>
          </a:stretch>
        </p:blipFill>
        <p:spPr>
          <a:xfrm>
            <a:off x="7811986" y="4580566"/>
            <a:ext cx="3994357" cy="1190918"/>
          </a:xfrm>
          <a:prstGeom prst="rect">
            <a:avLst/>
          </a:prstGeom>
        </p:spPr>
      </p:pic>
      <p:pic>
        <p:nvPicPr>
          <p:cNvPr id="111" name="Picture 110">
            <a:extLst>
              <a:ext uri="{FF2B5EF4-FFF2-40B4-BE49-F238E27FC236}">
                <a16:creationId xmlns:a16="http://schemas.microsoft.com/office/drawing/2014/main" id="{39831138-D3DE-672B-2497-2C5CBD5DBF85}"/>
              </a:ext>
            </a:extLst>
          </p:cNvPr>
          <p:cNvPicPr>
            <a:picLocks noChangeAspect="1"/>
          </p:cNvPicPr>
          <p:nvPr/>
        </p:nvPicPr>
        <p:blipFill>
          <a:blip r:embed="rId4"/>
          <a:stretch>
            <a:fillRect/>
          </a:stretch>
        </p:blipFill>
        <p:spPr>
          <a:xfrm>
            <a:off x="7824184" y="5825645"/>
            <a:ext cx="1760895" cy="729360"/>
          </a:xfrm>
          <a:prstGeom prst="rect">
            <a:avLst/>
          </a:prstGeom>
        </p:spPr>
      </p:pic>
      <p:pic>
        <p:nvPicPr>
          <p:cNvPr id="113" name="Picture 112">
            <a:extLst>
              <a:ext uri="{FF2B5EF4-FFF2-40B4-BE49-F238E27FC236}">
                <a16:creationId xmlns:a16="http://schemas.microsoft.com/office/drawing/2014/main" id="{01110F01-5ECC-57CE-7363-51CFDCB49DC9}"/>
              </a:ext>
            </a:extLst>
          </p:cNvPr>
          <p:cNvPicPr>
            <a:picLocks noChangeAspect="1"/>
          </p:cNvPicPr>
          <p:nvPr/>
        </p:nvPicPr>
        <p:blipFill>
          <a:blip r:embed="rId5"/>
          <a:stretch>
            <a:fillRect/>
          </a:stretch>
        </p:blipFill>
        <p:spPr>
          <a:xfrm>
            <a:off x="10096804" y="5829519"/>
            <a:ext cx="1461057" cy="711677"/>
          </a:xfrm>
          <a:prstGeom prst="rect">
            <a:avLst/>
          </a:prstGeom>
        </p:spPr>
      </p:pic>
      <p:cxnSp>
        <p:nvCxnSpPr>
          <p:cNvPr id="114" name="Straight Connector 113">
            <a:extLst>
              <a:ext uri="{FF2B5EF4-FFF2-40B4-BE49-F238E27FC236}">
                <a16:creationId xmlns:a16="http://schemas.microsoft.com/office/drawing/2014/main" id="{7F2757D2-82BF-B284-4A9E-6AB4AB39364B}"/>
              </a:ext>
            </a:extLst>
          </p:cNvPr>
          <p:cNvCxnSpPr>
            <a:cxnSpLocks/>
          </p:cNvCxnSpPr>
          <p:nvPr/>
        </p:nvCxnSpPr>
        <p:spPr>
          <a:xfrm>
            <a:off x="7811986" y="5786102"/>
            <a:ext cx="4172457" cy="0"/>
          </a:xfrm>
          <a:prstGeom prst="line">
            <a:avLst/>
          </a:prstGeom>
          <a:ln w="12700">
            <a:solidFill>
              <a:srgbClr val="003300"/>
            </a:solidFill>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23CE2DBA-A9FE-4C10-2741-57606EB3BE6C}"/>
              </a:ext>
            </a:extLst>
          </p:cNvPr>
          <p:cNvSpPr txBox="1"/>
          <p:nvPr/>
        </p:nvSpPr>
        <p:spPr>
          <a:xfrm>
            <a:off x="8537071" y="2343805"/>
            <a:ext cx="2302758" cy="307777"/>
          </a:xfrm>
          <a:prstGeom prst="rect">
            <a:avLst/>
          </a:prstGeom>
          <a:noFill/>
        </p:spPr>
        <p:txBody>
          <a:bodyPr wrap="square">
            <a:spAutoFit/>
          </a:bodyPr>
          <a:lstStyle/>
          <a:p>
            <a:pPr algn="ctr"/>
            <a:r>
              <a:rPr lang="en-US" sz="1400" b="1" i="0" dirty="0">
                <a:solidFill>
                  <a:srgbClr val="FFFF00"/>
                </a:solidFill>
                <a:effectLst/>
                <a:highlight>
                  <a:srgbClr val="000080"/>
                </a:highlight>
                <a:latin typeface="Google Sans"/>
              </a:rPr>
              <a:t>LLM Output (ChatGPT)</a:t>
            </a:r>
          </a:p>
        </p:txBody>
      </p:sp>
      <p:sp>
        <p:nvSpPr>
          <p:cNvPr id="117" name="TextBox 116">
            <a:extLst>
              <a:ext uri="{FF2B5EF4-FFF2-40B4-BE49-F238E27FC236}">
                <a16:creationId xmlns:a16="http://schemas.microsoft.com/office/drawing/2014/main" id="{FFE1136E-8870-98D9-044E-9BC84202F7FC}"/>
              </a:ext>
            </a:extLst>
          </p:cNvPr>
          <p:cNvSpPr txBox="1"/>
          <p:nvPr/>
        </p:nvSpPr>
        <p:spPr>
          <a:xfrm>
            <a:off x="8395269" y="1318862"/>
            <a:ext cx="2561628" cy="307777"/>
          </a:xfrm>
          <a:prstGeom prst="rect">
            <a:avLst/>
          </a:prstGeom>
          <a:noFill/>
        </p:spPr>
        <p:txBody>
          <a:bodyPr wrap="square">
            <a:spAutoFit/>
          </a:bodyPr>
          <a:lstStyle/>
          <a:p>
            <a:pPr algn="ctr"/>
            <a:r>
              <a:rPr lang="en-US" sz="1400" b="1" i="0" dirty="0">
                <a:solidFill>
                  <a:srgbClr val="FFFF00"/>
                </a:solidFill>
                <a:effectLst/>
                <a:highlight>
                  <a:srgbClr val="000080"/>
                </a:highlight>
                <a:latin typeface="Google Sans"/>
              </a:rPr>
              <a:t>input to LLM  (ChatGPT)</a:t>
            </a:r>
          </a:p>
        </p:txBody>
      </p:sp>
      <p:cxnSp>
        <p:nvCxnSpPr>
          <p:cNvPr id="120" name="Straight Connector 119">
            <a:extLst>
              <a:ext uri="{FF2B5EF4-FFF2-40B4-BE49-F238E27FC236}">
                <a16:creationId xmlns:a16="http://schemas.microsoft.com/office/drawing/2014/main" id="{74CF6DDB-0AFC-A3C6-DEB8-ECDE7FE5E269}"/>
              </a:ext>
            </a:extLst>
          </p:cNvPr>
          <p:cNvCxnSpPr>
            <a:cxnSpLocks/>
          </p:cNvCxnSpPr>
          <p:nvPr/>
        </p:nvCxnSpPr>
        <p:spPr>
          <a:xfrm flipV="1">
            <a:off x="2321544" y="4710495"/>
            <a:ext cx="2234321" cy="102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Rectangle 122">
            <a:extLst>
              <a:ext uri="{FF2B5EF4-FFF2-40B4-BE49-F238E27FC236}">
                <a16:creationId xmlns:a16="http://schemas.microsoft.com/office/drawing/2014/main" id="{5337D795-7826-0A6D-8CE7-42D38317CDF8}"/>
              </a:ext>
            </a:extLst>
          </p:cNvPr>
          <p:cNvSpPr/>
          <p:nvPr/>
        </p:nvSpPr>
        <p:spPr>
          <a:xfrm>
            <a:off x="5113403" y="1928834"/>
            <a:ext cx="2104586"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New Emission Baseline</a:t>
            </a:r>
          </a:p>
        </p:txBody>
      </p:sp>
      <p:sp>
        <p:nvSpPr>
          <p:cNvPr id="124" name="Rectangle 123">
            <a:extLst>
              <a:ext uri="{FF2B5EF4-FFF2-40B4-BE49-F238E27FC236}">
                <a16:creationId xmlns:a16="http://schemas.microsoft.com/office/drawing/2014/main" id="{7BF4D21A-5D37-3116-7B05-9B2EB58D9056}"/>
              </a:ext>
            </a:extLst>
          </p:cNvPr>
          <p:cNvSpPr/>
          <p:nvPr/>
        </p:nvSpPr>
        <p:spPr>
          <a:xfrm>
            <a:off x="2300919" y="1928404"/>
            <a:ext cx="2436927"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00"/>
                </a:solidFill>
              </a:rPr>
              <a:t>AI Emission Reduction Strategies</a:t>
            </a:r>
          </a:p>
        </p:txBody>
      </p:sp>
      <p:sp>
        <p:nvSpPr>
          <p:cNvPr id="21" name="TextBox 20">
            <a:extLst>
              <a:ext uri="{FF2B5EF4-FFF2-40B4-BE49-F238E27FC236}">
                <a16:creationId xmlns:a16="http://schemas.microsoft.com/office/drawing/2014/main" id="{C84AFDF5-C60B-1752-216D-BEF8DA0EBE9E}"/>
              </a:ext>
            </a:extLst>
          </p:cNvPr>
          <p:cNvSpPr txBox="1"/>
          <p:nvPr/>
        </p:nvSpPr>
        <p:spPr>
          <a:xfrm>
            <a:off x="2087717" y="2496015"/>
            <a:ext cx="2769112" cy="646331"/>
          </a:xfrm>
          <a:prstGeom prst="rect">
            <a:avLst/>
          </a:prstGeom>
          <a:noFill/>
        </p:spPr>
        <p:txBody>
          <a:bodyPr wrap="square">
            <a:spAutoFit/>
          </a:bodyPr>
          <a:lstStyle/>
          <a:p>
            <a:r>
              <a:rPr lang="en-US" sz="1200" b="1" dirty="0">
                <a:latin typeface="Google Sans"/>
              </a:rPr>
              <a:t>Based on the input question 3 GHG emission reduction strategies are recommended. </a:t>
            </a:r>
            <a:endParaRPr lang="en-US" sz="2400" b="1" i="0" dirty="0">
              <a:effectLst/>
              <a:latin typeface="Google Sans"/>
            </a:endParaRPr>
          </a:p>
        </p:txBody>
      </p:sp>
      <p:sp>
        <p:nvSpPr>
          <p:cNvPr id="125" name="TextBox 124">
            <a:extLst>
              <a:ext uri="{FF2B5EF4-FFF2-40B4-BE49-F238E27FC236}">
                <a16:creationId xmlns:a16="http://schemas.microsoft.com/office/drawing/2014/main" id="{BB87FD08-5A81-321F-C689-609CED2563A1}"/>
              </a:ext>
            </a:extLst>
          </p:cNvPr>
          <p:cNvSpPr txBox="1"/>
          <p:nvPr/>
        </p:nvSpPr>
        <p:spPr>
          <a:xfrm>
            <a:off x="2145104" y="4767910"/>
            <a:ext cx="2769112" cy="830997"/>
          </a:xfrm>
          <a:prstGeom prst="rect">
            <a:avLst/>
          </a:prstGeom>
          <a:noFill/>
        </p:spPr>
        <p:txBody>
          <a:bodyPr wrap="square">
            <a:spAutoFit/>
          </a:bodyPr>
          <a:lstStyle/>
          <a:p>
            <a:r>
              <a:rPr lang="en-US" sz="1200" b="1" i="0" dirty="0">
                <a:effectLst/>
                <a:latin typeface="Google Sans"/>
              </a:rPr>
              <a:t>Press the “Select” button to enter </a:t>
            </a:r>
            <a:r>
              <a:rPr lang="en-US" sz="1200" b="1" dirty="0">
                <a:latin typeface="Google Sans"/>
              </a:rPr>
              <a:t>details on changes made to the warehouse to reduce GHG emissions. Enter new emission values.</a:t>
            </a:r>
            <a:endParaRPr lang="en-US" sz="2400" b="1" i="0" dirty="0">
              <a:effectLst/>
              <a:latin typeface="Google Sans"/>
            </a:endParaRPr>
          </a:p>
        </p:txBody>
      </p:sp>
      <p:sp>
        <p:nvSpPr>
          <p:cNvPr id="126" name="TextBox 125">
            <a:extLst>
              <a:ext uri="{FF2B5EF4-FFF2-40B4-BE49-F238E27FC236}">
                <a16:creationId xmlns:a16="http://schemas.microsoft.com/office/drawing/2014/main" id="{99885D5C-1192-01F6-9204-C0933EB75BA5}"/>
              </a:ext>
            </a:extLst>
          </p:cNvPr>
          <p:cNvSpPr txBox="1"/>
          <p:nvPr/>
        </p:nvSpPr>
        <p:spPr>
          <a:xfrm>
            <a:off x="-8680" y="5307198"/>
            <a:ext cx="1561156" cy="307777"/>
          </a:xfrm>
          <a:prstGeom prst="rect">
            <a:avLst/>
          </a:prstGeom>
          <a:noFill/>
        </p:spPr>
        <p:txBody>
          <a:bodyPr wrap="square" rtlCol="0">
            <a:spAutoFit/>
          </a:bodyPr>
          <a:lstStyle/>
          <a:p>
            <a:r>
              <a:rPr lang="en-US" sz="1400" b="1" dirty="0"/>
              <a:t>Total = 45.2</a:t>
            </a:r>
            <a:endParaRPr lang="en-US" sz="1400" dirty="0"/>
          </a:p>
        </p:txBody>
      </p:sp>
      <p:cxnSp>
        <p:nvCxnSpPr>
          <p:cNvPr id="127" name="Straight Connector 126">
            <a:extLst>
              <a:ext uri="{FF2B5EF4-FFF2-40B4-BE49-F238E27FC236}">
                <a16:creationId xmlns:a16="http://schemas.microsoft.com/office/drawing/2014/main" id="{14D7ADE6-F96A-361E-5FDB-85C8A31182C2}"/>
              </a:ext>
            </a:extLst>
          </p:cNvPr>
          <p:cNvCxnSpPr>
            <a:cxnSpLocks/>
          </p:cNvCxnSpPr>
          <p:nvPr/>
        </p:nvCxnSpPr>
        <p:spPr>
          <a:xfrm>
            <a:off x="38772" y="5214979"/>
            <a:ext cx="2061694" cy="0"/>
          </a:xfrm>
          <a:prstGeom prst="line">
            <a:avLst/>
          </a:prstGeom>
          <a:ln w="12700">
            <a:solidFill>
              <a:srgbClr val="003300"/>
            </a:solidFill>
          </a:ln>
        </p:spPr>
        <p:style>
          <a:lnRef idx="1">
            <a:schemeClr val="accent1"/>
          </a:lnRef>
          <a:fillRef idx="0">
            <a:schemeClr val="accent1"/>
          </a:fillRef>
          <a:effectRef idx="0">
            <a:schemeClr val="accent1"/>
          </a:effectRef>
          <a:fontRef idx="minor">
            <a:schemeClr val="tx1"/>
          </a:fontRef>
        </p:style>
      </p:cxnSp>
      <p:sp>
        <p:nvSpPr>
          <p:cNvPr id="1024" name="TextBox 1023">
            <a:extLst>
              <a:ext uri="{FF2B5EF4-FFF2-40B4-BE49-F238E27FC236}">
                <a16:creationId xmlns:a16="http://schemas.microsoft.com/office/drawing/2014/main" id="{48D760C2-0724-6CCA-BAD5-9D528A4CE313}"/>
              </a:ext>
            </a:extLst>
          </p:cNvPr>
          <p:cNvSpPr txBox="1"/>
          <p:nvPr/>
        </p:nvSpPr>
        <p:spPr>
          <a:xfrm>
            <a:off x="6360956" y="3532462"/>
            <a:ext cx="524288" cy="276999"/>
          </a:xfrm>
          <a:prstGeom prst="rect">
            <a:avLst/>
          </a:prstGeom>
          <a:noFill/>
        </p:spPr>
        <p:txBody>
          <a:bodyPr wrap="square" rtlCol="0">
            <a:spAutoFit/>
          </a:bodyPr>
          <a:lstStyle/>
          <a:p>
            <a:pPr algn="r"/>
            <a:r>
              <a:rPr lang="en-US" sz="1200" b="1" dirty="0">
                <a:solidFill>
                  <a:srgbClr val="FF0000"/>
                </a:solidFill>
              </a:rPr>
              <a:t>5.4</a:t>
            </a:r>
          </a:p>
        </p:txBody>
      </p:sp>
      <p:sp>
        <p:nvSpPr>
          <p:cNvPr id="1025" name="TextBox 1024">
            <a:extLst>
              <a:ext uri="{FF2B5EF4-FFF2-40B4-BE49-F238E27FC236}">
                <a16:creationId xmlns:a16="http://schemas.microsoft.com/office/drawing/2014/main" id="{68BB8D7A-BCD0-F45A-1D92-B4289C4E9E54}"/>
              </a:ext>
            </a:extLst>
          </p:cNvPr>
          <p:cNvSpPr txBox="1"/>
          <p:nvPr/>
        </p:nvSpPr>
        <p:spPr>
          <a:xfrm>
            <a:off x="6370750" y="3701638"/>
            <a:ext cx="524288" cy="276999"/>
          </a:xfrm>
          <a:prstGeom prst="rect">
            <a:avLst/>
          </a:prstGeom>
          <a:noFill/>
        </p:spPr>
        <p:txBody>
          <a:bodyPr wrap="square" rtlCol="0">
            <a:spAutoFit/>
          </a:bodyPr>
          <a:lstStyle/>
          <a:p>
            <a:pPr algn="r"/>
            <a:r>
              <a:rPr lang="en-US" sz="1200" b="1" dirty="0">
                <a:solidFill>
                  <a:srgbClr val="FF0000"/>
                </a:solidFill>
              </a:rPr>
              <a:t>0.3</a:t>
            </a:r>
          </a:p>
        </p:txBody>
      </p:sp>
      <p:sp>
        <p:nvSpPr>
          <p:cNvPr id="1026" name="TextBox 1025">
            <a:extLst>
              <a:ext uri="{FF2B5EF4-FFF2-40B4-BE49-F238E27FC236}">
                <a16:creationId xmlns:a16="http://schemas.microsoft.com/office/drawing/2014/main" id="{9E1AF033-0553-14B8-814D-89164723BA4C}"/>
              </a:ext>
            </a:extLst>
          </p:cNvPr>
          <p:cNvSpPr txBox="1"/>
          <p:nvPr/>
        </p:nvSpPr>
        <p:spPr>
          <a:xfrm>
            <a:off x="6861775" y="3344340"/>
            <a:ext cx="524288" cy="276999"/>
          </a:xfrm>
          <a:prstGeom prst="rect">
            <a:avLst/>
          </a:prstGeom>
          <a:noFill/>
        </p:spPr>
        <p:txBody>
          <a:bodyPr wrap="square" rtlCol="0">
            <a:spAutoFit/>
          </a:bodyPr>
          <a:lstStyle/>
          <a:p>
            <a:pPr algn="r"/>
            <a:r>
              <a:rPr lang="en-US" sz="1200" b="1" dirty="0"/>
              <a:t>0.0</a:t>
            </a:r>
          </a:p>
        </p:txBody>
      </p:sp>
      <p:sp>
        <p:nvSpPr>
          <p:cNvPr id="1028" name="TextBox 1027">
            <a:extLst>
              <a:ext uri="{FF2B5EF4-FFF2-40B4-BE49-F238E27FC236}">
                <a16:creationId xmlns:a16="http://schemas.microsoft.com/office/drawing/2014/main" id="{A2D3E757-F3B5-0B21-F2A0-E6FB0A183D28}"/>
              </a:ext>
            </a:extLst>
          </p:cNvPr>
          <p:cNvSpPr txBox="1"/>
          <p:nvPr/>
        </p:nvSpPr>
        <p:spPr>
          <a:xfrm>
            <a:off x="6871194" y="3525337"/>
            <a:ext cx="524288" cy="276999"/>
          </a:xfrm>
          <a:prstGeom prst="rect">
            <a:avLst/>
          </a:prstGeom>
          <a:noFill/>
        </p:spPr>
        <p:txBody>
          <a:bodyPr wrap="square" rtlCol="0">
            <a:spAutoFit/>
          </a:bodyPr>
          <a:lstStyle/>
          <a:p>
            <a:pPr algn="r"/>
            <a:r>
              <a:rPr lang="en-US" sz="1200" b="1" dirty="0"/>
              <a:t>0.0</a:t>
            </a:r>
          </a:p>
        </p:txBody>
      </p:sp>
      <p:sp>
        <p:nvSpPr>
          <p:cNvPr id="1029" name="TextBox 1028">
            <a:extLst>
              <a:ext uri="{FF2B5EF4-FFF2-40B4-BE49-F238E27FC236}">
                <a16:creationId xmlns:a16="http://schemas.microsoft.com/office/drawing/2014/main" id="{23D5FCA9-5895-C9F3-C6A9-AF3F09235D84}"/>
              </a:ext>
            </a:extLst>
          </p:cNvPr>
          <p:cNvSpPr txBox="1"/>
          <p:nvPr/>
        </p:nvSpPr>
        <p:spPr>
          <a:xfrm>
            <a:off x="6872662" y="3679992"/>
            <a:ext cx="524288" cy="276999"/>
          </a:xfrm>
          <a:prstGeom prst="rect">
            <a:avLst/>
          </a:prstGeom>
          <a:noFill/>
        </p:spPr>
        <p:txBody>
          <a:bodyPr wrap="square" rtlCol="0">
            <a:spAutoFit/>
          </a:bodyPr>
          <a:lstStyle/>
          <a:p>
            <a:pPr algn="r"/>
            <a:r>
              <a:rPr lang="en-US" sz="1200" b="1" dirty="0"/>
              <a:t>0.0</a:t>
            </a:r>
          </a:p>
        </p:txBody>
      </p:sp>
      <p:sp>
        <p:nvSpPr>
          <p:cNvPr id="1031" name="TextBox 1030">
            <a:extLst>
              <a:ext uri="{FF2B5EF4-FFF2-40B4-BE49-F238E27FC236}">
                <a16:creationId xmlns:a16="http://schemas.microsoft.com/office/drawing/2014/main" id="{E4526FBB-9007-5BDC-22D5-549FCFD870AB}"/>
              </a:ext>
            </a:extLst>
          </p:cNvPr>
          <p:cNvSpPr txBox="1"/>
          <p:nvPr/>
        </p:nvSpPr>
        <p:spPr>
          <a:xfrm>
            <a:off x="6401871" y="4432274"/>
            <a:ext cx="524288" cy="276999"/>
          </a:xfrm>
          <a:prstGeom prst="rect">
            <a:avLst/>
          </a:prstGeom>
          <a:noFill/>
        </p:spPr>
        <p:txBody>
          <a:bodyPr wrap="square" rtlCol="0">
            <a:spAutoFit/>
          </a:bodyPr>
          <a:lstStyle/>
          <a:p>
            <a:pPr algn="r"/>
            <a:r>
              <a:rPr lang="en-US" sz="1200" b="1" dirty="0">
                <a:solidFill>
                  <a:srgbClr val="FF0000"/>
                </a:solidFill>
              </a:rPr>
              <a:t>14.0</a:t>
            </a:r>
          </a:p>
        </p:txBody>
      </p:sp>
      <p:sp>
        <p:nvSpPr>
          <p:cNvPr id="1032" name="TextBox 1031">
            <a:extLst>
              <a:ext uri="{FF2B5EF4-FFF2-40B4-BE49-F238E27FC236}">
                <a16:creationId xmlns:a16="http://schemas.microsoft.com/office/drawing/2014/main" id="{E8B71E1D-9F92-F768-92BF-1BC87F08EC02}"/>
              </a:ext>
            </a:extLst>
          </p:cNvPr>
          <p:cNvSpPr txBox="1"/>
          <p:nvPr/>
        </p:nvSpPr>
        <p:spPr>
          <a:xfrm>
            <a:off x="6404356" y="4645152"/>
            <a:ext cx="524288" cy="276999"/>
          </a:xfrm>
          <a:prstGeom prst="rect">
            <a:avLst/>
          </a:prstGeom>
          <a:noFill/>
        </p:spPr>
        <p:txBody>
          <a:bodyPr wrap="square" rtlCol="0">
            <a:spAutoFit/>
          </a:bodyPr>
          <a:lstStyle/>
          <a:p>
            <a:pPr algn="r"/>
            <a:r>
              <a:rPr lang="en-US" sz="1200" b="1" dirty="0">
                <a:solidFill>
                  <a:srgbClr val="FF0000"/>
                </a:solidFill>
              </a:rPr>
              <a:t>2.2</a:t>
            </a:r>
          </a:p>
        </p:txBody>
      </p:sp>
      <p:sp>
        <p:nvSpPr>
          <p:cNvPr id="1033" name="TextBox 1032">
            <a:extLst>
              <a:ext uri="{FF2B5EF4-FFF2-40B4-BE49-F238E27FC236}">
                <a16:creationId xmlns:a16="http://schemas.microsoft.com/office/drawing/2014/main" id="{2BBA60A6-DFD0-949F-B23E-6C9F49FD7D40}"/>
              </a:ext>
            </a:extLst>
          </p:cNvPr>
          <p:cNvSpPr txBox="1"/>
          <p:nvPr/>
        </p:nvSpPr>
        <p:spPr>
          <a:xfrm>
            <a:off x="6404356" y="4828032"/>
            <a:ext cx="524288" cy="276999"/>
          </a:xfrm>
          <a:prstGeom prst="rect">
            <a:avLst/>
          </a:prstGeom>
          <a:noFill/>
        </p:spPr>
        <p:txBody>
          <a:bodyPr wrap="square" rtlCol="0">
            <a:spAutoFit/>
          </a:bodyPr>
          <a:lstStyle/>
          <a:p>
            <a:pPr algn="r"/>
            <a:r>
              <a:rPr lang="en-US" sz="1200" b="1" dirty="0">
                <a:solidFill>
                  <a:srgbClr val="FF0000"/>
                </a:solidFill>
              </a:rPr>
              <a:t>0.3</a:t>
            </a:r>
          </a:p>
        </p:txBody>
      </p:sp>
      <p:sp>
        <p:nvSpPr>
          <p:cNvPr id="1034" name="TextBox 1033">
            <a:extLst>
              <a:ext uri="{FF2B5EF4-FFF2-40B4-BE49-F238E27FC236}">
                <a16:creationId xmlns:a16="http://schemas.microsoft.com/office/drawing/2014/main" id="{A275A745-F0FC-1497-6FC6-B5620D1417F0}"/>
              </a:ext>
            </a:extLst>
          </p:cNvPr>
          <p:cNvSpPr txBox="1"/>
          <p:nvPr/>
        </p:nvSpPr>
        <p:spPr>
          <a:xfrm>
            <a:off x="6876288" y="4434840"/>
            <a:ext cx="524288" cy="276999"/>
          </a:xfrm>
          <a:prstGeom prst="rect">
            <a:avLst/>
          </a:prstGeom>
          <a:noFill/>
        </p:spPr>
        <p:txBody>
          <a:bodyPr wrap="square" rtlCol="0">
            <a:spAutoFit/>
          </a:bodyPr>
          <a:lstStyle/>
          <a:p>
            <a:pPr algn="r"/>
            <a:r>
              <a:rPr lang="en-US" sz="1200" b="1" dirty="0"/>
              <a:t>10.2</a:t>
            </a:r>
          </a:p>
        </p:txBody>
      </p:sp>
      <p:sp>
        <p:nvSpPr>
          <p:cNvPr id="1035" name="TextBox 1034">
            <a:extLst>
              <a:ext uri="{FF2B5EF4-FFF2-40B4-BE49-F238E27FC236}">
                <a16:creationId xmlns:a16="http://schemas.microsoft.com/office/drawing/2014/main" id="{29E141BC-58FF-5820-6216-636735C3FD15}"/>
              </a:ext>
            </a:extLst>
          </p:cNvPr>
          <p:cNvSpPr txBox="1"/>
          <p:nvPr/>
        </p:nvSpPr>
        <p:spPr>
          <a:xfrm>
            <a:off x="6876288" y="4644325"/>
            <a:ext cx="524288" cy="276999"/>
          </a:xfrm>
          <a:prstGeom prst="rect">
            <a:avLst/>
          </a:prstGeom>
          <a:noFill/>
        </p:spPr>
        <p:txBody>
          <a:bodyPr wrap="square" rtlCol="0">
            <a:spAutoFit/>
          </a:bodyPr>
          <a:lstStyle/>
          <a:p>
            <a:pPr algn="r"/>
            <a:r>
              <a:rPr lang="en-US" sz="1200" b="1" dirty="0"/>
              <a:t>0.1</a:t>
            </a:r>
          </a:p>
        </p:txBody>
      </p:sp>
      <p:sp>
        <p:nvSpPr>
          <p:cNvPr id="1036" name="TextBox 1035">
            <a:extLst>
              <a:ext uri="{FF2B5EF4-FFF2-40B4-BE49-F238E27FC236}">
                <a16:creationId xmlns:a16="http://schemas.microsoft.com/office/drawing/2014/main" id="{1AB66713-1A8E-5CBB-FEED-1B41A6E8915E}"/>
              </a:ext>
            </a:extLst>
          </p:cNvPr>
          <p:cNvSpPr txBox="1"/>
          <p:nvPr/>
        </p:nvSpPr>
        <p:spPr>
          <a:xfrm>
            <a:off x="6876288" y="4828799"/>
            <a:ext cx="524288" cy="276999"/>
          </a:xfrm>
          <a:prstGeom prst="rect">
            <a:avLst/>
          </a:prstGeom>
          <a:noFill/>
        </p:spPr>
        <p:txBody>
          <a:bodyPr wrap="square" rtlCol="0">
            <a:spAutoFit/>
          </a:bodyPr>
          <a:lstStyle/>
          <a:p>
            <a:pPr algn="r"/>
            <a:r>
              <a:rPr lang="en-US" sz="1200" b="1" dirty="0"/>
              <a:t>0.0</a:t>
            </a:r>
          </a:p>
        </p:txBody>
      </p:sp>
      <p:sp>
        <p:nvSpPr>
          <p:cNvPr id="1037" name="TextBox 1036">
            <a:extLst>
              <a:ext uri="{FF2B5EF4-FFF2-40B4-BE49-F238E27FC236}">
                <a16:creationId xmlns:a16="http://schemas.microsoft.com/office/drawing/2014/main" id="{1323709C-B733-41A1-874B-361347FD3210}"/>
              </a:ext>
            </a:extLst>
          </p:cNvPr>
          <p:cNvSpPr txBox="1"/>
          <p:nvPr/>
        </p:nvSpPr>
        <p:spPr>
          <a:xfrm>
            <a:off x="4875147" y="5319534"/>
            <a:ext cx="2589865" cy="307777"/>
          </a:xfrm>
          <a:prstGeom prst="rect">
            <a:avLst/>
          </a:prstGeom>
          <a:noFill/>
        </p:spPr>
        <p:txBody>
          <a:bodyPr wrap="square" rtlCol="0">
            <a:spAutoFit/>
          </a:bodyPr>
          <a:lstStyle/>
          <a:p>
            <a:r>
              <a:rPr lang="en-US" sz="1400" b="1" dirty="0"/>
              <a:t>Totals                              </a:t>
            </a:r>
            <a:r>
              <a:rPr lang="en-US" sz="1400" b="1" dirty="0">
                <a:solidFill>
                  <a:srgbClr val="FF0000"/>
                </a:solidFill>
              </a:rPr>
              <a:t>33.8</a:t>
            </a:r>
            <a:r>
              <a:rPr lang="en-US" sz="1400" b="1" dirty="0"/>
              <a:t>   11.4</a:t>
            </a:r>
            <a:endParaRPr lang="en-US" sz="1400" dirty="0"/>
          </a:p>
        </p:txBody>
      </p:sp>
      <p:cxnSp>
        <p:nvCxnSpPr>
          <p:cNvPr id="1038" name="Straight Connector 1037">
            <a:extLst>
              <a:ext uri="{FF2B5EF4-FFF2-40B4-BE49-F238E27FC236}">
                <a16:creationId xmlns:a16="http://schemas.microsoft.com/office/drawing/2014/main" id="{259F8BFA-D0B3-623F-671B-8D9D956BD703}"/>
              </a:ext>
            </a:extLst>
          </p:cNvPr>
          <p:cNvCxnSpPr>
            <a:cxnSpLocks/>
          </p:cNvCxnSpPr>
          <p:nvPr/>
        </p:nvCxnSpPr>
        <p:spPr>
          <a:xfrm>
            <a:off x="4939433" y="5217133"/>
            <a:ext cx="2559373" cy="0"/>
          </a:xfrm>
          <a:prstGeom prst="line">
            <a:avLst/>
          </a:prstGeom>
          <a:ln w="12700">
            <a:solidFill>
              <a:srgbClr val="003300"/>
            </a:solidFill>
          </a:ln>
        </p:spPr>
        <p:style>
          <a:lnRef idx="1">
            <a:schemeClr val="accent1"/>
          </a:lnRef>
          <a:fillRef idx="0">
            <a:schemeClr val="accent1"/>
          </a:fillRef>
          <a:effectRef idx="0">
            <a:schemeClr val="accent1"/>
          </a:effectRef>
          <a:fontRef idx="minor">
            <a:schemeClr val="tx1"/>
          </a:fontRef>
        </p:style>
      </p:cxnSp>
      <p:cxnSp>
        <p:nvCxnSpPr>
          <p:cNvPr id="1039" name="Straight Connector 1038">
            <a:extLst>
              <a:ext uri="{FF2B5EF4-FFF2-40B4-BE49-F238E27FC236}">
                <a16:creationId xmlns:a16="http://schemas.microsoft.com/office/drawing/2014/main" id="{32F19E35-8C08-9208-B1BF-DAECCD83B369}"/>
              </a:ext>
            </a:extLst>
          </p:cNvPr>
          <p:cNvCxnSpPr>
            <a:cxnSpLocks/>
          </p:cNvCxnSpPr>
          <p:nvPr/>
        </p:nvCxnSpPr>
        <p:spPr>
          <a:xfrm>
            <a:off x="3604393" y="5772300"/>
            <a:ext cx="0" cy="751709"/>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41" name="Rectangle 1040">
            <a:extLst>
              <a:ext uri="{FF2B5EF4-FFF2-40B4-BE49-F238E27FC236}">
                <a16:creationId xmlns:a16="http://schemas.microsoft.com/office/drawing/2014/main" id="{27A2D6D3-9DB9-C9D7-45DD-6BF60D510296}"/>
              </a:ext>
            </a:extLst>
          </p:cNvPr>
          <p:cNvSpPr/>
          <p:nvPr/>
        </p:nvSpPr>
        <p:spPr>
          <a:xfrm>
            <a:off x="3681900" y="5664696"/>
            <a:ext cx="3828971"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FFFF00"/>
                </a:solidFill>
              </a:rPr>
              <a:t>Carbon credit cost($) = 1,352 </a:t>
            </a:r>
            <a:endParaRPr lang="en-US" sz="2000" b="1" dirty="0">
              <a:solidFill>
                <a:schemeClr val="tx1"/>
              </a:solidFill>
            </a:endParaRPr>
          </a:p>
        </p:txBody>
      </p:sp>
      <p:sp>
        <p:nvSpPr>
          <p:cNvPr id="1042" name="Rectangle 1041">
            <a:extLst>
              <a:ext uri="{FF2B5EF4-FFF2-40B4-BE49-F238E27FC236}">
                <a16:creationId xmlns:a16="http://schemas.microsoft.com/office/drawing/2014/main" id="{86A35EA9-7194-7F42-49CC-9922D718619F}"/>
              </a:ext>
            </a:extLst>
          </p:cNvPr>
          <p:cNvSpPr/>
          <p:nvPr/>
        </p:nvSpPr>
        <p:spPr>
          <a:xfrm>
            <a:off x="3687068" y="5995323"/>
            <a:ext cx="3828971" cy="4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FFFF00"/>
                </a:solidFill>
              </a:rPr>
              <a:t>Solar install cost($)    =     0.0 </a:t>
            </a:r>
            <a:endParaRPr lang="en-US" sz="2000" b="1" dirty="0">
              <a:solidFill>
                <a:schemeClr val="tx1"/>
              </a:solidFill>
            </a:endParaRPr>
          </a:p>
        </p:txBody>
      </p:sp>
      <p:cxnSp>
        <p:nvCxnSpPr>
          <p:cNvPr id="1043" name="Straight Arrow Connector 1042">
            <a:extLst>
              <a:ext uri="{FF2B5EF4-FFF2-40B4-BE49-F238E27FC236}">
                <a16:creationId xmlns:a16="http://schemas.microsoft.com/office/drawing/2014/main" id="{13A38446-6042-F228-3F56-4DF7BBF39253}"/>
              </a:ext>
            </a:extLst>
          </p:cNvPr>
          <p:cNvCxnSpPr>
            <a:cxnSpLocks/>
          </p:cNvCxnSpPr>
          <p:nvPr/>
        </p:nvCxnSpPr>
        <p:spPr>
          <a:xfrm flipH="1">
            <a:off x="4480379" y="1746276"/>
            <a:ext cx="292226" cy="2176505"/>
          </a:xfrm>
          <a:prstGeom prst="straightConnector1">
            <a:avLst/>
          </a:prstGeom>
          <a:ln w="34925">
            <a:solidFill>
              <a:srgbClr val="FF0000"/>
            </a:solidFill>
            <a:headEnd w="med" len="lg"/>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B128DDD1-AF62-A1EC-D547-A92321C3FA31}"/>
              </a:ext>
            </a:extLst>
          </p:cNvPr>
          <p:cNvCxnSpPr>
            <a:cxnSpLocks/>
            <a:endCxn id="60" idx="7"/>
          </p:cNvCxnSpPr>
          <p:nvPr/>
        </p:nvCxnSpPr>
        <p:spPr>
          <a:xfrm flipH="1">
            <a:off x="4599054" y="314601"/>
            <a:ext cx="66075" cy="206408"/>
          </a:xfrm>
          <a:prstGeom prst="straightConnector1">
            <a:avLst/>
          </a:prstGeom>
          <a:ln w="34925">
            <a:solidFill>
              <a:srgbClr val="FF0000"/>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1047" name="Rectangle: Beveled 1046">
            <a:extLst>
              <a:ext uri="{FF2B5EF4-FFF2-40B4-BE49-F238E27FC236}">
                <a16:creationId xmlns:a16="http://schemas.microsoft.com/office/drawing/2014/main" id="{0BF31B8B-1287-E434-DD3C-D979870A4DDE}"/>
              </a:ext>
            </a:extLst>
          </p:cNvPr>
          <p:cNvSpPr/>
          <p:nvPr/>
        </p:nvSpPr>
        <p:spPr>
          <a:xfrm>
            <a:off x="10752764" y="472843"/>
            <a:ext cx="1187162" cy="461176"/>
          </a:xfrm>
          <a:prstGeom prst="beve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Cloud Hosting</a:t>
            </a:r>
          </a:p>
        </p:txBody>
      </p:sp>
    </p:spTree>
    <p:extLst>
      <p:ext uri="{BB962C8B-B14F-4D97-AF65-F5344CB8AC3E}">
        <p14:creationId xmlns:p14="http://schemas.microsoft.com/office/powerpoint/2010/main" val="4040459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444028</TotalTime>
  <Words>20308</Words>
  <Application>Microsoft Office PowerPoint</Application>
  <PresentationFormat>Widescreen</PresentationFormat>
  <Paragraphs>2483</Paragraphs>
  <Slides>74</Slides>
  <Notes>1</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74</vt:i4>
      </vt:variant>
    </vt:vector>
  </HeadingPairs>
  <TitlesOfParts>
    <vt:vector size="91" baseType="lpstr">
      <vt:lpstr>Abadi Extra Light</vt:lpstr>
      <vt:lpstr>-apple-system</vt:lpstr>
      <vt:lpstr>Aptos</vt:lpstr>
      <vt:lpstr>Arial</vt:lpstr>
      <vt:lpstr>Calibri</vt:lpstr>
      <vt:lpstr>Calibri Light</vt:lpstr>
      <vt:lpstr>Courier New</vt:lpstr>
      <vt:lpstr>Google Sans</vt:lpstr>
      <vt:lpstr>Ibmplexsans</vt:lpstr>
      <vt:lpstr>Lato</vt:lpstr>
      <vt:lpstr>OktaNeue</vt:lpstr>
      <vt:lpstr>Open Sans</vt:lpstr>
      <vt:lpstr>Rubik</vt:lpstr>
      <vt:lpstr>Titillium Web</vt:lpstr>
      <vt:lpstr>Titillium Web Light</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Jeff Pribich</dc:creator>
  <cp:lastModifiedBy>Jeff Pribich</cp:lastModifiedBy>
  <cp:revision>3</cp:revision>
  <dcterms:created xsi:type="dcterms:W3CDTF">2022-02-28T19:19:28Z</dcterms:created>
  <dcterms:modified xsi:type="dcterms:W3CDTF">2025-09-16T15:02:57Z</dcterms:modified>
</cp:coreProperties>
</file>